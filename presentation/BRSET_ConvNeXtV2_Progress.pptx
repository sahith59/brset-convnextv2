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94560"/>
            <a:ext cx="10607040" cy="2011680"/>
          </a:xfrm>
          <a:prstGeom prst="rect">
            <a:avLst/>
          </a:prstGeom>
          <a:noFill/>
        </p:spPr>
        <p:txBody>
          <a:bodyPr wrap="square">
            <a:spAutoFit/>
          </a:bodyPr>
          <a:lstStyle/>
          <a:p>
            <a:pPr>
              <a:defRPr sz="4000" b="1">
                <a:solidFill>
                  <a:srgbClr val="1F4E79"/>
                </a:solidFill>
              </a:defRPr>
            </a:pPr>
            <a:r>
              <a:t>ConvNeXt V2 on BRSET</a:t>
            </a:r>
          </a:p>
          <a:p>
            <a:pPr>
              <a:spcBef>
                <a:spcPts val="800"/>
              </a:spcBef>
              <a:defRPr sz="2100">
                <a:solidFill>
                  <a:srgbClr val="1A1A1A"/>
                </a:solidFill>
              </a:defRPr>
            </a:pPr>
            <a:r>
              <a:t>A strong baseline, and closing the BRSET → mBRSET device gap</a:t>
            </a:r>
          </a:p>
          <a:p>
            <a:pPr>
              <a:spcBef>
                <a:spcPts val="2200"/>
              </a:spcBef>
              <a:defRPr sz="1400">
                <a:solidFill>
                  <a:srgbClr val="5A5A5A"/>
                </a:solidFill>
              </a:defRPr>
            </a:pPr>
            <a:r>
              <a:t>Sahith Reddy Thummala   |   For: Dr. Dong Hye Ye   |   cc: Nagur Shareef Shaik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What was assigned</a:t>
            </a:r>
          </a:p>
        </p:txBody>
      </p:sp>
      <p:graphicFrame>
        <p:nvGraphicFramePr>
          <p:cNvPr id="3" name="Table 2"/>
          <p:cNvGraphicFramePr>
            <a:graphicFrameLocks noGrp="1"/>
          </p:cNvGraphicFramePr>
          <p:nvPr/>
        </p:nvGraphicFramePr>
        <p:xfrm>
          <a:off x="685800" y="1828800"/>
          <a:ext cx="10789918" cy="1828800"/>
        </p:xfrm>
        <a:graphic>
          <a:graphicData uri="http://schemas.openxmlformats.org/drawingml/2006/table">
            <a:tbl>
              <a:tblPr firstRow="1" bandRow="1">
                <a:tableStyleId>{5C22544A-7EE6-4342-B048-85BDC9FD1C3A}</a:tableStyleId>
              </a:tblPr>
              <a:tblGrid>
                <a:gridCol w="1112362"/>
                <a:gridCol w="7230358"/>
                <a:gridCol w="2447198"/>
              </a:tblGrid>
              <a:tr h="609600">
                <a:tc>
                  <a:txBody>
                    <a:bodyPr/>
                    <a:lstStyle/>
                    <a:p>
                      <a:pPr algn="l">
                        <a:defRPr sz="1500" b="1">
                          <a:solidFill>
                            <a:srgbClr val="FFFFFF"/>
                          </a:solidFill>
                        </a:defRPr>
                      </a:pPr>
                    </a:p>
                  </a:txBody>
                  <a:tcPr marL="73152" marR="73152" marT="27432" marB="27432">
                    <a:solidFill>
                      <a:srgbClr val="1F4E79"/>
                    </a:solidFill>
                  </a:tcPr>
                </a:tc>
                <a:tc>
                  <a:txBody>
                    <a:bodyPr/>
                    <a:lstStyle/>
                    <a:p>
                      <a:pPr algn="ctr">
                        <a:defRPr sz="1500" b="1">
                          <a:solidFill>
                            <a:srgbClr val="FFFFFF"/>
                          </a:solidFill>
                        </a:defRPr>
                      </a:pPr>
                      <a:r>
                        <a:t>Task</a:t>
                      </a:r>
                    </a:p>
                  </a:txBody>
                  <a:tcPr marL="73152" marR="73152" marT="27432" marB="27432">
                    <a:solidFill>
                      <a:srgbClr val="1F4E79"/>
                    </a:solidFill>
                  </a:tcPr>
                </a:tc>
                <a:tc>
                  <a:txBody>
                    <a:bodyPr/>
                    <a:lstStyle/>
                    <a:p>
                      <a:pPr algn="ctr">
                        <a:defRPr sz="1500" b="1">
                          <a:solidFill>
                            <a:srgbClr val="FFFFFF"/>
                          </a:solidFill>
                        </a:defRPr>
                      </a:pPr>
                      <a:r>
                        <a:t>Status</a:t>
                      </a:r>
                    </a:p>
                  </a:txBody>
                  <a:tcPr marL="73152" marR="73152" marT="27432" marB="27432">
                    <a:solidFill>
                      <a:srgbClr val="1F4E79"/>
                    </a:solidFill>
                  </a:tcPr>
                </a:tc>
              </a:tr>
              <a:tr h="609600">
                <a:tc>
                  <a:txBody>
                    <a:bodyPr/>
                    <a:lstStyle/>
                    <a:p>
                      <a:pPr algn="l">
                        <a:defRPr sz="1500">
                          <a:solidFill>
                            <a:srgbClr val="1A1A1A"/>
                          </a:solidFill>
                        </a:defRPr>
                      </a:pPr>
                      <a:r>
                        <a:t>Part 1</a:t>
                      </a:r>
                    </a:p>
                  </a:txBody>
                  <a:tcPr marL="73152" marR="73152" marT="27432" marB="27432">
                    <a:solidFill>
                      <a:srgbClr val="FFFFFF"/>
                    </a:solidFill>
                  </a:tcPr>
                </a:tc>
                <a:tc>
                  <a:txBody>
                    <a:bodyPr/>
                    <a:lstStyle/>
                    <a:p>
                      <a:pPr algn="ctr">
                        <a:defRPr sz="1500">
                          <a:solidFill>
                            <a:srgbClr val="1A1A1A"/>
                          </a:solidFill>
                        </a:defRPr>
                      </a:pPr>
                      <a:r>
                        <a:t>A strong ConvNeXt V2 baseline on BRSET;</a:t>
                      </a:r>
                    </a:p>
                    <a:p>
                      <a:r>
                        <a:t>address the class imbalance holding F1 down</a:t>
                      </a:r>
                    </a:p>
                  </a:txBody>
                  <a:tcPr marL="73152" marR="73152" marT="27432" marB="27432">
                    <a:solidFill>
                      <a:srgbClr val="FFFFFF"/>
                    </a:solidFill>
                  </a:tcPr>
                </a:tc>
                <a:tc>
                  <a:txBody>
                    <a:bodyPr/>
                    <a:lstStyle/>
                    <a:p>
                      <a:pPr algn="ctr">
                        <a:defRPr sz="1500">
                          <a:solidFill>
                            <a:srgbClr val="1A1A1A"/>
                          </a:solidFill>
                        </a:defRPr>
                      </a:pPr>
                      <a:r>
                        <a:t>Complete</a:t>
                      </a:r>
                    </a:p>
                  </a:txBody>
                  <a:tcPr marL="73152" marR="73152" marT="27432" marB="27432">
                    <a:solidFill>
                      <a:srgbClr val="FFFFFF"/>
                    </a:solidFill>
                  </a:tcPr>
                </a:tc>
              </a:tr>
              <a:tr h="609600">
                <a:tc>
                  <a:txBody>
                    <a:bodyPr/>
                    <a:lstStyle/>
                    <a:p>
                      <a:pPr algn="l">
                        <a:defRPr sz="1500">
                          <a:solidFill>
                            <a:srgbClr val="1A1A1A"/>
                          </a:solidFill>
                        </a:defRPr>
                      </a:pPr>
                      <a:r>
                        <a:t>Part 2</a:t>
                      </a:r>
                    </a:p>
                  </a:txBody>
                  <a:tcPr marL="73152" marR="73152" marT="27432" marB="27432">
                    <a:solidFill>
                      <a:srgbClr val="F2F4F7"/>
                    </a:solidFill>
                  </a:tcPr>
                </a:tc>
                <a:tc>
                  <a:txBody>
                    <a:bodyPr/>
                    <a:lstStyle/>
                    <a:p>
                      <a:pPr algn="ctr">
                        <a:defRPr sz="1500">
                          <a:solidFill>
                            <a:srgbClr val="1A1A1A"/>
                          </a:solidFill>
                        </a:defRPr>
                      </a:pPr>
                      <a:r>
                        <a:t>Improve BRSET → mBRSET transfer.</a:t>
                      </a:r>
                    </a:p>
                    <a:p>
                      <a:r>
                        <a:t>Find relevant literature, implement, and find novelty</a:t>
                      </a:r>
                    </a:p>
                  </a:txBody>
                  <a:tcPr marL="73152" marR="73152" marT="27432" marB="27432">
                    <a:solidFill>
                      <a:srgbClr val="F2F4F7"/>
                    </a:solidFill>
                  </a:tcPr>
                </a:tc>
                <a:tc>
                  <a:txBody>
                    <a:bodyPr/>
                    <a:lstStyle/>
                    <a:p>
                      <a:pPr algn="ctr">
                        <a:defRPr sz="1500">
                          <a:solidFill>
                            <a:srgbClr val="1A1A1A"/>
                          </a:solidFill>
                        </a:defRPr>
                      </a:pPr>
                      <a:r>
                        <a:t>Diagnosed;</a:t>
                      </a:r>
                    </a:p>
                    <a:p>
                      <a:r>
                        <a:t>plan ready</a:t>
                      </a:r>
                    </a:p>
                  </a:txBody>
                  <a:tcPr marL="73152" marR="73152" marT="27432" marB="27432">
                    <a:solidFill>
                      <a:srgbClr val="F2F4F7"/>
                    </a:solidFill>
                  </a:tcPr>
                </a:tc>
              </a:tr>
            </a:tbl>
          </a:graphicData>
        </a:graphic>
      </p:graphicFrame>
      <p:sp>
        <p:nvSpPr>
          <p:cNvPr id="4" name="TextBox 3"/>
          <p:cNvSpPr txBox="1"/>
          <p:nvPr/>
        </p:nvSpPr>
        <p:spPr>
          <a:xfrm>
            <a:off x="685800" y="4572000"/>
            <a:ext cx="10881360" cy="685800"/>
          </a:xfrm>
          <a:prstGeom prst="rect">
            <a:avLst/>
          </a:prstGeom>
          <a:noFill/>
        </p:spPr>
        <p:txBody>
          <a:bodyPr wrap="square">
            <a:spAutoFit/>
          </a:bodyPr>
          <a:lstStyle/>
          <a:p>
            <a:pPr>
              <a:defRPr sz="1600" b="1">
                <a:solidFill>
                  <a:srgbClr val="1F4E79"/>
                </a:solidFill>
              </a:defRPr>
            </a:pPr>
            <a:r>
              <a:t>Part 1 is answered. Part 2 is where the contribution is — and the lane is open.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Baseline vs. the original BRSET paper</a:t>
            </a:r>
          </a:p>
          <a:p>
            <a:pPr>
              <a:defRPr sz="1500">
                <a:solidFill>
                  <a:srgbClr val="5A5A5A"/>
                </a:solidFill>
              </a:defRPr>
            </a:pPr>
            <a:r>
              <a:t>One ConvNeXt V2 Large model at 512px, all 16,258 images, split by patient, trained with focal loss.</a:t>
            </a:r>
          </a:p>
        </p:txBody>
      </p:sp>
      <p:graphicFrame>
        <p:nvGraphicFramePr>
          <p:cNvPr id="3" name="Table 2"/>
          <p:cNvGraphicFramePr>
            <a:graphicFrameLocks noGrp="1"/>
          </p:cNvGraphicFramePr>
          <p:nvPr/>
        </p:nvGraphicFramePr>
        <p:xfrm>
          <a:off x="685800" y="1965960"/>
          <a:ext cx="10789918" cy="1645919"/>
        </p:xfrm>
        <a:graphic>
          <a:graphicData uri="http://schemas.openxmlformats.org/drawingml/2006/table">
            <a:tbl>
              <a:tblPr firstRow="1" bandRow="1">
                <a:tableStyleId>{5C22544A-7EE6-4342-B048-85BDC9FD1C3A}</a:tableStyleId>
              </a:tblPr>
              <a:tblGrid>
                <a:gridCol w="2976529"/>
                <a:gridCol w="2232397"/>
                <a:gridCol w="1581281"/>
                <a:gridCol w="3999711"/>
              </a:tblGrid>
              <a:tr h="329183">
                <a:tc>
                  <a:txBody>
                    <a:bodyPr/>
                    <a:lstStyle/>
                    <a:p>
                      <a:pPr algn="l">
                        <a:defRPr sz="1400" b="1">
                          <a:solidFill>
                            <a:srgbClr val="FFFFFF"/>
                          </a:solidFill>
                        </a:defRPr>
                      </a:pPr>
                      <a:r>
                        <a:t>Metric</a:t>
                      </a:r>
                    </a:p>
                  </a:txBody>
                  <a:tcPr marL="73152" marR="73152" marT="27432" marB="27432">
                    <a:solidFill>
                      <a:srgbClr val="1F4E79"/>
                    </a:solidFill>
                  </a:tcPr>
                </a:tc>
                <a:tc>
                  <a:txBody>
                    <a:bodyPr/>
                    <a:lstStyle/>
                    <a:p>
                      <a:pPr algn="ctr">
                        <a:defRPr sz="1400" b="1">
                          <a:solidFill>
                            <a:srgbClr val="FFFFFF"/>
                          </a:solidFill>
                        </a:defRPr>
                      </a:pPr>
                      <a:r>
                        <a:t>Paper (Nakayama 2024)</a:t>
                      </a:r>
                    </a:p>
                  </a:txBody>
                  <a:tcPr marL="73152" marR="73152" marT="27432" marB="27432">
                    <a:solidFill>
                      <a:srgbClr val="1F4E79"/>
                    </a:solidFill>
                  </a:tcPr>
                </a:tc>
                <a:tc>
                  <a:txBody>
                    <a:bodyPr/>
                    <a:lstStyle/>
                    <a:p>
                      <a:pPr algn="ctr">
                        <a:defRPr sz="1400" b="1">
                          <a:solidFill>
                            <a:srgbClr val="FFFFFF"/>
                          </a:solidFill>
                        </a:defRPr>
                      </a:pPr>
                      <a:r>
                        <a:t>Our model</a:t>
                      </a:r>
                    </a:p>
                  </a:txBody>
                  <a:tcPr marL="73152" marR="73152" marT="27432" marB="27432">
                    <a:solidFill>
                      <a:srgbClr val="1F4E79"/>
                    </a:solidFill>
                  </a:tcPr>
                </a:tc>
                <a:tc>
                  <a:txBody>
                    <a:bodyPr/>
                    <a:lstStyle/>
                    <a:p>
                      <a:pPr algn="ctr">
                        <a:defRPr sz="1400" b="1">
                          <a:solidFill>
                            <a:srgbClr val="FFFFFF"/>
                          </a:solidFill>
                        </a:defRPr>
                      </a:pPr>
                      <a:r>
                        <a:t>Verdict</a:t>
                      </a:r>
                    </a:p>
                  </a:txBody>
                  <a:tcPr marL="73152" marR="73152" marT="27432" marB="27432">
                    <a:solidFill>
                      <a:srgbClr val="1F4E79"/>
                    </a:solidFill>
                  </a:tcPr>
                </a:tc>
              </a:tr>
              <a:tr h="329183">
                <a:tc>
                  <a:txBody>
                    <a:bodyPr/>
                    <a:lstStyle/>
                    <a:p>
                      <a:pPr algn="l">
                        <a:defRPr sz="1400" b="1">
                          <a:solidFill>
                            <a:srgbClr val="1A1A1A"/>
                          </a:solidFill>
                        </a:defRPr>
                      </a:pPr>
                      <a:r>
                        <a:t>Diabetic retinopathy — AUC</a:t>
                      </a:r>
                    </a:p>
                  </a:txBody>
                  <a:tcPr marL="73152" marR="73152" marT="27432" marB="27432">
                    <a:solidFill>
                      <a:srgbClr val="E3EFE3"/>
                    </a:solidFill>
                  </a:tcPr>
                </a:tc>
                <a:tc>
                  <a:txBody>
                    <a:bodyPr/>
                    <a:lstStyle/>
                    <a:p>
                      <a:pPr algn="ctr">
                        <a:defRPr sz="1400" b="1">
                          <a:solidFill>
                            <a:srgbClr val="1A1A1A"/>
                          </a:solidFill>
                        </a:defRPr>
                      </a:pPr>
                      <a:r>
                        <a:t>0.97</a:t>
                      </a:r>
                    </a:p>
                  </a:txBody>
                  <a:tcPr marL="73152" marR="73152" marT="27432" marB="27432">
                    <a:solidFill>
                      <a:srgbClr val="E3EFE3"/>
                    </a:solidFill>
                  </a:tcPr>
                </a:tc>
                <a:tc>
                  <a:txBody>
                    <a:bodyPr/>
                    <a:lstStyle/>
                    <a:p>
                      <a:pPr algn="ctr">
                        <a:defRPr sz="1400" b="1">
                          <a:solidFill>
                            <a:srgbClr val="1A1A1A"/>
                          </a:solidFill>
                        </a:defRPr>
                      </a:pPr>
                      <a:r>
                        <a:t>0.992</a:t>
                      </a:r>
                    </a:p>
                  </a:txBody>
                  <a:tcPr marL="73152" marR="73152" marT="27432" marB="27432">
                    <a:solidFill>
                      <a:srgbClr val="E3EFE3"/>
                    </a:solidFill>
                  </a:tcPr>
                </a:tc>
                <a:tc>
                  <a:txBody>
                    <a:bodyPr/>
                    <a:lstStyle/>
                    <a:p>
                      <a:pPr algn="ctr">
                        <a:defRPr sz="1400" b="1">
                          <a:solidFill>
                            <a:srgbClr val="1A1A1A"/>
                          </a:solidFill>
                        </a:defRPr>
                      </a:pPr>
                      <a:r>
                        <a:t>Better than the paper</a:t>
                      </a:r>
                    </a:p>
                  </a:txBody>
                  <a:tcPr marL="73152" marR="73152" marT="27432" marB="27432">
                    <a:solidFill>
                      <a:srgbClr val="E3EFE3"/>
                    </a:solidFill>
                  </a:tcPr>
                </a:tc>
              </a:tr>
              <a:tr h="329183">
                <a:tc>
                  <a:txBody>
                    <a:bodyPr/>
                    <a:lstStyle/>
                    <a:p>
                      <a:pPr algn="l">
                        <a:defRPr sz="1400" b="1">
                          <a:solidFill>
                            <a:srgbClr val="1A1A1A"/>
                          </a:solidFill>
                        </a:defRPr>
                      </a:pPr>
                      <a:r>
                        <a:t>Diabetic retinopathy — F1</a:t>
                      </a:r>
                    </a:p>
                  </a:txBody>
                  <a:tcPr marL="73152" marR="73152" marT="27432" marB="27432">
                    <a:solidFill>
                      <a:srgbClr val="E3EFE3"/>
                    </a:solidFill>
                  </a:tcPr>
                </a:tc>
                <a:tc>
                  <a:txBody>
                    <a:bodyPr/>
                    <a:lstStyle/>
                    <a:p>
                      <a:pPr algn="ctr">
                        <a:defRPr sz="1400" b="1">
                          <a:solidFill>
                            <a:srgbClr val="1A1A1A"/>
                          </a:solidFill>
                        </a:defRPr>
                      </a:pPr>
                      <a:r>
                        <a:t>0.89</a:t>
                      </a:r>
                    </a:p>
                  </a:txBody>
                  <a:tcPr marL="73152" marR="73152" marT="27432" marB="27432">
                    <a:solidFill>
                      <a:srgbClr val="E3EFE3"/>
                    </a:solidFill>
                  </a:tcPr>
                </a:tc>
                <a:tc>
                  <a:txBody>
                    <a:bodyPr/>
                    <a:lstStyle/>
                    <a:p>
                      <a:pPr algn="ctr">
                        <a:defRPr sz="1400" b="1">
                          <a:solidFill>
                            <a:srgbClr val="1A1A1A"/>
                          </a:solidFill>
                        </a:defRPr>
                      </a:pPr>
                      <a:r>
                        <a:t>0.869</a:t>
                      </a:r>
                    </a:p>
                  </a:txBody>
                  <a:tcPr marL="73152" marR="73152" marT="27432" marB="27432">
                    <a:solidFill>
                      <a:srgbClr val="E3EFE3"/>
                    </a:solidFill>
                  </a:tcPr>
                </a:tc>
                <a:tc>
                  <a:txBody>
                    <a:bodyPr/>
                    <a:lstStyle/>
                    <a:p>
                      <a:pPr algn="ctr">
                        <a:defRPr sz="1400" b="1">
                          <a:solidFill>
                            <a:srgbClr val="1A1A1A"/>
                          </a:solidFill>
                        </a:defRPr>
                      </a:pPr>
                      <a:r>
                        <a:t>The same, within measurement error</a:t>
                      </a:r>
                    </a:p>
                  </a:txBody>
                  <a:tcPr marL="73152" marR="73152" marT="27432" marB="27432">
                    <a:solidFill>
                      <a:srgbClr val="E3EFE3"/>
                    </a:solidFill>
                  </a:tcPr>
                </a:tc>
              </a:tr>
              <a:tr h="329183">
                <a:tc>
                  <a:txBody>
                    <a:bodyPr/>
                    <a:lstStyle/>
                    <a:p>
                      <a:pPr algn="l">
                        <a:defRPr sz="1400">
                          <a:solidFill>
                            <a:srgbClr val="1A1A1A"/>
                          </a:solidFill>
                        </a:defRPr>
                      </a:pPr>
                      <a:r>
                        <a:t>Macular edema — AUC</a:t>
                      </a:r>
                    </a:p>
                  </a:txBody>
                  <a:tcPr marL="73152" marR="73152" marT="27432" marB="27432">
                    <a:solidFill>
                      <a:srgbClr val="FFFFFF"/>
                    </a:solidFill>
                  </a:tcPr>
                </a:tc>
                <a:tc>
                  <a:txBody>
                    <a:bodyPr/>
                    <a:lstStyle/>
                    <a:p>
                      <a:pPr algn="ctr">
                        <a:defRPr sz="1400">
                          <a:solidFill>
                            <a:srgbClr val="1A1A1A"/>
                          </a:solidFill>
                        </a:defRPr>
                      </a:pPr>
                      <a:r>
                        <a:t>not reported</a:t>
                      </a:r>
                    </a:p>
                  </a:txBody>
                  <a:tcPr marL="73152" marR="73152" marT="27432" marB="27432">
                    <a:solidFill>
                      <a:srgbClr val="FFFFFF"/>
                    </a:solidFill>
                  </a:tcPr>
                </a:tc>
                <a:tc>
                  <a:txBody>
                    <a:bodyPr/>
                    <a:lstStyle/>
                    <a:p>
                      <a:pPr algn="ctr">
                        <a:defRPr sz="1400">
                          <a:solidFill>
                            <a:srgbClr val="1A1A1A"/>
                          </a:solidFill>
                        </a:defRPr>
                      </a:pPr>
                      <a:r>
                        <a:t>0.989</a:t>
                      </a:r>
                    </a:p>
                  </a:txBody>
                  <a:tcPr marL="73152" marR="73152" marT="27432" marB="27432">
                    <a:solidFill>
                      <a:srgbClr val="FFFFFF"/>
                    </a:solidFill>
                  </a:tcPr>
                </a:tc>
                <a:tc>
                  <a:txBody>
                    <a:bodyPr/>
                    <a:lstStyle/>
                    <a:p>
                      <a:pPr algn="ctr">
                        <a:defRPr sz="1400">
                          <a:solidFill>
                            <a:srgbClr val="1A1A1A"/>
                          </a:solidFill>
                        </a:defRPr>
                      </a:pPr>
                      <a:r>
                        <a:t>No published benchmark to compare to</a:t>
                      </a:r>
                    </a:p>
                  </a:txBody>
                  <a:tcPr marL="73152" marR="73152" marT="27432" marB="27432">
                    <a:solidFill>
                      <a:srgbClr val="FFFFFF"/>
                    </a:solidFill>
                  </a:tcPr>
                </a:tc>
              </a:tr>
              <a:tr h="329187">
                <a:tc>
                  <a:txBody>
                    <a:bodyPr/>
                    <a:lstStyle/>
                    <a:p>
                      <a:pPr algn="l">
                        <a:defRPr sz="1400">
                          <a:solidFill>
                            <a:srgbClr val="1A1A1A"/>
                          </a:solidFill>
                        </a:defRPr>
                      </a:pPr>
                      <a:r>
                        <a:t>Macular edema — F1</a:t>
                      </a:r>
                    </a:p>
                  </a:txBody>
                  <a:tcPr marL="73152" marR="73152" marT="27432" marB="27432">
                    <a:solidFill>
                      <a:srgbClr val="F2F4F7"/>
                    </a:solidFill>
                  </a:tcPr>
                </a:tc>
                <a:tc>
                  <a:txBody>
                    <a:bodyPr/>
                    <a:lstStyle/>
                    <a:p>
                      <a:pPr algn="ctr">
                        <a:defRPr sz="1400">
                          <a:solidFill>
                            <a:srgbClr val="1A1A1A"/>
                          </a:solidFill>
                        </a:defRPr>
                      </a:pPr>
                      <a:r>
                        <a:t>not reported</a:t>
                      </a:r>
                    </a:p>
                  </a:txBody>
                  <a:tcPr marL="73152" marR="73152" marT="27432" marB="27432">
                    <a:solidFill>
                      <a:srgbClr val="F2F4F7"/>
                    </a:solidFill>
                  </a:tcPr>
                </a:tc>
                <a:tc>
                  <a:txBody>
                    <a:bodyPr/>
                    <a:lstStyle/>
                    <a:p>
                      <a:pPr algn="ctr">
                        <a:defRPr sz="1400">
                          <a:solidFill>
                            <a:srgbClr val="1A1A1A"/>
                          </a:solidFill>
                        </a:defRPr>
                      </a:pPr>
                      <a:r>
                        <a:t>0.748</a:t>
                      </a:r>
                    </a:p>
                  </a:txBody>
                  <a:tcPr marL="73152" marR="73152" marT="27432" marB="27432">
                    <a:solidFill>
                      <a:srgbClr val="F2F4F7"/>
                    </a:solidFill>
                  </a:tcPr>
                </a:tc>
                <a:tc>
                  <a:txBody>
                    <a:bodyPr/>
                    <a:lstStyle/>
                    <a:p>
                      <a:pPr algn="ctr">
                        <a:defRPr sz="1400">
                          <a:solidFill>
                            <a:srgbClr val="1A1A1A"/>
                          </a:solidFill>
                        </a:defRPr>
                      </a:pPr>
                      <a:r>
                        <a:t>No published benchmark to compare to</a:t>
                      </a:r>
                    </a:p>
                  </a:txBody>
                  <a:tcPr marL="73152" marR="73152" marT="27432" marB="27432">
                    <a:solidFill>
                      <a:srgbClr val="F2F4F7"/>
                    </a:solidFill>
                  </a:tcPr>
                </a:tc>
              </a:tr>
            </a:tbl>
          </a:graphicData>
        </a:graphic>
      </p:graphicFrame>
      <p:sp>
        <p:nvSpPr>
          <p:cNvPr id="4" name="TextBox 3"/>
          <p:cNvSpPr txBox="1"/>
          <p:nvPr/>
        </p:nvSpPr>
        <p:spPr>
          <a:xfrm>
            <a:off x="685800" y="3840480"/>
            <a:ext cx="10881360" cy="1874519"/>
          </a:xfrm>
          <a:prstGeom prst="rect">
            <a:avLst/>
          </a:prstGeom>
          <a:noFill/>
        </p:spPr>
        <p:txBody>
          <a:bodyPr wrap="square">
            <a:spAutoFit/>
          </a:bodyPr>
          <a:lstStyle/>
          <a:p>
            <a:pPr>
              <a:spcAft>
                <a:spcPts val="1000"/>
              </a:spcAft>
              <a:defRPr sz="1500">
                <a:solidFill>
                  <a:srgbClr val="1A1A1A"/>
                </a:solidFill>
              </a:defRPr>
            </a:pPr>
            <a:r>
              <a:t>• Our AUC of 0.992 sits above the paper's 0.97 by more than measurement error — a real improvement.</a:t>
            </a:r>
          </a:p>
          <a:p>
            <a:pPr>
              <a:spcAft>
                <a:spcPts val="1000"/>
              </a:spcAft>
              <a:defRPr sz="1500">
                <a:solidFill>
                  <a:srgbClr val="1A1A1A"/>
                </a:solidFill>
              </a:defRPr>
            </a:pPr>
            <a:r>
              <a:t>• Our F1 measures anywhere from 0.83 to 0.90 depending on which patients land in the test set. The paper's 0.89 falls inside that range, so the two cannot be told apart.</a:t>
            </a:r>
          </a:p>
          <a:p>
            <a:pPr>
              <a:spcAft>
                <a:spcPts val="1000"/>
              </a:spcAft>
              <a:defRPr sz="1500">
                <a:solidFill>
                  <a:srgbClr val="1A1A1A"/>
                </a:solidFill>
              </a:defRPr>
            </a:pPr>
            <a:r>
              <a:t>• Closing the remaining 0.02 would mean catching about 6 more images out of 2,435 — less than the test set can reliably measure.</a:t>
            </a:r>
          </a:p>
          <a:p>
            <a:pPr>
              <a:spcAft>
                <a:spcPts val="1000"/>
              </a:spcAft>
              <a:defRPr sz="1500">
                <a:solidFill>
                  <a:srgbClr val="1A1A1A"/>
                </a:solidFill>
              </a:defRPr>
            </a:pPr>
            <a:r>
              <a:t>• This is a single model. It matches our earlier two-model ensemble on DR using half the models.</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E7A3C"/>
                </a:solidFill>
              </a:defRPr>
            </a:pPr>
            <a:r>
              <a:t>We beat the paper on AUC and match it on F1 — with one model instead of two.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The imbalance we had to handle</a:t>
            </a:r>
          </a:p>
          <a:p>
            <a:pPr>
              <a:defRPr sz="1500">
                <a:solidFill>
                  <a:srgbClr val="5A5A5A"/>
                </a:solidFill>
              </a:defRPr>
            </a:pPr>
            <a:r>
              <a:t>Almost every image in BRSET is healthy. That is why F1 lags behind AUC.</a:t>
            </a:r>
          </a:p>
        </p:txBody>
      </p:sp>
      <p:graphicFrame>
        <p:nvGraphicFramePr>
          <p:cNvPr id="3" name="Table 2"/>
          <p:cNvGraphicFramePr>
            <a:graphicFrameLocks noGrp="1"/>
          </p:cNvGraphicFramePr>
          <p:nvPr/>
        </p:nvGraphicFramePr>
        <p:xfrm>
          <a:off x="685800" y="1920240"/>
          <a:ext cx="9601200" cy="1463040"/>
        </p:xfrm>
        <a:graphic>
          <a:graphicData uri="http://schemas.openxmlformats.org/drawingml/2006/table">
            <a:tbl>
              <a:tblPr firstRow="1" bandRow="1">
                <a:tableStyleId>{5C22544A-7EE6-4342-B048-85BDC9FD1C3A}</a:tableStyleId>
              </a:tblPr>
              <a:tblGrid>
                <a:gridCol w="1706880"/>
                <a:gridCol w="1706880"/>
                <a:gridCol w="3200400"/>
                <a:gridCol w="2987040"/>
              </a:tblGrid>
              <a:tr h="365760">
                <a:tc>
                  <a:txBody>
                    <a:bodyPr/>
                    <a:lstStyle/>
                    <a:p>
                      <a:pPr algn="l">
                        <a:defRPr sz="1500" b="1">
                          <a:solidFill>
                            <a:srgbClr val="FFFFFF"/>
                          </a:solidFill>
                        </a:defRPr>
                      </a:pPr>
                      <a:r>
                        <a:t>Split</a:t>
                      </a:r>
                    </a:p>
                  </a:txBody>
                  <a:tcPr marL="73152" marR="73152" marT="27432" marB="27432">
                    <a:solidFill>
                      <a:srgbClr val="1F4E79"/>
                    </a:solidFill>
                  </a:tcPr>
                </a:tc>
                <a:tc>
                  <a:txBody>
                    <a:bodyPr/>
                    <a:lstStyle/>
                    <a:p>
                      <a:pPr algn="ctr">
                        <a:defRPr sz="1500" b="1">
                          <a:solidFill>
                            <a:srgbClr val="FFFFFF"/>
                          </a:solidFill>
                        </a:defRPr>
                      </a:pPr>
                      <a:r>
                        <a:t>Images</a:t>
                      </a:r>
                    </a:p>
                  </a:txBody>
                  <a:tcPr marL="73152" marR="73152" marT="27432" marB="27432">
                    <a:solidFill>
                      <a:srgbClr val="1F4E79"/>
                    </a:solidFill>
                  </a:tcPr>
                </a:tc>
                <a:tc>
                  <a:txBody>
                    <a:bodyPr/>
                    <a:lstStyle/>
                    <a:p>
                      <a:pPr algn="ctr">
                        <a:defRPr sz="1500" b="1">
                          <a:solidFill>
                            <a:srgbClr val="FFFFFF"/>
                          </a:solidFill>
                        </a:defRPr>
                      </a:pPr>
                      <a:r>
                        <a:t>With diabetic retinopathy</a:t>
                      </a:r>
                    </a:p>
                  </a:txBody>
                  <a:tcPr marL="73152" marR="73152" marT="27432" marB="27432">
                    <a:solidFill>
                      <a:srgbClr val="1F4E79"/>
                    </a:solidFill>
                  </a:tcPr>
                </a:tc>
                <a:tc>
                  <a:txBody>
                    <a:bodyPr/>
                    <a:lstStyle/>
                    <a:p>
                      <a:pPr algn="ctr">
                        <a:defRPr sz="1500" b="1">
                          <a:solidFill>
                            <a:srgbClr val="FFFFFF"/>
                          </a:solidFill>
                        </a:defRPr>
                      </a:pPr>
                      <a:r>
                        <a:t>With macular edema</a:t>
                      </a:r>
                    </a:p>
                  </a:txBody>
                  <a:tcPr marL="73152" marR="73152" marT="27432" marB="27432">
                    <a:solidFill>
                      <a:srgbClr val="1F4E79"/>
                    </a:solidFill>
                  </a:tcPr>
                </a:tc>
              </a:tr>
              <a:tr h="365760">
                <a:tc>
                  <a:txBody>
                    <a:bodyPr/>
                    <a:lstStyle/>
                    <a:p>
                      <a:pPr algn="l">
                        <a:defRPr sz="1500">
                          <a:solidFill>
                            <a:srgbClr val="1A1A1A"/>
                          </a:solidFill>
                        </a:defRPr>
                      </a:pPr>
                      <a:r>
                        <a:t>Train</a:t>
                      </a:r>
                    </a:p>
                  </a:txBody>
                  <a:tcPr marL="73152" marR="73152" marT="27432" marB="27432">
                    <a:solidFill>
                      <a:srgbClr val="FFFFFF"/>
                    </a:solidFill>
                  </a:tcPr>
                </a:tc>
                <a:tc>
                  <a:txBody>
                    <a:bodyPr/>
                    <a:lstStyle/>
                    <a:p>
                      <a:pPr algn="ctr">
                        <a:defRPr sz="1500">
                          <a:solidFill>
                            <a:srgbClr val="1A1A1A"/>
                          </a:solidFill>
                        </a:defRPr>
                      </a:pPr>
                      <a:r>
                        <a:t>11,372</a:t>
                      </a:r>
                    </a:p>
                  </a:txBody>
                  <a:tcPr marL="73152" marR="73152" marT="27432" marB="27432">
                    <a:solidFill>
                      <a:srgbClr val="FFFFFF"/>
                    </a:solidFill>
                  </a:tcPr>
                </a:tc>
                <a:tc>
                  <a:txBody>
                    <a:bodyPr/>
                    <a:lstStyle/>
                    <a:p>
                      <a:pPr algn="ctr">
                        <a:defRPr sz="1500">
                          <a:solidFill>
                            <a:srgbClr val="1A1A1A"/>
                          </a:solidFill>
                        </a:defRPr>
                      </a:pPr>
                      <a:r>
                        <a:t>748  (6.6%)</a:t>
                      </a:r>
                    </a:p>
                  </a:txBody>
                  <a:tcPr marL="73152" marR="73152" marT="27432" marB="27432">
                    <a:solidFill>
                      <a:srgbClr val="FFFFFF"/>
                    </a:solidFill>
                  </a:tcPr>
                </a:tc>
                <a:tc>
                  <a:txBody>
                    <a:bodyPr/>
                    <a:lstStyle/>
                    <a:p>
                      <a:pPr algn="ctr">
                        <a:defRPr sz="1500">
                          <a:solidFill>
                            <a:srgbClr val="1A1A1A"/>
                          </a:solidFill>
                        </a:defRPr>
                      </a:pPr>
                      <a:r>
                        <a:t>274  (2.4%)</a:t>
                      </a:r>
                    </a:p>
                  </a:txBody>
                  <a:tcPr marL="73152" marR="73152" marT="27432" marB="27432">
                    <a:solidFill>
                      <a:srgbClr val="FFFFFF"/>
                    </a:solidFill>
                  </a:tcPr>
                </a:tc>
              </a:tr>
              <a:tr h="365760">
                <a:tc>
                  <a:txBody>
                    <a:bodyPr/>
                    <a:lstStyle/>
                    <a:p>
                      <a:pPr algn="l">
                        <a:defRPr sz="1500">
                          <a:solidFill>
                            <a:srgbClr val="1A1A1A"/>
                          </a:solidFill>
                        </a:defRPr>
                      </a:pPr>
                      <a:r>
                        <a:t>Validation</a:t>
                      </a:r>
                    </a:p>
                  </a:txBody>
                  <a:tcPr marL="73152" marR="73152" marT="27432" marB="27432">
                    <a:solidFill>
                      <a:srgbClr val="F2F4F7"/>
                    </a:solidFill>
                  </a:tcPr>
                </a:tc>
                <a:tc>
                  <a:txBody>
                    <a:bodyPr/>
                    <a:lstStyle/>
                    <a:p>
                      <a:pPr algn="ctr">
                        <a:defRPr sz="1500">
                          <a:solidFill>
                            <a:srgbClr val="1A1A1A"/>
                          </a:solidFill>
                        </a:defRPr>
                      </a:pPr>
                      <a:r>
                        <a:t>2,451</a:t>
                      </a:r>
                    </a:p>
                  </a:txBody>
                  <a:tcPr marL="73152" marR="73152" marT="27432" marB="27432">
                    <a:solidFill>
                      <a:srgbClr val="F2F4F7"/>
                    </a:solidFill>
                  </a:tcPr>
                </a:tc>
                <a:tc>
                  <a:txBody>
                    <a:bodyPr/>
                    <a:lstStyle/>
                    <a:p>
                      <a:pPr algn="ctr">
                        <a:defRPr sz="1500">
                          <a:solidFill>
                            <a:srgbClr val="1A1A1A"/>
                          </a:solidFill>
                        </a:defRPr>
                      </a:pPr>
                      <a:r>
                        <a:t>159  (6.5%)</a:t>
                      </a:r>
                    </a:p>
                  </a:txBody>
                  <a:tcPr marL="73152" marR="73152" marT="27432" marB="27432">
                    <a:solidFill>
                      <a:srgbClr val="F2F4F7"/>
                    </a:solidFill>
                  </a:tcPr>
                </a:tc>
                <a:tc>
                  <a:txBody>
                    <a:bodyPr/>
                    <a:lstStyle/>
                    <a:p>
                      <a:pPr algn="ctr">
                        <a:defRPr sz="1500">
                          <a:solidFill>
                            <a:srgbClr val="1A1A1A"/>
                          </a:solidFill>
                        </a:defRPr>
                      </a:pPr>
                      <a:r>
                        <a:t>65  (2.7%)</a:t>
                      </a:r>
                    </a:p>
                  </a:txBody>
                  <a:tcPr marL="73152" marR="73152" marT="27432" marB="27432">
                    <a:solidFill>
                      <a:srgbClr val="F2F4F7"/>
                    </a:solidFill>
                  </a:tcPr>
                </a:tc>
              </a:tr>
              <a:tr h="365760">
                <a:tc>
                  <a:txBody>
                    <a:bodyPr/>
                    <a:lstStyle/>
                    <a:p>
                      <a:pPr algn="l">
                        <a:defRPr sz="1500">
                          <a:solidFill>
                            <a:srgbClr val="1A1A1A"/>
                          </a:solidFill>
                        </a:defRPr>
                      </a:pPr>
                      <a:r>
                        <a:t>Test</a:t>
                      </a:r>
                    </a:p>
                  </a:txBody>
                  <a:tcPr marL="73152" marR="73152" marT="27432" marB="27432">
                    <a:solidFill>
                      <a:srgbClr val="FFFFFF"/>
                    </a:solidFill>
                  </a:tcPr>
                </a:tc>
                <a:tc>
                  <a:txBody>
                    <a:bodyPr/>
                    <a:lstStyle/>
                    <a:p>
                      <a:pPr algn="ctr">
                        <a:defRPr sz="1500">
                          <a:solidFill>
                            <a:srgbClr val="1A1A1A"/>
                          </a:solidFill>
                        </a:defRPr>
                      </a:pPr>
                      <a:r>
                        <a:t>2,435</a:t>
                      </a:r>
                    </a:p>
                  </a:txBody>
                  <a:tcPr marL="73152" marR="73152" marT="27432" marB="27432">
                    <a:solidFill>
                      <a:srgbClr val="FFFFFF"/>
                    </a:solidFill>
                  </a:tcPr>
                </a:tc>
                <a:tc>
                  <a:txBody>
                    <a:bodyPr/>
                    <a:lstStyle/>
                    <a:p>
                      <a:pPr algn="ctr">
                        <a:defRPr sz="1500">
                          <a:solidFill>
                            <a:srgbClr val="1A1A1A"/>
                          </a:solidFill>
                        </a:defRPr>
                      </a:pPr>
                      <a:r>
                        <a:t>162  (6.7%)</a:t>
                      </a:r>
                    </a:p>
                  </a:txBody>
                  <a:tcPr marL="73152" marR="73152" marT="27432" marB="27432">
                    <a:solidFill>
                      <a:srgbClr val="FFFFFF"/>
                    </a:solidFill>
                  </a:tcPr>
                </a:tc>
                <a:tc>
                  <a:txBody>
                    <a:bodyPr/>
                    <a:lstStyle/>
                    <a:p>
                      <a:pPr algn="ctr">
                        <a:defRPr sz="1500">
                          <a:solidFill>
                            <a:srgbClr val="1A1A1A"/>
                          </a:solidFill>
                        </a:defRPr>
                      </a:pPr>
                      <a:r>
                        <a:t>61  (2.5%)</a:t>
                      </a:r>
                    </a:p>
                  </a:txBody>
                  <a:tcPr marL="73152" marR="73152" marT="27432" marB="27432">
                    <a:solidFill>
                      <a:srgbClr val="FFFFFF"/>
                    </a:solidFill>
                  </a:tcPr>
                </a:tc>
              </a:tr>
            </a:tbl>
          </a:graphicData>
        </a:graphic>
      </p:graphicFrame>
      <p:sp>
        <p:nvSpPr>
          <p:cNvPr id="4" name="TextBox 3"/>
          <p:cNvSpPr txBox="1"/>
          <p:nvPr/>
        </p:nvSpPr>
        <p:spPr>
          <a:xfrm>
            <a:off x="685800" y="3749039"/>
            <a:ext cx="10881360" cy="1920240"/>
          </a:xfrm>
          <a:prstGeom prst="rect">
            <a:avLst/>
          </a:prstGeom>
          <a:noFill/>
        </p:spPr>
        <p:txBody>
          <a:bodyPr wrap="square">
            <a:spAutoFit/>
          </a:bodyPr>
          <a:lstStyle/>
          <a:p>
            <a:pPr>
              <a:spcAft>
                <a:spcPts val="1000"/>
              </a:spcAft>
              <a:defRPr sz="1600">
                <a:solidFill>
                  <a:srgbClr val="1A1A1A"/>
                </a:solidFill>
              </a:defRPr>
            </a:pPr>
            <a:r>
              <a:t>• Roughly 15 healthy images for every 1 with disease — and 40 to 1 for macular edema.</a:t>
            </a:r>
          </a:p>
          <a:p>
            <a:pPr>
              <a:spcAft>
                <a:spcPts val="1000"/>
              </a:spcAft>
              <a:defRPr sz="1600">
                <a:solidFill>
                  <a:srgbClr val="1A1A1A"/>
                </a:solidFill>
              </a:defRPr>
            </a:pPr>
            <a:r>
              <a:t>• A model can score 93% accuracy by calling everything healthy, and be useless. So we never report accuracy alone.</a:t>
            </a:r>
          </a:p>
          <a:p>
            <a:pPr>
              <a:spcAft>
                <a:spcPts val="1000"/>
              </a:spcAft>
              <a:defRPr sz="1600">
                <a:solidFill>
                  <a:srgbClr val="1A1A1A"/>
                </a:solidFill>
              </a:defRPr>
            </a:pPr>
            <a:r>
              <a:t>• AUC stays high because ranking sick above healthy is easy. F1 suffers because the model,</a:t>
            </a:r>
          </a:p>
          <a:p>
            <a:pPr lvl="1">
              <a:spcAft>
                <a:spcPts val="1000"/>
              </a:spcAft>
              <a:defRPr sz="1400">
                <a:solidFill>
                  <a:srgbClr val="5A5A5A"/>
                </a:solidFill>
              </a:defRPr>
            </a:pPr>
            <a:r>
              <a:t>– seeing mostly healthy eyes, becomes reluctant to call anything diseased.</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The imbalance is the reason F1 is the hard metric here — not AUC.</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1 — How the imbalance was addressed</a:t>
            </a:r>
          </a:p>
          <a:p>
            <a:pPr>
              <a:defRPr sz="1500">
                <a:solidFill>
                  <a:srgbClr val="5A5A5A"/>
                </a:solidFill>
              </a:defRPr>
            </a:pPr>
            <a:r>
              <a:t>BRSET has about 15 healthy images for every diseased one. Four steps stop the majority drowning out the rest.</a:t>
            </a:r>
          </a:p>
        </p:txBody>
      </p:sp>
      <p:sp>
        <p:nvSpPr>
          <p:cNvPr id="3" name="TextBox 2"/>
          <p:cNvSpPr txBox="1"/>
          <p:nvPr/>
        </p:nvSpPr>
        <p:spPr>
          <a:xfrm>
            <a:off x="685800" y="1965960"/>
            <a:ext cx="10881360" cy="1965960"/>
          </a:xfrm>
          <a:prstGeom prst="rect">
            <a:avLst/>
          </a:prstGeom>
          <a:noFill/>
        </p:spPr>
        <p:txBody>
          <a:bodyPr wrap="square">
            <a:spAutoFit/>
          </a:bodyPr>
          <a:lstStyle/>
          <a:p>
            <a:pPr>
              <a:spcAft>
                <a:spcPts val="1000"/>
              </a:spcAft>
              <a:defRPr sz="1700">
                <a:solidFill>
                  <a:srgbClr val="1A1A1A"/>
                </a:solidFill>
              </a:defRPr>
            </a:pPr>
            <a:r>
              <a:t>• Focal loss — the model stops spending effort on images it already gets right, and concentrates on the hard ones.</a:t>
            </a:r>
          </a:p>
          <a:p>
            <a:pPr>
              <a:spcAft>
                <a:spcPts val="1000"/>
              </a:spcAft>
              <a:defRPr sz="1700">
                <a:solidFill>
                  <a:srgbClr val="1A1A1A"/>
                </a:solidFill>
              </a:defRPr>
            </a:pPr>
            <a:r>
              <a:t>• Oversampling — rare diseased images are shown more often during training than they naturally occur.</a:t>
            </a:r>
          </a:p>
          <a:p>
            <a:pPr>
              <a:spcAft>
                <a:spcPts val="1000"/>
              </a:spcAft>
              <a:defRPr sz="1700">
                <a:solidFill>
                  <a:srgbClr val="1A1A1A"/>
                </a:solidFill>
              </a:defRPr>
            </a:pPr>
            <a:r>
              <a:t>• Tuned referral cutoff — chosen on validation data, separately for each finding, instead of a blind 0.5.</a:t>
            </a:r>
          </a:p>
          <a:p>
            <a:pPr>
              <a:spcAft>
                <a:spcPts val="1000"/>
              </a:spcAft>
              <a:defRPr sz="1700">
                <a:solidFill>
                  <a:srgbClr val="1A1A1A"/>
                </a:solidFill>
              </a:defRPr>
            </a:pPr>
            <a:r>
              <a:t>• Averaging — the model is averaged over training, and each image is predicted from four flipped copies.</a:t>
            </a:r>
          </a:p>
        </p:txBody>
      </p:sp>
      <p:graphicFrame>
        <p:nvGraphicFramePr>
          <p:cNvPr id="4" name="Table 3"/>
          <p:cNvGraphicFramePr>
            <a:graphicFrameLocks noGrp="1"/>
          </p:cNvGraphicFramePr>
          <p:nvPr/>
        </p:nvGraphicFramePr>
        <p:xfrm>
          <a:off x="685800" y="4114800"/>
          <a:ext cx="10058399" cy="1234440"/>
        </p:xfrm>
        <a:graphic>
          <a:graphicData uri="http://schemas.openxmlformats.org/drawingml/2006/table">
            <a:tbl>
              <a:tblPr firstRow="1" bandRow="1">
                <a:tableStyleId>{5C22544A-7EE6-4342-B048-85BDC9FD1C3A}</a:tableStyleId>
              </a:tblPr>
              <a:tblGrid>
                <a:gridCol w="4062046"/>
                <a:gridCol w="1257300"/>
                <a:gridCol w="1257300"/>
                <a:gridCol w="3481753"/>
              </a:tblGrid>
              <a:tr h="411480">
                <a:tc>
                  <a:txBody>
                    <a:bodyPr/>
                    <a:lstStyle/>
                    <a:p>
                      <a:pPr algn="l">
                        <a:defRPr sz="1300" b="1">
                          <a:solidFill>
                            <a:srgbClr val="FFFFFF"/>
                          </a:solidFill>
                        </a:defRPr>
                      </a:pPr>
                      <a:r>
                        <a:t>Loss function tested</a:t>
                      </a:r>
                    </a:p>
                  </a:txBody>
                  <a:tcPr marL="73152" marR="73152" marT="27432" marB="27432">
                    <a:solidFill>
                      <a:srgbClr val="1F4E79"/>
                    </a:solidFill>
                  </a:tcPr>
                </a:tc>
                <a:tc>
                  <a:txBody>
                    <a:bodyPr/>
                    <a:lstStyle/>
                    <a:p>
                      <a:pPr algn="ctr">
                        <a:defRPr sz="1300" b="1">
                          <a:solidFill>
                            <a:srgbClr val="FFFFFF"/>
                          </a:solidFill>
                        </a:defRPr>
                      </a:pPr>
                      <a:r>
                        <a:t>DR F1</a:t>
                      </a:r>
                    </a:p>
                  </a:txBody>
                  <a:tcPr marL="73152" marR="73152" marT="27432" marB="27432">
                    <a:solidFill>
                      <a:srgbClr val="1F4E79"/>
                    </a:solidFill>
                  </a:tcPr>
                </a:tc>
                <a:tc>
                  <a:txBody>
                    <a:bodyPr/>
                    <a:lstStyle/>
                    <a:p>
                      <a:pPr algn="ctr">
                        <a:defRPr sz="1300" b="1">
                          <a:solidFill>
                            <a:srgbClr val="FFFFFF"/>
                          </a:solidFill>
                        </a:defRPr>
                      </a:pPr>
                      <a:r>
                        <a:t>ME F1</a:t>
                      </a:r>
                    </a:p>
                  </a:txBody>
                  <a:tcPr marL="73152" marR="73152" marT="27432" marB="27432">
                    <a:solidFill>
                      <a:srgbClr val="1F4E79"/>
                    </a:solidFill>
                  </a:tcPr>
                </a:tc>
                <a:tc>
                  <a:txBody>
                    <a:bodyPr/>
                    <a:lstStyle/>
                    <a:p>
                      <a:pPr algn="ctr">
                        <a:defRPr sz="1300" b="1">
                          <a:solidFill>
                            <a:srgbClr val="FFFFFF"/>
                          </a:solidFill>
                        </a:defRPr>
                      </a:pPr>
                      <a:r>
                        <a:t>Outcome</a:t>
                      </a:r>
                    </a:p>
                  </a:txBody>
                  <a:tcPr marL="73152" marR="73152" marT="27432" marB="27432">
                    <a:solidFill>
                      <a:srgbClr val="1F4E79"/>
                    </a:solidFill>
                  </a:tcPr>
                </a:tc>
              </a:tr>
              <a:tr h="411480">
                <a:tc>
                  <a:txBody>
                    <a:bodyPr/>
                    <a:lstStyle/>
                    <a:p>
                      <a:pPr algn="l">
                        <a:defRPr sz="1300">
                          <a:solidFill>
                            <a:srgbClr val="1A1A1A"/>
                          </a:solidFill>
                        </a:defRPr>
                      </a:pPr>
                      <a:r>
                        <a:t>Focal loss — one dial for all images</a:t>
                      </a:r>
                    </a:p>
                  </a:txBody>
                  <a:tcPr marL="73152" marR="73152" marT="27432" marB="27432">
                    <a:solidFill>
                      <a:srgbClr val="FFFFFF"/>
                    </a:solidFill>
                  </a:tcPr>
                </a:tc>
                <a:tc>
                  <a:txBody>
                    <a:bodyPr/>
                    <a:lstStyle/>
                    <a:p>
                      <a:pPr algn="ctr">
                        <a:defRPr sz="1300">
                          <a:solidFill>
                            <a:srgbClr val="1A1A1A"/>
                          </a:solidFill>
                        </a:defRPr>
                      </a:pPr>
                      <a:r>
                        <a:t>0.869</a:t>
                      </a:r>
                    </a:p>
                  </a:txBody>
                  <a:tcPr marL="73152" marR="73152" marT="27432" marB="27432">
                    <a:solidFill>
                      <a:srgbClr val="FFFFFF"/>
                    </a:solidFill>
                  </a:tcPr>
                </a:tc>
                <a:tc>
                  <a:txBody>
                    <a:bodyPr/>
                    <a:lstStyle/>
                    <a:p>
                      <a:pPr algn="ctr">
                        <a:defRPr sz="1300">
                          <a:solidFill>
                            <a:srgbClr val="1A1A1A"/>
                          </a:solidFill>
                        </a:defRPr>
                      </a:pPr>
                      <a:r>
                        <a:t>0.748</a:t>
                      </a:r>
                    </a:p>
                  </a:txBody>
                  <a:tcPr marL="73152" marR="73152" marT="27432" marB="27432">
                    <a:solidFill>
                      <a:srgbClr val="FFFFFF"/>
                    </a:solidFill>
                  </a:tcPr>
                </a:tc>
                <a:tc>
                  <a:txBody>
                    <a:bodyPr/>
                    <a:lstStyle/>
                    <a:p>
                      <a:pPr algn="ctr">
                        <a:defRPr sz="1300">
                          <a:solidFill>
                            <a:srgbClr val="1A1A1A"/>
                          </a:solidFill>
                        </a:defRPr>
                      </a:pPr>
                      <a:r>
                        <a:t>Kept</a:t>
                      </a:r>
                    </a:p>
                  </a:txBody>
                  <a:tcPr marL="73152" marR="73152" marT="27432" marB="27432">
                    <a:solidFill>
                      <a:srgbClr val="FFFFFF"/>
                    </a:solidFill>
                  </a:tcPr>
                </a:tc>
              </a:tr>
              <a:tr h="411480">
                <a:tc>
                  <a:txBody>
                    <a:bodyPr/>
                    <a:lstStyle/>
                    <a:p>
                      <a:pPr algn="l">
                        <a:defRPr sz="1300">
                          <a:solidFill>
                            <a:srgbClr val="1A1A1A"/>
                          </a:solidFill>
                        </a:defRPr>
                      </a:pPr>
                      <a:r>
                        <a:t>Asymmetric Loss — separate dials for</a:t>
                      </a:r>
                    </a:p>
                    <a:p>
                      <a:r>
                        <a:t>healthy and for diseased images</a:t>
                      </a:r>
                    </a:p>
                  </a:txBody>
                  <a:tcPr marL="73152" marR="73152" marT="27432" marB="27432">
                    <a:solidFill>
                      <a:srgbClr val="F2F4F7"/>
                    </a:solidFill>
                  </a:tcPr>
                </a:tc>
                <a:tc>
                  <a:txBody>
                    <a:bodyPr/>
                    <a:lstStyle/>
                    <a:p>
                      <a:pPr algn="ctr">
                        <a:defRPr sz="1300">
                          <a:solidFill>
                            <a:srgbClr val="1A1A1A"/>
                          </a:solidFill>
                        </a:defRPr>
                      </a:pPr>
                      <a:r>
                        <a:t>0.834</a:t>
                      </a:r>
                    </a:p>
                  </a:txBody>
                  <a:tcPr marL="73152" marR="73152" marT="27432" marB="27432">
                    <a:solidFill>
                      <a:srgbClr val="F2F4F7"/>
                    </a:solidFill>
                  </a:tcPr>
                </a:tc>
                <a:tc>
                  <a:txBody>
                    <a:bodyPr/>
                    <a:lstStyle/>
                    <a:p>
                      <a:pPr algn="ctr">
                        <a:defRPr sz="1300">
                          <a:solidFill>
                            <a:srgbClr val="1A1A1A"/>
                          </a:solidFill>
                        </a:defRPr>
                      </a:pPr>
                      <a:r>
                        <a:t>0.758</a:t>
                      </a:r>
                    </a:p>
                  </a:txBody>
                  <a:tcPr marL="73152" marR="73152" marT="27432" marB="27432">
                    <a:solidFill>
                      <a:srgbClr val="F2F4F7"/>
                    </a:solidFill>
                  </a:tcPr>
                </a:tc>
                <a:tc>
                  <a:txBody>
                    <a:bodyPr/>
                    <a:lstStyle/>
                    <a:p>
                      <a:pPr algn="ctr">
                        <a:defRPr sz="1300">
                          <a:solidFill>
                            <a:srgbClr val="1A1A1A"/>
                          </a:solidFill>
                        </a:defRPr>
                      </a:pPr>
                      <a:r>
                        <a:t>Clearly worse on DR — not used</a:t>
                      </a:r>
                    </a:p>
                  </a:txBody>
                  <a:tcPr marL="73152" marR="73152" marT="27432" marB="27432">
                    <a:solidFill>
                      <a:srgbClr val="F2F4F7"/>
                    </a:solidFill>
                  </a:tcPr>
                </a:tc>
              </a:tr>
            </a:tbl>
          </a:graphicData>
        </a:graphic>
      </p:graphicFrame>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We tested a more elaborate alternative. It did not help, so the simpler standard loss stands.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2 — The BRSET → mBRSET problem</a:t>
            </a:r>
          </a:p>
          <a:p>
            <a:pPr>
              <a:defRPr sz="1500">
                <a:solidFill>
                  <a:srgbClr val="5A5A5A"/>
                </a:solidFill>
              </a:defRPr>
            </a:pPr>
            <a:r>
              <a:t>BRSET: tabletop hospital cameras. mBRSET: handheld smartphone camera, community screening, 83% with artifacts.</a:t>
            </a:r>
          </a:p>
        </p:txBody>
      </p:sp>
      <p:graphicFrame>
        <p:nvGraphicFramePr>
          <p:cNvPr id="3" name="Table 2"/>
          <p:cNvGraphicFramePr>
            <a:graphicFrameLocks noGrp="1"/>
          </p:cNvGraphicFramePr>
          <p:nvPr/>
        </p:nvGraphicFramePr>
        <p:xfrm>
          <a:off x="685800" y="2011680"/>
          <a:ext cx="10789918" cy="1645919"/>
        </p:xfrm>
        <a:graphic>
          <a:graphicData uri="http://schemas.openxmlformats.org/drawingml/2006/table">
            <a:tbl>
              <a:tblPr firstRow="1" bandRow="1">
                <a:tableStyleId>{5C22544A-7EE6-4342-B048-85BDC9FD1C3A}</a:tableStyleId>
              </a:tblPr>
              <a:tblGrid>
                <a:gridCol w="3534628"/>
                <a:gridCol w="2418430"/>
                <a:gridCol w="2418430"/>
                <a:gridCol w="2418430"/>
              </a:tblGrid>
              <a:tr h="329183">
                <a:tc>
                  <a:txBody>
                    <a:bodyPr/>
                    <a:lstStyle/>
                    <a:p>
                      <a:pPr algn="l">
                        <a:defRPr sz="1400" b="1">
                          <a:solidFill>
                            <a:srgbClr val="FFFFFF"/>
                          </a:solidFill>
                        </a:defRPr>
                      </a:pPr>
                      <a:r>
                        <a:t>Trained → Tested</a:t>
                      </a:r>
                    </a:p>
                  </a:txBody>
                  <a:tcPr marL="73152" marR="73152" marT="27432" marB="27432">
                    <a:solidFill>
                      <a:srgbClr val="1F4E79"/>
                    </a:solidFill>
                  </a:tcPr>
                </a:tc>
                <a:tc>
                  <a:txBody>
                    <a:bodyPr/>
                    <a:lstStyle/>
                    <a:p>
                      <a:pPr algn="ctr">
                        <a:defRPr sz="1400" b="1">
                          <a:solidFill>
                            <a:srgbClr val="FFFFFF"/>
                          </a:solidFill>
                        </a:defRPr>
                      </a:pPr>
                      <a:r>
                        <a:t>AUC (DR / ME)</a:t>
                      </a:r>
                    </a:p>
                  </a:txBody>
                  <a:tcPr marL="73152" marR="73152" marT="27432" marB="27432">
                    <a:solidFill>
                      <a:srgbClr val="1F4E79"/>
                    </a:solidFill>
                  </a:tcPr>
                </a:tc>
                <a:tc>
                  <a:txBody>
                    <a:bodyPr/>
                    <a:lstStyle/>
                    <a:p>
                      <a:pPr algn="ctr">
                        <a:defRPr sz="1400" b="1">
                          <a:solidFill>
                            <a:srgbClr val="FFFFFF"/>
                          </a:solidFill>
                        </a:defRPr>
                      </a:pPr>
                      <a:r>
                        <a:t>F1 (DR / ME)</a:t>
                      </a:r>
                    </a:p>
                  </a:txBody>
                  <a:tcPr marL="73152" marR="73152" marT="27432" marB="27432">
                    <a:solidFill>
                      <a:srgbClr val="1F4E79"/>
                    </a:solidFill>
                  </a:tcPr>
                </a:tc>
                <a:tc>
                  <a:txBody>
                    <a:bodyPr/>
                    <a:lstStyle/>
                    <a:p>
                      <a:pPr algn="ctr">
                        <a:defRPr sz="1400" b="1">
                          <a:solidFill>
                            <a:srgbClr val="FFFFFF"/>
                          </a:solidFill>
                        </a:defRPr>
                      </a:pPr>
                      <a:r>
                        <a:t>Recall (DR / ME)</a:t>
                      </a:r>
                    </a:p>
                  </a:txBody>
                  <a:tcPr marL="73152" marR="73152" marT="27432" marB="27432">
                    <a:solidFill>
                      <a:srgbClr val="1F4E79"/>
                    </a:solidFill>
                  </a:tcPr>
                </a:tc>
              </a:tr>
              <a:tr h="329183">
                <a:tc>
                  <a:txBody>
                    <a:bodyPr/>
                    <a:lstStyle/>
                    <a:p>
                      <a:pPr algn="l">
                        <a:defRPr sz="1400">
                          <a:solidFill>
                            <a:srgbClr val="1A1A1A"/>
                          </a:solidFill>
                        </a:defRPr>
                      </a:pPr>
                      <a:r>
                        <a:t>BRSET → BRSET (in-domain)</a:t>
                      </a:r>
                    </a:p>
                  </a:txBody>
                  <a:tcPr marL="73152" marR="73152" marT="27432" marB="27432">
                    <a:solidFill>
                      <a:srgbClr val="FFFFFF"/>
                    </a:solidFill>
                  </a:tcPr>
                </a:tc>
                <a:tc>
                  <a:txBody>
                    <a:bodyPr/>
                    <a:lstStyle/>
                    <a:p>
                      <a:pPr algn="ctr">
                        <a:defRPr sz="1400">
                          <a:solidFill>
                            <a:srgbClr val="1A1A1A"/>
                          </a:solidFill>
                        </a:defRPr>
                      </a:pPr>
                      <a:r>
                        <a:t>0.988 / 0.994</a:t>
                      </a:r>
                    </a:p>
                  </a:txBody>
                  <a:tcPr marL="73152" marR="73152" marT="27432" marB="27432">
                    <a:solidFill>
                      <a:srgbClr val="FFFFFF"/>
                    </a:solidFill>
                  </a:tcPr>
                </a:tc>
                <a:tc>
                  <a:txBody>
                    <a:bodyPr/>
                    <a:lstStyle/>
                    <a:p>
                      <a:pPr algn="ctr">
                        <a:defRPr sz="1400">
                          <a:solidFill>
                            <a:srgbClr val="1A1A1A"/>
                          </a:solidFill>
                        </a:defRPr>
                      </a:pPr>
                      <a:r>
                        <a:t>0.869 / 0.790</a:t>
                      </a:r>
                    </a:p>
                  </a:txBody>
                  <a:tcPr marL="73152" marR="73152" marT="27432" marB="27432">
                    <a:solidFill>
                      <a:srgbClr val="FFFFFF"/>
                    </a:solidFill>
                  </a:tcPr>
                </a:tc>
                <a:tc>
                  <a:txBody>
                    <a:bodyPr/>
                    <a:lstStyle/>
                    <a:p>
                      <a:pPr algn="ctr">
                        <a:defRPr sz="1400">
                          <a:solidFill>
                            <a:srgbClr val="1A1A1A"/>
                          </a:solidFill>
                        </a:defRPr>
                      </a:pPr>
                      <a:r>
                        <a:t>0.877 / 0.770</a:t>
                      </a:r>
                    </a:p>
                  </a:txBody>
                  <a:tcPr marL="73152" marR="73152" marT="27432" marB="27432">
                    <a:solidFill>
                      <a:srgbClr val="FFFFFF"/>
                    </a:solidFill>
                  </a:tcPr>
                </a:tc>
              </a:tr>
              <a:tr h="329183">
                <a:tc>
                  <a:txBody>
                    <a:bodyPr/>
                    <a:lstStyle/>
                    <a:p>
                      <a:pPr algn="l">
                        <a:defRPr sz="1400">
                          <a:solidFill>
                            <a:srgbClr val="1A1A1A"/>
                          </a:solidFill>
                        </a:defRPr>
                      </a:pPr>
                      <a:r>
                        <a:t>mBRSET → mBRSET (in-domain)</a:t>
                      </a:r>
                    </a:p>
                  </a:txBody>
                  <a:tcPr marL="73152" marR="73152" marT="27432" marB="27432">
                    <a:solidFill>
                      <a:srgbClr val="F2F4F7"/>
                    </a:solidFill>
                  </a:tcPr>
                </a:tc>
                <a:tc>
                  <a:txBody>
                    <a:bodyPr/>
                    <a:lstStyle/>
                    <a:p>
                      <a:pPr algn="ctr">
                        <a:defRPr sz="1400">
                          <a:solidFill>
                            <a:srgbClr val="1A1A1A"/>
                          </a:solidFill>
                        </a:defRPr>
                      </a:pPr>
                      <a:r>
                        <a:t>0.939 / 0.988</a:t>
                      </a:r>
                    </a:p>
                  </a:txBody>
                  <a:tcPr marL="73152" marR="73152" marT="27432" marB="27432">
                    <a:solidFill>
                      <a:srgbClr val="F2F4F7"/>
                    </a:solidFill>
                  </a:tcPr>
                </a:tc>
                <a:tc>
                  <a:txBody>
                    <a:bodyPr/>
                    <a:lstStyle/>
                    <a:p>
                      <a:pPr algn="ctr">
                        <a:defRPr sz="1400">
                          <a:solidFill>
                            <a:srgbClr val="1A1A1A"/>
                          </a:solidFill>
                        </a:defRPr>
                      </a:pPr>
                      <a:r>
                        <a:t>0.815 / 0.807</a:t>
                      </a:r>
                    </a:p>
                  </a:txBody>
                  <a:tcPr marL="73152" marR="73152" marT="27432" marB="27432">
                    <a:solidFill>
                      <a:srgbClr val="F2F4F7"/>
                    </a:solidFill>
                  </a:tcPr>
                </a:tc>
                <a:tc>
                  <a:txBody>
                    <a:bodyPr/>
                    <a:lstStyle/>
                    <a:p>
                      <a:pPr algn="ctr">
                        <a:defRPr sz="1400">
                          <a:solidFill>
                            <a:srgbClr val="1A1A1A"/>
                          </a:solidFill>
                        </a:defRPr>
                      </a:pPr>
                      <a:r>
                        <a:t>0.774 / 0.730</a:t>
                      </a:r>
                    </a:p>
                  </a:txBody>
                  <a:tcPr marL="73152" marR="73152" marT="27432" marB="27432">
                    <a:solidFill>
                      <a:srgbClr val="F2F4F7"/>
                    </a:solidFill>
                  </a:tcPr>
                </a:tc>
              </a:tr>
              <a:tr h="329183">
                <a:tc>
                  <a:txBody>
                    <a:bodyPr/>
                    <a:lstStyle/>
                    <a:p>
                      <a:pPr algn="l">
                        <a:defRPr sz="1400">
                          <a:solidFill>
                            <a:srgbClr val="1A1A1A"/>
                          </a:solidFill>
                        </a:defRPr>
                      </a:pPr>
                      <a:r>
                        <a:t>BRSET → mBRSET, BRSET threshold</a:t>
                      </a:r>
                    </a:p>
                  </a:txBody>
                  <a:tcPr marL="73152" marR="73152" marT="27432" marB="27432">
                    <a:solidFill>
                      <a:srgbClr val="FFFFFF"/>
                    </a:solidFill>
                  </a:tcPr>
                </a:tc>
                <a:tc>
                  <a:txBody>
                    <a:bodyPr/>
                    <a:lstStyle/>
                    <a:p>
                      <a:pPr algn="ctr">
                        <a:defRPr sz="1400">
                          <a:solidFill>
                            <a:srgbClr val="1A1A1A"/>
                          </a:solidFill>
                        </a:defRPr>
                      </a:pPr>
                      <a:r>
                        <a:t>0.909 / 0.933</a:t>
                      </a:r>
                    </a:p>
                  </a:txBody>
                  <a:tcPr marL="73152" marR="73152" marT="27432" marB="27432">
                    <a:solidFill>
                      <a:srgbClr val="FFFFFF"/>
                    </a:solidFill>
                  </a:tcPr>
                </a:tc>
                <a:tc>
                  <a:txBody>
                    <a:bodyPr/>
                    <a:lstStyle/>
                    <a:p>
                      <a:pPr algn="ctr">
                        <a:defRPr sz="1400">
                          <a:solidFill>
                            <a:srgbClr val="1A1A1A"/>
                          </a:solidFill>
                        </a:defRPr>
                      </a:pPr>
                      <a:r>
                        <a:t>0.661 / 0.566</a:t>
                      </a:r>
                    </a:p>
                  </a:txBody>
                  <a:tcPr marL="73152" marR="73152" marT="27432" marB="27432">
                    <a:solidFill>
                      <a:srgbClr val="FFFFFF"/>
                    </a:solidFill>
                  </a:tcPr>
                </a:tc>
                <a:tc>
                  <a:txBody>
                    <a:bodyPr/>
                    <a:lstStyle/>
                    <a:p>
                      <a:pPr algn="ctr">
                        <a:defRPr sz="1400">
                          <a:solidFill>
                            <a:srgbClr val="1A1A1A"/>
                          </a:solidFill>
                        </a:defRPr>
                      </a:pPr>
                      <a:r>
                        <a:t>0.503 / 0.444</a:t>
                      </a:r>
                    </a:p>
                  </a:txBody>
                  <a:tcPr marL="73152" marR="73152" marT="27432" marB="27432">
                    <a:solidFill>
                      <a:srgbClr val="FFFFFF"/>
                    </a:solidFill>
                  </a:tcPr>
                </a:tc>
              </a:tr>
              <a:tr h="329187">
                <a:tc>
                  <a:txBody>
                    <a:bodyPr/>
                    <a:lstStyle/>
                    <a:p>
                      <a:pPr algn="l">
                        <a:defRPr sz="1400" b="1">
                          <a:solidFill>
                            <a:srgbClr val="1A1A1A"/>
                          </a:solidFill>
                        </a:defRPr>
                      </a:pPr>
                      <a:r>
                        <a:t>BRSET → mBRSET, threshold retuned</a:t>
                      </a:r>
                    </a:p>
                  </a:txBody>
                  <a:tcPr marL="73152" marR="73152" marT="27432" marB="27432">
                    <a:solidFill>
                      <a:srgbClr val="FDF0E6"/>
                    </a:solidFill>
                  </a:tcPr>
                </a:tc>
                <a:tc>
                  <a:txBody>
                    <a:bodyPr/>
                    <a:lstStyle/>
                    <a:p>
                      <a:pPr algn="ctr">
                        <a:defRPr sz="1400" b="1">
                          <a:solidFill>
                            <a:srgbClr val="1A1A1A"/>
                          </a:solidFill>
                        </a:defRPr>
                      </a:pPr>
                      <a:r>
                        <a:t>0.909 / 0.933</a:t>
                      </a:r>
                    </a:p>
                  </a:txBody>
                  <a:tcPr marL="73152" marR="73152" marT="27432" marB="27432">
                    <a:solidFill>
                      <a:srgbClr val="FDF0E6"/>
                    </a:solidFill>
                  </a:tcPr>
                </a:tc>
                <a:tc>
                  <a:txBody>
                    <a:bodyPr/>
                    <a:lstStyle/>
                    <a:p>
                      <a:pPr algn="ctr">
                        <a:defRPr sz="1400" b="1">
                          <a:solidFill>
                            <a:srgbClr val="1A1A1A"/>
                          </a:solidFill>
                        </a:defRPr>
                      </a:pPr>
                      <a:r>
                        <a:t>0.717 / 0.628</a:t>
                      </a:r>
                    </a:p>
                  </a:txBody>
                  <a:tcPr marL="73152" marR="73152" marT="27432" marB="27432">
                    <a:solidFill>
                      <a:srgbClr val="FDF0E6"/>
                    </a:solidFill>
                  </a:tcPr>
                </a:tc>
                <a:tc>
                  <a:txBody>
                    <a:bodyPr/>
                    <a:lstStyle/>
                    <a:p>
                      <a:pPr algn="ctr">
                        <a:defRPr sz="1400" b="1">
                          <a:solidFill>
                            <a:srgbClr val="1A1A1A"/>
                          </a:solidFill>
                        </a:defRPr>
                      </a:pPr>
                      <a:r>
                        <a:t>0.780 / 0.603</a:t>
                      </a:r>
                    </a:p>
                  </a:txBody>
                  <a:tcPr marL="73152" marR="73152" marT="27432" marB="27432">
                    <a:solidFill>
                      <a:srgbClr val="FDF0E6"/>
                    </a:solidFill>
                  </a:tcPr>
                </a:tc>
              </a:tr>
            </a:tbl>
          </a:graphicData>
        </a:graphic>
      </p:graphicFrame>
      <p:sp>
        <p:nvSpPr>
          <p:cNvPr id="4" name="TextBox 3"/>
          <p:cNvSpPr txBox="1"/>
          <p:nvPr/>
        </p:nvSpPr>
        <p:spPr>
          <a:xfrm>
            <a:off x="685800" y="4206240"/>
            <a:ext cx="10881360" cy="1463040"/>
          </a:xfrm>
          <a:prstGeom prst="rect">
            <a:avLst/>
          </a:prstGeom>
          <a:noFill/>
        </p:spPr>
        <p:txBody>
          <a:bodyPr wrap="square">
            <a:spAutoFit/>
          </a:bodyPr>
          <a:lstStyle/>
          <a:p>
            <a:pPr>
              <a:spcAft>
                <a:spcPts val="1000"/>
              </a:spcAft>
              <a:defRPr sz="1700">
                <a:solidFill>
                  <a:srgbClr val="1A1A1A"/>
                </a:solidFill>
              </a:defRPr>
            </a:pPr>
            <a:r>
              <a:t>• Retuning only the decision threshold — no retraining — lifted DR recall from 0.503 to 0.780.</a:t>
            </a:r>
          </a:p>
          <a:p>
            <a:pPr>
              <a:spcAft>
                <a:spcPts val="1000"/>
              </a:spcAft>
              <a:defRPr sz="1700">
                <a:solidFill>
                  <a:srgbClr val="1A1A1A"/>
                </a:solidFill>
              </a:defRPr>
            </a:pPr>
            <a:r>
              <a:t>• Remaining gap to a model trained directly on mBRSET: 0.098 F1 (DR), 0.179 F1 (ME).</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Question: what is that remaining gap actually made of, and what can close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Diagnosis 1 — the referral cutoff was wrong, not the model</a:t>
            </a:r>
          </a:p>
          <a:p>
            <a:pPr>
              <a:defRPr sz="1500">
                <a:solidFill>
                  <a:srgbClr val="5A5A5A"/>
                </a:solidFill>
              </a:defRPr>
            </a:pPr>
            <a:r>
              <a:t>The model scores each image from 0 (healthy) to 1 (diseased). A cutoff decides who gets referred.</a:t>
            </a:r>
          </a:p>
        </p:txBody>
      </p:sp>
      <p:graphicFrame>
        <p:nvGraphicFramePr>
          <p:cNvPr id="3" name="Table 2"/>
          <p:cNvGraphicFramePr>
            <a:graphicFrameLocks noGrp="1"/>
          </p:cNvGraphicFramePr>
          <p:nvPr/>
        </p:nvGraphicFramePr>
        <p:xfrm>
          <a:off x="685800" y="2057400"/>
          <a:ext cx="9875518" cy="1371600"/>
        </p:xfrm>
        <a:graphic>
          <a:graphicData uri="http://schemas.openxmlformats.org/drawingml/2006/table">
            <a:tbl>
              <a:tblPr firstRow="1" bandRow="1">
                <a:tableStyleId>{5C22544A-7EE6-4342-B048-85BDC9FD1C3A}</a:tableStyleId>
              </a:tblPr>
              <a:tblGrid>
                <a:gridCol w="2904564"/>
                <a:gridCol w="4066390"/>
                <a:gridCol w="2904564"/>
              </a:tblGrid>
              <a:tr h="457200">
                <a:tc>
                  <a:txBody>
                    <a:bodyPr/>
                    <a:lstStyle/>
                    <a:p>
                      <a:pPr algn="l">
                        <a:defRPr sz="1500" b="1">
                          <a:solidFill>
                            <a:srgbClr val="FFFFFF"/>
                          </a:solidFill>
                        </a:defRPr>
                      </a:pPr>
                    </a:p>
                  </a:txBody>
                  <a:tcPr marL="73152" marR="73152" marT="27432" marB="27432">
                    <a:solidFill>
                      <a:srgbClr val="1F4E79"/>
                    </a:solidFill>
                  </a:tcPr>
                </a:tc>
                <a:tc>
                  <a:txBody>
                    <a:bodyPr/>
                    <a:lstStyle/>
                    <a:p>
                      <a:pPr algn="ctr">
                        <a:defRPr sz="1500" b="1">
                          <a:solidFill>
                            <a:srgbClr val="FFFFFF"/>
                          </a:solidFill>
                        </a:defRPr>
                      </a:pPr>
                      <a:r>
                        <a:t>How many patients have the disease</a:t>
                      </a:r>
                    </a:p>
                  </a:txBody>
                  <a:tcPr marL="73152" marR="73152" marT="27432" marB="27432">
                    <a:solidFill>
                      <a:srgbClr val="1F4E79"/>
                    </a:solidFill>
                  </a:tcPr>
                </a:tc>
                <a:tc>
                  <a:txBody>
                    <a:bodyPr/>
                    <a:lstStyle/>
                    <a:p>
                      <a:pPr algn="ctr">
                        <a:defRPr sz="1500" b="1">
                          <a:solidFill>
                            <a:srgbClr val="FFFFFF"/>
                          </a:solidFill>
                        </a:defRPr>
                      </a:pPr>
                      <a:r>
                        <a:t>Best cutoff for that group</a:t>
                      </a:r>
                    </a:p>
                  </a:txBody>
                  <a:tcPr marL="73152" marR="73152" marT="27432" marB="27432">
                    <a:solidFill>
                      <a:srgbClr val="1F4E79"/>
                    </a:solidFill>
                  </a:tcPr>
                </a:tc>
              </a:tr>
              <a:tr h="457200">
                <a:tc>
                  <a:txBody>
                    <a:bodyPr/>
                    <a:lstStyle/>
                    <a:p>
                      <a:pPr algn="l">
                        <a:defRPr sz="1500">
                          <a:solidFill>
                            <a:srgbClr val="1A1A1A"/>
                          </a:solidFill>
                        </a:defRPr>
                      </a:pPr>
                      <a:r>
                        <a:t>BRSET — where we trained</a:t>
                      </a:r>
                    </a:p>
                  </a:txBody>
                  <a:tcPr marL="73152" marR="73152" marT="27432" marB="27432">
                    <a:solidFill>
                      <a:srgbClr val="FFFFFF"/>
                    </a:solidFill>
                  </a:tcPr>
                </a:tc>
                <a:tc>
                  <a:txBody>
                    <a:bodyPr/>
                    <a:lstStyle/>
                    <a:p>
                      <a:pPr algn="ctr">
                        <a:defRPr sz="1500">
                          <a:solidFill>
                            <a:srgbClr val="1A1A1A"/>
                          </a:solidFill>
                        </a:defRPr>
                      </a:pPr>
                      <a:r>
                        <a:t>6.6% of eyes  (1 in 15)</a:t>
                      </a:r>
                    </a:p>
                  </a:txBody>
                  <a:tcPr marL="73152" marR="73152" marT="27432" marB="27432">
                    <a:solidFill>
                      <a:srgbClr val="FFFFFF"/>
                    </a:solidFill>
                  </a:tcPr>
                </a:tc>
                <a:tc>
                  <a:txBody>
                    <a:bodyPr/>
                    <a:lstStyle/>
                    <a:p>
                      <a:pPr algn="ctr">
                        <a:defRPr sz="1500">
                          <a:solidFill>
                            <a:srgbClr val="1A1A1A"/>
                          </a:solidFill>
                        </a:defRPr>
                      </a:pPr>
                      <a:r>
                        <a:t>0.61   be strict</a:t>
                      </a:r>
                    </a:p>
                  </a:txBody>
                  <a:tcPr marL="73152" marR="73152" marT="27432" marB="27432">
                    <a:solidFill>
                      <a:srgbClr val="FFFFFF"/>
                    </a:solidFill>
                  </a:tcPr>
                </a:tc>
              </a:tr>
              <a:tr h="457200">
                <a:tc>
                  <a:txBody>
                    <a:bodyPr/>
                    <a:lstStyle/>
                    <a:p>
                      <a:pPr algn="l">
                        <a:defRPr sz="1500">
                          <a:solidFill>
                            <a:srgbClr val="1A1A1A"/>
                          </a:solidFill>
                        </a:defRPr>
                      </a:pPr>
                      <a:r>
                        <a:t>mBRSET — where we tested</a:t>
                      </a:r>
                    </a:p>
                  </a:txBody>
                  <a:tcPr marL="73152" marR="73152" marT="27432" marB="27432">
                    <a:solidFill>
                      <a:srgbClr val="F2F4F7"/>
                    </a:solidFill>
                  </a:tcPr>
                </a:tc>
                <a:tc>
                  <a:txBody>
                    <a:bodyPr/>
                    <a:lstStyle/>
                    <a:p>
                      <a:pPr algn="ctr">
                        <a:defRPr sz="1500">
                          <a:solidFill>
                            <a:srgbClr val="1A1A1A"/>
                          </a:solidFill>
                        </a:defRPr>
                      </a:pPr>
                      <a:r>
                        <a:t>23.3% of eyes  (1 in 4)</a:t>
                      </a:r>
                    </a:p>
                  </a:txBody>
                  <a:tcPr marL="73152" marR="73152" marT="27432" marB="27432">
                    <a:solidFill>
                      <a:srgbClr val="F2F4F7"/>
                    </a:solidFill>
                  </a:tcPr>
                </a:tc>
                <a:tc>
                  <a:txBody>
                    <a:bodyPr/>
                    <a:lstStyle/>
                    <a:p>
                      <a:pPr algn="ctr">
                        <a:defRPr sz="1500">
                          <a:solidFill>
                            <a:srgbClr val="1A1A1A"/>
                          </a:solidFill>
                        </a:defRPr>
                      </a:pPr>
                      <a:r>
                        <a:t>0.19   be lenient</a:t>
                      </a:r>
                    </a:p>
                  </a:txBody>
                  <a:tcPr marL="73152" marR="73152" marT="27432" marB="27432">
                    <a:solidFill>
                      <a:srgbClr val="F2F4F7"/>
                    </a:solidFill>
                  </a:tcPr>
                </a:tc>
              </a:tr>
            </a:tbl>
          </a:graphicData>
        </a:graphic>
      </p:graphicFrame>
      <p:sp>
        <p:nvSpPr>
          <p:cNvPr id="4" name="TextBox 3"/>
          <p:cNvSpPr txBox="1"/>
          <p:nvPr/>
        </p:nvSpPr>
        <p:spPr>
          <a:xfrm>
            <a:off x="685800" y="3886200"/>
            <a:ext cx="10881360" cy="1783080"/>
          </a:xfrm>
          <a:prstGeom prst="rect">
            <a:avLst/>
          </a:prstGeom>
          <a:noFill/>
        </p:spPr>
        <p:txBody>
          <a:bodyPr wrap="square">
            <a:spAutoFit/>
          </a:bodyPr>
          <a:lstStyle/>
          <a:p>
            <a:pPr>
              <a:spcAft>
                <a:spcPts val="1000"/>
              </a:spcAft>
              <a:defRPr sz="1600">
                <a:solidFill>
                  <a:srgbClr val="1A1A1A"/>
                </a:solidFill>
              </a:defRPr>
            </a:pPr>
            <a:r>
              <a:t>• We applied BRSET's strict 0.61 cutoff to mBRSET, where nearly 1 in 4 patients is diseased. The model stayed quiet and missed half the cases.</a:t>
            </a:r>
          </a:p>
          <a:p>
            <a:pPr>
              <a:spcAft>
                <a:spcPts val="1000"/>
              </a:spcAft>
              <a:defRPr sz="1600">
                <a:solidFill>
                  <a:srgbClr val="1A1A1A"/>
                </a:solidFill>
              </a:defRPr>
            </a:pPr>
            <a:r>
              <a:t>• Of the move needed from 0.61 down to 0.19:  77% is explained by the higher disease rate alone, and only 23% by the model being less certain on blurrier images.</a:t>
            </a:r>
          </a:p>
          <a:p>
            <a:pPr>
              <a:spcAft>
                <a:spcPts val="1000"/>
              </a:spcAft>
              <a:defRPr sz="1600">
                <a:solidFill>
                  <a:srgbClr val="1A1A1A"/>
                </a:solidFill>
              </a:defRPr>
            </a:pPr>
            <a:r>
              <a:t>• The disease-rate part can be estimated from unlabelled images — no answer key required.</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1F4E79"/>
                </a:solidFill>
              </a:defRPr>
            </a:pPr>
            <a:r>
              <a:t>Moving the cutoff alone — no retraining — lifted F1 from 0.661 to 0.717, and recall from 0.503 to 0.780.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Diagnosis 2 — Threshold tuning is already exhausted</a:t>
            </a:r>
          </a:p>
          <a:p>
            <a:pPr>
              <a:defRPr sz="1500">
                <a:solidFill>
                  <a:srgbClr val="5A5A5A"/>
                </a:solidFill>
              </a:defRPr>
            </a:pPr>
            <a:r>
              <a:t>For a given AUC and prevalence there is a hard maximum F1, over all possible thresholds.</a:t>
            </a:r>
          </a:p>
        </p:txBody>
      </p:sp>
      <p:graphicFrame>
        <p:nvGraphicFramePr>
          <p:cNvPr id="3" name="Table 2"/>
          <p:cNvGraphicFramePr>
            <a:graphicFrameLocks noGrp="1"/>
          </p:cNvGraphicFramePr>
          <p:nvPr/>
        </p:nvGraphicFramePr>
        <p:xfrm>
          <a:off x="685800" y="1920240"/>
          <a:ext cx="10789918" cy="987552"/>
        </p:xfrm>
        <a:graphic>
          <a:graphicData uri="http://schemas.openxmlformats.org/drawingml/2006/table">
            <a:tbl>
              <a:tblPr firstRow="1" bandRow="1">
                <a:tableStyleId>{5C22544A-7EE6-4342-B048-85BDC9FD1C3A}</a:tableStyleId>
              </a:tblPr>
              <a:tblGrid>
                <a:gridCol w="2942705"/>
                <a:gridCol w="1471352"/>
                <a:gridCol w="2354164"/>
                <a:gridCol w="2354164"/>
                <a:gridCol w="1667533"/>
              </a:tblGrid>
              <a:tr h="329184">
                <a:tc>
                  <a:txBody>
                    <a:bodyPr/>
                    <a:lstStyle/>
                    <a:p>
                      <a:pPr algn="l">
                        <a:defRPr sz="1500" b="1">
                          <a:solidFill>
                            <a:srgbClr val="FFFFFF"/>
                          </a:solidFill>
                        </a:defRPr>
                      </a:pPr>
                      <a:r>
                        <a:t>BRSET → mBRSET</a:t>
                      </a:r>
                    </a:p>
                  </a:txBody>
                  <a:tcPr marL="73152" marR="73152" marT="27432" marB="27432">
                    <a:solidFill>
                      <a:srgbClr val="1F4E79"/>
                    </a:solidFill>
                  </a:tcPr>
                </a:tc>
                <a:tc>
                  <a:txBody>
                    <a:bodyPr/>
                    <a:lstStyle/>
                    <a:p>
                      <a:pPr algn="ctr">
                        <a:defRPr sz="1500" b="1">
                          <a:solidFill>
                            <a:srgbClr val="FFFFFF"/>
                          </a:solidFill>
                        </a:defRPr>
                      </a:pPr>
                      <a:r>
                        <a:t>AUC</a:t>
                      </a:r>
                    </a:p>
                  </a:txBody>
                  <a:tcPr marL="73152" marR="73152" marT="27432" marB="27432">
                    <a:solidFill>
                      <a:srgbClr val="1F4E79"/>
                    </a:solidFill>
                  </a:tcPr>
                </a:tc>
                <a:tc>
                  <a:txBody>
                    <a:bodyPr/>
                    <a:lstStyle/>
                    <a:p>
                      <a:pPr algn="ctr">
                        <a:defRPr sz="1500" b="1">
                          <a:solidFill>
                            <a:srgbClr val="FFFFFF"/>
                          </a:solidFill>
                        </a:defRPr>
                      </a:pPr>
                      <a:r>
                        <a:t>Target prevalence</a:t>
                      </a:r>
                    </a:p>
                  </a:txBody>
                  <a:tcPr marL="73152" marR="73152" marT="27432" marB="27432">
                    <a:solidFill>
                      <a:srgbClr val="1F4E79"/>
                    </a:solidFill>
                  </a:tcPr>
                </a:tc>
                <a:tc>
                  <a:txBody>
                    <a:bodyPr/>
                    <a:lstStyle/>
                    <a:p>
                      <a:pPr algn="ctr">
                        <a:defRPr sz="1500" b="1">
                          <a:solidFill>
                            <a:srgbClr val="FFFFFF"/>
                          </a:solidFill>
                        </a:defRPr>
                      </a:pPr>
                      <a:r>
                        <a:t>Max possible F1</a:t>
                      </a:r>
                    </a:p>
                  </a:txBody>
                  <a:tcPr marL="73152" marR="73152" marT="27432" marB="27432">
                    <a:solidFill>
                      <a:srgbClr val="1F4E79"/>
                    </a:solidFill>
                  </a:tcPr>
                </a:tc>
                <a:tc>
                  <a:txBody>
                    <a:bodyPr/>
                    <a:lstStyle/>
                    <a:p>
                      <a:pPr algn="ctr">
                        <a:defRPr sz="1500" b="1">
                          <a:solidFill>
                            <a:srgbClr val="FFFFFF"/>
                          </a:solidFill>
                        </a:defRPr>
                      </a:pPr>
                      <a:r>
                        <a:t>Our F1</a:t>
                      </a:r>
                    </a:p>
                  </a:txBody>
                  <a:tcPr marL="73152" marR="73152" marT="27432" marB="27432">
                    <a:solidFill>
                      <a:srgbClr val="1F4E79"/>
                    </a:solidFill>
                  </a:tcPr>
                </a:tc>
              </a:tr>
              <a:tr h="329184">
                <a:tc>
                  <a:txBody>
                    <a:bodyPr/>
                    <a:lstStyle/>
                    <a:p>
                      <a:pPr algn="l">
                        <a:defRPr sz="1500" b="1">
                          <a:solidFill>
                            <a:srgbClr val="1A1A1A"/>
                          </a:solidFill>
                        </a:defRPr>
                      </a:pPr>
                      <a:r>
                        <a:t>Diabetic retinopathy</a:t>
                      </a:r>
                    </a:p>
                  </a:txBody>
                  <a:tcPr marL="73152" marR="73152" marT="27432" marB="27432">
                    <a:solidFill>
                      <a:srgbClr val="E3EFE3"/>
                    </a:solidFill>
                  </a:tcPr>
                </a:tc>
                <a:tc>
                  <a:txBody>
                    <a:bodyPr/>
                    <a:lstStyle/>
                    <a:p>
                      <a:pPr algn="ctr">
                        <a:defRPr sz="1500" b="1">
                          <a:solidFill>
                            <a:srgbClr val="1A1A1A"/>
                          </a:solidFill>
                        </a:defRPr>
                      </a:pPr>
                      <a:r>
                        <a:t>0.909</a:t>
                      </a:r>
                    </a:p>
                  </a:txBody>
                  <a:tcPr marL="73152" marR="73152" marT="27432" marB="27432">
                    <a:solidFill>
                      <a:srgbClr val="E3EFE3"/>
                    </a:solidFill>
                  </a:tcPr>
                </a:tc>
                <a:tc>
                  <a:txBody>
                    <a:bodyPr/>
                    <a:lstStyle/>
                    <a:p>
                      <a:pPr algn="ctr">
                        <a:defRPr sz="1500" b="1">
                          <a:solidFill>
                            <a:srgbClr val="1A1A1A"/>
                          </a:solidFill>
                        </a:defRPr>
                      </a:pPr>
                      <a:r>
                        <a:t>21.7%</a:t>
                      </a:r>
                    </a:p>
                  </a:txBody>
                  <a:tcPr marL="73152" marR="73152" marT="27432" marB="27432">
                    <a:solidFill>
                      <a:srgbClr val="E3EFE3"/>
                    </a:solidFill>
                  </a:tcPr>
                </a:tc>
                <a:tc>
                  <a:txBody>
                    <a:bodyPr/>
                    <a:lstStyle/>
                    <a:p>
                      <a:pPr algn="ctr">
                        <a:defRPr sz="1500" b="1">
                          <a:solidFill>
                            <a:srgbClr val="1A1A1A"/>
                          </a:solidFill>
                        </a:defRPr>
                      </a:pPr>
                      <a:r>
                        <a:t>0.697</a:t>
                      </a:r>
                    </a:p>
                  </a:txBody>
                  <a:tcPr marL="73152" marR="73152" marT="27432" marB="27432">
                    <a:solidFill>
                      <a:srgbClr val="E3EFE3"/>
                    </a:solidFill>
                  </a:tcPr>
                </a:tc>
                <a:tc>
                  <a:txBody>
                    <a:bodyPr/>
                    <a:lstStyle/>
                    <a:p>
                      <a:pPr algn="ctr">
                        <a:defRPr sz="1500" b="1">
                          <a:solidFill>
                            <a:srgbClr val="1A1A1A"/>
                          </a:solidFill>
                        </a:defRPr>
                      </a:pPr>
                      <a:r>
                        <a:t>0.717</a:t>
                      </a:r>
                    </a:p>
                  </a:txBody>
                  <a:tcPr marL="73152" marR="73152" marT="27432" marB="27432">
                    <a:solidFill>
                      <a:srgbClr val="E3EFE3"/>
                    </a:solidFill>
                  </a:tcPr>
                </a:tc>
              </a:tr>
              <a:tr h="329184">
                <a:tc>
                  <a:txBody>
                    <a:bodyPr/>
                    <a:lstStyle/>
                    <a:p>
                      <a:pPr algn="l">
                        <a:defRPr sz="1500" b="1">
                          <a:solidFill>
                            <a:srgbClr val="1A1A1A"/>
                          </a:solidFill>
                        </a:defRPr>
                      </a:pPr>
                      <a:r>
                        <a:t>Macular edema</a:t>
                      </a:r>
                    </a:p>
                  </a:txBody>
                  <a:tcPr marL="73152" marR="73152" marT="27432" marB="27432">
                    <a:solidFill>
                      <a:srgbClr val="E3EFE3"/>
                    </a:solidFill>
                  </a:tcPr>
                </a:tc>
                <a:tc>
                  <a:txBody>
                    <a:bodyPr/>
                    <a:lstStyle/>
                    <a:p>
                      <a:pPr algn="ctr">
                        <a:defRPr sz="1500" b="1">
                          <a:solidFill>
                            <a:srgbClr val="1A1A1A"/>
                          </a:solidFill>
                        </a:defRPr>
                      </a:pPr>
                      <a:r>
                        <a:t>0.933</a:t>
                      </a:r>
                    </a:p>
                  </a:txBody>
                  <a:tcPr marL="73152" marR="73152" marT="27432" marB="27432">
                    <a:solidFill>
                      <a:srgbClr val="E3EFE3"/>
                    </a:solidFill>
                  </a:tcPr>
                </a:tc>
                <a:tc>
                  <a:txBody>
                    <a:bodyPr/>
                    <a:lstStyle/>
                    <a:p>
                      <a:pPr algn="ctr">
                        <a:defRPr sz="1500" b="1">
                          <a:solidFill>
                            <a:srgbClr val="1A1A1A"/>
                          </a:solidFill>
                        </a:defRPr>
                      </a:pPr>
                      <a:r>
                        <a:t>8.6%</a:t>
                      </a:r>
                    </a:p>
                  </a:txBody>
                  <a:tcPr marL="73152" marR="73152" marT="27432" marB="27432">
                    <a:solidFill>
                      <a:srgbClr val="E3EFE3"/>
                    </a:solidFill>
                  </a:tcPr>
                </a:tc>
                <a:tc>
                  <a:txBody>
                    <a:bodyPr/>
                    <a:lstStyle/>
                    <a:p>
                      <a:pPr algn="ctr">
                        <a:defRPr sz="1500" b="1">
                          <a:solidFill>
                            <a:srgbClr val="1A1A1A"/>
                          </a:solidFill>
                        </a:defRPr>
                      </a:pPr>
                      <a:r>
                        <a:t>0.623</a:t>
                      </a:r>
                    </a:p>
                  </a:txBody>
                  <a:tcPr marL="73152" marR="73152" marT="27432" marB="27432">
                    <a:solidFill>
                      <a:srgbClr val="E3EFE3"/>
                    </a:solidFill>
                  </a:tcPr>
                </a:tc>
                <a:tc>
                  <a:txBody>
                    <a:bodyPr/>
                    <a:lstStyle/>
                    <a:p>
                      <a:pPr algn="ctr">
                        <a:defRPr sz="1500" b="1">
                          <a:solidFill>
                            <a:srgbClr val="1A1A1A"/>
                          </a:solidFill>
                        </a:defRPr>
                      </a:pPr>
                      <a:r>
                        <a:t>0.628</a:t>
                      </a:r>
                    </a:p>
                  </a:txBody>
                  <a:tcPr marL="73152" marR="73152" marT="27432" marB="27432">
                    <a:solidFill>
                      <a:srgbClr val="E3EFE3"/>
                    </a:solidFill>
                  </a:tcPr>
                </a:tc>
              </a:tr>
            </a:tbl>
          </a:graphicData>
        </a:graphic>
      </p:graphicFrame>
      <p:sp>
        <p:nvSpPr>
          <p:cNvPr id="4" name="TextBox 3"/>
          <p:cNvSpPr txBox="1"/>
          <p:nvPr/>
        </p:nvSpPr>
        <p:spPr>
          <a:xfrm>
            <a:off x="685800" y="3657600"/>
            <a:ext cx="10881360" cy="2011680"/>
          </a:xfrm>
          <a:prstGeom prst="rect">
            <a:avLst/>
          </a:prstGeom>
          <a:noFill/>
        </p:spPr>
        <p:txBody>
          <a:bodyPr wrap="square">
            <a:spAutoFit/>
          </a:bodyPr>
          <a:lstStyle/>
          <a:p>
            <a:pPr>
              <a:spcAft>
                <a:spcPts val="1000"/>
              </a:spcAft>
              <a:defRPr sz="1700">
                <a:solidFill>
                  <a:srgbClr val="1A1A1A"/>
                </a:solidFill>
              </a:defRPr>
            </a:pPr>
            <a:r>
              <a:t>• We are already at that ceiling. Moving the cutoff further cannot help — any cutoff method only slides the</a:t>
            </a:r>
          </a:p>
          <a:p>
            <a:pPr lvl="1">
              <a:spcAft>
                <a:spcPts val="1000"/>
              </a:spcAft>
              <a:defRPr sz="1500">
                <a:solidFill>
                  <a:srgbClr val="5A5A5A"/>
                </a:solidFill>
              </a:defRPr>
            </a:pPr>
            <a:r>
              <a:t>– referral line along a fixed ordering of patients. It never changes how well the model orders them.</a:t>
            </a:r>
          </a:p>
          <a:p>
            <a:pPr>
              <a:spcAft>
                <a:spcPts val="1000"/>
              </a:spcAft>
              <a:defRPr sz="1700">
                <a:solidFill>
                  <a:srgbClr val="1A1A1A"/>
                </a:solidFill>
              </a:defRPr>
            </a:pPr>
            <a:r>
              <a:t>• To reach what an mBRSET-trained model achieves (F1 0.815 / 0.807), the ordering itself must improve:</a:t>
            </a:r>
          </a:p>
          <a:p>
            <a:pPr lvl="1">
              <a:spcAft>
                <a:spcPts val="1000"/>
              </a:spcAft>
              <a:defRPr sz="1500">
                <a:solidFill>
                  <a:srgbClr val="5A5A5A"/>
                </a:solidFill>
              </a:defRPr>
            </a:pPr>
            <a:r>
              <a:t>– AUC 0.909 → about 0.95 for DR, and 0.933 → about 0.985 for macular edema.</a:t>
            </a:r>
          </a:p>
        </p:txBody>
      </p:sp>
      <p:sp>
        <p:nvSpPr>
          <p:cNvPr id="5" name="TextBox 4"/>
          <p:cNvSpPr txBox="1"/>
          <p:nvPr/>
        </p:nvSpPr>
        <p:spPr>
          <a:xfrm>
            <a:off x="685800" y="5806440"/>
            <a:ext cx="10881360" cy="685800"/>
          </a:xfrm>
          <a:prstGeom prst="rect">
            <a:avLst/>
          </a:prstGeom>
          <a:noFill/>
        </p:spPr>
        <p:txBody>
          <a:bodyPr wrap="square">
            <a:spAutoFit/>
          </a:bodyPr>
          <a:lstStyle/>
          <a:p>
            <a:pPr>
              <a:defRPr sz="1600" b="1">
                <a:solidFill>
                  <a:srgbClr val="A53A1A"/>
                </a:solidFill>
              </a:defRPr>
            </a:pPr>
            <a:r>
              <a:t>The remaining gap is entirely ranking quality. Everything from here must improve AUC.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What the diagnosis rules out — and what it leaves</a:t>
            </a:r>
          </a:p>
          <a:p>
            <a:pPr>
              <a:defRPr sz="1500">
                <a:solidFill>
                  <a:srgbClr val="5A5A5A"/>
                </a:solidFill>
              </a:defRPr>
            </a:pPr>
            <a:r>
              <a:t>Knowing this before implementing saves weeks of work on methods that provably cannot help.</a:t>
            </a:r>
          </a:p>
        </p:txBody>
      </p:sp>
      <p:graphicFrame>
        <p:nvGraphicFramePr>
          <p:cNvPr id="3" name="Table 2"/>
          <p:cNvGraphicFramePr>
            <a:graphicFrameLocks noGrp="1"/>
          </p:cNvGraphicFramePr>
          <p:nvPr/>
        </p:nvGraphicFramePr>
        <p:xfrm>
          <a:off x="685800" y="1828800"/>
          <a:ext cx="10789919" cy="2834640"/>
        </p:xfrm>
        <a:graphic>
          <a:graphicData uri="http://schemas.openxmlformats.org/drawingml/2006/table">
            <a:tbl>
              <a:tblPr firstRow="1" bandRow="1">
                <a:tableStyleId>{5C22544A-7EE6-4342-B048-85BDC9FD1C3A}</a:tableStyleId>
              </a:tblPr>
              <a:tblGrid>
                <a:gridCol w="3906695"/>
                <a:gridCol w="6883224"/>
              </a:tblGrid>
              <a:tr h="472440">
                <a:tc>
                  <a:txBody>
                    <a:bodyPr/>
                    <a:lstStyle/>
                    <a:p>
                      <a:pPr algn="l">
                        <a:defRPr sz="1300" b="1">
                          <a:solidFill>
                            <a:srgbClr val="FFFFFF"/>
                          </a:solidFill>
                        </a:defRPr>
                      </a:pPr>
                      <a:r>
                        <a:t>Ruled out</a:t>
                      </a:r>
                    </a:p>
                  </a:txBody>
                  <a:tcPr marL="73152" marR="73152" marT="27432" marB="27432">
                    <a:solidFill>
                      <a:srgbClr val="1F4E79"/>
                    </a:solidFill>
                  </a:tcPr>
                </a:tc>
                <a:tc>
                  <a:txBody>
                    <a:bodyPr/>
                    <a:lstStyle/>
                    <a:p>
                      <a:pPr algn="ctr">
                        <a:defRPr sz="1300" b="1">
                          <a:solidFill>
                            <a:srgbClr val="FFFFFF"/>
                          </a:solidFill>
                        </a:defRPr>
                      </a:pPr>
                      <a:r>
                        <a:t>Reason</a:t>
                      </a:r>
                    </a:p>
                  </a:txBody>
                  <a:tcPr marL="73152" marR="73152" marT="27432" marB="27432">
                    <a:solidFill>
                      <a:srgbClr val="1F4E79"/>
                    </a:solidFill>
                  </a:tcPr>
                </a:tc>
              </a:tr>
              <a:tr h="472440">
                <a:tc>
                  <a:txBody>
                    <a:bodyPr/>
                    <a:lstStyle/>
                    <a:p>
                      <a:pPr algn="l">
                        <a:defRPr sz="1300">
                          <a:solidFill>
                            <a:srgbClr val="1A1A1A"/>
                          </a:solidFill>
                        </a:defRPr>
                      </a:pPr>
                      <a:r>
                        <a:t>Any further cutoff / calibration tuning</a:t>
                      </a:r>
                    </a:p>
                  </a:txBody>
                  <a:tcPr marL="73152" marR="73152" marT="27432" marB="27432">
                    <a:solidFill>
                      <a:srgbClr val="FFFFFF"/>
                    </a:solidFill>
                  </a:tcPr>
                </a:tc>
                <a:tc>
                  <a:txBody>
                    <a:bodyPr/>
                    <a:lstStyle/>
                    <a:p>
                      <a:pPr algn="ctr">
                        <a:defRPr sz="1300">
                          <a:solidFill>
                            <a:srgbClr val="1A1A1A"/>
                          </a:solidFill>
                        </a:defRPr>
                      </a:pPr>
                      <a:r>
                        <a:t>These only slide the referral line along a fixed patient ordering.</a:t>
                      </a:r>
                    </a:p>
                    <a:p>
                      <a:r>
                        <a:t>They cannot improve the ordering, so they cannot raise AUC.</a:t>
                      </a:r>
                    </a:p>
                  </a:txBody>
                  <a:tcPr marL="73152" marR="73152" marT="27432" marB="27432">
                    <a:solidFill>
                      <a:srgbClr val="FFFFFF"/>
                    </a:solidFill>
                  </a:tcPr>
                </a:tc>
              </a:tr>
              <a:tr h="472440">
                <a:tc>
                  <a:txBody>
                    <a:bodyPr/>
                    <a:lstStyle/>
                    <a:p>
                      <a:pPr algn="l">
                        <a:defRPr sz="1300">
                          <a:solidFill>
                            <a:srgbClr val="1A1A1A"/>
                          </a:solidFill>
                        </a:defRPr>
                      </a:pPr>
                      <a:r>
                        <a:t>Adapting batch-normalisation statistics</a:t>
                      </a:r>
                    </a:p>
                    <a:p>
                      <a:r>
                        <a:t>(a standard trick)</a:t>
                      </a:r>
                    </a:p>
                  </a:txBody>
                  <a:tcPr marL="73152" marR="73152" marT="27432" marB="27432">
                    <a:solidFill>
                      <a:srgbClr val="F2F4F7"/>
                    </a:solidFill>
                  </a:tcPr>
                </a:tc>
                <a:tc>
                  <a:txBody>
                    <a:bodyPr/>
                    <a:lstStyle/>
                    <a:p>
                      <a:pPr algn="ctr">
                        <a:defRPr sz="1300">
                          <a:solidFill>
                            <a:srgbClr val="1A1A1A"/>
                          </a:solidFill>
                        </a:defRPr>
                      </a:pPr>
                      <a:r>
                        <a:t>ConvNeXt V2 contains no batch-normalisation layers at all.</a:t>
                      </a:r>
                    </a:p>
                    <a:p>
                      <a:r>
                        <a:t>The trick has nothing to attach to.</a:t>
                      </a:r>
                    </a:p>
                  </a:txBody>
                  <a:tcPr marL="73152" marR="73152" marT="27432" marB="27432">
                    <a:solidFill>
                      <a:srgbClr val="F2F4F7"/>
                    </a:solidFill>
                  </a:tcPr>
                </a:tc>
              </a:tr>
              <a:tr h="472440">
                <a:tc>
                  <a:txBody>
                    <a:bodyPr/>
                    <a:lstStyle/>
                    <a:p>
                      <a:pPr algn="l">
                        <a:defRPr sz="1300">
                          <a:solidFill>
                            <a:srgbClr val="1A1A1A"/>
                          </a:solidFill>
                        </a:defRPr>
                      </a:pPr>
                      <a:r>
                        <a:t>MixStyle style-mixing</a:t>
                      </a:r>
                    </a:p>
                  </a:txBody>
                  <a:tcPr marL="73152" marR="73152" marT="27432" marB="27432">
                    <a:solidFill>
                      <a:srgbClr val="FFFFFF"/>
                    </a:solidFill>
                  </a:tcPr>
                </a:tc>
                <a:tc>
                  <a:txBody>
                    <a:bodyPr/>
                    <a:lstStyle/>
                    <a:p>
                      <a:pPr algn="ctr">
                        <a:defRPr sz="1300">
                          <a:solidFill>
                            <a:srgbClr val="1A1A1A"/>
                          </a:solidFill>
                        </a:defRPr>
                      </a:pPr>
                      <a:r>
                        <a:t>Needs several source datasets. With only one it collapses</a:t>
                      </a:r>
                    </a:p>
                    <a:p>
                      <a:r>
                        <a:t>(published: F1 15.0 vs. 27.3 for doing nothing).</a:t>
                      </a:r>
                    </a:p>
                  </a:txBody>
                  <a:tcPr marL="73152" marR="73152" marT="27432" marB="27432">
                    <a:solidFill>
                      <a:srgbClr val="FFFFFF"/>
                    </a:solidFill>
                  </a:tcPr>
                </a:tc>
              </a:tr>
              <a:tr h="472440">
                <a:tc>
                  <a:txBody>
                    <a:bodyPr/>
                    <a:lstStyle/>
                    <a:p>
                      <a:pPr algn="l">
                        <a:defRPr sz="1300">
                          <a:solidFill>
                            <a:srgbClr val="1A1A1A"/>
                          </a:solidFill>
                        </a:defRPr>
                      </a:pPr>
                      <a:r>
                        <a:t>Adversarial feature alignment</a:t>
                      </a:r>
                    </a:p>
                    <a:p>
                      <a:r>
                        <a:t>(DANN, CORAL, MMD)</a:t>
                      </a:r>
                    </a:p>
                  </a:txBody>
                  <a:tcPr marL="73152" marR="73152" marT="27432" marB="27432">
                    <a:solidFill>
                      <a:srgbClr val="F2F4F7"/>
                    </a:solidFill>
                  </a:tcPr>
                </a:tc>
                <a:tc>
                  <a:txBody>
                    <a:bodyPr/>
                    <a:lstStyle/>
                    <a:p>
                      <a:pPr algn="ctr">
                        <a:defRPr sz="1300">
                          <a:solidFill>
                            <a:srgbClr val="1A1A1A"/>
                          </a:solidFill>
                        </a:defRPr>
                      </a:pPr>
                      <a:r>
                        <a:t>Proven to make things worse when the two datasets have very</a:t>
                      </a:r>
                    </a:p>
                    <a:p>
                      <a:r>
                        <a:t>different disease rates — ours differ 4.3×.</a:t>
                      </a:r>
                    </a:p>
                  </a:txBody>
                  <a:tcPr marL="73152" marR="73152" marT="27432" marB="27432">
                    <a:solidFill>
                      <a:srgbClr val="F2F4F7"/>
                    </a:solidFill>
                  </a:tcPr>
                </a:tc>
              </a:tr>
              <a:tr h="472440">
                <a:tc>
                  <a:txBody>
                    <a:bodyPr/>
                    <a:lstStyle/>
                    <a:p>
                      <a:pPr algn="l">
                        <a:defRPr sz="1300">
                          <a:solidFill>
                            <a:srgbClr val="1A1A1A"/>
                          </a:solidFill>
                        </a:defRPr>
                      </a:pPr>
                      <a:r>
                        <a:t>CycleGAN image translation</a:t>
                      </a:r>
                    </a:p>
                  </a:txBody>
                  <a:tcPr marL="73152" marR="73152" marT="27432" marB="27432">
                    <a:solidFill>
                      <a:srgbClr val="FFFFFF"/>
                    </a:solidFill>
                  </a:tcPr>
                </a:tc>
                <a:tc>
                  <a:txBody>
                    <a:bodyPr/>
                    <a:lstStyle/>
                    <a:p>
                      <a:pPr algn="ctr">
                        <a:defRPr sz="1300">
                          <a:solidFill>
                            <a:srgbClr val="1A1A1A"/>
                          </a:solidFill>
                        </a:defRPr>
                      </a:pPr>
                      <a:r>
                        <a:t>Documented to invent and erase lesions. Since the lesions are</a:t>
                      </a:r>
                    </a:p>
                    <a:p>
                      <a:r>
                        <a:t>the label, it would silently corrupt our data.</a:t>
                      </a:r>
                    </a:p>
                  </a:txBody>
                  <a:tcPr marL="73152" marR="73152" marT="27432" marB="27432">
                    <a:solidFill>
                      <a:srgbClr val="FFFFFF"/>
                    </a:solidFill>
                  </a:tcPr>
                </a:tc>
              </a:tr>
            </a:tbl>
          </a:graphicData>
        </a:graphic>
      </p:graphicFrame>
      <p:sp>
        <p:nvSpPr>
          <p:cNvPr id="4" name="TextBox 3"/>
          <p:cNvSpPr txBox="1"/>
          <p:nvPr/>
        </p:nvSpPr>
        <p:spPr>
          <a:xfrm>
            <a:off x="685800" y="4937760"/>
            <a:ext cx="10881360" cy="685800"/>
          </a:xfrm>
          <a:prstGeom prst="rect">
            <a:avLst/>
          </a:prstGeom>
          <a:noFill/>
        </p:spPr>
        <p:txBody>
          <a:bodyPr wrap="square">
            <a:spAutoFit/>
          </a:bodyPr>
          <a:lstStyle/>
          <a:p>
            <a:pPr>
              <a:defRPr sz="1600" b="1">
                <a:solidFill>
                  <a:srgbClr val="1F4E79"/>
                </a:solidFill>
              </a:defRPr>
            </a:pPr>
            <a:r>
              <a:t>Remaining viable levers: use more of the target's structure, and train for the degradation.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Part 2 — Plan to close the gap</a:t>
            </a:r>
          </a:p>
          <a:p>
            <a:pPr>
              <a:defRPr sz="1500">
                <a:solidFill>
                  <a:srgbClr val="5A5A5A"/>
                </a:solidFill>
              </a:defRPr>
            </a:pPr>
            <a:r>
              <a:t>Ordered by expected gain per unit of effort.</a:t>
            </a:r>
          </a:p>
        </p:txBody>
      </p:sp>
      <p:graphicFrame>
        <p:nvGraphicFramePr>
          <p:cNvPr id="3" name="Table 2"/>
          <p:cNvGraphicFramePr>
            <a:graphicFrameLocks noGrp="1"/>
          </p:cNvGraphicFramePr>
          <p:nvPr/>
        </p:nvGraphicFramePr>
        <p:xfrm>
          <a:off x="685800" y="1783080"/>
          <a:ext cx="10789917" cy="3840480"/>
        </p:xfrm>
        <a:graphic>
          <a:graphicData uri="http://schemas.openxmlformats.org/drawingml/2006/table">
            <a:tbl>
              <a:tblPr firstRow="1" bandRow="1">
                <a:tableStyleId>{5C22544A-7EE6-4342-B048-85BDC9FD1C3A}</a:tableStyleId>
              </a:tblPr>
              <a:tblGrid>
                <a:gridCol w="465082"/>
                <a:gridCol w="2325413"/>
                <a:gridCol w="7069257"/>
                <a:gridCol w="930165"/>
              </a:tblGrid>
              <a:tr h="960120">
                <a:tc>
                  <a:txBody>
                    <a:bodyPr/>
                    <a:lstStyle/>
                    <a:p>
                      <a:pPr algn="l">
                        <a:defRPr sz="1200" b="1">
                          <a:solidFill>
                            <a:srgbClr val="FFFFFF"/>
                          </a:solidFill>
                        </a:defRPr>
                      </a:pPr>
                      <a:r>
                        <a:t>#</a:t>
                      </a:r>
                    </a:p>
                  </a:txBody>
                  <a:tcPr marL="73152" marR="73152" marT="27432" marB="27432">
                    <a:solidFill>
                      <a:srgbClr val="1F4E79"/>
                    </a:solidFill>
                  </a:tcPr>
                </a:tc>
                <a:tc>
                  <a:txBody>
                    <a:bodyPr/>
                    <a:lstStyle/>
                    <a:p>
                      <a:pPr algn="ctr">
                        <a:defRPr sz="1200" b="1">
                          <a:solidFill>
                            <a:srgbClr val="FFFFFF"/>
                          </a:solidFill>
                        </a:defRPr>
                      </a:pPr>
                      <a:r>
                        <a:t>Method</a:t>
                      </a:r>
                    </a:p>
                  </a:txBody>
                  <a:tcPr marL="73152" marR="73152" marT="27432" marB="27432">
                    <a:solidFill>
                      <a:srgbClr val="1F4E79"/>
                    </a:solidFill>
                  </a:tcPr>
                </a:tc>
                <a:tc>
                  <a:txBody>
                    <a:bodyPr/>
                    <a:lstStyle/>
                    <a:p>
                      <a:pPr algn="ctr">
                        <a:defRPr sz="1200" b="1">
                          <a:solidFill>
                            <a:srgbClr val="FFFFFF"/>
                          </a:solidFill>
                        </a:defRPr>
                      </a:pPr>
                      <a:r>
                        <a:t>Mechanism</a:t>
                      </a:r>
                    </a:p>
                  </a:txBody>
                  <a:tcPr marL="73152" marR="73152" marT="27432" marB="27432">
                    <a:solidFill>
                      <a:srgbClr val="1F4E79"/>
                    </a:solidFill>
                  </a:tcPr>
                </a:tc>
                <a:tc>
                  <a:txBody>
                    <a:bodyPr/>
                    <a:lstStyle/>
                    <a:p>
                      <a:pPr algn="ctr">
                        <a:defRPr sz="1200" b="1">
                          <a:solidFill>
                            <a:srgbClr val="FFFFFF"/>
                          </a:solidFill>
                        </a:defRPr>
                      </a:pPr>
                      <a:r>
                        <a:t>Effort</a:t>
                      </a:r>
                    </a:p>
                  </a:txBody>
                  <a:tcPr marL="73152" marR="73152" marT="27432" marB="27432">
                    <a:solidFill>
                      <a:srgbClr val="1F4E79"/>
                    </a:solidFill>
                  </a:tcPr>
                </a:tc>
              </a:tr>
              <a:tr h="960120">
                <a:tc>
                  <a:txBody>
                    <a:bodyPr/>
                    <a:lstStyle/>
                    <a:p>
                      <a:pPr algn="l">
                        <a:defRPr sz="1200">
                          <a:solidFill>
                            <a:srgbClr val="1A1A1A"/>
                          </a:solidFill>
                        </a:defRPr>
                      </a:pPr>
                      <a:r>
                        <a:t>1</a:t>
                      </a:r>
                    </a:p>
                  </a:txBody>
                  <a:tcPr marL="73152" marR="73152" marT="27432" marB="27432">
                    <a:solidFill>
                      <a:srgbClr val="FFFFFF"/>
                    </a:solidFill>
                  </a:tcPr>
                </a:tc>
                <a:tc>
                  <a:txBody>
                    <a:bodyPr/>
                    <a:lstStyle/>
                    <a:p>
                      <a:pPr algn="ctr">
                        <a:defRPr sz="1200">
                          <a:solidFill>
                            <a:srgbClr val="1A1A1A"/>
                          </a:solidFill>
                        </a:defRPr>
                      </a:pPr>
                      <a:r>
                        <a:t>Per-patient multi-view</a:t>
                      </a:r>
                    </a:p>
                    <a:p>
                      <a:r>
                        <a:t>aggregation</a:t>
                      </a:r>
                    </a:p>
                  </a:txBody>
                  <a:tcPr marL="73152" marR="73152" marT="27432" marB="27432">
                    <a:solidFill>
                      <a:srgbClr val="FFFFFF"/>
                    </a:solidFill>
                  </a:tcPr>
                </a:tc>
                <a:tc>
                  <a:txBody>
                    <a:bodyPr/>
                    <a:lstStyle/>
                    <a:p>
                      <a:pPr algn="ctr">
                        <a:defRPr sz="1200">
                          <a:solidFill>
                            <a:srgbClr val="1A1A1A"/>
                          </a:solidFill>
                        </a:defRPr>
                      </a:pPr>
                      <a:r>
                        <a:t>mBRSET has ~3.8 images per patient (both eyes × 2 fields), 85.5% share a</a:t>
                      </a:r>
                    </a:p>
                    <a:p>
                      <a:r>
                        <a:t>diagnosis. Blur is random per image; averaging cancels it and sharpens ranking.</a:t>
                      </a:r>
                    </a:p>
                    <a:p>
                      <a:r>
                        <a:t>Published gains on fundus data: +0.085 to +0.121 AUC. We need +0.04.</a:t>
                      </a:r>
                    </a:p>
                  </a:txBody>
                  <a:tcPr marL="73152" marR="73152" marT="27432" marB="27432">
                    <a:solidFill>
                      <a:srgbClr val="FFFFFF"/>
                    </a:solidFill>
                  </a:tcPr>
                </a:tc>
                <a:tc>
                  <a:txBody>
                    <a:bodyPr/>
                    <a:lstStyle/>
                    <a:p>
                      <a:pPr algn="ctr">
                        <a:defRPr sz="1200">
                          <a:solidFill>
                            <a:srgbClr val="1A1A1A"/>
                          </a:solidFill>
                        </a:defRPr>
                      </a:pPr>
                      <a:r>
                        <a:t>3–5 d</a:t>
                      </a:r>
                    </a:p>
                  </a:txBody>
                  <a:tcPr marL="73152" marR="73152" marT="27432" marB="27432">
                    <a:solidFill>
                      <a:srgbClr val="FFFFFF"/>
                    </a:solidFill>
                  </a:tcPr>
                </a:tc>
              </a:tr>
              <a:tr h="960120">
                <a:tc>
                  <a:txBody>
                    <a:bodyPr/>
                    <a:lstStyle/>
                    <a:p>
                      <a:pPr algn="l">
                        <a:defRPr sz="1200">
                          <a:solidFill>
                            <a:srgbClr val="1A1A1A"/>
                          </a:solidFill>
                        </a:defRPr>
                      </a:pPr>
                      <a:r>
                        <a:t>2</a:t>
                      </a:r>
                    </a:p>
                  </a:txBody>
                  <a:tcPr marL="73152" marR="73152" marT="27432" marB="27432">
                    <a:solidFill>
                      <a:srgbClr val="F2F4F7"/>
                    </a:solidFill>
                  </a:tcPr>
                </a:tc>
                <a:tc>
                  <a:txBody>
                    <a:bodyPr/>
                    <a:lstStyle/>
                    <a:p>
                      <a:pPr algn="ctr">
                        <a:defRPr sz="1200">
                          <a:solidFill>
                            <a:srgbClr val="1A1A1A"/>
                          </a:solidFill>
                        </a:defRPr>
                      </a:pPr>
                      <a:r>
                        <a:t>Handheld-degradation</a:t>
                      </a:r>
                    </a:p>
                    <a:p>
                      <a:r>
                        <a:t>augmentation</a:t>
                      </a:r>
                    </a:p>
                  </a:txBody>
                  <a:tcPr marL="73152" marR="73152" marT="27432" marB="27432">
                    <a:solidFill>
                      <a:srgbClr val="F2F4F7"/>
                    </a:solidFill>
                  </a:tcPr>
                </a:tc>
                <a:tc>
                  <a:txBody>
                    <a:bodyPr/>
                    <a:lstStyle/>
                    <a:p>
                      <a:pPr algn="ctr">
                        <a:defRPr sz="1200">
                          <a:solidFill>
                            <a:srgbClr val="1A1A1A"/>
                          </a:solidFill>
                        </a:defRPr>
                      </a:pPr>
                      <a:r>
                        <a:t>Degrade real BRSET images (defocus, illumination gradient, vignetting, noise,</a:t>
                      </a:r>
                    </a:p>
                    <a:p>
                      <a:r>
                        <a:t>JPEG) so the model learns to find lesions despite them. Labels stay true —</a:t>
                      </a:r>
                    </a:p>
                    <a:p>
                      <a:r>
                        <a:t>unlike generative translation, degradation cannot invent or erase a lesion.</a:t>
                      </a:r>
                    </a:p>
                  </a:txBody>
                  <a:tcPr marL="73152" marR="73152" marT="27432" marB="27432">
                    <a:solidFill>
                      <a:srgbClr val="F2F4F7"/>
                    </a:solidFill>
                  </a:tcPr>
                </a:tc>
                <a:tc>
                  <a:txBody>
                    <a:bodyPr/>
                    <a:lstStyle/>
                    <a:p>
                      <a:pPr algn="ctr">
                        <a:defRPr sz="1200">
                          <a:solidFill>
                            <a:srgbClr val="1A1A1A"/>
                          </a:solidFill>
                        </a:defRPr>
                      </a:pPr>
                      <a:r>
                        <a:t>3–5 d</a:t>
                      </a:r>
                    </a:p>
                  </a:txBody>
                  <a:tcPr marL="73152" marR="73152" marT="27432" marB="27432">
                    <a:solidFill>
                      <a:srgbClr val="F2F4F7"/>
                    </a:solidFill>
                  </a:tcPr>
                </a:tc>
              </a:tr>
              <a:tr h="960120">
                <a:tc>
                  <a:txBody>
                    <a:bodyPr/>
                    <a:lstStyle/>
                    <a:p>
                      <a:pPr algn="l">
                        <a:defRPr sz="1200">
                          <a:solidFill>
                            <a:srgbClr val="1A1A1A"/>
                          </a:solidFill>
                        </a:defRPr>
                      </a:pPr>
                      <a:r>
                        <a:t>3</a:t>
                      </a:r>
                    </a:p>
                  </a:txBody>
                  <a:tcPr marL="73152" marR="73152" marT="27432" marB="27432">
                    <a:solidFill>
                      <a:srgbClr val="FFFFFF"/>
                    </a:solidFill>
                  </a:tcPr>
                </a:tc>
                <a:tc>
                  <a:txBody>
                    <a:bodyPr/>
                    <a:lstStyle/>
                    <a:p>
                      <a:pPr algn="ctr">
                        <a:defRPr sz="1200">
                          <a:solidFill>
                            <a:srgbClr val="1A1A1A"/>
                          </a:solidFill>
                        </a:defRPr>
                      </a:pPr>
                      <a:r>
                        <a:t>Label-free threshold</a:t>
                      </a:r>
                    </a:p>
                    <a:p>
                      <a:r>
                        <a:t>placement</a:t>
                      </a:r>
                    </a:p>
                  </a:txBody>
                  <a:tcPr marL="73152" marR="73152" marT="27432" marB="27432">
                    <a:solidFill>
                      <a:srgbClr val="FFFFFF"/>
                    </a:solidFill>
                  </a:tcPr>
                </a:tc>
                <a:tc>
                  <a:txBody>
                    <a:bodyPr/>
                    <a:lstStyle/>
                    <a:p>
                      <a:pPr algn="ctr">
                        <a:defRPr sz="1200">
                          <a:solidFill>
                            <a:srgbClr val="1A1A1A"/>
                          </a:solidFill>
                        </a:defRPr>
                      </a:pPr>
                      <a:r>
                        <a:t>Estimates target prevalence from unlabeled images, so the threshold fix works</a:t>
                      </a:r>
                    </a:p>
                    <a:p>
                      <a:r>
                        <a:t>on a new camera with zero annotations. Does not raise AUC — makes the existing</a:t>
                      </a:r>
                    </a:p>
                    <a:p>
                      <a:r>
                        <a:t>gain deployable, and is the honest baseline for everything above.</a:t>
                      </a:r>
                    </a:p>
                  </a:txBody>
                  <a:tcPr marL="73152" marR="73152" marT="27432" marB="27432">
                    <a:solidFill>
                      <a:srgbClr val="FFFFFF"/>
                    </a:solidFill>
                  </a:tcPr>
                </a:tc>
                <a:tc>
                  <a:txBody>
                    <a:bodyPr/>
                    <a:lstStyle/>
                    <a:p>
                      <a:pPr algn="ctr">
                        <a:defRPr sz="1200">
                          <a:solidFill>
                            <a:srgbClr val="1A1A1A"/>
                          </a:solidFill>
                        </a:defRPr>
                      </a:pPr>
                      <a:r>
                        <a:t>0.5 d</a:t>
                      </a:r>
                    </a:p>
                  </a:txBody>
                  <a:tcPr marL="73152" marR="73152" marT="27432" marB="27432">
                    <a:solidFill>
                      <a:srgbClr val="FFFFFF"/>
                    </a:solidFill>
                  </a:tcPr>
                </a:tc>
              </a:tr>
            </a:tbl>
          </a:graphicData>
        </a:graphic>
      </p:graphicFrame>
      <p:sp>
        <p:nvSpPr>
          <p:cNvPr id="4" name="TextBox 3"/>
          <p:cNvSpPr txBox="1"/>
          <p:nvPr/>
        </p:nvSpPr>
        <p:spPr>
          <a:xfrm>
            <a:off x="685800" y="5852160"/>
            <a:ext cx="10881360" cy="685800"/>
          </a:xfrm>
          <a:prstGeom prst="rect">
            <a:avLst/>
          </a:prstGeom>
          <a:noFill/>
        </p:spPr>
        <p:txBody>
          <a:bodyPr wrap="square">
            <a:spAutoFit/>
          </a:bodyPr>
          <a:lstStyle/>
          <a:p>
            <a:pPr>
              <a:defRPr sz="1600" b="1">
                <a:solidFill>
                  <a:srgbClr val="1F4E79"/>
                </a:solidFill>
              </a:defRPr>
            </a:pPr>
            <a:r>
              <a:t>Method 1 attacks the ME gap least; Method 2 attacks it most — blur destroys the exudate edge cue.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Novelty — what is unclaimed</a:t>
            </a:r>
          </a:p>
          <a:p>
            <a:pPr>
              <a:defRPr sz="1500">
                <a:solidFill>
                  <a:srgbClr val="5A5A5A"/>
                </a:solidFill>
              </a:defRPr>
            </a:pPr>
            <a:r>
              <a:t>Verified against all 33 papers citing both dataset papers, plus GitHub, arXiv and preprint servers.</a:t>
            </a:r>
          </a:p>
        </p:txBody>
      </p:sp>
      <p:sp>
        <p:nvSpPr>
          <p:cNvPr id="3" name="TextBox 2"/>
          <p:cNvSpPr txBox="1"/>
          <p:nvPr/>
        </p:nvSpPr>
        <p:spPr>
          <a:xfrm>
            <a:off x="685800" y="1828800"/>
            <a:ext cx="10881360" cy="2651760"/>
          </a:xfrm>
          <a:prstGeom prst="rect">
            <a:avLst/>
          </a:prstGeom>
          <a:noFill/>
        </p:spPr>
        <p:txBody>
          <a:bodyPr wrap="square">
            <a:spAutoFit/>
          </a:bodyPr>
          <a:lstStyle/>
          <a:p>
            <a:pPr>
              <a:spcAft>
                <a:spcPts val="1000"/>
              </a:spcAft>
              <a:defRPr sz="1600">
                <a:solidFill>
                  <a:srgbClr val="1A1A1A"/>
                </a:solidFill>
              </a:defRPr>
            </a:pPr>
            <a:r>
              <a:t>• No published BRSET → mBRSET transfer study exists.</a:t>
            </a:r>
          </a:p>
          <a:p>
            <a:pPr>
              <a:spcAft>
                <a:spcPts val="1000"/>
              </a:spcAft>
              <a:defRPr sz="1600">
                <a:solidFill>
                  <a:srgbClr val="1A1A1A"/>
                </a:solidFill>
              </a:defRPr>
            </a:pPr>
            <a:r>
              <a:t>• The dataset creators' own March 2026 release lists “domain adaptation across imaging devices” as an application — and reports no such experiment.</a:t>
            </a:r>
          </a:p>
          <a:p>
            <a:pPr>
              <a:spcAft>
                <a:spcPts val="1000"/>
              </a:spcAft>
              <a:defRPr sz="1600">
                <a:solidFill>
                  <a:srgbClr val="1A1A1A"/>
                </a:solidFill>
              </a:defRPr>
            </a:pPr>
            <a:r>
              <a:t>• No work uses BRSET's typed degradation labels (focus / illumination / field / artifact) for transfer.</a:t>
            </a:r>
          </a:p>
          <a:p>
            <a:pPr>
              <a:spcAft>
                <a:spcPts val="1000"/>
              </a:spcAft>
              <a:defRPr sz="1600">
                <a:solidFill>
                  <a:srgbClr val="1A1A1A"/>
                </a:solidFill>
              </a:defRPr>
            </a:pPr>
            <a:r>
              <a:t>• No work reports cross-device macular edema degradation — our ME gap (0.179) exceeds our DR gap (0.098).</a:t>
            </a:r>
          </a:p>
          <a:p>
            <a:pPr>
              <a:spcAft>
                <a:spcPts val="1000"/>
              </a:spcAft>
              <a:defRPr sz="1600">
                <a:solidFill>
                  <a:srgbClr val="1A1A1A"/>
                </a:solidFill>
              </a:defRPr>
            </a:pPr>
            <a:r>
              <a:t>• Closest prior work: RetSyn (J Biomed Inform 2025, same senior author) — synthetic data for tabletop → portable. It does not diagnose what breaks, separate quality from device, or address ME or thresholds.</a:t>
            </a:r>
          </a:p>
        </p:txBody>
      </p:sp>
      <p:sp>
        <p:nvSpPr>
          <p:cNvPr id="4" name="TextBox 3"/>
          <p:cNvSpPr txBox="1"/>
          <p:nvPr/>
        </p:nvSpPr>
        <p:spPr>
          <a:xfrm>
            <a:off x="685800" y="4572000"/>
            <a:ext cx="10881360" cy="2011680"/>
          </a:xfrm>
          <a:prstGeom prst="rect">
            <a:avLst/>
          </a:prstGeom>
          <a:noFill/>
        </p:spPr>
        <p:txBody>
          <a:bodyPr wrap="square">
            <a:spAutoFit/>
          </a:bodyPr>
          <a:lstStyle/>
          <a:p>
            <a:pPr>
              <a:spcAft>
                <a:spcPts val="600"/>
              </a:spcAft>
              <a:defRPr sz="1600">
                <a:solidFill>
                  <a:srgbClr val="1A1A1A"/>
                </a:solidFill>
              </a:defRPr>
            </a:pPr>
            <a:r>
              <a:t>• Our shift is unusually clean, and that is the asset:</a:t>
            </a:r>
          </a:p>
          <a:p>
            <a:pPr lvl="1">
              <a:spcAft>
                <a:spcPts val="600"/>
              </a:spcAft>
              <a:defRPr sz="1400">
                <a:solidFill>
                  <a:srgbClr val="5A5A5A"/>
                </a:solidFill>
              </a:defRPr>
            </a:pPr>
            <a:r>
              <a:t>– BRSET → mBRSET holds country, ethnicity, dilation, 45° field of view and grading protocol constant.</a:t>
            </a:r>
          </a:p>
          <a:p>
            <a:pPr lvl="1">
              <a:spcAft>
                <a:spcPts val="600"/>
              </a:spcAft>
              <a:defRPr sz="1400">
                <a:solidFill>
                  <a:srgbClr val="5A5A5A"/>
                </a:solidFill>
              </a:defRPr>
            </a:pPr>
            <a:r>
              <a:t>– Only the camera changes. A comparable study crossing country and protocol collapsed to AUC 0.54; ours holds 0.91.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Proposed contributions</a:t>
            </a:r>
          </a:p>
        </p:txBody>
      </p:sp>
      <p:graphicFrame>
        <p:nvGraphicFramePr>
          <p:cNvPr id="3" name="Table 2"/>
          <p:cNvGraphicFramePr>
            <a:graphicFrameLocks noGrp="1"/>
          </p:cNvGraphicFramePr>
          <p:nvPr/>
        </p:nvGraphicFramePr>
        <p:xfrm>
          <a:off x="685800" y="1783080"/>
          <a:ext cx="10789918" cy="3566160"/>
        </p:xfrm>
        <a:graphic>
          <a:graphicData uri="http://schemas.openxmlformats.org/drawingml/2006/table">
            <a:tbl>
              <a:tblPr firstRow="1" bandRow="1">
                <a:tableStyleId>{5C22544A-7EE6-4342-B048-85BDC9FD1C3A}</a:tableStyleId>
              </a:tblPr>
              <a:tblGrid>
                <a:gridCol w="465082"/>
                <a:gridCol w="4092728"/>
                <a:gridCol w="6232108"/>
              </a:tblGrid>
              <a:tr h="891540">
                <a:tc>
                  <a:txBody>
                    <a:bodyPr/>
                    <a:lstStyle/>
                    <a:p>
                      <a:pPr algn="l">
                        <a:defRPr sz="1200" b="1">
                          <a:solidFill>
                            <a:srgbClr val="FFFFFF"/>
                          </a:solidFill>
                        </a:defRPr>
                      </a:pPr>
                    </a:p>
                  </a:txBody>
                  <a:tcPr marL="73152" marR="73152" marT="27432" marB="27432">
                    <a:solidFill>
                      <a:srgbClr val="1F4E79"/>
                    </a:solidFill>
                  </a:tcPr>
                </a:tc>
                <a:tc>
                  <a:txBody>
                    <a:bodyPr/>
                    <a:lstStyle/>
                    <a:p>
                      <a:pPr algn="ctr">
                        <a:defRPr sz="1200" b="1">
                          <a:solidFill>
                            <a:srgbClr val="FFFFFF"/>
                          </a:solidFill>
                        </a:defRPr>
                      </a:pPr>
                      <a:r>
                        <a:t>Contribution</a:t>
                      </a:r>
                    </a:p>
                  </a:txBody>
                  <a:tcPr marL="73152" marR="73152" marT="27432" marB="27432">
                    <a:solidFill>
                      <a:srgbClr val="1F4E79"/>
                    </a:solidFill>
                  </a:tcPr>
                </a:tc>
                <a:tc>
                  <a:txBody>
                    <a:bodyPr/>
                    <a:lstStyle/>
                    <a:p>
                      <a:pPr algn="ctr">
                        <a:defRPr sz="1200" b="1">
                          <a:solidFill>
                            <a:srgbClr val="FFFFFF"/>
                          </a:solidFill>
                        </a:defRPr>
                      </a:pPr>
                      <a:r>
                        <a:t>Why it is new</a:t>
                      </a:r>
                    </a:p>
                  </a:txBody>
                  <a:tcPr marL="73152" marR="73152" marT="27432" marB="27432">
                    <a:solidFill>
                      <a:srgbClr val="1F4E79"/>
                    </a:solidFill>
                  </a:tcPr>
                </a:tc>
              </a:tr>
              <a:tr h="891540">
                <a:tc>
                  <a:txBody>
                    <a:bodyPr/>
                    <a:lstStyle/>
                    <a:p>
                      <a:pPr algn="l">
                        <a:defRPr sz="1200">
                          <a:solidFill>
                            <a:srgbClr val="1A1A1A"/>
                          </a:solidFill>
                        </a:defRPr>
                      </a:pPr>
                      <a:r>
                        <a:t>1</a:t>
                      </a:r>
                    </a:p>
                  </a:txBody>
                  <a:tcPr marL="73152" marR="73152" marT="27432" marB="27432">
                    <a:solidFill>
                      <a:srgbClr val="FFFFFF"/>
                    </a:solidFill>
                  </a:tcPr>
                </a:tc>
                <a:tc>
                  <a:txBody>
                    <a:bodyPr/>
                    <a:lstStyle/>
                    <a:p>
                      <a:pPr algn="ctr">
                        <a:defRPr sz="1200">
                          <a:solidFill>
                            <a:srgbClr val="1A1A1A"/>
                          </a:solidFill>
                        </a:defRPr>
                      </a:pPr>
                      <a:r>
                        <a:t>Decomposing a cross-device gap into</a:t>
                      </a:r>
                    </a:p>
                    <a:p>
                      <a:r>
                        <a:t>prevalence, calibration and ranking components</a:t>
                      </a:r>
                    </a:p>
                  </a:txBody>
                  <a:tcPr marL="73152" marR="73152" marT="27432" marB="27432">
                    <a:solidFill>
                      <a:srgbClr val="FFFFFF"/>
                    </a:solidFill>
                  </a:tcPr>
                </a:tc>
                <a:tc>
                  <a:txBody>
                    <a:bodyPr/>
                    <a:lstStyle/>
                    <a:p>
                      <a:pPr algn="ctr">
                        <a:defRPr sz="1200">
                          <a:solidFill>
                            <a:srgbClr val="1A1A1A"/>
                          </a:solidFill>
                        </a:defRPr>
                      </a:pPr>
                      <a:r>
                        <a:t>Cross-domain F1 collapses are routinely blamed on the model.</a:t>
                      </a:r>
                    </a:p>
                    <a:p>
                      <a:r>
                        <a:t>We show the split is computable in closed form — and that in our</a:t>
                      </a:r>
                    </a:p>
                    <a:p>
                      <a:r>
                        <a:t>case the ranking component is all that remains.</a:t>
                      </a:r>
                    </a:p>
                  </a:txBody>
                  <a:tcPr marL="73152" marR="73152" marT="27432" marB="27432">
                    <a:solidFill>
                      <a:srgbClr val="FFFFFF"/>
                    </a:solidFill>
                  </a:tcPr>
                </a:tc>
              </a:tr>
              <a:tr h="891540">
                <a:tc>
                  <a:txBody>
                    <a:bodyPr/>
                    <a:lstStyle/>
                    <a:p>
                      <a:pPr algn="l">
                        <a:defRPr sz="1200">
                          <a:solidFill>
                            <a:srgbClr val="1A1A1A"/>
                          </a:solidFill>
                        </a:defRPr>
                      </a:pPr>
                      <a:r>
                        <a:t>2</a:t>
                      </a:r>
                    </a:p>
                  </a:txBody>
                  <a:tcPr marL="73152" marR="73152" marT="27432" marB="27432">
                    <a:solidFill>
                      <a:srgbClr val="F2F4F7"/>
                    </a:solidFill>
                  </a:tcPr>
                </a:tc>
                <a:tc>
                  <a:txBody>
                    <a:bodyPr/>
                    <a:lstStyle/>
                    <a:p>
                      <a:pPr algn="ctr">
                        <a:defRPr sz="1200">
                          <a:solidFill>
                            <a:srgbClr val="1A1A1A"/>
                          </a:solidFill>
                        </a:defRPr>
                      </a:pPr>
                      <a:r>
                        <a:t>Multi-view test-time aggregation for</a:t>
                      </a:r>
                    </a:p>
                    <a:p>
                      <a:r>
                        <a:t>cross-device retinal screening</a:t>
                      </a:r>
                    </a:p>
                  </a:txBody>
                  <a:tcPr marL="73152" marR="73152" marT="27432" marB="27432">
                    <a:solidFill>
                      <a:srgbClr val="F2F4F7"/>
                    </a:solidFill>
                  </a:tcPr>
                </a:tc>
                <a:tc>
                  <a:txBody>
                    <a:bodyPr/>
                    <a:lstStyle/>
                    <a:p>
                      <a:pPr algn="ctr">
                        <a:defRPr sz="1200">
                          <a:solidFill>
                            <a:srgbClr val="1A1A1A"/>
                          </a:solidFill>
                        </a:defRPr>
                      </a:pPr>
                      <a:r>
                        <a:t>Exploits mBRSET's ~4 images per patient, a free signal no</a:t>
                      </a:r>
                    </a:p>
                    <a:p>
                      <a:r>
                        <a:t>cross-device study has used.</a:t>
                      </a:r>
                    </a:p>
                  </a:txBody>
                  <a:tcPr marL="73152" marR="73152" marT="27432" marB="27432">
                    <a:solidFill>
                      <a:srgbClr val="F2F4F7"/>
                    </a:solidFill>
                  </a:tcPr>
                </a:tc>
              </a:tr>
              <a:tr h="891540">
                <a:tc>
                  <a:txBody>
                    <a:bodyPr/>
                    <a:lstStyle/>
                    <a:p>
                      <a:pPr algn="l">
                        <a:defRPr sz="1200">
                          <a:solidFill>
                            <a:srgbClr val="1A1A1A"/>
                          </a:solidFill>
                        </a:defRPr>
                      </a:pPr>
                      <a:r>
                        <a:t>3</a:t>
                      </a:r>
                    </a:p>
                  </a:txBody>
                  <a:tcPr marL="73152" marR="73152" marT="27432" marB="27432">
                    <a:solidFill>
                      <a:srgbClr val="FFFFFF"/>
                    </a:solidFill>
                  </a:tcPr>
                </a:tc>
                <a:tc>
                  <a:txBody>
                    <a:bodyPr/>
                    <a:lstStyle/>
                    <a:p>
                      <a:pPr algn="ctr">
                        <a:defRPr sz="1200">
                          <a:solidFill>
                            <a:srgbClr val="1A1A1A"/>
                          </a:solidFill>
                        </a:defRPr>
                      </a:pPr>
                      <a:r>
                        <a:t>Adapting the internal normalisation layer</a:t>
                      </a:r>
                    </a:p>
                    <a:p>
                      <a:r>
                        <a:t>that is unique to ConvNeXt V2</a:t>
                      </a:r>
                    </a:p>
                  </a:txBody>
                  <a:tcPr marL="73152" marR="73152" marT="27432" marB="27432">
                    <a:solidFill>
                      <a:srgbClr val="FFFFFF"/>
                    </a:solidFill>
                  </a:tcPr>
                </a:tc>
                <a:tc>
                  <a:txBody>
                    <a:bodyPr/>
                    <a:lstStyle/>
                    <a:p>
                      <a:pPr algn="ctr">
                        <a:defRPr sz="1200">
                          <a:solidFill>
                            <a:srgbClr val="1A1A1A"/>
                          </a:solidFill>
                        </a:defRPr>
                      </a:pPr>
                      <a:r>
                        <a:t>The standard adaptation trick relies on a component this model</a:t>
                      </a:r>
                    </a:p>
                    <a:p>
                      <a:r>
                        <a:t>does not have. Nobody has adapted the one it does have.</a:t>
                      </a:r>
                    </a:p>
                  </a:txBody>
                  <a:tcPr marL="73152" marR="73152" marT="27432" marB="27432">
                    <a:solidFill>
                      <a:srgbClr val="FFFFFF"/>
                    </a:solidFill>
                  </a:tcPr>
                </a:tc>
              </a:tr>
            </a:tbl>
          </a:graphicData>
        </a:graphic>
      </p:graphicFrame>
      <p:sp>
        <p:nvSpPr>
          <p:cNvPr id="4" name="TextBox 3"/>
          <p:cNvSpPr txBox="1"/>
          <p:nvPr/>
        </p:nvSpPr>
        <p:spPr>
          <a:xfrm>
            <a:off x="685800" y="5577840"/>
            <a:ext cx="10881360" cy="685800"/>
          </a:xfrm>
          <a:prstGeom prst="rect">
            <a:avLst/>
          </a:prstGeom>
          <a:noFill/>
        </p:spPr>
        <p:txBody>
          <a:bodyPr wrap="square">
            <a:spAutoFit/>
          </a:bodyPr>
          <a:lstStyle/>
          <a:p>
            <a:pPr>
              <a:defRPr sz="1600" b="1">
                <a:solidFill>
                  <a:srgbClr val="1F4E79"/>
                </a:solidFill>
              </a:defRPr>
            </a:pPr>
            <a:r>
              <a:t>Contribution 1 stands even if every method underperforms — the negative result is itself the finding.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11480"/>
            <a:ext cx="10972800" cy="777240"/>
          </a:xfrm>
          <a:prstGeom prst="rect">
            <a:avLst/>
          </a:prstGeom>
          <a:noFill/>
        </p:spPr>
        <p:txBody>
          <a:bodyPr wrap="square">
            <a:spAutoFit/>
          </a:bodyPr>
          <a:lstStyle/>
          <a:p>
            <a:pPr>
              <a:defRPr sz="3000" b="1">
                <a:solidFill>
                  <a:srgbClr val="1F4E79"/>
                </a:solidFill>
              </a:defRPr>
            </a:pPr>
            <a:r>
              <a:t>Next steps</a:t>
            </a:r>
          </a:p>
        </p:txBody>
      </p:sp>
      <p:graphicFrame>
        <p:nvGraphicFramePr>
          <p:cNvPr id="3" name="Table 2"/>
          <p:cNvGraphicFramePr>
            <a:graphicFrameLocks noGrp="1"/>
          </p:cNvGraphicFramePr>
          <p:nvPr/>
        </p:nvGraphicFramePr>
        <p:xfrm>
          <a:off x="685800" y="1920240"/>
          <a:ext cx="10789919" cy="2560320"/>
        </p:xfrm>
        <a:graphic>
          <a:graphicData uri="http://schemas.openxmlformats.org/drawingml/2006/table">
            <a:tbl>
              <a:tblPr firstRow="1" bandRow="1">
                <a:tableStyleId>{5C22544A-7EE6-4342-B048-85BDC9FD1C3A}</a:tableStyleId>
              </a:tblPr>
              <a:tblGrid>
                <a:gridCol w="1674297"/>
                <a:gridCol w="9115622"/>
              </a:tblGrid>
              <a:tr h="512064">
                <a:tc>
                  <a:txBody>
                    <a:bodyPr/>
                    <a:lstStyle/>
                    <a:p>
                      <a:pPr algn="l">
                        <a:defRPr sz="1400" b="1">
                          <a:solidFill>
                            <a:srgbClr val="FFFFFF"/>
                          </a:solidFill>
                        </a:defRPr>
                      </a:pPr>
                      <a:r>
                        <a:t>When</a:t>
                      </a:r>
                    </a:p>
                  </a:txBody>
                  <a:tcPr marL="73152" marR="73152" marT="27432" marB="27432">
                    <a:solidFill>
                      <a:srgbClr val="1F4E79"/>
                    </a:solidFill>
                  </a:tcPr>
                </a:tc>
                <a:tc>
                  <a:txBody>
                    <a:bodyPr/>
                    <a:lstStyle/>
                    <a:p>
                      <a:pPr algn="ctr">
                        <a:defRPr sz="1400" b="1">
                          <a:solidFill>
                            <a:srgbClr val="FFFFFF"/>
                          </a:solidFill>
                        </a:defRPr>
                      </a:pPr>
                      <a:r>
                        <a:t>Action</a:t>
                      </a:r>
                    </a:p>
                  </a:txBody>
                  <a:tcPr marL="73152" marR="73152" marT="27432" marB="27432">
                    <a:solidFill>
                      <a:srgbClr val="1F4E79"/>
                    </a:solidFill>
                  </a:tcPr>
                </a:tc>
              </a:tr>
              <a:tr h="512064">
                <a:tc>
                  <a:txBody>
                    <a:bodyPr/>
                    <a:lstStyle/>
                    <a:p>
                      <a:pPr algn="l">
                        <a:defRPr sz="1400">
                          <a:solidFill>
                            <a:srgbClr val="1A1A1A"/>
                          </a:solidFill>
                        </a:defRPr>
                      </a:pPr>
                      <a:r>
                        <a:t>This week</a:t>
                      </a:r>
                    </a:p>
                  </a:txBody>
                  <a:tcPr marL="73152" marR="73152" marT="27432" marB="27432">
                    <a:solidFill>
                      <a:srgbClr val="FFFFFF"/>
                    </a:solidFill>
                  </a:tcPr>
                </a:tc>
                <a:tc>
                  <a:txBody>
                    <a:bodyPr/>
                    <a:lstStyle/>
                    <a:p>
                      <a:pPr algn="ctr">
                        <a:defRPr sz="1400">
                          <a:solidFill>
                            <a:srgbClr val="1A1A1A"/>
                          </a:solidFill>
                        </a:defRPr>
                      </a:pPr>
                      <a:r>
                        <a:t>Finish imbalance hyperparameter sweep (validation-selected); k-fold cross-validation to tighten confidence intervals on the baseline</a:t>
                      </a:r>
                    </a:p>
                  </a:txBody>
                  <a:tcPr marL="73152" marR="73152" marT="27432" marB="27432">
                    <a:solidFill>
                      <a:srgbClr val="FFFFFF"/>
                    </a:solidFill>
                  </a:tcPr>
                </a:tc>
              </a:tr>
              <a:tr h="512064">
                <a:tc>
                  <a:txBody>
                    <a:bodyPr/>
                    <a:lstStyle/>
                    <a:p>
                      <a:pPr algn="l">
                        <a:defRPr sz="1400">
                          <a:solidFill>
                            <a:srgbClr val="1A1A1A"/>
                          </a:solidFill>
                        </a:defRPr>
                      </a:pPr>
                      <a:r>
                        <a:t>Next</a:t>
                      </a:r>
                    </a:p>
                  </a:txBody>
                  <a:tcPr marL="73152" marR="73152" marT="27432" marB="27432">
                    <a:solidFill>
                      <a:srgbClr val="F2F4F7"/>
                    </a:solidFill>
                  </a:tcPr>
                </a:tc>
                <a:tc>
                  <a:txBody>
                    <a:bodyPr/>
                    <a:lstStyle/>
                    <a:p>
                      <a:pPr algn="ctr">
                        <a:defRPr sz="1400">
                          <a:solidFill>
                            <a:srgbClr val="1A1A1A"/>
                          </a:solidFill>
                        </a:defRPr>
                      </a:pPr>
                      <a:r>
                        <a:t>Implement label-free threshold placement — the honest baseline for all transfer results</a:t>
                      </a:r>
                    </a:p>
                  </a:txBody>
                  <a:tcPr marL="73152" marR="73152" marT="27432" marB="27432">
                    <a:solidFill>
                      <a:srgbClr val="F2F4F7"/>
                    </a:solidFill>
                  </a:tcPr>
                </a:tc>
              </a:tr>
              <a:tr h="512064">
                <a:tc>
                  <a:txBody>
                    <a:bodyPr/>
                    <a:lstStyle/>
                    <a:p>
                      <a:pPr algn="l">
                        <a:defRPr sz="1400">
                          <a:solidFill>
                            <a:srgbClr val="1A1A1A"/>
                          </a:solidFill>
                        </a:defRPr>
                      </a:pPr>
                      <a:r>
                        <a:t>Then</a:t>
                      </a:r>
                    </a:p>
                  </a:txBody>
                  <a:tcPr marL="73152" marR="73152" marT="27432" marB="27432">
                    <a:solidFill>
                      <a:srgbClr val="FFFFFF"/>
                    </a:solidFill>
                  </a:tcPr>
                </a:tc>
                <a:tc>
                  <a:txBody>
                    <a:bodyPr/>
                    <a:lstStyle/>
                    <a:p>
                      <a:pPr algn="ctr">
                        <a:defRPr sz="1400">
                          <a:solidFill>
                            <a:srgbClr val="1A1A1A"/>
                          </a:solidFill>
                        </a:defRPr>
                      </a:pPr>
                      <a:r>
                        <a:t>Multi-view aggregation, then degradation augmentation; measure AUC gain against the 0.95 / 0.985 target</a:t>
                      </a:r>
                    </a:p>
                  </a:txBody>
                  <a:tcPr marL="73152" marR="73152" marT="27432" marB="27432">
                    <a:solidFill>
                      <a:srgbClr val="FFFFFF"/>
                    </a:solidFill>
                  </a:tcPr>
                </a:tc>
              </a:tr>
              <a:tr h="512064">
                <a:tc>
                  <a:txBody>
                    <a:bodyPr/>
                    <a:lstStyle/>
                    <a:p>
                      <a:pPr algn="l">
                        <a:defRPr sz="1400">
                          <a:solidFill>
                            <a:srgbClr val="1A1A1A"/>
                          </a:solidFill>
                        </a:defRPr>
                      </a:pPr>
                      <a:r>
                        <a:t>Open question</a:t>
                      </a:r>
                    </a:p>
                  </a:txBody>
                  <a:tcPr marL="73152" marR="73152" marT="27432" marB="27432">
                    <a:solidFill>
                      <a:srgbClr val="F2F4F7"/>
                    </a:solidFill>
                  </a:tcPr>
                </a:tc>
                <a:tc>
                  <a:txBody>
                    <a:bodyPr/>
                    <a:lstStyle/>
                    <a:p>
                      <a:pPr algn="ctr">
                        <a:defRPr sz="1400">
                          <a:solidFill>
                            <a:srgbClr val="1A1A1A"/>
                          </a:solidFill>
                        </a:defRPr>
                      </a:pPr>
                      <a:r>
                        <a:t>Access to BRSET's per-image degradation-type metadata for the decomposition analysis</a:t>
                      </a:r>
                    </a:p>
                  </a:txBody>
                  <a:tcPr marL="73152" marR="73152" marT="27432" marB="27432">
                    <a:solidFill>
                      <a:srgbClr val="F2F4F7"/>
                    </a:solidFill>
                  </a:tcPr>
                </a:tc>
              </a:tr>
            </a:tbl>
          </a:graphicData>
        </a:graphic>
      </p:graphicFrame>
      <p:sp>
        <p:nvSpPr>
          <p:cNvPr id="4" name="TextBox 3"/>
          <p:cNvSpPr txBox="1"/>
          <p:nvPr/>
        </p:nvSpPr>
        <p:spPr>
          <a:xfrm>
            <a:off x="685800" y="4754880"/>
            <a:ext cx="10881360" cy="1828800"/>
          </a:xfrm>
          <a:prstGeom prst="rect">
            <a:avLst/>
          </a:prstGeom>
          <a:noFill/>
        </p:spPr>
        <p:txBody>
          <a:bodyPr wrap="square">
            <a:spAutoFit/>
          </a:bodyPr>
          <a:lstStyle/>
          <a:p>
            <a:pPr>
              <a:spcAft>
                <a:spcPts val="1000"/>
              </a:spcAft>
              <a:defRPr sz="1700">
                <a:solidFill>
                  <a:srgbClr val="1A1A1A"/>
                </a:solidFill>
              </a:defRPr>
            </a:pPr>
            <a:r>
              <a:t>• Baseline: complete and defensible — beats the paper on AUC, matches on F1.</a:t>
            </a:r>
          </a:p>
          <a:p>
            <a:pPr>
              <a:spcAft>
                <a:spcPts val="1000"/>
              </a:spcAft>
              <a:defRPr sz="1700">
                <a:solidFill>
                  <a:srgbClr val="1A1A1A"/>
                </a:solidFill>
              </a:defRPr>
            </a:pPr>
            <a:r>
              <a:t>• Transfer: diagnosed, literature reviewed, three methods ranked, novelty verified as open.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