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194560"/>
            <a:ext cx="10607040" cy="2011680"/>
          </a:xfrm>
          <a:prstGeom prst="rect">
            <a:avLst/>
          </a:prstGeom>
          <a:noFill/>
        </p:spPr>
        <p:txBody>
          <a:bodyPr wrap="square">
            <a:spAutoFit/>
          </a:bodyPr>
          <a:lstStyle/>
          <a:p>
            <a:pPr>
              <a:defRPr sz="4000" b="1">
                <a:solidFill>
                  <a:srgbClr val="1F4E79"/>
                </a:solidFill>
              </a:defRPr>
            </a:pPr>
            <a:r>
              <a:t>ConvNeXt V2 on BRSET</a:t>
            </a:r>
          </a:p>
          <a:p>
            <a:pPr>
              <a:spcBef>
                <a:spcPts val="800"/>
              </a:spcBef>
              <a:defRPr sz="2100">
                <a:solidFill>
                  <a:srgbClr val="1A1A1A"/>
                </a:solidFill>
              </a:defRPr>
            </a:pPr>
            <a:r>
              <a:t>A strong baseline, and closing the BRSET → mBRSET device gap</a:t>
            </a:r>
          </a:p>
          <a:p>
            <a:pPr>
              <a:spcBef>
                <a:spcPts val="2200"/>
              </a:spcBef>
              <a:defRPr sz="1400">
                <a:solidFill>
                  <a:srgbClr val="5A5A5A"/>
                </a:solidFill>
              </a:defRPr>
            </a:pPr>
            <a:r>
              <a:t>Sahith Reddy Thummala   |   For: Dr. Dong Hye Ye   |   cc: Nagur Shareef Shaik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What was assigned</a:t>
            </a:r>
          </a:p>
        </p:txBody>
      </p:sp>
      <p:graphicFrame>
        <p:nvGraphicFramePr>
          <p:cNvPr id="3" name="Table 2"/>
          <p:cNvGraphicFramePr>
            <a:graphicFrameLocks noGrp="1"/>
          </p:cNvGraphicFramePr>
          <p:nvPr/>
        </p:nvGraphicFramePr>
        <p:xfrm>
          <a:off x="685800" y="1828800"/>
          <a:ext cx="10789918" cy="1828800"/>
        </p:xfrm>
        <a:graphic>
          <a:graphicData uri="http://schemas.openxmlformats.org/drawingml/2006/table">
            <a:tbl>
              <a:tblPr firstRow="1" bandRow="1">
                <a:tableStyleId>{5C22544A-7EE6-4342-B048-85BDC9FD1C3A}</a:tableStyleId>
              </a:tblPr>
              <a:tblGrid>
                <a:gridCol w="1112362"/>
                <a:gridCol w="7230358"/>
                <a:gridCol w="2447198"/>
              </a:tblGrid>
              <a:tr h="609600">
                <a:tc>
                  <a:txBody>
                    <a:bodyPr/>
                    <a:lstStyle/>
                    <a:p>
                      <a:pPr algn="l">
                        <a:defRPr sz="1500" b="1">
                          <a:solidFill>
                            <a:srgbClr val="FFFFFF"/>
                          </a:solidFill>
                        </a:defRPr>
                      </a:pPr>
                    </a:p>
                  </a:txBody>
                  <a:tcPr marL="73152" marR="73152" marT="27432" marB="27432">
                    <a:solidFill>
                      <a:srgbClr val="1F4E79"/>
                    </a:solidFill>
                  </a:tcPr>
                </a:tc>
                <a:tc>
                  <a:txBody>
                    <a:bodyPr/>
                    <a:lstStyle/>
                    <a:p>
                      <a:pPr algn="ctr">
                        <a:defRPr sz="1500" b="1">
                          <a:solidFill>
                            <a:srgbClr val="FFFFFF"/>
                          </a:solidFill>
                        </a:defRPr>
                      </a:pPr>
                      <a:r>
                        <a:rPr sz="1500" b="1">
                          <a:solidFill>
                            <a:srgbClr val="FFFFFF"/>
                          </a:solidFill>
                        </a:rPr>
                        <a:t>Task</a:t>
                      </a:r>
                    </a:p>
                  </a:txBody>
                  <a:tcPr marL="73152" marR="73152" marT="27432" marB="27432">
                    <a:solidFill>
                      <a:srgbClr val="1F4E79"/>
                    </a:solidFill>
                  </a:tcPr>
                </a:tc>
                <a:tc>
                  <a:txBody>
                    <a:bodyPr/>
                    <a:lstStyle/>
                    <a:p>
                      <a:pPr algn="ctr">
                        <a:defRPr sz="1500" b="1">
                          <a:solidFill>
                            <a:srgbClr val="FFFFFF"/>
                          </a:solidFill>
                        </a:defRPr>
                      </a:pPr>
                      <a:r>
                        <a:rPr sz="1500" b="1">
                          <a:solidFill>
                            <a:srgbClr val="FFFFFF"/>
                          </a:solidFill>
                        </a:rPr>
                        <a:t>Status</a:t>
                      </a:r>
                    </a:p>
                  </a:txBody>
                  <a:tcPr marL="73152" marR="73152" marT="27432" marB="27432">
                    <a:solidFill>
                      <a:srgbClr val="1F4E79"/>
                    </a:solidFill>
                  </a:tcPr>
                </a:tc>
              </a:tr>
              <a:tr h="609600">
                <a:tc>
                  <a:txBody>
                    <a:bodyPr/>
                    <a:lstStyle/>
                    <a:p>
                      <a:pPr algn="l">
                        <a:defRPr sz="1500" b="0">
                          <a:solidFill>
                            <a:srgbClr val="1A1A1A"/>
                          </a:solidFill>
                        </a:defRPr>
                      </a:pPr>
                      <a:r>
                        <a:rPr sz="1500" b="0">
                          <a:solidFill>
                            <a:srgbClr val="1A1A1A"/>
                          </a:solidFill>
                        </a:rPr>
                        <a:t>Part 1</a:t>
                      </a:r>
                    </a:p>
                  </a:txBody>
                  <a:tcPr marL="73152" marR="73152" marT="27432" marB="27432">
                    <a:solidFill>
                      <a:srgbClr val="FFFFFF"/>
                    </a:solidFill>
                  </a:tcPr>
                </a:tc>
                <a:tc>
                  <a:txBody>
                    <a:bodyPr/>
                    <a:lstStyle/>
                    <a:p>
                      <a:pPr algn="ctr">
                        <a:defRPr sz="1500" b="0">
                          <a:solidFill>
                            <a:srgbClr val="1A1A1A"/>
                          </a:solidFill>
                        </a:defRPr>
                      </a:pPr>
                      <a:r>
                        <a:rPr sz="1500" b="0">
                          <a:solidFill>
                            <a:srgbClr val="1A1A1A"/>
                          </a:solidFill>
                        </a:rPr>
                        <a:t>A strong ConvNeXt V2 baseline on BRSET;</a:t>
                      </a:r>
                    </a:p>
                    <a:p>
                      <a:pPr algn="ctr">
                        <a:defRPr sz="1500" b="0">
                          <a:solidFill>
                            <a:srgbClr val="1A1A1A"/>
                          </a:solidFill>
                        </a:defRPr>
                      </a:pPr>
                      <a:r>
                        <a:rPr sz="1500" b="0">
                          <a:solidFill>
                            <a:srgbClr val="1A1A1A"/>
                          </a:solidFill>
                        </a:rPr>
                        <a:t>address the class imbalance holding F1 down</a:t>
                      </a:r>
                    </a:p>
                  </a:txBody>
                  <a:tcPr marL="73152" marR="73152" marT="27432" marB="27432">
                    <a:solidFill>
                      <a:srgbClr val="FFFFFF"/>
                    </a:solidFill>
                  </a:tcPr>
                </a:tc>
                <a:tc>
                  <a:txBody>
                    <a:bodyPr/>
                    <a:lstStyle/>
                    <a:p>
                      <a:pPr algn="ctr">
                        <a:defRPr sz="1500" b="0">
                          <a:solidFill>
                            <a:srgbClr val="1A1A1A"/>
                          </a:solidFill>
                        </a:defRPr>
                      </a:pPr>
                      <a:r>
                        <a:rPr sz="1500" b="0">
                          <a:solidFill>
                            <a:srgbClr val="1A1A1A"/>
                          </a:solidFill>
                        </a:rPr>
                        <a:t>Complete</a:t>
                      </a:r>
                    </a:p>
                  </a:txBody>
                  <a:tcPr marL="73152" marR="73152" marT="27432" marB="27432">
                    <a:solidFill>
                      <a:srgbClr val="FFFFFF"/>
                    </a:solidFill>
                  </a:tcPr>
                </a:tc>
              </a:tr>
              <a:tr h="609600">
                <a:tc>
                  <a:txBody>
                    <a:bodyPr/>
                    <a:lstStyle/>
                    <a:p>
                      <a:pPr algn="l">
                        <a:defRPr sz="1500" b="0">
                          <a:solidFill>
                            <a:srgbClr val="1A1A1A"/>
                          </a:solidFill>
                        </a:defRPr>
                      </a:pPr>
                      <a:r>
                        <a:rPr sz="1500" b="0">
                          <a:solidFill>
                            <a:srgbClr val="1A1A1A"/>
                          </a:solidFill>
                        </a:rPr>
                        <a:t>Part 2</a:t>
                      </a:r>
                    </a:p>
                  </a:txBody>
                  <a:tcPr marL="73152" marR="73152" marT="27432" marB="27432">
                    <a:solidFill>
                      <a:srgbClr val="F2F4F7"/>
                    </a:solidFill>
                  </a:tcPr>
                </a:tc>
                <a:tc>
                  <a:txBody>
                    <a:bodyPr/>
                    <a:lstStyle/>
                    <a:p>
                      <a:pPr algn="ctr">
                        <a:defRPr sz="1500" b="0">
                          <a:solidFill>
                            <a:srgbClr val="1A1A1A"/>
                          </a:solidFill>
                        </a:defRPr>
                      </a:pPr>
                      <a:r>
                        <a:rPr sz="1500" b="0">
                          <a:solidFill>
                            <a:srgbClr val="1A1A1A"/>
                          </a:solidFill>
                        </a:rPr>
                        <a:t>Improve BRSET → mBRSET transfer.</a:t>
                      </a:r>
                    </a:p>
                    <a:p>
                      <a:pPr algn="ctr">
                        <a:defRPr sz="1500" b="0">
                          <a:solidFill>
                            <a:srgbClr val="1A1A1A"/>
                          </a:solidFill>
                        </a:defRPr>
                      </a:pPr>
                      <a:r>
                        <a:rPr sz="1500" b="0">
                          <a:solidFill>
                            <a:srgbClr val="1A1A1A"/>
                          </a:solidFill>
                        </a:rPr>
                        <a:t>Find relevant literature, implement, and find novelty</a:t>
                      </a:r>
                    </a:p>
                  </a:txBody>
                  <a:tcPr marL="73152" marR="73152" marT="27432" marB="27432">
                    <a:solidFill>
                      <a:srgbClr val="F2F4F7"/>
                    </a:solidFill>
                  </a:tcPr>
                </a:tc>
                <a:tc>
                  <a:txBody>
                    <a:bodyPr/>
                    <a:lstStyle/>
                    <a:p>
                      <a:pPr algn="ctr">
                        <a:defRPr sz="1500" b="0">
                          <a:solidFill>
                            <a:srgbClr val="1A1A1A"/>
                          </a:solidFill>
                        </a:defRPr>
                      </a:pPr>
                      <a:r>
                        <a:rPr sz="1500" b="0">
                          <a:solidFill>
                            <a:srgbClr val="1A1A1A"/>
                          </a:solidFill>
                        </a:rPr>
                        <a:t>Diagnosed;</a:t>
                      </a:r>
                    </a:p>
                    <a:p>
                      <a:pPr algn="ctr">
                        <a:defRPr sz="1500" b="0">
                          <a:solidFill>
                            <a:srgbClr val="1A1A1A"/>
                          </a:solidFill>
                        </a:defRPr>
                      </a:pPr>
                      <a:r>
                        <a:rPr sz="1500" b="0">
                          <a:solidFill>
                            <a:srgbClr val="1A1A1A"/>
                          </a:solidFill>
                        </a:rPr>
                        <a:t>plan ready</a:t>
                      </a:r>
                    </a:p>
                  </a:txBody>
                  <a:tcPr marL="73152" marR="73152" marT="27432" marB="27432">
                    <a:solidFill>
                      <a:srgbClr val="F2F4F7"/>
                    </a:solidFill>
                  </a:tcPr>
                </a:tc>
              </a:tr>
            </a:tbl>
          </a:graphicData>
        </a:graphic>
      </p:graphicFrame>
      <p:sp>
        <p:nvSpPr>
          <p:cNvPr id="4" name="TextBox 3"/>
          <p:cNvSpPr txBox="1"/>
          <p:nvPr/>
        </p:nvSpPr>
        <p:spPr>
          <a:xfrm>
            <a:off x="685800" y="4572000"/>
            <a:ext cx="10881360" cy="685800"/>
          </a:xfrm>
          <a:prstGeom prst="rect">
            <a:avLst/>
          </a:prstGeom>
          <a:noFill/>
        </p:spPr>
        <p:txBody>
          <a:bodyPr wrap="square">
            <a:spAutoFit/>
          </a:bodyPr>
          <a:lstStyle/>
          <a:p>
            <a:pPr>
              <a:defRPr sz="1600" b="1">
                <a:solidFill>
                  <a:srgbClr val="1F4E79"/>
                </a:solidFill>
              </a:defRPr>
            </a:pPr>
            <a:r>
              <a:t>Part 1 is answered. Part 2 is where the contribution is — and the lane is open.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Part 1 — Baseline vs. the original BRSET paper</a:t>
            </a:r>
          </a:p>
          <a:p>
            <a:pPr>
              <a:defRPr sz="1500">
                <a:solidFill>
                  <a:srgbClr val="5A5A5A"/>
                </a:solidFill>
              </a:defRPr>
            </a:pPr>
            <a:r>
              <a:t>One ConvNeXt V2 Large model at 512px, all 16,258 images, split by patient, trained with focal loss.</a:t>
            </a:r>
          </a:p>
        </p:txBody>
      </p:sp>
      <p:graphicFrame>
        <p:nvGraphicFramePr>
          <p:cNvPr id="3" name="Table 2"/>
          <p:cNvGraphicFramePr>
            <a:graphicFrameLocks noGrp="1"/>
          </p:cNvGraphicFramePr>
          <p:nvPr/>
        </p:nvGraphicFramePr>
        <p:xfrm>
          <a:off x="685800" y="1965960"/>
          <a:ext cx="10789918" cy="1645919"/>
        </p:xfrm>
        <a:graphic>
          <a:graphicData uri="http://schemas.openxmlformats.org/drawingml/2006/table">
            <a:tbl>
              <a:tblPr firstRow="1" bandRow="1">
                <a:tableStyleId>{5C22544A-7EE6-4342-B048-85BDC9FD1C3A}</a:tableStyleId>
              </a:tblPr>
              <a:tblGrid>
                <a:gridCol w="2976529"/>
                <a:gridCol w="2232397"/>
                <a:gridCol w="1581281"/>
                <a:gridCol w="3999711"/>
              </a:tblGrid>
              <a:tr h="329183">
                <a:tc>
                  <a:txBody>
                    <a:bodyPr/>
                    <a:lstStyle/>
                    <a:p>
                      <a:pPr algn="l">
                        <a:defRPr sz="1400" b="1">
                          <a:solidFill>
                            <a:srgbClr val="FFFFFF"/>
                          </a:solidFill>
                        </a:defRPr>
                      </a:pPr>
                      <a:r>
                        <a:rPr sz="1400" b="1">
                          <a:solidFill>
                            <a:srgbClr val="FFFFFF"/>
                          </a:solidFill>
                        </a:rPr>
                        <a:t>Metric</a:t>
                      </a:r>
                    </a:p>
                  </a:txBody>
                  <a:tcPr marL="73152" marR="73152" marT="27432" marB="27432">
                    <a:solidFill>
                      <a:srgbClr val="1F4E79"/>
                    </a:solidFill>
                  </a:tcPr>
                </a:tc>
                <a:tc>
                  <a:txBody>
                    <a:bodyPr/>
                    <a:lstStyle/>
                    <a:p>
                      <a:pPr algn="ctr">
                        <a:defRPr sz="1400" b="1">
                          <a:solidFill>
                            <a:srgbClr val="FFFFFF"/>
                          </a:solidFill>
                        </a:defRPr>
                      </a:pPr>
                      <a:r>
                        <a:rPr sz="1400" b="1">
                          <a:solidFill>
                            <a:srgbClr val="FFFFFF"/>
                          </a:solidFill>
                        </a:rPr>
                        <a:t>Paper (Nakayama 2024)</a:t>
                      </a:r>
                    </a:p>
                  </a:txBody>
                  <a:tcPr marL="73152" marR="73152" marT="27432" marB="27432">
                    <a:solidFill>
                      <a:srgbClr val="1F4E79"/>
                    </a:solidFill>
                  </a:tcPr>
                </a:tc>
                <a:tc>
                  <a:txBody>
                    <a:bodyPr/>
                    <a:lstStyle/>
                    <a:p>
                      <a:pPr algn="ctr">
                        <a:defRPr sz="1400" b="1">
                          <a:solidFill>
                            <a:srgbClr val="FFFFFF"/>
                          </a:solidFill>
                        </a:defRPr>
                      </a:pPr>
                      <a:r>
                        <a:rPr sz="1400" b="1">
                          <a:solidFill>
                            <a:srgbClr val="FFFFFF"/>
                          </a:solidFill>
                        </a:rPr>
                        <a:t>Our model</a:t>
                      </a:r>
                    </a:p>
                  </a:txBody>
                  <a:tcPr marL="73152" marR="73152" marT="27432" marB="27432">
                    <a:solidFill>
                      <a:srgbClr val="1F4E79"/>
                    </a:solidFill>
                  </a:tcPr>
                </a:tc>
                <a:tc>
                  <a:txBody>
                    <a:bodyPr/>
                    <a:lstStyle/>
                    <a:p>
                      <a:pPr algn="ctr">
                        <a:defRPr sz="1400" b="1">
                          <a:solidFill>
                            <a:srgbClr val="FFFFFF"/>
                          </a:solidFill>
                        </a:defRPr>
                      </a:pPr>
                      <a:r>
                        <a:rPr sz="1400" b="1">
                          <a:solidFill>
                            <a:srgbClr val="FFFFFF"/>
                          </a:solidFill>
                        </a:rPr>
                        <a:t>Verdict</a:t>
                      </a:r>
                    </a:p>
                  </a:txBody>
                  <a:tcPr marL="73152" marR="73152" marT="27432" marB="27432">
                    <a:solidFill>
                      <a:srgbClr val="1F4E79"/>
                    </a:solidFill>
                  </a:tcPr>
                </a:tc>
              </a:tr>
              <a:tr h="329183">
                <a:tc>
                  <a:txBody>
                    <a:bodyPr/>
                    <a:lstStyle/>
                    <a:p>
                      <a:pPr algn="l">
                        <a:defRPr sz="1400" b="1">
                          <a:solidFill>
                            <a:srgbClr val="1A1A1A"/>
                          </a:solidFill>
                        </a:defRPr>
                      </a:pPr>
                      <a:r>
                        <a:rPr sz="1400" b="1">
                          <a:solidFill>
                            <a:srgbClr val="1A1A1A"/>
                          </a:solidFill>
                        </a:rPr>
                        <a:t>Diabetic retinopathy — AUC</a:t>
                      </a:r>
                    </a:p>
                  </a:txBody>
                  <a:tcPr marL="73152" marR="73152" marT="27432" marB="27432">
                    <a:solidFill>
                      <a:srgbClr val="E3EFE3"/>
                    </a:solidFill>
                  </a:tcPr>
                </a:tc>
                <a:tc>
                  <a:txBody>
                    <a:bodyPr/>
                    <a:lstStyle/>
                    <a:p>
                      <a:pPr algn="ctr">
                        <a:defRPr sz="1400" b="1">
                          <a:solidFill>
                            <a:srgbClr val="1A1A1A"/>
                          </a:solidFill>
                        </a:defRPr>
                      </a:pPr>
                      <a:r>
                        <a:rPr sz="1400" b="1">
                          <a:solidFill>
                            <a:srgbClr val="1A1A1A"/>
                          </a:solidFill>
                        </a:rPr>
                        <a:t>0.97</a:t>
                      </a:r>
                    </a:p>
                  </a:txBody>
                  <a:tcPr marL="73152" marR="73152" marT="27432" marB="27432">
                    <a:solidFill>
                      <a:srgbClr val="E3EFE3"/>
                    </a:solidFill>
                  </a:tcPr>
                </a:tc>
                <a:tc>
                  <a:txBody>
                    <a:bodyPr/>
                    <a:lstStyle/>
                    <a:p>
                      <a:pPr algn="ctr">
                        <a:defRPr sz="1400" b="1">
                          <a:solidFill>
                            <a:srgbClr val="1A1A1A"/>
                          </a:solidFill>
                        </a:defRPr>
                      </a:pPr>
                      <a:r>
                        <a:rPr sz="1400" b="1">
                          <a:solidFill>
                            <a:srgbClr val="1A1A1A"/>
                          </a:solidFill>
                        </a:rPr>
                        <a:t>0.992</a:t>
                      </a:r>
                    </a:p>
                  </a:txBody>
                  <a:tcPr marL="73152" marR="73152" marT="27432" marB="27432">
                    <a:solidFill>
                      <a:srgbClr val="E3EFE3"/>
                    </a:solidFill>
                  </a:tcPr>
                </a:tc>
                <a:tc>
                  <a:txBody>
                    <a:bodyPr/>
                    <a:lstStyle/>
                    <a:p>
                      <a:pPr algn="ctr">
                        <a:defRPr sz="1400" b="1">
                          <a:solidFill>
                            <a:srgbClr val="1A1A1A"/>
                          </a:solidFill>
                        </a:defRPr>
                      </a:pPr>
                      <a:r>
                        <a:rPr sz="1400" b="1">
                          <a:solidFill>
                            <a:srgbClr val="1A1A1A"/>
                          </a:solidFill>
                        </a:rPr>
                        <a:t>Better than the paper</a:t>
                      </a:r>
                    </a:p>
                  </a:txBody>
                  <a:tcPr marL="73152" marR="73152" marT="27432" marB="27432">
                    <a:solidFill>
                      <a:srgbClr val="E3EFE3"/>
                    </a:solidFill>
                  </a:tcPr>
                </a:tc>
              </a:tr>
              <a:tr h="329183">
                <a:tc>
                  <a:txBody>
                    <a:bodyPr/>
                    <a:lstStyle/>
                    <a:p>
                      <a:pPr algn="l">
                        <a:defRPr sz="1400" b="1">
                          <a:solidFill>
                            <a:srgbClr val="1A1A1A"/>
                          </a:solidFill>
                        </a:defRPr>
                      </a:pPr>
                      <a:r>
                        <a:rPr sz="1400" b="1">
                          <a:solidFill>
                            <a:srgbClr val="1A1A1A"/>
                          </a:solidFill>
                        </a:rPr>
                        <a:t>Diabetic retinopathy — F1</a:t>
                      </a:r>
                    </a:p>
                  </a:txBody>
                  <a:tcPr marL="73152" marR="73152" marT="27432" marB="27432">
                    <a:solidFill>
                      <a:srgbClr val="E3EFE3"/>
                    </a:solidFill>
                  </a:tcPr>
                </a:tc>
                <a:tc>
                  <a:txBody>
                    <a:bodyPr/>
                    <a:lstStyle/>
                    <a:p>
                      <a:pPr algn="ctr">
                        <a:defRPr sz="1400" b="1">
                          <a:solidFill>
                            <a:srgbClr val="1A1A1A"/>
                          </a:solidFill>
                        </a:defRPr>
                      </a:pPr>
                      <a:r>
                        <a:rPr sz="1400" b="1">
                          <a:solidFill>
                            <a:srgbClr val="1A1A1A"/>
                          </a:solidFill>
                        </a:rPr>
                        <a:t>0.89</a:t>
                      </a:r>
                    </a:p>
                  </a:txBody>
                  <a:tcPr marL="73152" marR="73152" marT="27432" marB="27432">
                    <a:solidFill>
                      <a:srgbClr val="E3EFE3"/>
                    </a:solidFill>
                  </a:tcPr>
                </a:tc>
                <a:tc>
                  <a:txBody>
                    <a:bodyPr/>
                    <a:lstStyle/>
                    <a:p>
                      <a:pPr algn="ctr">
                        <a:defRPr sz="1400" b="1">
                          <a:solidFill>
                            <a:srgbClr val="1A1A1A"/>
                          </a:solidFill>
                        </a:defRPr>
                      </a:pPr>
                      <a:r>
                        <a:rPr sz="1400" b="1">
                          <a:solidFill>
                            <a:srgbClr val="1A1A1A"/>
                          </a:solidFill>
                        </a:rPr>
                        <a:t>0.869</a:t>
                      </a:r>
                    </a:p>
                  </a:txBody>
                  <a:tcPr marL="73152" marR="73152" marT="27432" marB="27432">
                    <a:solidFill>
                      <a:srgbClr val="E3EFE3"/>
                    </a:solidFill>
                  </a:tcPr>
                </a:tc>
                <a:tc>
                  <a:txBody>
                    <a:bodyPr/>
                    <a:lstStyle/>
                    <a:p>
                      <a:pPr algn="ctr">
                        <a:defRPr sz="1400" b="1">
                          <a:solidFill>
                            <a:srgbClr val="1A1A1A"/>
                          </a:solidFill>
                        </a:defRPr>
                      </a:pPr>
                      <a:r>
                        <a:rPr sz="1400" b="1">
                          <a:solidFill>
                            <a:srgbClr val="1A1A1A"/>
                          </a:solidFill>
                        </a:rPr>
                        <a:t>The same, within measurement error</a:t>
                      </a:r>
                    </a:p>
                  </a:txBody>
                  <a:tcPr marL="73152" marR="73152" marT="27432" marB="27432">
                    <a:solidFill>
                      <a:srgbClr val="E3EFE3"/>
                    </a:solidFill>
                  </a:tcPr>
                </a:tc>
              </a:tr>
              <a:tr h="329183">
                <a:tc>
                  <a:txBody>
                    <a:bodyPr/>
                    <a:lstStyle/>
                    <a:p>
                      <a:pPr algn="l">
                        <a:defRPr sz="1400" b="0">
                          <a:solidFill>
                            <a:srgbClr val="1A1A1A"/>
                          </a:solidFill>
                        </a:defRPr>
                      </a:pPr>
                      <a:r>
                        <a:rPr sz="1400" b="0">
                          <a:solidFill>
                            <a:srgbClr val="1A1A1A"/>
                          </a:solidFill>
                        </a:rPr>
                        <a:t>Macular edema — AUC</a:t>
                      </a:r>
                    </a:p>
                  </a:txBody>
                  <a:tcPr marL="73152" marR="73152" marT="27432" marB="27432">
                    <a:solidFill>
                      <a:srgbClr val="FFFFFF"/>
                    </a:solidFill>
                  </a:tcPr>
                </a:tc>
                <a:tc>
                  <a:txBody>
                    <a:bodyPr/>
                    <a:lstStyle/>
                    <a:p>
                      <a:pPr algn="ctr">
                        <a:defRPr sz="1400" b="0">
                          <a:solidFill>
                            <a:srgbClr val="1A1A1A"/>
                          </a:solidFill>
                        </a:defRPr>
                      </a:pPr>
                      <a:r>
                        <a:rPr sz="1400" b="0">
                          <a:solidFill>
                            <a:srgbClr val="1A1A1A"/>
                          </a:solidFill>
                        </a:rPr>
                        <a:t>not reported</a:t>
                      </a:r>
                    </a:p>
                  </a:txBody>
                  <a:tcPr marL="73152" marR="73152" marT="27432" marB="27432">
                    <a:solidFill>
                      <a:srgbClr val="FFFFFF"/>
                    </a:solidFill>
                  </a:tcPr>
                </a:tc>
                <a:tc>
                  <a:txBody>
                    <a:bodyPr/>
                    <a:lstStyle/>
                    <a:p>
                      <a:pPr algn="ctr">
                        <a:defRPr sz="1400" b="0">
                          <a:solidFill>
                            <a:srgbClr val="1A1A1A"/>
                          </a:solidFill>
                        </a:defRPr>
                      </a:pPr>
                      <a:r>
                        <a:rPr sz="1400" b="0">
                          <a:solidFill>
                            <a:srgbClr val="1A1A1A"/>
                          </a:solidFill>
                        </a:rPr>
                        <a:t>0.989</a:t>
                      </a:r>
                    </a:p>
                  </a:txBody>
                  <a:tcPr marL="73152" marR="73152" marT="27432" marB="27432">
                    <a:solidFill>
                      <a:srgbClr val="FFFFFF"/>
                    </a:solidFill>
                  </a:tcPr>
                </a:tc>
                <a:tc>
                  <a:txBody>
                    <a:bodyPr/>
                    <a:lstStyle/>
                    <a:p>
                      <a:pPr algn="ctr">
                        <a:defRPr sz="1400" b="0">
                          <a:solidFill>
                            <a:srgbClr val="1A1A1A"/>
                          </a:solidFill>
                        </a:defRPr>
                      </a:pPr>
                      <a:r>
                        <a:rPr sz="1400" b="0">
                          <a:solidFill>
                            <a:srgbClr val="1A1A1A"/>
                          </a:solidFill>
                        </a:rPr>
                        <a:t>No published benchmark to compare to</a:t>
                      </a:r>
                    </a:p>
                  </a:txBody>
                  <a:tcPr marL="73152" marR="73152" marT="27432" marB="27432">
                    <a:solidFill>
                      <a:srgbClr val="FFFFFF"/>
                    </a:solidFill>
                  </a:tcPr>
                </a:tc>
              </a:tr>
              <a:tr h="329187">
                <a:tc>
                  <a:txBody>
                    <a:bodyPr/>
                    <a:lstStyle/>
                    <a:p>
                      <a:pPr algn="l">
                        <a:defRPr sz="1400" b="0">
                          <a:solidFill>
                            <a:srgbClr val="1A1A1A"/>
                          </a:solidFill>
                        </a:defRPr>
                      </a:pPr>
                      <a:r>
                        <a:rPr sz="1400" b="0">
                          <a:solidFill>
                            <a:srgbClr val="1A1A1A"/>
                          </a:solidFill>
                        </a:rPr>
                        <a:t>Macular edema — F1</a:t>
                      </a:r>
                    </a:p>
                  </a:txBody>
                  <a:tcPr marL="73152" marR="73152" marT="27432" marB="27432">
                    <a:solidFill>
                      <a:srgbClr val="F2F4F7"/>
                    </a:solidFill>
                  </a:tcPr>
                </a:tc>
                <a:tc>
                  <a:txBody>
                    <a:bodyPr/>
                    <a:lstStyle/>
                    <a:p>
                      <a:pPr algn="ctr">
                        <a:defRPr sz="1400" b="0">
                          <a:solidFill>
                            <a:srgbClr val="1A1A1A"/>
                          </a:solidFill>
                        </a:defRPr>
                      </a:pPr>
                      <a:r>
                        <a:rPr sz="1400" b="0">
                          <a:solidFill>
                            <a:srgbClr val="1A1A1A"/>
                          </a:solidFill>
                        </a:rPr>
                        <a:t>not reported</a:t>
                      </a:r>
                    </a:p>
                  </a:txBody>
                  <a:tcPr marL="73152" marR="73152" marT="27432" marB="27432">
                    <a:solidFill>
                      <a:srgbClr val="F2F4F7"/>
                    </a:solidFill>
                  </a:tcPr>
                </a:tc>
                <a:tc>
                  <a:txBody>
                    <a:bodyPr/>
                    <a:lstStyle/>
                    <a:p>
                      <a:pPr algn="ctr">
                        <a:defRPr sz="1400" b="0">
                          <a:solidFill>
                            <a:srgbClr val="1A1A1A"/>
                          </a:solidFill>
                        </a:defRPr>
                      </a:pPr>
                      <a:r>
                        <a:rPr sz="1400" b="0">
                          <a:solidFill>
                            <a:srgbClr val="1A1A1A"/>
                          </a:solidFill>
                        </a:rPr>
                        <a:t>0.748</a:t>
                      </a:r>
                    </a:p>
                  </a:txBody>
                  <a:tcPr marL="73152" marR="73152" marT="27432" marB="27432">
                    <a:solidFill>
                      <a:srgbClr val="F2F4F7"/>
                    </a:solidFill>
                  </a:tcPr>
                </a:tc>
                <a:tc>
                  <a:txBody>
                    <a:bodyPr/>
                    <a:lstStyle/>
                    <a:p>
                      <a:pPr algn="ctr">
                        <a:defRPr sz="1400" b="0">
                          <a:solidFill>
                            <a:srgbClr val="1A1A1A"/>
                          </a:solidFill>
                        </a:defRPr>
                      </a:pPr>
                      <a:r>
                        <a:rPr sz="1400" b="0">
                          <a:solidFill>
                            <a:srgbClr val="1A1A1A"/>
                          </a:solidFill>
                        </a:rPr>
                        <a:t>No published benchmark to compare to</a:t>
                      </a:r>
                    </a:p>
                  </a:txBody>
                  <a:tcPr marL="73152" marR="73152" marT="27432" marB="27432">
                    <a:solidFill>
                      <a:srgbClr val="F2F4F7"/>
                    </a:solidFill>
                  </a:tcPr>
                </a:tc>
              </a:tr>
            </a:tbl>
          </a:graphicData>
        </a:graphic>
      </p:graphicFrame>
      <p:sp>
        <p:nvSpPr>
          <p:cNvPr id="4" name="TextBox 3"/>
          <p:cNvSpPr txBox="1"/>
          <p:nvPr/>
        </p:nvSpPr>
        <p:spPr>
          <a:xfrm>
            <a:off x="685800" y="3840480"/>
            <a:ext cx="10881360" cy="1874519"/>
          </a:xfrm>
          <a:prstGeom prst="rect">
            <a:avLst/>
          </a:prstGeom>
          <a:noFill/>
        </p:spPr>
        <p:txBody>
          <a:bodyPr wrap="square">
            <a:spAutoFit/>
          </a:bodyPr>
          <a:lstStyle/>
          <a:p>
            <a:pPr>
              <a:spcAft>
                <a:spcPts val="1000"/>
              </a:spcAft>
              <a:defRPr sz="1500">
                <a:solidFill>
                  <a:srgbClr val="1A1A1A"/>
                </a:solidFill>
              </a:defRPr>
            </a:pPr>
            <a:r>
              <a:t>• Our AUC of 0.992 sits above the paper's 0.97 by more than measurement error — a real improvement.</a:t>
            </a:r>
          </a:p>
          <a:p>
            <a:pPr>
              <a:spcAft>
                <a:spcPts val="1000"/>
              </a:spcAft>
              <a:defRPr sz="1500">
                <a:solidFill>
                  <a:srgbClr val="1A1A1A"/>
                </a:solidFill>
              </a:defRPr>
            </a:pPr>
            <a:r>
              <a:t>• Our F1 measures anywhere from 0.83 to 0.90 depending on which patients land in the test set. The paper's 0.89 falls inside that range, so the two cannot be told apart.</a:t>
            </a:r>
          </a:p>
          <a:p>
            <a:pPr>
              <a:spcAft>
                <a:spcPts val="1000"/>
              </a:spcAft>
              <a:defRPr sz="1500">
                <a:solidFill>
                  <a:srgbClr val="1A1A1A"/>
                </a:solidFill>
              </a:defRPr>
            </a:pPr>
            <a:r>
              <a:t>• Closing the remaining 0.02 would mean catching about 6 more images out of 2,435 — less than the test set can reliably measure.</a:t>
            </a:r>
          </a:p>
          <a:p>
            <a:pPr>
              <a:spcAft>
                <a:spcPts val="1000"/>
              </a:spcAft>
              <a:defRPr sz="1500">
                <a:solidFill>
                  <a:srgbClr val="1A1A1A"/>
                </a:solidFill>
              </a:defRPr>
            </a:pPr>
            <a:r>
              <a:t>• This is a single model. It matches our earlier two-model ensemble on DR using half the models.</a:t>
            </a:r>
          </a:p>
        </p:txBody>
      </p:sp>
      <p:sp>
        <p:nvSpPr>
          <p:cNvPr id="5" name="TextBox 4"/>
          <p:cNvSpPr txBox="1"/>
          <p:nvPr/>
        </p:nvSpPr>
        <p:spPr>
          <a:xfrm>
            <a:off x="685800" y="5806440"/>
            <a:ext cx="10881360" cy="685800"/>
          </a:xfrm>
          <a:prstGeom prst="rect">
            <a:avLst/>
          </a:prstGeom>
          <a:noFill/>
        </p:spPr>
        <p:txBody>
          <a:bodyPr wrap="square">
            <a:spAutoFit/>
          </a:bodyPr>
          <a:lstStyle/>
          <a:p>
            <a:pPr>
              <a:defRPr sz="1600" b="1">
                <a:solidFill>
                  <a:srgbClr val="1E7A3C"/>
                </a:solidFill>
              </a:defRPr>
            </a:pPr>
            <a:r>
              <a:t>We beat the paper on AUC and match it on F1 — with one model instead of two.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Part 1 — The imbalance we had to handle</a:t>
            </a:r>
          </a:p>
          <a:p>
            <a:pPr>
              <a:defRPr sz="1500">
                <a:solidFill>
                  <a:srgbClr val="5A5A5A"/>
                </a:solidFill>
              </a:defRPr>
            </a:pPr>
            <a:r>
              <a:t>Almost every image in BRSET is healthy. That is why F1 lags behind AUC.</a:t>
            </a:r>
          </a:p>
        </p:txBody>
      </p:sp>
      <p:graphicFrame>
        <p:nvGraphicFramePr>
          <p:cNvPr id="3" name="Table 2"/>
          <p:cNvGraphicFramePr>
            <a:graphicFrameLocks noGrp="1"/>
          </p:cNvGraphicFramePr>
          <p:nvPr/>
        </p:nvGraphicFramePr>
        <p:xfrm>
          <a:off x="685800" y="1920240"/>
          <a:ext cx="9601200" cy="1463040"/>
        </p:xfrm>
        <a:graphic>
          <a:graphicData uri="http://schemas.openxmlformats.org/drawingml/2006/table">
            <a:tbl>
              <a:tblPr firstRow="1" bandRow="1">
                <a:tableStyleId>{5C22544A-7EE6-4342-B048-85BDC9FD1C3A}</a:tableStyleId>
              </a:tblPr>
              <a:tblGrid>
                <a:gridCol w="1706880"/>
                <a:gridCol w="1706880"/>
                <a:gridCol w="3200400"/>
                <a:gridCol w="2987040"/>
              </a:tblGrid>
              <a:tr h="365760">
                <a:tc>
                  <a:txBody>
                    <a:bodyPr/>
                    <a:lstStyle/>
                    <a:p>
                      <a:pPr algn="l">
                        <a:defRPr sz="1500" b="1">
                          <a:solidFill>
                            <a:srgbClr val="FFFFFF"/>
                          </a:solidFill>
                        </a:defRPr>
                      </a:pPr>
                      <a:r>
                        <a:rPr sz="1500" b="1">
                          <a:solidFill>
                            <a:srgbClr val="FFFFFF"/>
                          </a:solidFill>
                        </a:rPr>
                        <a:t>Split</a:t>
                      </a:r>
                    </a:p>
                  </a:txBody>
                  <a:tcPr marL="73152" marR="73152" marT="27432" marB="27432">
                    <a:solidFill>
                      <a:srgbClr val="1F4E79"/>
                    </a:solidFill>
                  </a:tcPr>
                </a:tc>
                <a:tc>
                  <a:txBody>
                    <a:bodyPr/>
                    <a:lstStyle/>
                    <a:p>
                      <a:pPr algn="ctr">
                        <a:defRPr sz="1500" b="1">
                          <a:solidFill>
                            <a:srgbClr val="FFFFFF"/>
                          </a:solidFill>
                        </a:defRPr>
                      </a:pPr>
                      <a:r>
                        <a:rPr sz="1500" b="1">
                          <a:solidFill>
                            <a:srgbClr val="FFFFFF"/>
                          </a:solidFill>
                        </a:rPr>
                        <a:t>Images</a:t>
                      </a:r>
                    </a:p>
                  </a:txBody>
                  <a:tcPr marL="73152" marR="73152" marT="27432" marB="27432">
                    <a:solidFill>
                      <a:srgbClr val="1F4E79"/>
                    </a:solidFill>
                  </a:tcPr>
                </a:tc>
                <a:tc>
                  <a:txBody>
                    <a:bodyPr/>
                    <a:lstStyle/>
                    <a:p>
                      <a:pPr algn="ctr">
                        <a:defRPr sz="1500" b="1">
                          <a:solidFill>
                            <a:srgbClr val="FFFFFF"/>
                          </a:solidFill>
                        </a:defRPr>
                      </a:pPr>
                      <a:r>
                        <a:rPr sz="1500" b="1">
                          <a:solidFill>
                            <a:srgbClr val="FFFFFF"/>
                          </a:solidFill>
                        </a:rPr>
                        <a:t>With diabetic retinopathy</a:t>
                      </a:r>
                    </a:p>
                  </a:txBody>
                  <a:tcPr marL="73152" marR="73152" marT="27432" marB="27432">
                    <a:solidFill>
                      <a:srgbClr val="1F4E79"/>
                    </a:solidFill>
                  </a:tcPr>
                </a:tc>
                <a:tc>
                  <a:txBody>
                    <a:bodyPr/>
                    <a:lstStyle/>
                    <a:p>
                      <a:pPr algn="ctr">
                        <a:defRPr sz="1500" b="1">
                          <a:solidFill>
                            <a:srgbClr val="FFFFFF"/>
                          </a:solidFill>
                        </a:defRPr>
                      </a:pPr>
                      <a:r>
                        <a:rPr sz="1500" b="1">
                          <a:solidFill>
                            <a:srgbClr val="FFFFFF"/>
                          </a:solidFill>
                        </a:rPr>
                        <a:t>With macular edema</a:t>
                      </a:r>
                    </a:p>
                  </a:txBody>
                  <a:tcPr marL="73152" marR="73152" marT="27432" marB="27432">
                    <a:solidFill>
                      <a:srgbClr val="1F4E79"/>
                    </a:solidFill>
                  </a:tcPr>
                </a:tc>
              </a:tr>
              <a:tr h="365760">
                <a:tc>
                  <a:txBody>
                    <a:bodyPr/>
                    <a:lstStyle/>
                    <a:p>
                      <a:pPr algn="l">
                        <a:defRPr sz="1500" b="0">
                          <a:solidFill>
                            <a:srgbClr val="1A1A1A"/>
                          </a:solidFill>
                        </a:defRPr>
                      </a:pPr>
                      <a:r>
                        <a:rPr sz="1500" b="0">
                          <a:solidFill>
                            <a:srgbClr val="1A1A1A"/>
                          </a:solidFill>
                        </a:rPr>
                        <a:t>Train</a:t>
                      </a:r>
                    </a:p>
                  </a:txBody>
                  <a:tcPr marL="73152" marR="73152" marT="27432" marB="27432">
                    <a:solidFill>
                      <a:srgbClr val="FFFFFF"/>
                    </a:solidFill>
                  </a:tcPr>
                </a:tc>
                <a:tc>
                  <a:txBody>
                    <a:bodyPr/>
                    <a:lstStyle/>
                    <a:p>
                      <a:pPr algn="ctr">
                        <a:defRPr sz="1500" b="0">
                          <a:solidFill>
                            <a:srgbClr val="1A1A1A"/>
                          </a:solidFill>
                        </a:defRPr>
                      </a:pPr>
                      <a:r>
                        <a:rPr sz="1500" b="0">
                          <a:solidFill>
                            <a:srgbClr val="1A1A1A"/>
                          </a:solidFill>
                        </a:rPr>
                        <a:t>11,372</a:t>
                      </a:r>
                    </a:p>
                  </a:txBody>
                  <a:tcPr marL="73152" marR="73152" marT="27432" marB="27432">
                    <a:solidFill>
                      <a:srgbClr val="FFFFFF"/>
                    </a:solidFill>
                  </a:tcPr>
                </a:tc>
                <a:tc>
                  <a:txBody>
                    <a:bodyPr/>
                    <a:lstStyle/>
                    <a:p>
                      <a:pPr algn="ctr">
                        <a:defRPr sz="1500" b="0">
                          <a:solidFill>
                            <a:srgbClr val="1A1A1A"/>
                          </a:solidFill>
                        </a:defRPr>
                      </a:pPr>
                      <a:r>
                        <a:rPr sz="1500" b="0">
                          <a:solidFill>
                            <a:srgbClr val="1A1A1A"/>
                          </a:solidFill>
                        </a:rPr>
                        <a:t>748  (6.6%)</a:t>
                      </a:r>
                    </a:p>
                  </a:txBody>
                  <a:tcPr marL="73152" marR="73152" marT="27432" marB="27432">
                    <a:solidFill>
                      <a:srgbClr val="FFFFFF"/>
                    </a:solidFill>
                  </a:tcPr>
                </a:tc>
                <a:tc>
                  <a:txBody>
                    <a:bodyPr/>
                    <a:lstStyle/>
                    <a:p>
                      <a:pPr algn="ctr">
                        <a:defRPr sz="1500" b="0">
                          <a:solidFill>
                            <a:srgbClr val="1A1A1A"/>
                          </a:solidFill>
                        </a:defRPr>
                      </a:pPr>
                      <a:r>
                        <a:rPr sz="1500" b="0">
                          <a:solidFill>
                            <a:srgbClr val="1A1A1A"/>
                          </a:solidFill>
                        </a:rPr>
                        <a:t>274  (2.4%)</a:t>
                      </a:r>
                    </a:p>
                  </a:txBody>
                  <a:tcPr marL="73152" marR="73152" marT="27432" marB="27432">
                    <a:solidFill>
                      <a:srgbClr val="FFFFFF"/>
                    </a:solidFill>
                  </a:tcPr>
                </a:tc>
              </a:tr>
              <a:tr h="365760">
                <a:tc>
                  <a:txBody>
                    <a:bodyPr/>
                    <a:lstStyle/>
                    <a:p>
                      <a:pPr algn="l">
                        <a:defRPr sz="1500" b="0">
                          <a:solidFill>
                            <a:srgbClr val="1A1A1A"/>
                          </a:solidFill>
                        </a:defRPr>
                      </a:pPr>
                      <a:r>
                        <a:rPr sz="1500" b="0">
                          <a:solidFill>
                            <a:srgbClr val="1A1A1A"/>
                          </a:solidFill>
                        </a:rPr>
                        <a:t>Validation</a:t>
                      </a:r>
                    </a:p>
                  </a:txBody>
                  <a:tcPr marL="73152" marR="73152" marT="27432" marB="27432">
                    <a:solidFill>
                      <a:srgbClr val="F2F4F7"/>
                    </a:solidFill>
                  </a:tcPr>
                </a:tc>
                <a:tc>
                  <a:txBody>
                    <a:bodyPr/>
                    <a:lstStyle/>
                    <a:p>
                      <a:pPr algn="ctr">
                        <a:defRPr sz="1500" b="0">
                          <a:solidFill>
                            <a:srgbClr val="1A1A1A"/>
                          </a:solidFill>
                        </a:defRPr>
                      </a:pPr>
                      <a:r>
                        <a:rPr sz="1500" b="0">
                          <a:solidFill>
                            <a:srgbClr val="1A1A1A"/>
                          </a:solidFill>
                        </a:rPr>
                        <a:t>2,451</a:t>
                      </a:r>
                    </a:p>
                  </a:txBody>
                  <a:tcPr marL="73152" marR="73152" marT="27432" marB="27432">
                    <a:solidFill>
                      <a:srgbClr val="F2F4F7"/>
                    </a:solidFill>
                  </a:tcPr>
                </a:tc>
                <a:tc>
                  <a:txBody>
                    <a:bodyPr/>
                    <a:lstStyle/>
                    <a:p>
                      <a:pPr algn="ctr">
                        <a:defRPr sz="1500" b="0">
                          <a:solidFill>
                            <a:srgbClr val="1A1A1A"/>
                          </a:solidFill>
                        </a:defRPr>
                      </a:pPr>
                      <a:r>
                        <a:rPr sz="1500" b="0">
                          <a:solidFill>
                            <a:srgbClr val="1A1A1A"/>
                          </a:solidFill>
                        </a:rPr>
                        <a:t>159  (6.5%)</a:t>
                      </a:r>
                    </a:p>
                  </a:txBody>
                  <a:tcPr marL="73152" marR="73152" marT="27432" marB="27432">
                    <a:solidFill>
                      <a:srgbClr val="F2F4F7"/>
                    </a:solidFill>
                  </a:tcPr>
                </a:tc>
                <a:tc>
                  <a:txBody>
                    <a:bodyPr/>
                    <a:lstStyle/>
                    <a:p>
                      <a:pPr algn="ctr">
                        <a:defRPr sz="1500" b="0">
                          <a:solidFill>
                            <a:srgbClr val="1A1A1A"/>
                          </a:solidFill>
                        </a:defRPr>
                      </a:pPr>
                      <a:r>
                        <a:rPr sz="1500" b="0">
                          <a:solidFill>
                            <a:srgbClr val="1A1A1A"/>
                          </a:solidFill>
                        </a:rPr>
                        <a:t>65  (2.7%)</a:t>
                      </a:r>
                    </a:p>
                  </a:txBody>
                  <a:tcPr marL="73152" marR="73152" marT="27432" marB="27432">
                    <a:solidFill>
                      <a:srgbClr val="F2F4F7"/>
                    </a:solidFill>
                  </a:tcPr>
                </a:tc>
              </a:tr>
              <a:tr h="365760">
                <a:tc>
                  <a:txBody>
                    <a:bodyPr/>
                    <a:lstStyle/>
                    <a:p>
                      <a:pPr algn="l">
                        <a:defRPr sz="1500" b="0">
                          <a:solidFill>
                            <a:srgbClr val="1A1A1A"/>
                          </a:solidFill>
                        </a:defRPr>
                      </a:pPr>
                      <a:r>
                        <a:rPr sz="1500" b="0">
                          <a:solidFill>
                            <a:srgbClr val="1A1A1A"/>
                          </a:solidFill>
                        </a:rPr>
                        <a:t>Test</a:t>
                      </a:r>
                    </a:p>
                  </a:txBody>
                  <a:tcPr marL="73152" marR="73152" marT="27432" marB="27432">
                    <a:solidFill>
                      <a:srgbClr val="FFFFFF"/>
                    </a:solidFill>
                  </a:tcPr>
                </a:tc>
                <a:tc>
                  <a:txBody>
                    <a:bodyPr/>
                    <a:lstStyle/>
                    <a:p>
                      <a:pPr algn="ctr">
                        <a:defRPr sz="1500" b="0">
                          <a:solidFill>
                            <a:srgbClr val="1A1A1A"/>
                          </a:solidFill>
                        </a:defRPr>
                      </a:pPr>
                      <a:r>
                        <a:rPr sz="1500" b="0">
                          <a:solidFill>
                            <a:srgbClr val="1A1A1A"/>
                          </a:solidFill>
                        </a:rPr>
                        <a:t>2,435</a:t>
                      </a:r>
                    </a:p>
                  </a:txBody>
                  <a:tcPr marL="73152" marR="73152" marT="27432" marB="27432">
                    <a:solidFill>
                      <a:srgbClr val="FFFFFF"/>
                    </a:solidFill>
                  </a:tcPr>
                </a:tc>
                <a:tc>
                  <a:txBody>
                    <a:bodyPr/>
                    <a:lstStyle/>
                    <a:p>
                      <a:pPr algn="ctr">
                        <a:defRPr sz="1500" b="0">
                          <a:solidFill>
                            <a:srgbClr val="1A1A1A"/>
                          </a:solidFill>
                        </a:defRPr>
                      </a:pPr>
                      <a:r>
                        <a:rPr sz="1500" b="0">
                          <a:solidFill>
                            <a:srgbClr val="1A1A1A"/>
                          </a:solidFill>
                        </a:rPr>
                        <a:t>162  (6.7%)</a:t>
                      </a:r>
                    </a:p>
                  </a:txBody>
                  <a:tcPr marL="73152" marR="73152" marT="27432" marB="27432">
                    <a:solidFill>
                      <a:srgbClr val="FFFFFF"/>
                    </a:solidFill>
                  </a:tcPr>
                </a:tc>
                <a:tc>
                  <a:txBody>
                    <a:bodyPr/>
                    <a:lstStyle/>
                    <a:p>
                      <a:pPr algn="ctr">
                        <a:defRPr sz="1500" b="0">
                          <a:solidFill>
                            <a:srgbClr val="1A1A1A"/>
                          </a:solidFill>
                        </a:defRPr>
                      </a:pPr>
                      <a:r>
                        <a:rPr sz="1500" b="0">
                          <a:solidFill>
                            <a:srgbClr val="1A1A1A"/>
                          </a:solidFill>
                        </a:rPr>
                        <a:t>61  (2.5%)</a:t>
                      </a:r>
                    </a:p>
                  </a:txBody>
                  <a:tcPr marL="73152" marR="73152" marT="27432" marB="27432">
                    <a:solidFill>
                      <a:srgbClr val="FFFFFF"/>
                    </a:solidFill>
                  </a:tcPr>
                </a:tc>
              </a:tr>
            </a:tbl>
          </a:graphicData>
        </a:graphic>
      </p:graphicFrame>
      <p:sp>
        <p:nvSpPr>
          <p:cNvPr id="4" name="TextBox 3"/>
          <p:cNvSpPr txBox="1"/>
          <p:nvPr/>
        </p:nvSpPr>
        <p:spPr>
          <a:xfrm>
            <a:off x="685800" y="3749039"/>
            <a:ext cx="10881360" cy="1920240"/>
          </a:xfrm>
          <a:prstGeom prst="rect">
            <a:avLst/>
          </a:prstGeom>
          <a:noFill/>
        </p:spPr>
        <p:txBody>
          <a:bodyPr wrap="square">
            <a:spAutoFit/>
          </a:bodyPr>
          <a:lstStyle/>
          <a:p>
            <a:pPr>
              <a:spcAft>
                <a:spcPts val="1000"/>
              </a:spcAft>
              <a:defRPr sz="1600">
                <a:solidFill>
                  <a:srgbClr val="1A1A1A"/>
                </a:solidFill>
              </a:defRPr>
            </a:pPr>
            <a:r>
              <a:t>• Roughly 15 healthy images for every 1 with disease — and 40 to 1 for macular edema.</a:t>
            </a:r>
          </a:p>
          <a:p>
            <a:pPr>
              <a:spcAft>
                <a:spcPts val="1000"/>
              </a:spcAft>
              <a:defRPr sz="1600">
                <a:solidFill>
                  <a:srgbClr val="1A1A1A"/>
                </a:solidFill>
              </a:defRPr>
            </a:pPr>
            <a:r>
              <a:t>• A model can score 93% accuracy by calling everything healthy, and be useless. So we never report accuracy alone.</a:t>
            </a:r>
          </a:p>
          <a:p>
            <a:pPr>
              <a:spcAft>
                <a:spcPts val="1000"/>
              </a:spcAft>
              <a:defRPr sz="1600">
                <a:solidFill>
                  <a:srgbClr val="1A1A1A"/>
                </a:solidFill>
              </a:defRPr>
            </a:pPr>
            <a:r>
              <a:t>• AUC stays high because ranking sick above healthy is easy. F1 suffers because the model,</a:t>
            </a:r>
          </a:p>
          <a:p>
            <a:pPr lvl="1">
              <a:spcAft>
                <a:spcPts val="1000"/>
              </a:spcAft>
              <a:defRPr sz="1400">
                <a:solidFill>
                  <a:srgbClr val="5A5A5A"/>
                </a:solidFill>
              </a:defRPr>
            </a:pPr>
            <a:r>
              <a:t>– seeing mostly healthy eyes, becomes reluctant to call anything diseased.</a:t>
            </a:r>
          </a:p>
        </p:txBody>
      </p:sp>
      <p:sp>
        <p:nvSpPr>
          <p:cNvPr id="5" name="TextBox 4"/>
          <p:cNvSpPr txBox="1"/>
          <p:nvPr/>
        </p:nvSpPr>
        <p:spPr>
          <a:xfrm>
            <a:off x="685800" y="5806440"/>
            <a:ext cx="10881360" cy="685800"/>
          </a:xfrm>
          <a:prstGeom prst="rect">
            <a:avLst/>
          </a:prstGeom>
          <a:noFill/>
        </p:spPr>
        <p:txBody>
          <a:bodyPr wrap="square">
            <a:spAutoFit/>
          </a:bodyPr>
          <a:lstStyle/>
          <a:p>
            <a:pPr>
              <a:defRPr sz="1600" b="1">
                <a:solidFill>
                  <a:srgbClr val="1F4E79"/>
                </a:solidFill>
              </a:defRPr>
            </a:pPr>
            <a:r>
              <a:t>The imbalance is the reason F1 is the hard metric here — not AUC.</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Part 1 — How the imbalance was addressed</a:t>
            </a:r>
          </a:p>
          <a:p>
            <a:pPr>
              <a:defRPr sz="1500">
                <a:solidFill>
                  <a:srgbClr val="5A5A5A"/>
                </a:solidFill>
              </a:defRPr>
            </a:pPr>
            <a:r>
              <a:t>BRSET has about 15 healthy images for every diseased one. Four steps stop the majority drowning out the rest.</a:t>
            </a:r>
          </a:p>
        </p:txBody>
      </p:sp>
      <p:sp>
        <p:nvSpPr>
          <p:cNvPr id="3" name="TextBox 2"/>
          <p:cNvSpPr txBox="1"/>
          <p:nvPr/>
        </p:nvSpPr>
        <p:spPr>
          <a:xfrm>
            <a:off x="685800" y="1965960"/>
            <a:ext cx="10881360" cy="1965960"/>
          </a:xfrm>
          <a:prstGeom prst="rect">
            <a:avLst/>
          </a:prstGeom>
          <a:noFill/>
        </p:spPr>
        <p:txBody>
          <a:bodyPr wrap="square">
            <a:spAutoFit/>
          </a:bodyPr>
          <a:lstStyle/>
          <a:p>
            <a:pPr>
              <a:spcAft>
                <a:spcPts val="1000"/>
              </a:spcAft>
              <a:defRPr sz="1700">
                <a:solidFill>
                  <a:srgbClr val="1A1A1A"/>
                </a:solidFill>
              </a:defRPr>
            </a:pPr>
            <a:r>
              <a:t>• Focal loss — the model stops spending effort on images it already gets right, and concentrates on the hard ones.</a:t>
            </a:r>
          </a:p>
          <a:p>
            <a:pPr>
              <a:spcAft>
                <a:spcPts val="1000"/>
              </a:spcAft>
              <a:defRPr sz="1700">
                <a:solidFill>
                  <a:srgbClr val="1A1A1A"/>
                </a:solidFill>
              </a:defRPr>
            </a:pPr>
            <a:r>
              <a:t>• Oversampling — rare diseased images are shown more often during training than they naturally occur.</a:t>
            </a:r>
          </a:p>
          <a:p>
            <a:pPr>
              <a:spcAft>
                <a:spcPts val="1000"/>
              </a:spcAft>
              <a:defRPr sz="1700">
                <a:solidFill>
                  <a:srgbClr val="1A1A1A"/>
                </a:solidFill>
              </a:defRPr>
            </a:pPr>
            <a:r>
              <a:t>• Tuned referral cutoff — chosen on validation data, separately for each finding, instead of a blind 0.5.</a:t>
            </a:r>
          </a:p>
          <a:p>
            <a:pPr>
              <a:spcAft>
                <a:spcPts val="1000"/>
              </a:spcAft>
              <a:defRPr sz="1700">
                <a:solidFill>
                  <a:srgbClr val="1A1A1A"/>
                </a:solidFill>
              </a:defRPr>
            </a:pPr>
            <a:r>
              <a:t>• Averaging — the model is averaged over training, and each image is predicted from four flipped copies.</a:t>
            </a:r>
          </a:p>
        </p:txBody>
      </p:sp>
      <p:graphicFrame>
        <p:nvGraphicFramePr>
          <p:cNvPr id="4" name="Table 3"/>
          <p:cNvGraphicFramePr>
            <a:graphicFrameLocks noGrp="1"/>
          </p:cNvGraphicFramePr>
          <p:nvPr/>
        </p:nvGraphicFramePr>
        <p:xfrm>
          <a:off x="685800" y="4114800"/>
          <a:ext cx="10058399" cy="1234440"/>
        </p:xfrm>
        <a:graphic>
          <a:graphicData uri="http://schemas.openxmlformats.org/drawingml/2006/table">
            <a:tbl>
              <a:tblPr firstRow="1" bandRow="1">
                <a:tableStyleId>{5C22544A-7EE6-4342-B048-85BDC9FD1C3A}</a:tableStyleId>
              </a:tblPr>
              <a:tblGrid>
                <a:gridCol w="4062046"/>
                <a:gridCol w="1257300"/>
                <a:gridCol w="1257300"/>
                <a:gridCol w="3481753"/>
              </a:tblGrid>
              <a:tr h="411480">
                <a:tc>
                  <a:txBody>
                    <a:bodyPr/>
                    <a:lstStyle/>
                    <a:p>
                      <a:pPr algn="l">
                        <a:defRPr sz="1300" b="1">
                          <a:solidFill>
                            <a:srgbClr val="FFFFFF"/>
                          </a:solidFill>
                        </a:defRPr>
                      </a:pPr>
                      <a:r>
                        <a:rPr sz="1300" b="1">
                          <a:solidFill>
                            <a:srgbClr val="FFFFFF"/>
                          </a:solidFill>
                        </a:rPr>
                        <a:t>Loss function tested</a:t>
                      </a:r>
                    </a:p>
                  </a:txBody>
                  <a:tcPr marL="73152" marR="73152" marT="27432" marB="27432">
                    <a:solidFill>
                      <a:srgbClr val="1F4E79"/>
                    </a:solidFill>
                  </a:tcPr>
                </a:tc>
                <a:tc>
                  <a:txBody>
                    <a:bodyPr/>
                    <a:lstStyle/>
                    <a:p>
                      <a:pPr algn="ctr">
                        <a:defRPr sz="1300" b="1">
                          <a:solidFill>
                            <a:srgbClr val="FFFFFF"/>
                          </a:solidFill>
                        </a:defRPr>
                      </a:pPr>
                      <a:r>
                        <a:rPr sz="1300" b="1">
                          <a:solidFill>
                            <a:srgbClr val="FFFFFF"/>
                          </a:solidFill>
                        </a:rPr>
                        <a:t>DR F1</a:t>
                      </a:r>
                    </a:p>
                  </a:txBody>
                  <a:tcPr marL="73152" marR="73152" marT="27432" marB="27432">
                    <a:solidFill>
                      <a:srgbClr val="1F4E79"/>
                    </a:solidFill>
                  </a:tcPr>
                </a:tc>
                <a:tc>
                  <a:txBody>
                    <a:bodyPr/>
                    <a:lstStyle/>
                    <a:p>
                      <a:pPr algn="ctr">
                        <a:defRPr sz="1300" b="1">
                          <a:solidFill>
                            <a:srgbClr val="FFFFFF"/>
                          </a:solidFill>
                        </a:defRPr>
                      </a:pPr>
                      <a:r>
                        <a:rPr sz="1300" b="1">
                          <a:solidFill>
                            <a:srgbClr val="FFFFFF"/>
                          </a:solidFill>
                        </a:rPr>
                        <a:t>ME F1</a:t>
                      </a:r>
                    </a:p>
                  </a:txBody>
                  <a:tcPr marL="73152" marR="73152" marT="27432" marB="27432">
                    <a:solidFill>
                      <a:srgbClr val="1F4E79"/>
                    </a:solidFill>
                  </a:tcPr>
                </a:tc>
                <a:tc>
                  <a:txBody>
                    <a:bodyPr/>
                    <a:lstStyle/>
                    <a:p>
                      <a:pPr algn="ctr">
                        <a:defRPr sz="1300" b="1">
                          <a:solidFill>
                            <a:srgbClr val="FFFFFF"/>
                          </a:solidFill>
                        </a:defRPr>
                      </a:pPr>
                      <a:r>
                        <a:rPr sz="1300" b="1">
                          <a:solidFill>
                            <a:srgbClr val="FFFFFF"/>
                          </a:solidFill>
                        </a:rPr>
                        <a:t>Outcome</a:t>
                      </a:r>
                    </a:p>
                  </a:txBody>
                  <a:tcPr marL="73152" marR="73152" marT="27432" marB="27432">
                    <a:solidFill>
                      <a:srgbClr val="1F4E79"/>
                    </a:solidFill>
                  </a:tcPr>
                </a:tc>
              </a:tr>
              <a:tr h="411480">
                <a:tc>
                  <a:txBody>
                    <a:bodyPr/>
                    <a:lstStyle/>
                    <a:p>
                      <a:pPr algn="l">
                        <a:defRPr sz="1300" b="0">
                          <a:solidFill>
                            <a:srgbClr val="1A1A1A"/>
                          </a:solidFill>
                        </a:defRPr>
                      </a:pPr>
                      <a:r>
                        <a:rPr sz="1300" b="0">
                          <a:solidFill>
                            <a:srgbClr val="1A1A1A"/>
                          </a:solidFill>
                        </a:rPr>
                        <a:t>Focal loss — one dial for all images</a:t>
                      </a:r>
                    </a:p>
                  </a:txBody>
                  <a:tcPr marL="73152" marR="73152" marT="27432" marB="27432">
                    <a:solidFill>
                      <a:srgbClr val="FFFFFF"/>
                    </a:solidFill>
                  </a:tcPr>
                </a:tc>
                <a:tc>
                  <a:txBody>
                    <a:bodyPr/>
                    <a:lstStyle/>
                    <a:p>
                      <a:pPr algn="ctr">
                        <a:defRPr sz="1300" b="0">
                          <a:solidFill>
                            <a:srgbClr val="1A1A1A"/>
                          </a:solidFill>
                        </a:defRPr>
                      </a:pPr>
                      <a:r>
                        <a:rPr sz="1300" b="0">
                          <a:solidFill>
                            <a:srgbClr val="1A1A1A"/>
                          </a:solidFill>
                        </a:rPr>
                        <a:t>0.869</a:t>
                      </a:r>
                    </a:p>
                  </a:txBody>
                  <a:tcPr marL="73152" marR="73152" marT="27432" marB="27432">
                    <a:solidFill>
                      <a:srgbClr val="FFFFFF"/>
                    </a:solidFill>
                  </a:tcPr>
                </a:tc>
                <a:tc>
                  <a:txBody>
                    <a:bodyPr/>
                    <a:lstStyle/>
                    <a:p>
                      <a:pPr algn="ctr">
                        <a:defRPr sz="1300" b="0">
                          <a:solidFill>
                            <a:srgbClr val="1A1A1A"/>
                          </a:solidFill>
                        </a:defRPr>
                      </a:pPr>
                      <a:r>
                        <a:rPr sz="1300" b="0">
                          <a:solidFill>
                            <a:srgbClr val="1A1A1A"/>
                          </a:solidFill>
                        </a:rPr>
                        <a:t>0.748</a:t>
                      </a:r>
                    </a:p>
                  </a:txBody>
                  <a:tcPr marL="73152" marR="73152" marT="27432" marB="27432">
                    <a:solidFill>
                      <a:srgbClr val="FFFFFF"/>
                    </a:solidFill>
                  </a:tcPr>
                </a:tc>
                <a:tc>
                  <a:txBody>
                    <a:bodyPr/>
                    <a:lstStyle/>
                    <a:p>
                      <a:pPr algn="ctr">
                        <a:defRPr sz="1300" b="0">
                          <a:solidFill>
                            <a:srgbClr val="1A1A1A"/>
                          </a:solidFill>
                        </a:defRPr>
                      </a:pPr>
                      <a:r>
                        <a:rPr sz="1300" b="0">
                          <a:solidFill>
                            <a:srgbClr val="1A1A1A"/>
                          </a:solidFill>
                        </a:rPr>
                        <a:t>Kept</a:t>
                      </a:r>
                    </a:p>
                  </a:txBody>
                  <a:tcPr marL="73152" marR="73152" marT="27432" marB="27432">
                    <a:solidFill>
                      <a:srgbClr val="FFFFFF"/>
                    </a:solidFill>
                  </a:tcPr>
                </a:tc>
              </a:tr>
              <a:tr h="411480">
                <a:tc>
                  <a:txBody>
                    <a:bodyPr/>
                    <a:lstStyle/>
                    <a:p>
                      <a:pPr algn="l">
                        <a:defRPr sz="1300" b="0">
                          <a:solidFill>
                            <a:srgbClr val="1A1A1A"/>
                          </a:solidFill>
                        </a:defRPr>
                      </a:pPr>
                      <a:r>
                        <a:rPr sz="1300" b="0">
                          <a:solidFill>
                            <a:srgbClr val="1A1A1A"/>
                          </a:solidFill>
                        </a:rPr>
                        <a:t>Asymmetric Loss — separate dials for</a:t>
                      </a:r>
                    </a:p>
                    <a:p>
                      <a:pPr algn="l">
                        <a:defRPr sz="1300" b="0">
                          <a:solidFill>
                            <a:srgbClr val="1A1A1A"/>
                          </a:solidFill>
                        </a:defRPr>
                      </a:pPr>
                      <a:r>
                        <a:rPr sz="1300" b="0">
                          <a:solidFill>
                            <a:srgbClr val="1A1A1A"/>
                          </a:solidFill>
                        </a:rPr>
                        <a:t>healthy and for diseased images</a:t>
                      </a:r>
                    </a:p>
                  </a:txBody>
                  <a:tcPr marL="73152" marR="73152" marT="27432" marB="27432">
                    <a:solidFill>
                      <a:srgbClr val="F2F4F7"/>
                    </a:solidFill>
                  </a:tcPr>
                </a:tc>
                <a:tc>
                  <a:txBody>
                    <a:bodyPr/>
                    <a:lstStyle/>
                    <a:p>
                      <a:pPr algn="ctr">
                        <a:defRPr sz="1300" b="0">
                          <a:solidFill>
                            <a:srgbClr val="1A1A1A"/>
                          </a:solidFill>
                        </a:defRPr>
                      </a:pPr>
                      <a:r>
                        <a:rPr sz="1300" b="0">
                          <a:solidFill>
                            <a:srgbClr val="1A1A1A"/>
                          </a:solidFill>
                        </a:rPr>
                        <a:t>0.834</a:t>
                      </a:r>
                    </a:p>
                  </a:txBody>
                  <a:tcPr marL="73152" marR="73152" marT="27432" marB="27432">
                    <a:solidFill>
                      <a:srgbClr val="F2F4F7"/>
                    </a:solidFill>
                  </a:tcPr>
                </a:tc>
                <a:tc>
                  <a:txBody>
                    <a:bodyPr/>
                    <a:lstStyle/>
                    <a:p>
                      <a:pPr algn="ctr">
                        <a:defRPr sz="1300" b="0">
                          <a:solidFill>
                            <a:srgbClr val="1A1A1A"/>
                          </a:solidFill>
                        </a:defRPr>
                      </a:pPr>
                      <a:r>
                        <a:rPr sz="1300" b="0">
                          <a:solidFill>
                            <a:srgbClr val="1A1A1A"/>
                          </a:solidFill>
                        </a:rPr>
                        <a:t>0.758</a:t>
                      </a:r>
                    </a:p>
                  </a:txBody>
                  <a:tcPr marL="73152" marR="73152" marT="27432" marB="27432">
                    <a:solidFill>
                      <a:srgbClr val="F2F4F7"/>
                    </a:solidFill>
                  </a:tcPr>
                </a:tc>
                <a:tc>
                  <a:txBody>
                    <a:bodyPr/>
                    <a:lstStyle/>
                    <a:p>
                      <a:pPr algn="ctr">
                        <a:defRPr sz="1300" b="0">
                          <a:solidFill>
                            <a:srgbClr val="1A1A1A"/>
                          </a:solidFill>
                        </a:defRPr>
                      </a:pPr>
                      <a:r>
                        <a:rPr sz="1300" b="0">
                          <a:solidFill>
                            <a:srgbClr val="1A1A1A"/>
                          </a:solidFill>
                        </a:rPr>
                        <a:t>Clearly worse on DR — not used</a:t>
                      </a:r>
                    </a:p>
                  </a:txBody>
                  <a:tcPr marL="73152" marR="73152" marT="27432" marB="27432">
                    <a:solidFill>
                      <a:srgbClr val="F2F4F7"/>
                    </a:solidFill>
                  </a:tcPr>
                </a:tc>
              </a:tr>
            </a:tbl>
          </a:graphicData>
        </a:graphic>
      </p:graphicFrame>
      <p:sp>
        <p:nvSpPr>
          <p:cNvPr id="5" name="TextBox 4"/>
          <p:cNvSpPr txBox="1"/>
          <p:nvPr/>
        </p:nvSpPr>
        <p:spPr>
          <a:xfrm>
            <a:off x="685800" y="5806440"/>
            <a:ext cx="10881360" cy="685800"/>
          </a:xfrm>
          <a:prstGeom prst="rect">
            <a:avLst/>
          </a:prstGeom>
          <a:noFill/>
        </p:spPr>
        <p:txBody>
          <a:bodyPr wrap="square">
            <a:spAutoFit/>
          </a:bodyPr>
          <a:lstStyle/>
          <a:p>
            <a:pPr>
              <a:defRPr sz="1600" b="1">
                <a:solidFill>
                  <a:srgbClr val="1F4E79"/>
                </a:solidFill>
              </a:defRPr>
            </a:pPr>
            <a:r>
              <a:t>We tested a more elaborate alternative. It did not help, so the simpler standard loss stands.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Part 1 — Two further steps, if you would like them</a:t>
            </a:r>
          </a:p>
          <a:p>
            <a:pPr>
              <a:defRPr sz="1500">
                <a:solidFill>
                  <a:srgbClr val="5A5A5A"/>
                </a:solidFill>
              </a:defRPr>
            </a:pPr>
            <a:r>
              <a:t>Both are ready to launch. About 15 hours on the cluster, and neither blocks the Part 2 work.</a:t>
            </a:r>
          </a:p>
        </p:txBody>
      </p:sp>
      <p:graphicFrame>
        <p:nvGraphicFramePr>
          <p:cNvPr id="3" name="Table 2"/>
          <p:cNvGraphicFramePr>
            <a:graphicFrameLocks noGrp="1"/>
          </p:cNvGraphicFramePr>
          <p:nvPr/>
        </p:nvGraphicFramePr>
        <p:xfrm>
          <a:off x="685800" y="1874519"/>
          <a:ext cx="10789919" cy="2377440"/>
        </p:xfrm>
        <a:graphic>
          <a:graphicData uri="http://schemas.openxmlformats.org/drawingml/2006/table">
            <a:tbl>
              <a:tblPr firstRow="1" bandRow="1">
                <a:tableStyleId>{5C22544A-7EE6-4342-B048-85BDC9FD1C3A}</a:tableStyleId>
              </a:tblPr>
              <a:tblGrid>
                <a:gridCol w="1830432"/>
                <a:gridCol w="4046220"/>
                <a:gridCol w="4046220"/>
                <a:gridCol w="867047"/>
              </a:tblGrid>
              <a:tr h="792480">
                <a:tc>
                  <a:txBody>
                    <a:bodyPr/>
                    <a:lstStyle/>
                    <a:p>
                      <a:pPr algn="l">
                        <a:defRPr sz="1250" b="1">
                          <a:solidFill>
                            <a:srgbClr val="FFFFFF"/>
                          </a:solidFill>
                        </a:defRPr>
                      </a:pPr>
                      <a:r>
                        <a:rPr sz="1250" b="1">
                          <a:solidFill>
                            <a:srgbClr val="FFFFFF"/>
                          </a:solidFill>
                        </a:rPr>
                        <a:t>Step</a:t>
                      </a:r>
                    </a:p>
                  </a:txBody>
                  <a:tcPr marL="73152" marR="73152" marT="27432" marB="27432">
                    <a:solidFill>
                      <a:srgbClr val="1F4E79"/>
                    </a:solidFill>
                  </a:tcPr>
                </a:tc>
                <a:tc>
                  <a:txBody>
                    <a:bodyPr/>
                    <a:lstStyle/>
                    <a:p>
                      <a:pPr algn="ctr">
                        <a:defRPr sz="1250" b="1">
                          <a:solidFill>
                            <a:srgbClr val="FFFFFF"/>
                          </a:solidFill>
                        </a:defRPr>
                      </a:pPr>
                      <a:r>
                        <a:rPr sz="1250" b="1">
                          <a:solidFill>
                            <a:srgbClr val="FFFFFF"/>
                          </a:solidFill>
                        </a:rPr>
                        <a:t>What it does</a:t>
                      </a:r>
                    </a:p>
                  </a:txBody>
                  <a:tcPr marL="73152" marR="73152" marT="27432" marB="27432">
                    <a:solidFill>
                      <a:srgbClr val="1F4E79"/>
                    </a:solidFill>
                  </a:tcPr>
                </a:tc>
                <a:tc>
                  <a:txBody>
                    <a:bodyPr/>
                    <a:lstStyle/>
                    <a:p>
                      <a:pPr algn="ctr">
                        <a:defRPr sz="1250" b="1">
                          <a:solidFill>
                            <a:srgbClr val="FFFFFF"/>
                          </a:solidFill>
                        </a:defRPr>
                      </a:pPr>
                      <a:r>
                        <a:rPr sz="1250" b="1">
                          <a:solidFill>
                            <a:srgbClr val="FFFFFF"/>
                          </a:solidFill>
                        </a:rPr>
                        <a:t>Why it would matter</a:t>
                      </a:r>
                    </a:p>
                  </a:txBody>
                  <a:tcPr marL="73152" marR="73152" marT="27432" marB="27432">
                    <a:solidFill>
                      <a:srgbClr val="1F4E79"/>
                    </a:solidFill>
                  </a:tcPr>
                </a:tc>
                <a:tc>
                  <a:txBody>
                    <a:bodyPr/>
                    <a:lstStyle/>
                    <a:p>
                      <a:pPr algn="ctr">
                        <a:defRPr sz="1250" b="1">
                          <a:solidFill>
                            <a:srgbClr val="FFFFFF"/>
                          </a:solidFill>
                        </a:defRPr>
                      </a:pPr>
                      <a:r>
                        <a:rPr sz="1250" b="1">
                          <a:solidFill>
                            <a:srgbClr val="FFFFFF"/>
                          </a:solidFill>
                        </a:rPr>
                        <a:t>Cost</a:t>
                      </a:r>
                    </a:p>
                  </a:txBody>
                  <a:tcPr marL="73152" marR="73152" marT="27432" marB="27432">
                    <a:solidFill>
                      <a:srgbClr val="1F4E79"/>
                    </a:solidFill>
                  </a:tcPr>
                </a:tc>
              </a:tr>
              <a:tr h="792480">
                <a:tc>
                  <a:txBody>
                    <a:bodyPr/>
                    <a:lstStyle/>
                    <a:p>
                      <a:pPr algn="l">
                        <a:defRPr sz="1250" b="0">
                          <a:solidFill>
                            <a:srgbClr val="1A1A1A"/>
                          </a:solidFill>
                        </a:defRPr>
                      </a:pPr>
                      <a:r>
                        <a:rPr sz="1250" b="0">
                          <a:solidFill>
                            <a:srgbClr val="1A1A1A"/>
                          </a:solidFill>
                        </a:rPr>
                        <a:t>Hyperparameter</a:t>
                      </a:r>
                    </a:p>
                    <a:p>
                      <a:pPr algn="l">
                        <a:defRPr sz="1250" b="0">
                          <a:solidFill>
                            <a:srgbClr val="1A1A1A"/>
                          </a:solidFill>
                        </a:defRPr>
                      </a:pPr>
                      <a:r>
                        <a:rPr sz="1250" b="0">
                          <a:solidFill>
                            <a:srgbClr val="1A1A1A"/>
                          </a:solidFill>
                        </a:rPr>
                        <a:t>sweep</a:t>
                      </a:r>
                    </a:p>
                  </a:txBody>
                  <a:tcPr marL="73152" marR="73152" marT="27432" marB="27432">
                    <a:solidFill>
                      <a:srgbClr val="FFFFFF"/>
                    </a:solidFill>
                  </a:tcPr>
                </a:tc>
                <a:tc>
                  <a:txBody>
                    <a:bodyPr/>
                    <a:lstStyle/>
                    <a:p>
                      <a:pPr algn="ctr">
                        <a:defRPr sz="1250" b="0">
                          <a:solidFill>
                            <a:srgbClr val="1A1A1A"/>
                          </a:solidFill>
                        </a:defRPr>
                      </a:pPr>
                      <a:r>
                        <a:rPr sz="1250" b="0">
                          <a:solidFill>
                            <a:srgbClr val="1A1A1A"/>
                          </a:solidFill>
                        </a:rPr>
                        <a:t>Tries six settings of the imbalance</a:t>
                      </a:r>
                    </a:p>
                    <a:p>
                      <a:pPr algn="ctr">
                        <a:defRPr sz="1250" b="0">
                          <a:solidFill>
                            <a:srgbClr val="1A1A1A"/>
                          </a:solidFill>
                        </a:defRPr>
                      </a:pPr>
                      <a:r>
                        <a:rPr sz="1250" b="0">
                          <a:solidFill>
                            <a:srgbClr val="1A1A1A"/>
                          </a:solidFill>
                        </a:rPr>
                        <a:t>controls, instead of the one value we</a:t>
                      </a:r>
                    </a:p>
                    <a:p>
                      <a:pPr algn="ctr">
                        <a:defRPr sz="1250" b="0">
                          <a:solidFill>
                            <a:srgbClr val="1A1A1A"/>
                          </a:solidFill>
                        </a:defRPr>
                      </a:pPr>
                      <a:r>
                        <a:rPr sz="1250" b="0">
                          <a:solidFill>
                            <a:srgbClr val="1A1A1A"/>
                          </a:solidFill>
                        </a:rPr>
                        <a:t>chose by hand</a:t>
                      </a:r>
                    </a:p>
                  </a:txBody>
                  <a:tcPr marL="73152" marR="73152" marT="27432" marB="27432">
                    <a:solidFill>
                      <a:srgbClr val="FFFFFF"/>
                    </a:solidFill>
                  </a:tcPr>
                </a:tc>
                <a:tc>
                  <a:txBody>
                    <a:bodyPr/>
                    <a:lstStyle/>
                    <a:p>
                      <a:pPr algn="ctr">
                        <a:defRPr sz="1250" b="0">
                          <a:solidFill>
                            <a:srgbClr val="1A1A1A"/>
                          </a:solidFill>
                        </a:defRPr>
                      </a:pPr>
                      <a:r>
                        <a:rPr sz="1250" b="0">
                          <a:solidFill>
                            <a:srgbClr val="1A1A1A"/>
                          </a:solidFill>
                        </a:rPr>
                        <a:t>Lets us say we searched the settings</a:t>
                      </a:r>
                    </a:p>
                    <a:p>
                      <a:pPr algn="ctr">
                        <a:defRPr sz="1250" b="0">
                          <a:solidFill>
                            <a:srgbClr val="1A1A1A"/>
                          </a:solidFill>
                        </a:defRPr>
                      </a:pPr>
                      <a:r>
                        <a:rPr sz="1250" b="0">
                          <a:solidFill>
                            <a:srgbClr val="1A1A1A"/>
                          </a:solidFill>
                        </a:rPr>
                        <a:t>properly, rather than used the first</a:t>
                      </a:r>
                    </a:p>
                    <a:p>
                      <a:pPr algn="ctr">
                        <a:defRPr sz="1250" b="0">
                          <a:solidFill>
                            <a:srgbClr val="1A1A1A"/>
                          </a:solidFill>
                        </a:defRPr>
                      </a:pPr>
                      <a:r>
                        <a:rPr sz="1250" b="0">
                          <a:solidFill>
                            <a:srgbClr val="1A1A1A"/>
                          </a:solidFill>
                        </a:rPr>
                        <a:t>value we tried</a:t>
                      </a:r>
                    </a:p>
                  </a:txBody>
                  <a:tcPr marL="73152" marR="73152" marT="27432" marB="27432">
                    <a:solidFill>
                      <a:srgbClr val="FFFFFF"/>
                    </a:solidFill>
                  </a:tcPr>
                </a:tc>
                <a:tc>
                  <a:txBody>
                    <a:bodyPr/>
                    <a:lstStyle/>
                    <a:p>
                      <a:pPr algn="ctr">
                        <a:defRPr sz="1250" b="0">
                          <a:solidFill>
                            <a:srgbClr val="1A1A1A"/>
                          </a:solidFill>
                        </a:defRPr>
                      </a:pPr>
                      <a:r>
                        <a:rPr sz="1250" b="0">
                          <a:solidFill>
                            <a:srgbClr val="1A1A1A"/>
                          </a:solidFill>
                        </a:rPr>
                        <a:t>~7 h</a:t>
                      </a:r>
                    </a:p>
                  </a:txBody>
                  <a:tcPr marL="73152" marR="73152" marT="27432" marB="27432">
                    <a:solidFill>
                      <a:srgbClr val="FFFFFF"/>
                    </a:solidFill>
                  </a:tcPr>
                </a:tc>
              </a:tr>
              <a:tr h="792480">
                <a:tc>
                  <a:txBody>
                    <a:bodyPr/>
                    <a:lstStyle/>
                    <a:p>
                      <a:pPr algn="l">
                        <a:defRPr sz="1250" b="0">
                          <a:solidFill>
                            <a:srgbClr val="1A1A1A"/>
                          </a:solidFill>
                        </a:defRPr>
                      </a:pPr>
                      <a:r>
                        <a:rPr sz="1250" b="0">
                          <a:solidFill>
                            <a:srgbClr val="1A1A1A"/>
                          </a:solidFill>
                        </a:rPr>
                        <a:t>5-fold</a:t>
                      </a:r>
                    </a:p>
                    <a:p>
                      <a:pPr algn="l">
                        <a:defRPr sz="1250" b="0">
                          <a:solidFill>
                            <a:srgbClr val="1A1A1A"/>
                          </a:solidFill>
                        </a:defRPr>
                      </a:pPr>
                      <a:r>
                        <a:rPr sz="1250" b="0">
                          <a:solidFill>
                            <a:srgbClr val="1A1A1A"/>
                          </a:solidFill>
                        </a:rPr>
                        <a:t>cross-validation</a:t>
                      </a:r>
                    </a:p>
                  </a:txBody>
                  <a:tcPr marL="73152" marR="73152" marT="27432" marB="27432">
                    <a:solidFill>
                      <a:srgbClr val="F2F4F7"/>
                    </a:solidFill>
                  </a:tcPr>
                </a:tc>
                <a:tc>
                  <a:txBody>
                    <a:bodyPr/>
                    <a:lstStyle/>
                    <a:p>
                      <a:pPr algn="ctr">
                        <a:defRPr sz="1250" b="0">
                          <a:solidFill>
                            <a:srgbClr val="1A1A1A"/>
                          </a:solidFill>
                        </a:defRPr>
                      </a:pPr>
                      <a:r>
                        <a:rPr sz="1250" b="0">
                          <a:solidFill>
                            <a:srgbClr val="1A1A1A"/>
                          </a:solidFill>
                        </a:rPr>
                        <a:t>Re-runs the model five times so every</a:t>
                      </a:r>
                    </a:p>
                    <a:p>
                      <a:pPr algn="ctr">
                        <a:defRPr sz="1250" b="0">
                          <a:solidFill>
                            <a:srgbClr val="1A1A1A"/>
                          </a:solidFill>
                        </a:defRPr>
                      </a:pPr>
                      <a:r>
                        <a:rPr sz="1250" b="0">
                          <a:solidFill>
                            <a:srgbClr val="1A1A1A"/>
                          </a:solidFill>
                        </a:rPr>
                        <a:t>image gets tested, instead of testing</a:t>
                      </a:r>
                    </a:p>
                    <a:p>
                      <a:pPr algn="ctr">
                        <a:defRPr sz="1250" b="0">
                          <a:solidFill>
                            <a:srgbClr val="1A1A1A"/>
                          </a:solidFill>
                        </a:defRPr>
                      </a:pPr>
                      <a:r>
                        <a:rPr sz="1250" b="0">
                          <a:solidFill>
                            <a:srgbClr val="1A1A1A"/>
                          </a:solidFill>
                        </a:rPr>
                        <a:t>on a single 15% slice</a:t>
                      </a:r>
                    </a:p>
                  </a:txBody>
                  <a:tcPr marL="73152" marR="73152" marT="27432" marB="27432">
                    <a:solidFill>
                      <a:srgbClr val="F2F4F7"/>
                    </a:solidFill>
                  </a:tcPr>
                </a:tc>
                <a:tc>
                  <a:txBody>
                    <a:bodyPr/>
                    <a:lstStyle/>
                    <a:p>
                      <a:pPr algn="ctr">
                        <a:defRPr sz="1250" b="0">
                          <a:solidFill>
                            <a:srgbClr val="1A1A1A"/>
                          </a:solidFill>
                        </a:defRPr>
                      </a:pPr>
                      <a:r>
                        <a:rPr sz="1250" b="0">
                          <a:solidFill>
                            <a:srgbClr val="1A1A1A"/>
                          </a:solidFill>
                        </a:rPr>
                        <a:t>Halves the measurement error. That is</a:t>
                      </a:r>
                    </a:p>
                    <a:p>
                      <a:pPr algn="ctr">
                        <a:defRPr sz="1250" b="0">
                          <a:solidFill>
                            <a:srgbClr val="1A1A1A"/>
                          </a:solidFill>
                        </a:defRPr>
                      </a:pPr>
                      <a:r>
                        <a:rPr sz="1250" b="0">
                          <a:solidFill>
                            <a:srgbClr val="1A1A1A"/>
                          </a:solidFill>
                        </a:rPr>
                        <a:t>what would make a 0.02 change in F1</a:t>
                      </a:r>
                    </a:p>
                    <a:p>
                      <a:pPr algn="ctr">
                        <a:defRPr sz="1250" b="0">
                          <a:solidFill>
                            <a:srgbClr val="1A1A1A"/>
                          </a:solidFill>
                        </a:defRPr>
                      </a:pPr>
                      <a:r>
                        <a:rPr sz="1250" b="0">
                          <a:solidFill>
                            <a:srgbClr val="1A1A1A"/>
                          </a:solidFill>
                        </a:rPr>
                        <a:t>provable rather than nominal</a:t>
                      </a:r>
                    </a:p>
                  </a:txBody>
                  <a:tcPr marL="73152" marR="73152" marT="27432" marB="27432">
                    <a:solidFill>
                      <a:srgbClr val="F2F4F7"/>
                    </a:solidFill>
                  </a:tcPr>
                </a:tc>
                <a:tc>
                  <a:txBody>
                    <a:bodyPr/>
                    <a:lstStyle/>
                    <a:p>
                      <a:pPr algn="ctr">
                        <a:defRPr sz="1250" b="0">
                          <a:solidFill>
                            <a:srgbClr val="1A1A1A"/>
                          </a:solidFill>
                        </a:defRPr>
                      </a:pPr>
                      <a:r>
                        <a:rPr sz="1250" b="0">
                          <a:solidFill>
                            <a:srgbClr val="1A1A1A"/>
                          </a:solidFill>
                        </a:rPr>
                        <a:t>~7 h</a:t>
                      </a:r>
                    </a:p>
                  </a:txBody>
                  <a:tcPr marL="73152" marR="73152" marT="27432" marB="27432">
                    <a:solidFill>
                      <a:srgbClr val="F2F4F7"/>
                    </a:solidFill>
                  </a:tcPr>
                </a:tc>
              </a:tr>
            </a:tbl>
          </a:graphicData>
        </a:graphic>
      </p:graphicFrame>
      <p:sp>
        <p:nvSpPr>
          <p:cNvPr id="4" name="TextBox 3"/>
          <p:cNvSpPr txBox="1"/>
          <p:nvPr/>
        </p:nvSpPr>
        <p:spPr>
          <a:xfrm>
            <a:off x="685800" y="4480560"/>
            <a:ext cx="10881360" cy="1234439"/>
          </a:xfrm>
          <a:prstGeom prst="rect">
            <a:avLst/>
          </a:prstGeom>
          <a:noFill/>
        </p:spPr>
        <p:txBody>
          <a:bodyPr wrap="square">
            <a:spAutoFit/>
          </a:bodyPr>
          <a:lstStyle/>
          <a:p>
            <a:pPr>
              <a:spcAft>
                <a:spcPts val="1000"/>
              </a:spcAft>
              <a:defRPr sz="1500">
                <a:solidFill>
                  <a:srgbClr val="1A1A1A"/>
                </a:solidFill>
              </a:defRPr>
            </a:pPr>
            <a:r>
              <a:t>• Expected effect on the headline numbers: small. We are already at the paper's level, and the sweep is unlikely to move it much.</a:t>
            </a:r>
          </a:p>
          <a:p>
            <a:pPr>
              <a:spcAft>
                <a:spcPts val="1000"/>
              </a:spcAft>
              <a:defRPr sz="1500">
                <a:solidFill>
                  <a:srgbClr val="1A1A1A"/>
                </a:solidFill>
              </a:defRPr>
            </a:pPr>
            <a:r>
              <a:t>• The gain is confidence rather than score — the cross-validation would let us state the result with half the current uncertainty.</a:t>
            </a:r>
          </a:p>
          <a:p>
            <a:pPr>
              <a:spcAft>
                <a:spcPts val="1000"/>
              </a:spcAft>
              <a:defRPr sz="1500">
                <a:solidFill>
                  <a:srgbClr val="1A1A1A"/>
                </a:solidFill>
              </a:defRPr>
            </a:pPr>
            <a:r>
              <a:t>• Neither blocks Part 2. The cross-device work can proceed in parallel either way.</a:t>
            </a:r>
          </a:p>
        </p:txBody>
      </p:sp>
      <p:sp>
        <p:nvSpPr>
          <p:cNvPr id="5" name="TextBox 4"/>
          <p:cNvSpPr txBox="1"/>
          <p:nvPr/>
        </p:nvSpPr>
        <p:spPr>
          <a:xfrm>
            <a:off x="685800" y="5806440"/>
            <a:ext cx="10881360" cy="685800"/>
          </a:xfrm>
          <a:prstGeom prst="rect">
            <a:avLst/>
          </a:prstGeom>
          <a:noFill/>
        </p:spPr>
        <p:txBody>
          <a:bodyPr wrap="square">
            <a:spAutoFit/>
          </a:bodyPr>
          <a:lstStyle/>
          <a:p>
            <a:pPr>
              <a:defRPr sz="1600" b="1">
                <a:solidFill>
                  <a:srgbClr val="1F4E79"/>
                </a:solidFill>
              </a:defRPr>
            </a:pPr>
            <a:r>
              <a:t>Happy to run both, either, or neither — whichever you think is the better use of the 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Part 2 — The BRSET → mBRSET problem</a:t>
            </a:r>
          </a:p>
          <a:p>
            <a:pPr>
              <a:defRPr sz="1500">
                <a:solidFill>
                  <a:srgbClr val="5A5A5A"/>
                </a:solidFill>
              </a:defRPr>
            </a:pPr>
            <a:r>
              <a:t>BRSET: tabletop hospital cameras. mBRSET: handheld smartphone camera, community screening, 83% with artifacts.</a:t>
            </a:r>
          </a:p>
        </p:txBody>
      </p:sp>
      <p:graphicFrame>
        <p:nvGraphicFramePr>
          <p:cNvPr id="3" name="Table 2"/>
          <p:cNvGraphicFramePr>
            <a:graphicFrameLocks noGrp="1"/>
          </p:cNvGraphicFramePr>
          <p:nvPr/>
        </p:nvGraphicFramePr>
        <p:xfrm>
          <a:off x="685800" y="2011680"/>
          <a:ext cx="10789918" cy="1645919"/>
        </p:xfrm>
        <a:graphic>
          <a:graphicData uri="http://schemas.openxmlformats.org/drawingml/2006/table">
            <a:tbl>
              <a:tblPr firstRow="1" bandRow="1">
                <a:tableStyleId>{5C22544A-7EE6-4342-B048-85BDC9FD1C3A}</a:tableStyleId>
              </a:tblPr>
              <a:tblGrid>
                <a:gridCol w="3534628"/>
                <a:gridCol w="2418430"/>
                <a:gridCol w="2418430"/>
                <a:gridCol w="2418430"/>
              </a:tblGrid>
              <a:tr h="329183">
                <a:tc>
                  <a:txBody>
                    <a:bodyPr/>
                    <a:lstStyle/>
                    <a:p>
                      <a:pPr algn="l">
                        <a:defRPr sz="1400" b="1">
                          <a:solidFill>
                            <a:srgbClr val="FFFFFF"/>
                          </a:solidFill>
                        </a:defRPr>
                      </a:pPr>
                      <a:r>
                        <a:rPr sz="1400" b="1">
                          <a:solidFill>
                            <a:srgbClr val="FFFFFF"/>
                          </a:solidFill>
                        </a:rPr>
                        <a:t>Trained → Tested</a:t>
                      </a:r>
                    </a:p>
                  </a:txBody>
                  <a:tcPr marL="73152" marR="73152" marT="27432" marB="27432">
                    <a:solidFill>
                      <a:srgbClr val="1F4E79"/>
                    </a:solidFill>
                  </a:tcPr>
                </a:tc>
                <a:tc>
                  <a:txBody>
                    <a:bodyPr/>
                    <a:lstStyle/>
                    <a:p>
                      <a:pPr algn="ctr">
                        <a:defRPr sz="1400" b="1">
                          <a:solidFill>
                            <a:srgbClr val="FFFFFF"/>
                          </a:solidFill>
                        </a:defRPr>
                      </a:pPr>
                      <a:r>
                        <a:rPr sz="1400" b="1">
                          <a:solidFill>
                            <a:srgbClr val="FFFFFF"/>
                          </a:solidFill>
                        </a:rPr>
                        <a:t>AUC (DR / ME)</a:t>
                      </a:r>
                    </a:p>
                  </a:txBody>
                  <a:tcPr marL="73152" marR="73152" marT="27432" marB="27432">
                    <a:solidFill>
                      <a:srgbClr val="1F4E79"/>
                    </a:solidFill>
                  </a:tcPr>
                </a:tc>
                <a:tc>
                  <a:txBody>
                    <a:bodyPr/>
                    <a:lstStyle/>
                    <a:p>
                      <a:pPr algn="ctr">
                        <a:defRPr sz="1400" b="1">
                          <a:solidFill>
                            <a:srgbClr val="FFFFFF"/>
                          </a:solidFill>
                        </a:defRPr>
                      </a:pPr>
                      <a:r>
                        <a:rPr sz="1400" b="1">
                          <a:solidFill>
                            <a:srgbClr val="FFFFFF"/>
                          </a:solidFill>
                        </a:rPr>
                        <a:t>F1 (DR / ME)</a:t>
                      </a:r>
                    </a:p>
                  </a:txBody>
                  <a:tcPr marL="73152" marR="73152" marT="27432" marB="27432">
                    <a:solidFill>
                      <a:srgbClr val="1F4E79"/>
                    </a:solidFill>
                  </a:tcPr>
                </a:tc>
                <a:tc>
                  <a:txBody>
                    <a:bodyPr/>
                    <a:lstStyle/>
                    <a:p>
                      <a:pPr algn="ctr">
                        <a:defRPr sz="1400" b="1">
                          <a:solidFill>
                            <a:srgbClr val="FFFFFF"/>
                          </a:solidFill>
                        </a:defRPr>
                      </a:pPr>
                      <a:r>
                        <a:rPr sz="1400" b="1">
                          <a:solidFill>
                            <a:srgbClr val="FFFFFF"/>
                          </a:solidFill>
                        </a:rPr>
                        <a:t>Recall (DR / ME)</a:t>
                      </a:r>
                    </a:p>
                  </a:txBody>
                  <a:tcPr marL="73152" marR="73152" marT="27432" marB="27432">
                    <a:solidFill>
                      <a:srgbClr val="1F4E79"/>
                    </a:solidFill>
                  </a:tcPr>
                </a:tc>
              </a:tr>
              <a:tr h="329183">
                <a:tc>
                  <a:txBody>
                    <a:bodyPr/>
                    <a:lstStyle/>
                    <a:p>
                      <a:pPr algn="l">
                        <a:defRPr sz="1400" b="0">
                          <a:solidFill>
                            <a:srgbClr val="1A1A1A"/>
                          </a:solidFill>
                        </a:defRPr>
                      </a:pPr>
                      <a:r>
                        <a:rPr sz="1400" b="0">
                          <a:solidFill>
                            <a:srgbClr val="1A1A1A"/>
                          </a:solidFill>
                        </a:rPr>
                        <a:t>BRSET → BRSET (in-domain)</a:t>
                      </a:r>
                    </a:p>
                  </a:txBody>
                  <a:tcPr marL="73152" marR="73152" marT="27432" marB="27432">
                    <a:solidFill>
                      <a:srgbClr val="FFFFFF"/>
                    </a:solidFill>
                  </a:tcPr>
                </a:tc>
                <a:tc>
                  <a:txBody>
                    <a:bodyPr/>
                    <a:lstStyle/>
                    <a:p>
                      <a:pPr algn="ctr">
                        <a:defRPr sz="1400" b="0">
                          <a:solidFill>
                            <a:srgbClr val="1A1A1A"/>
                          </a:solidFill>
                        </a:defRPr>
                      </a:pPr>
                      <a:r>
                        <a:rPr sz="1400" b="0">
                          <a:solidFill>
                            <a:srgbClr val="1A1A1A"/>
                          </a:solidFill>
                        </a:rPr>
                        <a:t>0.988 / 0.994</a:t>
                      </a:r>
                    </a:p>
                  </a:txBody>
                  <a:tcPr marL="73152" marR="73152" marT="27432" marB="27432">
                    <a:solidFill>
                      <a:srgbClr val="FFFFFF"/>
                    </a:solidFill>
                  </a:tcPr>
                </a:tc>
                <a:tc>
                  <a:txBody>
                    <a:bodyPr/>
                    <a:lstStyle/>
                    <a:p>
                      <a:pPr algn="ctr">
                        <a:defRPr sz="1400" b="0">
                          <a:solidFill>
                            <a:srgbClr val="1A1A1A"/>
                          </a:solidFill>
                        </a:defRPr>
                      </a:pPr>
                      <a:r>
                        <a:rPr sz="1400" b="0">
                          <a:solidFill>
                            <a:srgbClr val="1A1A1A"/>
                          </a:solidFill>
                        </a:rPr>
                        <a:t>0.869 / 0.790</a:t>
                      </a:r>
                    </a:p>
                  </a:txBody>
                  <a:tcPr marL="73152" marR="73152" marT="27432" marB="27432">
                    <a:solidFill>
                      <a:srgbClr val="FFFFFF"/>
                    </a:solidFill>
                  </a:tcPr>
                </a:tc>
                <a:tc>
                  <a:txBody>
                    <a:bodyPr/>
                    <a:lstStyle/>
                    <a:p>
                      <a:pPr algn="ctr">
                        <a:defRPr sz="1400" b="0">
                          <a:solidFill>
                            <a:srgbClr val="1A1A1A"/>
                          </a:solidFill>
                        </a:defRPr>
                      </a:pPr>
                      <a:r>
                        <a:rPr sz="1400" b="0">
                          <a:solidFill>
                            <a:srgbClr val="1A1A1A"/>
                          </a:solidFill>
                        </a:rPr>
                        <a:t>0.877 / 0.770</a:t>
                      </a:r>
                    </a:p>
                  </a:txBody>
                  <a:tcPr marL="73152" marR="73152" marT="27432" marB="27432">
                    <a:solidFill>
                      <a:srgbClr val="FFFFFF"/>
                    </a:solidFill>
                  </a:tcPr>
                </a:tc>
              </a:tr>
              <a:tr h="329183">
                <a:tc>
                  <a:txBody>
                    <a:bodyPr/>
                    <a:lstStyle/>
                    <a:p>
                      <a:pPr algn="l">
                        <a:defRPr sz="1400" b="0">
                          <a:solidFill>
                            <a:srgbClr val="1A1A1A"/>
                          </a:solidFill>
                        </a:defRPr>
                      </a:pPr>
                      <a:r>
                        <a:rPr sz="1400" b="0">
                          <a:solidFill>
                            <a:srgbClr val="1A1A1A"/>
                          </a:solidFill>
                        </a:rPr>
                        <a:t>mBRSET → mBRSET (in-domain)</a:t>
                      </a:r>
                    </a:p>
                  </a:txBody>
                  <a:tcPr marL="73152" marR="73152" marT="27432" marB="27432">
                    <a:solidFill>
                      <a:srgbClr val="F2F4F7"/>
                    </a:solidFill>
                  </a:tcPr>
                </a:tc>
                <a:tc>
                  <a:txBody>
                    <a:bodyPr/>
                    <a:lstStyle/>
                    <a:p>
                      <a:pPr algn="ctr">
                        <a:defRPr sz="1400" b="0">
                          <a:solidFill>
                            <a:srgbClr val="1A1A1A"/>
                          </a:solidFill>
                        </a:defRPr>
                      </a:pPr>
                      <a:r>
                        <a:rPr sz="1400" b="0">
                          <a:solidFill>
                            <a:srgbClr val="1A1A1A"/>
                          </a:solidFill>
                        </a:rPr>
                        <a:t>0.939 / 0.988</a:t>
                      </a:r>
                    </a:p>
                  </a:txBody>
                  <a:tcPr marL="73152" marR="73152" marT="27432" marB="27432">
                    <a:solidFill>
                      <a:srgbClr val="F2F4F7"/>
                    </a:solidFill>
                  </a:tcPr>
                </a:tc>
                <a:tc>
                  <a:txBody>
                    <a:bodyPr/>
                    <a:lstStyle/>
                    <a:p>
                      <a:pPr algn="ctr">
                        <a:defRPr sz="1400" b="0">
                          <a:solidFill>
                            <a:srgbClr val="1A1A1A"/>
                          </a:solidFill>
                        </a:defRPr>
                      </a:pPr>
                      <a:r>
                        <a:rPr sz="1400" b="0">
                          <a:solidFill>
                            <a:srgbClr val="1A1A1A"/>
                          </a:solidFill>
                        </a:rPr>
                        <a:t>0.815 / 0.807</a:t>
                      </a:r>
                    </a:p>
                  </a:txBody>
                  <a:tcPr marL="73152" marR="73152" marT="27432" marB="27432">
                    <a:solidFill>
                      <a:srgbClr val="F2F4F7"/>
                    </a:solidFill>
                  </a:tcPr>
                </a:tc>
                <a:tc>
                  <a:txBody>
                    <a:bodyPr/>
                    <a:lstStyle/>
                    <a:p>
                      <a:pPr algn="ctr">
                        <a:defRPr sz="1400" b="0">
                          <a:solidFill>
                            <a:srgbClr val="1A1A1A"/>
                          </a:solidFill>
                        </a:defRPr>
                      </a:pPr>
                      <a:r>
                        <a:rPr sz="1400" b="0">
                          <a:solidFill>
                            <a:srgbClr val="1A1A1A"/>
                          </a:solidFill>
                        </a:rPr>
                        <a:t>0.774 / 0.730</a:t>
                      </a:r>
                    </a:p>
                  </a:txBody>
                  <a:tcPr marL="73152" marR="73152" marT="27432" marB="27432">
                    <a:solidFill>
                      <a:srgbClr val="F2F4F7"/>
                    </a:solidFill>
                  </a:tcPr>
                </a:tc>
              </a:tr>
              <a:tr h="329183">
                <a:tc>
                  <a:txBody>
                    <a:bodyPr/>
                    <a:lstStyle/>
                    <a:p>
                      <a:pPr algn="l">
                        <a:defRPr sz="1400" b="0">
                          <a:solidFill>
                            <a:srgbClr val="1A1A1A"/>
                          </a:solidFill>
                        </a:defRPr>
                      </a:pPr>
                      <a:r>
                        <a:rPr sz="1400" b="0">
                          <a:solidFill>
                            <a:srgbClr val="1A1A1A"/>
                          </a:solidFill>
                        </a:rPr>
                        <a:t>BRSET → mBRSET, BRSET threshold</a:t>
                      </a:r>
                    </a:p>
                  </a:txBody>
                  <a:tcPr marL="73152" marR="73152" marT="27432" marB="27432">
                    <a:solidFill>
                      <a:srgbClr val="FFFFFF"/>
                    </a:solidFill>
                  </a:tcPr>
                </a:tc>
                <a:tc>
                  <a:txBody>
                    <a:bodyPr/>
                    <a:lstStyle/>
                    <a:p>
                      <a:pPr algn="ctr">
                        <a:defRPr sz="1400" b="0">
                          <a:solidFill>
                            <a:srgbClr val="1A1A1A"/>
                          </a:solidFill>
                        </a:defRPr>
                      </a:pPr>
                      <a:r>
                        <a:rPr sz="1400" b="0">
                          <a:solidFill>
                            <a:srgbClr val="1A1A1A"/>
                          </a:solidFill>
                        </a:rPr>
                        <a:t>0.909 / 0.933</a:t>
                      </a:r>
                    </a:p>
                  </a:txBody>
                  <a:tcPr marL="73152" marR="73152" marT="27432" marB="27432">
                    <a:solidFill>
                      <a:srgbClr val="FFFFFF"/>
                    </a:solidFill>
                  </a:tcPr>
                </a:tc>
                <a:tc>
                  <a:txBody>
                    <a:bodyPr/>
                    <a:lstStyle/>
                    <a:p>
                      <a:pPr algn="ctr">
                        <a:defRPr sz="1400" b="0">
                          <a:solidFill>
                            <a:srgbClr val="1A1A1A"/>
                          </a:solidFill>
                        </a:defRPr>
                      </a:pPr>
                      <a:r>
                        <a:rPr sz="1400" b="0">
                          <a:solidFill>
                            <a:srgbClr val="1A1A1A"/>
                          </a:solidFill>
                        </a:rPr>
                        <a:t>0.661 / 0.566</a:t>
                      </a:r>
                    </a:p>
                  </a:txBody>
                  <a:tcPr marL="73152" marR="73152" marT="27432" marB="27432">
                    <a:solidFill>
                      <a:srgbClr val="FFFFFF"/>
                    </a:solidFill>
                  </a:tcPr>
                </a:tc>
                <a:tc>
                  <a:txBody>
                    <a:bodyPr/>
                    <a:lstStyle/>
                    <a:p>
                      <a:pPr algn="ctr">
                        <a:defRPr sz="1400" b="0">
                          <a:solidFill>
                            <a:srgbClr val="1A1A1A"/>
                          </a:solidFill>
                        </a:defRPr>
                      </a:pPr>
                      <a:r>
                        <a:rPr sz="1400" b="0">
                          <a:solidFill>
                            <a:srgbClr val="1A1A1A"/>
                          </a:solidFill>
                        </a:rPr>
                        <a:t>0.503 / 0.444</a:t>
                      </a:r>
                    </a:p>
                  </a:txBody>
                  <a:tcPr marL="73152" marR="73152" marT="27432" marB="27432">
                    <a:solidFill>
                      <a:srgbClr val="FFFFFF"/>
                    </a:solidFill>
                  </a:tcPr>
                </a:tc>
              </a:tr>
              <a:tr h="329187">
                <a:tc>
                  <a:txBody>
                    <a:bodyPr/>
                    <a:lstStyle/>
                    <a:p>
                      <a:pPr algn="l">
                        <a:defRPr sz="1400" b="1">
                          <a:solidFill>
                            <a:srgbClr val="1A1A1A"/>
                          </a:solidFill>
                        </a:defRPr>
                      </a:pPr>
                      <a:r>
                        <a:rPr sz="1400" b="1">
                          <a:solidFill>
                            <a:srgbClr val="1A1A1A"/>
                          </a:solidFill>
                        </a:rPr>
                        <a:t>BRSET → mBRSET, threshold retuned</a:t>
                      </a:r>
                    </a:p>
                  </a:txBody>
                  <a:tcPr marL="73152" marR="73152" marT="27432" marB="27432">
                    <a:solidFill>
                      <a:srgbClr val="FDF0E6"/>
                    </a:solidFill>
                  </a:tcPr>
                </a:tc>
                <a:tc>
                  <a:txBody>
                    <a:bodyPr/>
                    <a:lstStyle/>
                    <a:p>
                      <a:pPr algn="ctr">
                        <a:defRPr sz="1400" b="1">
                          <a:solidFill>
                            <a:srgbClr val="1A1A1A"/>
                          </a:solidFill>
                        </a:defRPr>
                      </a:pPr>
                      <a:r>
                        <a:rPr sz="1400" b="1">
                          <a:solidFill>
                            <a:srgbClr val="1A1A1A"/>
                          </a:solidFill>
                        </a:rPr>
                        <a:t>0.909 / 0.933</a:t>
                      </a:r>
                    </a:p>
                  </a:txBody>
                  <a:tcPr marL="73152" marR="73152" marT="27432" marB="27432">
                    <a:solidFill>
                      <a:srgbClr val="FDF0E6"/>
                    </a:solidFill>
                  </a:tcPr>
                </a:tc>
                <a:tc>
                  <a:txBody>
                    <a:bodyPr/>
                    <a:lstStyle/>
                    <a:p>
                      <a:pPr algn="ctr">
                        <a:defRPr sz="1400" b="1">
                          <a:solidFill>
                            <a:srgbClr val="1A1A1A"/>
                          </a:solidFill>
                        </a:defRPr>
                      </a:pPr>
                      <a:r>
                        <a:rPr sz="1400" b="1">
                          <a:solidFill>
                            <a:srgbClr val="1A1A1A"/>
                          </a:solidFill>
                        </a:rPr>
                        <a:t>0.717 / 0.628</a:t>
                      </a:r>
                    </a:p>
                  </a:txBody>
                  <a:tcPr marL="73152" marR="73152" marT="27432" marB="27432">
                    <a:solidFill>
                      <a:srgbClr val="FDF0E6"/>
                    </a:solidFill>
                  </a:tcPr>
                </a:tc>
                <a:tc>
                  <a:txBody>
                    <a:bodyPr/>
                    <a:lstStyle/>
                    <a:p>
                      <a:pPr algn="ctr">
                        <a:defRPr sz="1400" b="1">
                          <a:solidFill>
                            <a:srgbClr val="1A1A1A"/>
                          </a:solidFill>
                        </a:defRPr>
                      </a:pPr>
                      <a:r>
                        <a:rPr sz="1400" b="1">
                          <a:solidFill>
                            <a:srgbClr val="1A1A1A"/>
                          </a:solidFill>
                        </a:rPr>
                        <a:t>0.780 / 0.603</a:t>
                      </a:r>
                    </a:p>
                  </a:txBody>
                  <a:tcPr marL="73152" marR="73152" marT="27432" marB="27432">
                    <a:solidFill>
                      <a:srgbClr val="FDF0E6"/>
                    </a:solidFill>
                  </a:tcPr>
                </a:tc>
              </a:tr>
            </a:tbl>
          </a:graphicData>
        </a:graphic>
      </p:graphicFrame>
      <p:sp>
        <p:nvSpPr>
          <p:cNvPr id="4" name="TextBox 3"/>
          <p:cNvSpPr txBox="1"/>
          <p:nvPr/>
        </p:nvSpPr>
        <p:spPr>
          <a:xfrm>
            <a:off x="685800" y="4206240"/>
            <a:ext cx="10881360" cy="1463040"/>
          </a:xfrm>
          <a:prstGeom prst="rect">
            <a:avLst/>
          </a:prstGeom>
          <a:noFill/>
        </p:spPr>
        <p:txBody>
          <a:bodyPr wrap="square">
            <a:spAutoFit/>
          </a:bodyPr>
          <a:lstStyle/>
          <a:p>
            <a:pPr>
              <a:spcAft>
                <a:spcPts val="1000"/>
              </a:spcAft>
              <a:defRPr sz="1700">
                <a:solidFill>
                  <a:srgbClr val="1A1A1A"/>
                </a:solidFill>
              </a:defRPr>
            </a:pPr>
            <a:r>
              <a:t>• Retuning only the decision threshold — no retraining — lifted DR recall from 0.503 to 0.780.</a:t>
            </a:r>
          </a:p>
          <a:p>
            <a:pPr>
              <a:spcAft>
                <a:spcPts val="1000"/>
              </a:spcAft>
              <a:defRPr sz="1700">
                <a:solidFill>
                  <a:srgbClr val="1A1A1A"/>
                </a:solidFill>
              </a:defRPr>
            </a:pPr>
            <a:r>
              <a:t>• Remaining gap to a model trained directly on mBRSET: 0.098 F1 (DR), 0.179 F1 (ME).</a:t>
            </a:r>
          </a:p>
        </p:txBody>
      </p:sp>
      <p:sp>
        <p:nvSpPr>
          <p:cNvPr id="5" name="TextBox 4"/>
          <p:cNvSpPr txBox="1"/>
          <p:nvPr/>
        </p:nvSpPr>
        <p:spPr>
          <a:xfrm>
            <a:off x="685800" y="5806440"/>
            <a:ext cx="10881360" cy="685800"/>
          </a:xfrm>
          <a:prstGeom prst="rect">
            <a:avLst/>
          </a:prstGeom>
          <a:noFill/>
        </p:spPr>
        <p:txBody>
          <a:bodyPr wrap="square">
            <a:spAutoFit/>
          </a:bodyPr>
          <a:lstStyle/>
          <a:p>
            <a:pPr>
              <a:defRPr sz="1600" b="1">
                <a:solidFill>
                  <a:srgbClr val="1F4E79"/>
                </a:solidFill>
              </a:defRPr>
            </a:pPr>
            <a:r>
              <a:t>Question: what is that remaining gap actually made of, and what can close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Diagnosis 1 — the referral cutoff was wrong, not the model</a:t>
            </a:r>
          </a:p>
          <a:p>
            <a:pPr>
              <a:defRPr sz="1500">
                <a:solidFill>
                  <a:srgbClr val="5A5A5A"/>
                </a:solidFill>
              </a:defRPr>
            </a:pPr>
            <a:r>
              <a:t>The model scores each image from 0 (healthy) to 1 (diseased). A cutoff decides who gets referred.</a:t>
            </a:r>
          </a:p>
        </p:txBody>
      </p:sp>
      <p:graphicFrame>
        <p:nvGraphicFramePr>
          <p:cNvPr id="3" name="Table 2"/>
          <p:cNvGraphicFramePr>
            <a:graphicFrameLocks noGrp="1"/>
          </p:cNvGraphicFramePr>
          <p:nvPr/>
        </p:nvGraphicFramePr>
        <p:xfrm>
          <a:off x="685800" y="2057400"/>
          <a:ext cx="9875518" cy="1371600"/>
        </p:xfrm>
        <a:graphic>
          <a:graphicData uri="http://schemas.openxmlformats.org/drawingml/2006/table">
            <a:tbl>
              <a:tblPr firstRow="1" bandRow="1">
                <a:tableStyleId>{5C22544A-7EE6-4342-B048-85BDC9FD1C3A}</a:tableStyleId>
              </a:tblPr>
              <a:tblGrid>
                <a:gridCol w="2904564"/>
                <a:gridCol w="4066390"/>
                <a:gridCol w="2904564"/>
              </a:tblGrid>
              <a:tr h="457200">
                <a:tc>
                  <a:txBody>
                    <a:bodyPr/>
                    <a:lstStyle/>
                    <a:p>
                      <a:pPr algn="l">
                        <a:defRPr sz="1500" b="1">
                          <a:solidFill>
                            <a:srgbClr val="FFFFFF"/>
                          </a:solidFill>
                        </a:defRPr>
                      </a:pPr>
                    </a:p>
                  </a:txBody>
                  <a:tcPr marL="73152" marR="73152" marT="27432" marB="27432">
                    <a:solidFill>
                      <a:srgbClr val="1F4E79"/>
                    </a:solidFill>
                  </a:tcPr>
                </a:tc>
                <a:tc>
                  <a:txBody>
                    <a:bodyPr/>
                    <a:lstStyle/>
                    <a:p>
                      <a:pPr algn="ctr">
                        <a:defRPr sz="1500" b="1">
                          <a:solidFill>
                            <a:srgbClr val="FFFFFF"/>
                          </a:solidFill>
                        </a:defRPr>
                      </a:pPr>
                      <a:r>
                        <a:rPr sz="1500" b="1">
                          <a:solidFill>
                            <a:srgbClr val="FFFFFF"/>
                          </a:solidFill>
                        </a:rPr>
                        <a:t>How many patients have the disease</a:t>
                      </a:r>
                    </a:p>
                  </a:txBody>
                  <a:tcPr marL="73152" marR="73152" marT="27432" marB="27432">
                    <a:solidFill>
                      <a:srgbClr val="1F4E79"/>
                    </a:solidFill>
                  </a:tcPr>
                </a:tc>
                <a:tc>
                  <a:txBody>
                    <a:bodyPr/>
                    <a:lstStyle/>
                    <a:p>
                      <a:pPr algn="ctr">
                        <a:defRPr sz="1500" b="1">
                          <a:solidFill>
                            <a:srgbClr val="FFFFFF"/>
                          </a:solidFill>
                        </a:defRPr>
                      </a:pPr>
                      <a:r>
                        <a:rPr sz="1500" b="1">
                          <a:solidFill>
                            <a:srgbClr val="FFFFFF"/>
                          </a:solidFill>
                        </a:rPr>
                        <a:t>Best cutoff for that group</a:t>
                      </a:r>
                    </a:p>
                  </a:txBody>
                  <a:tcPr marL="73152" marR="73152" marT="27432" marB="27432">
                    <a:solidFill>
                      <a:srgbClr val="1F4E79"/>
                    </a:solidFill>
                  </a:tcPr>
                </a:tc>
              </a:tr>
              <a:tr h="457200">
                <a:tc>
                  <a:txBody>
                    <a:bodyPr/>
                    <a:lstStyle/>
                    <a:p>
                      <a:pPr algn="l">
                        <a:defRPr sz="1500" b="0">
                          <a:solidFill>
                            <a:srgbClr val="1A1A1A"/>
                          </a:solidFill>
                        </a:defRPr>
                      </a:pPr>
                      <a:r>
                        <a:rPr sz="1500" b="0">
                          <a:solidFill>
                            <a:srgbClr val="1A1A1A"/>
                          </a:solidFill>
                        </a:rPr>
                        <a:t>BRSET — where we trained</a:t>
                      </a:r>
                    </a:p>
                  </a:txBody>
                  <a:tcPr marL="73152" marR="73152" marT="27432" marB="27432">
                    <a:solidFill>
                      <a:srgbClr val="FFFFFF"/>
                    </a:solidFill>
                  </a:tcPr>
                </a:tc>
                <a:tc>
                  <a:txBody>
                    <a:bodyPr/>
                    <a:lstStyle/>
                    <a:p>
                      <a:pPr algn="ctr">
                        <a:defRPr sz="1500" b="0">
                          <a:solidFill>
                            <a:srgbClr val="1A1A1A"/>
                          </a:solidFill>
                        </a:defRPr>
                      </a:pPr>
                      <a:r>
                        <a:rPr sz="1500" b="0">
                          <a:solidFill>
                            <a:srgbClr val="1A1A1A"/>
                          </a:solidFill>
                        </a:rPr>
                        <a:t>6.6% of eyes  (1 in 15)</a:t>
                      </a:r>
                    </a:p>
                  </a:txBody>
                  <a:tcPr marL="73152" marR="73152" marT="27432" marB="27432">
                    <a:solidFill>
                      <a:srgbClr val="FFFFFF"/>
                    </a:solidFill>
                  </a:tcPr>
                </a:tc>
                <a:tc>
                  <a:txBody>
                    <a:bodyPr/>
                    <a:lstStyle/>
                    <a:p>
                      <a:pPr algn="ctr">
                        <a:defRPr sz="1500" b="0">
                          <a:solidFill>
                            <a:srgbClr val="1A1A1A"/>
                          </a:solidFill>
                        </a:defRPr>
                      </a:pPr>
                      <a:r>
                        <a:rPr sz="1500" b="0">
                          <a:solidFill>
                            <a:srgbClr val="1A1A1A"/>
                          </a:solidFill>
                        </a:rPr>
                        <a:t>0.61   be strict</a:t>
                      </a:r>
                    </a:p>
                  </a:txBody>
                  <a:tcPr marL="73152" marR="73152" marT="27432" marB="27432">
                    <a:solidFill>
                      <a:srgbClr val="FFFFFF"/>
                    </a:solidFill>
                  </a:tcPr>
                </a:tc>
              </a:tr>
              <a:tr h="457200">
                <a:tc>
                  <a:txBody>
                    <a:bodyPr/>
                    <a:lstStyle/>
                    <a:p>
                      <a:pPr algn="l">
                        <a:defRPr sz="1500" b="0">
                          <a:solidFill>
                            <a:srgbClr val="1A1A1A"/>
                          </a:solidFill>
                        </a:defRPr>
                      </a:pPr>
                      <a:r>
                        <a:rPr sz="1500" b="0">
                          <a:solidFill>
                            <a:srgbClr val="1A1A1A"/>
                          </a:solidFill>
                        </a:rPr>
                        <a:t>mBRSET — where we tested</a:t>
                      </a:r>
                    </a:p>
                  </a:txBody>
                  <a:tcPr marL="73152" marR="73152" marT="27432" marB="27432">
                    <a:solidFill>
                      <a:srgbClr val="F2F4F7"/>
                    </a:solidFill>
                  </a:tcPr>
                </a:tc>
                <a:tc>
                  <a:txBody>
                    <a:bodyPr/>
                    <a:lstStyle/>
                    <a:p>
                      <a:pPr algn="ctr">
                        <a:defRPr sz="1500" b="0">
                          <a:solidFill>
                            <a:srgbClr val="1A1A1A"/>
                          </a:solidFill>
                        </a:defRPr>
                      </a:pPr>
                      <a:r>
                        <a:rPr sz="1500" b="0">
                          <a:solidFill>
                            <a:srgbClr val="1A1A1A"/>
                          </a:solidFill>
                        </a:rPr>
                        <a:t>23.3% of eyes  (1 in 4)</a:t>
                      </a:r>
                    </a:p>
                  </a:txBody>
                  <a:tcPr marL="73152" marR="73152" marT="27432" marB="27432">
                    <a:solidFill>
                      <a:srgbClr val="F2F4F7"/>
                    </a:solidFill>
                  </a:tcPr>
                </a:tc>
                <a:tc>
                  <a:txBody>
                    <a:bodyPr/>
                    <a:lstStyle/>
                    <a:p>
                      <a:pPr algn="ctr">
                        <a:defRPr sz="1500" b="0">
                          <a:solidFill>
                            <a:srgbClr val="1A1A1A"/>
                          </a:solidFill>
                        </a:defRPr>
                      </a:pPr>
                      <a:r>
                        <a:rPr sz="1500" b="0">
                          <a:solidFill>
                            <a:srgbClr val="1A1A1A"/>
                          </a:solidFill>
                        </a:rPr>
                        <a:t>0.19   be lenient</a:t>
                      </a:r>
                    </a:p>
                  </a:txBody>
                  <a:tcPr marL="73152" marR="73152" marT="27432" marB="27432">
                    <a:solidFill>
                      <a:srgbClr val="F2F4F7"/>
                    </a:solidFill>
                  </a:tcPr>
                </a:tc>
              </a:tr>
            </a:tbl>
          </a:graphicData>
        </a:graphic>
      </p:graphicFrame>
      <p:sp>
        <p:nvSpPr>
          <p:cNvPr id="4" name="TextBox 3"/>
          <p:cNvSpPr txBox="1"/>
          <p:nvPr/>
        </p:nvSpPr>
        <p:spPr>
          <a:xfrm>
            <a:off x="685800" y="3886200"/>
            <a:ext cx="10881360" cy="1783080"/>
          </a:xfrm>
          <a:prstGeom prst="rect">
            <a:avLst/>
          </a:prstGeom>
          <a:noFill/>
        </p:spPr>
        <p:txBody>
          <a:bodyPr wrap="square">
            <a:spAutoFit/>
          </a:bodyPr>
          <a:lstStyle/>
          <a:p>
            <a:pPr>
              <a:spcAft>
                <a:spcPts val="1000"/>
              </a:spcAft>
              <a:defRPr sz="1600">
                <a:solidFill>
                  <a:srgbClr val="1A1A1A"/>
                </a:solidFill>
              </a:defRPr>
            </a:pPr>
            <a:r>
              <a:t>• We applied BRSET's strict 0.61 cutoff to mBRSET, where nearly 1 in 4 patients is diseased. The model stayed quiet and missed half the cases.</a:t>
            </a:r>
          </a:p>
          <a:p>
            <a:pPr>
              <a:spcAft>
                <a:spcPts val="1000"/>
              </a:spcAft>
              <a:defRPr sz="1600">
                <a:solidFill>
                  <a:srgbClr val="1A1A1A"/>
                </a:solidFill>
              </a:defRPr>
            </a:pPr>
            <a:r>
              <a:t>• Of the move needed from 0.61 down to 0.19:  77% is explained by the higher disease rate alone, and only 23% by the model being less certain on blurrier images.</a:t>
            </a:r>
          </a:p>
          <a:p>
            <a:pPr>
              <a:spcAft>
                <a:spcPts val="1000"/>
              </a:spcAft>
              <a:defRPr sz="1600">
                <a:solidFill>
                  <a:srgbClr val="1A1A1A"/>
                </a:solidFill>
              </a:defRPr>
            </a:pPr>
            <a:r>
              <a:t>• The disease-rate part can be estimated from unlabelled images — no answer key required.</a:t>
            </a:r>
          </a:p>
        </p:txBody>
      </p:sp>
      <p:sp>
        <p:nvSpPr>
          <p:cNvPr id="5" name="TextBox 4"/>
          <p:cNvSpPr txBox="1"/>
          <p:nvPr/>
        </p:nvSpPr>
        <p:spPr>
          <a:xfrm>
            <a:off x="685800" y="5806440"/>
            <a:ext cx="10881360" cy="685800"/>
          </a:xfrm>
          <a:prstGeom prst="rect">
            <a:avLst/>
          </a:prstGeom>
          <a:noFill/>
        </p:spPr>
        <p:txBody>
          <a:bodyPr wrap="square">
            <a:spAutoFit/>
          </a:bodyPr>
          <a:lstStyle/>
          <a:p>
            <a:pPr>
              <a:defRPr sz="1600" b="1">
                <a:solidFill>
                  <a:srgbClr val="1F4E79"/>
                </a:solidFill>
              </a:defRPr>
            </a:pPr>
            <a:r>
              <a:t>Moving the cutoff alone — no retraining — lifted F1 from 0.661 to 0.717, and recall from 0.503 to 0.780.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Diagnosis 2 — Threshold tuning is already exhausted</a:t>
            </a:r>
          </a:p>
          <a:p>
            <a:pPr>
              <a:defRPr sz="1500">
                <a:solidFill>
                  <a:srgbClr val="5A5A5A"/>
                </a:solidFill>
              </a:defRPr>
            </a:pPr>
            <a:r>
              <a:t>For a given AUC and prevalence there is a hard maximum F1, over all possible thresholds.</a:t>
            </a:r>
          </a:p>
        </p:txBody>
      </p:sp>
      <p:graphicFrame>
        <p:nvGraphicFramePr>
          <p:cNvPr id="3" name="Table 2"/>
          <p:cNvGraphicFramePr>
            <a:graphicFrameLocks noGrp="1"/>
          </p:cNvGraphicFramePr>
          <p:nvPr/>
        </p:nvGraphicFramePr>
        <p:xfrm>
          <a:off x="685800" y="1920240"/>
          <a:ext cx="10789918" cy="987552"/>
        </p:xfrm>
        <a:graphic>
          <a:graphicData uri="http://schemas.openxmlformats.org/drawingml/2006/table">
            <a:tbl>
              <a:tblPr firstRow="1" bandRow="1">
                <a:tableStyleId>{5C22544A-7EE6-4342-B048-85BDC9FD1C3A}</a:tableStyleId>
              </a:tblPr>
              <a:tblGrid>
                <a:gridCol w="2942705"/>
                <a:gridCol w="1471352"/>
                <a:gridCol w="2354164"/>
                <a:gridCol w="2354164"/>
                <a:gridCol w="1667533"/>
              </a:tblGrid>
              <a:tr h="329184">
                <a:tc>
                  <a:txBody>
                    <a:bodyPr/>
                    <a:lstStyle/>
                    <a:p>
                      <a:pPr algn="l">
                        <a:defRPr sz="1500" b="1">
                          <a:solidFill>
                            <a:srgbClr val="FFFFFF"/>
                          </a:solidFill>
                        </a:defRPr>
                      </a:pPr>
                      <a:r>
                        <a:rPr sz="1500" b="1">
                          <a:solidFill>
                            <a:srgbClr val="FFFFFF"/>
                          </a:solidFill>
                        </a:rPr>
                        <a:t>BRSET → mBRSET</a:t>
                      </a:r>
                    </a:p>
                  </a:txBody>
                  <a:tcPr marL="73152" marR="73152" marT="27432" marB="27432">
                    <a:solidFill>
                      <a:srgbClr val="1F4E79"/>
                    </a:solidFill>
                  </a:tcPr>
                </a:tc>
                <a:tc>
                  <a:txBody>
                    <a:bodyPr/>
                    <a:lstStyle/>
                    <a:p>
                      <a:pPr algn="ctr">
                        <a:defRPr sz="1500" b="1">
                          <a:solidFill>
                            <a:srgbClr val="FFFFFF"/>
                          </a:solidFill>
                        </a:defRPr>
                      </a:pPr>
                      <a:r>
                        <a:rPr sz="1500" b="1">
                          <a:solidFill>
                            <a:srgbClr val="FFFFFF"/>
                          </a:solidFill>
                        </a:rPr>
                        <a:t>AUC</a:t>
                      </a:r>
                    </a:p>
                  </a:txBody>
                  <a:tcPr marL="73152" marR="73152" marT="27432" marB="27432">
                    <a:solidFill>
                      <a:srgbClr val="1F4E79"/>
                    </a:solidFill>
                  </a:tcPr>
                </a:tc>
                <a:tc>
                  <a:txBody>
                    <a:bodyPr/>
                    <a:lstStyle/>
                    <a:p>
                      <a:pPr algn="ctr">
                        <a:defRPr sz="1500" b="1">
                          <a:solidFill>
                            <a:srgbClr val="FFFFFF"/>
                          </a:solidFill>
                        </a:defRPr>
                      </a:pPr>
                      <a:r>
                        <a:rPr sz="1500" b="1">
                          <a:solidFill>
                            <a:srgbClr val="FFFFFF"/>
                          </a:solidFill>
                        </a:rPr>
                        <a:t>Target prevalence</a:t>
                      </a:r>
                    </a:p>
                  </a:txBody>
                  <a:tcPr marL="73152" marR="73152" marT="27432" marB="27432">
                    <a:solidFill>
                      <a:srgbClr val="1F4E79"/>
                    </a:solidFill>
                  </a:tcPr>
                </a:tc>
                <a:tc>
                  <a:txBody>
                    <a:bodyPr/>
                    <a:lstStyle/>
                    <a:p>
                      <a:pPr algn="ctr">
                        <a:defRPr sz="1500" b="1">
                          <a:solidFill>
                            <a:srgbClr val="FFFFFF"/>
                          </a:solidFill>
                        </a:defRPr>
                      </a:pPr>
                      <a:r>
                        <a:rPr sz="1500" b="1">
                          <a:solidFill>
                            <a:srgbClr val="FFFFFF"/>
                          </a:solidFill>
                        </a:rPr>
                        <a:t>Max possible F1</a:t>
                      </a:r>
                    </a:p>
                  </a:txBody>
                  <a:tcPr marL="73152" marR="73152" marT="27432" marB="27432">
                    <a:solidFill>
                      <a:srgbClr val="1F4E79"/>
                    </a:solidFill>
                  </a:tcPr>
                </a:tc>
                <a:tc>
                  <a:txBody>
                    <a:bodyPr/>
                    <a:lstStyle/>
                    <a:p>
                      <a:pPr algn="ctr">
                        <a:defRPr sz="1500" b="1">
                          <a:solidFill>
                            <a:srgbClr val="FFFFFF"/>
                          </a:solidFill>
                        </a:defRPr>
                      </a:pPr>
                      <a:r>
                        <a:rPr sz="1500" b="1">
                          <a:solidFill>
                            <a:srgbClr val="FFFFFF"/>
                          </a:solidFill>
                        </a:rPr>
                        <a:t>Our F1</a:t>
                      </a:r>
                    </a:p>
                  </a:txBody>
                  <a:tcPr marL="73152" marR="73152" marT="27432" marB="27432">
                    <a:solidFill>
                      <a:srgbClr val="1F4E79"/>
                    </a:solidFill>
                  </a:tcPr>
                </a:tc>
              </a:tr>
              <a:tr h="329184">
                <a:tc>
                  <a:txBody>
                    <a:bodyPr/>
                    <a:lstStyle/>
                    <a:p>
                      <a:pPr algn="l">
                        <a:defRPr sz="1500" b="1">
                          <a:solidFill>
                            <a:srgbClr val="1A1A1A"/>
                          </a:solidFill>
                        </a:defRPr>
                      </a:pPr>
                      <a:r>
                        <a:rPr sz="1500" b="1">
                          <a:solidFill>
                            <a:srgbClr val="1A1A1A"/>
                          </a:solidFill>
                        </a:rPr>
                        <a:t>Diabetic retinopathy</a:t>
                      </a:r>
                    </a:p>
                  </a:txBody>
                  <a:tcPr marL="73152" marR="73152" marT="27432" marB="27432">
                    <a:solidFill>
                      <a:srgbClr val="E3EFE3"/>
                    </a:solidFill>
                  </a:tcPr>
                </a:tc>
                <a:tc>
                  <a:txBody>
                    <a:bodyPr/>
                    <a:lstStyle/>
                    <a:p>
                      <a:pPr algn="ctr">
                        <a:defRPr sz="1500" b="1">
                          <a:solidFill>
                            <a:srgbClr val="1A1A1A"/>
                          </a:solidFill>
                        </a:defRPr>
                      </a:pPr>
                      <a:r>
                        <a:rPr sz="1500" b="1">
                          <a:solidFill>
                            <a:srgbClr val="1A1A1A"/>
                          </a:solidFill>
                        </a:rPr>
                        <a:t>0.909</a:t>
                      </a:r>
                    </a:p>
                  </a:txBody>
                  <a:tcPr marL="73152" marR="73152" marT="27432" marB="27432">
                    <a:solidFill>
                      <a:srgbClr val="E3EFE3"/>
                    </a:solidFill>
                  </a:tcPr>
                </a:tc>
                <a:tc>
                  <a:txBody>
                    <a:bodyPr/>
                    <a:lstStyle/>
                    <a:p>
                      <a:pPr algn="ctr">
                        <a:defRPr sz="1500" b="1">
                          <a:solidFill>
                            <a:srgbClr val="1A1A1A"/>
                          </a:solidFill>
                        </a:defRPr>
                      </a:pPr>
                      <a:r>
                        <a:rPr sz="1500" b="1">
                          <a:solidFill>
                            <a:srgbClr val="1A1A1A"/>
                          </a:solidFill>
                        </a:rPr>
                        <a:t>21.7%</a:t>
                      </a:r>
                    </a:p>
                  </a:txBody>
                  <a:tcPr marL="73152" marR="73152" marT="27432" marB="27432">
                    <a:solidFill>
                      <a:srgbClr val="E3EFE3"/>
                    </a:solidFill>
                  </a:tcPr>
                </a:tc>
                <a:tc>
                  <a:txBody>
                    <a:bodyPr/>
                    <a:lstStyle/>
                    <a:p>
                      <a:pPr algn="ctr">
                        <a:defRPr sz="1500" b="1">
                          <a:solidFill>
                            <a:srgbClr val="1A1A1A"/>
                          </a:solidFill>
                        </a:defRPr>
                      </a:pPr>
                      <a:r>
                        <a:rPr sz="1500" b="1">
                          <a:solidFill>
                            <a:srgbClr val="1A1A1A"/>
                          </a:solidFill>
                        </a:rPr>
                        <a:t>0.697</a:t>
                      </a:r>
                    </a:p>
                  </a:txBody>
                  <a:tcPr marL="73152" marR="73152" marT="27432" marB="27432">
                    <a:solidFill>
                      <a:srgbClr val="E3EFE3"/>
                    </a:solidFill>
                  </a:tcPr>
                </a:tc>
                <a:tc>
                  <a:txBody>
                    <a:bodyPr/>
                    <a:lstStyle/>
                    <a:p>
                      <a:pPr algn="ctr">
                        <a:defRPr sz="1500" b="1">
                          <a:solidFill>
                            <a:srgbClr val="1A1A1A"/>
                          </a:solidFill>
                        </a:defRPr>
                      </a:pPr>
                      <a:r>
                        <a:rPr sz="1500" b="1">
                          <a:solidFill>
                            <a:srgbClr val="1A1A1A"/>
                          </a:solidFill>
                        </a:rPr>
                        <a:t>0.717</a:t>
                      </a:r>
                    </a:p>
                  </a:txBody>
                  <a:tcPr marL="73152" marR="73152" marT="27432" marB="27432">
                    <a:solidFill>
                      <a:srgbClr val="E3EFE3"/>
                    </a:solidFill>
                  </a:tcPr>
                </a:tc>
              </a:tr>
              <a:tr h="329184">
                <a:tc>
                  <a:txBody>
                    <a:bodyPr/>
                    <a:lstStyle/>
                    <a:p>
                      <a:pPr algn="l">
                        <a:defRPr sz="1500" b="1">
                          <a:solidFill>
                            <a:srgbClr val="1A1A1A"/>
                          </a:solidFill>
                        </a:defRPr>
                      </a:pPr>
                      <a:r>
                        <a:rPr sz="1500" b="1">
                          <a:solidFill>
                            <a:srgbClr val="1A1A1A"/>
                          </a:solidFill>
                        </a:rPr>
                        <a:t>Macular edema</a:t>
                      </a:r>
                    </a:p>
                  </a:txBody>
                  <a:tcPr marL="73152" marR="73152" marT="27432" marB="27432">
                    <a:solidFill>
                      <a:srgbClr val="E3EFE3"/>
                    </a:solidFill>
                  </a:tcPr>
                </a:tc>
                <a:tc>
                  <a:txBody>
                    <a:bodyPr/>
                    <a:lstStyle/>
                    <a:p>
                      <a:pPr algn="ctr">
                        <a:defRPr sz="1500" b="1">
                          <a:solidFill>
                            <a:srgbClr val="1A1A1A"/>
                          </a:solidFill>
                        </a:defRPr>
                      </a:pPr>
                      <a:r>
                        <a:rPr sz="1500" b="1">
                          <a:solidFill>
                            <a:srgbClr val="1A1A1A"/>
                          </a:solidFill>
                        </a:rPr>
                        <a:t>0.933</a:t>
                      </a:r>
                    </a:p>
                  </a:txBody>
                  <a:tcPr marL="73152" marR="73152" marT="27432" marB="27432">
                    <a:solidFill>
                      <a:srgbClr val="E3EFE3"/>
                    </a:solidFill>
                  </a:tcPr>
                </a:tc>
                <a:tc>
                  <a:txBody>
                    <a:bodyPr/>
                    <a:lstStyle/>
                    <a:p>
                      <a:pPr algn="ctr">
                        <a:defRPr sz="1500" b="1">
                          <a:solidFill>
                            <a:srgbClr val="1A1A1A"/>
                          </a:solidFill>
                        </a:defRPr>
                      </a:pPr>
                      <a:r>
                        <a:rPr sz="1500" b="1">
                          <a:solidFill>
                            <a:srgbClr val="1A1A1A"/>
                          </a:solidFill>
                        </a:rPr>
                        <a:t>8.6%</a:t>
                      </a:r>
                    </a:p>
                  </a:txBody>
                  <a:tcPr marL="73152" marR="73152" marT="27432" marB="27432">
                    <a:solidFill>
                      <a:srgbClr val="E3EFE3"/>
                    </a:solidFill>
                  </a:tcPr>
                </a:tc>
                <a:tc>
                  <a:txBody>
                    <a:bodyPr/>
                    <a:lstStyle/>
                    <a:p>
                      <a:pPr algn="ctr">
                        <a:defRPr sz="1500" b="1">
                          <a:solidFill>
                            <a:srgbClr val="1A1A1A"/>
                          </a:solidFill>
                        </a:defRPr>
                      </a:pPr>
                      <a:r>
                        <a:rPr sz="1500" b="1">
                          <a:solidFill>
                            <a:srgbClr val="1A1A1A"/>
                          </a:solidFill>
                        </a:rPr>
                        <a:t>0.623</a:t>
                      </a:r>
                    </a:p>
                  </a:txBody>
                  <a:tcPr marL="73152" marR="73152" marT="27432" marB="27432">
                    <a:solidFill>
                      <a:srgbClr val="E3EFE3"/>
                    </a:solidFill>
                  </a:tcPr>
                </a:tc>
                <a:tc>
                  <a:txBody>
                    <a:bodyPr/>
                    <a:lstStyle/>
                    <a:p>
                      <a:pPr algn="ctr">
                        <a:defRPr sz="1500" b="1">
                          <a:solidFill>
                            <a:srgbClr val="1A1A1A"/>
                          </a:solidFill>
                        </a:defRPr>
                      </a:pPr>
                      <a:r>
                        <a:rPr sz="1500" b="1">
                          <a:solidFill>
                            <a:srgbClr val="1A1A1A"/>
                          </a:solidFill>
                        </a:rPr>
                        <a:t>0.628</a:t>
                      </a:r>
                    </a:p>
                  </a:txBody>
                  <a:tcPr marL="73152" marR="73152" marT="27432" marB="27432">
                    <a:solidFill>
                      <a:srgbClr val="E3EFE3"/>
                    </a:solidFill>
                  </a:tcPr>
                </a:tc>
              </a:tr>
            </a:tbl>
          </a:graphicData>
        </a:graphic>
      </p:graphicFrame>
      <p:sp>
        <p:nvSpPr>
          <p:cNvPr id="4" name="TextBox 3"/>
          <p:cNvSpPr txBox="1"/>
          <p:nvPr/>
        </p:nvSpPr>
        <p:spPr>
          <a:xfrm>
            <a:off x="685800" y="3657600"/>
            <a:ext cx="10881360" cy="2011680"/>
          </a:xfrm>
          <a:prstGeom prst="rect">
            <a:avLst/>
          </a:prstGeom>
          <a:noFill/>
        </p:spPr>
        <p:txBody>
          <a:bodyPr wrap="square">
            <a:spAutoFit/>
          </a:bodyPr>
          <a:lstStyle/>
          <a:p>
            <a:pPr>
              <a:spcAft>
                <a:spcPts val="1000"/>
              </a:spcAft>
              <a:defRPr sz="1700">
                <a:solidFill>
                  <a:srgbClr val="1A1A1A"/>
                </a:solidFill>
              </a:defRPr>
            </a:pPr>
            <a:r>
              <a:t>• We are already at that ceiling. Moving the cutoff further cannot help — any cutoff method only slides the</a:t>
            </a:r>
          </a:p>
          <a:p>
            <a:pPr lvl="1">
              <a:spcAft>
                <a:spcPts val="1000"/>
              </a:spcAft>
              <a:defRPr sz="1500">
                <a:solidFill>
                  <a:srgbClr val="5A5A5A"/>
                </a:solidFill>
              </a:defRPr>
            </a:pPr>
            <a:r>
              <a:t>– referral line along a fixed ordering of patients. It never changes how well the model orders them.</a:t>
            </a:r>
          </a:p>
          <a:p>
            <a:pPr>
              <a:spcAft>
                <a:spcPts val="1000"/>
              </a:spcAft>
              <a:defRPr sz="1700">
                <a:solidFill>
                  <a:srgbClr val="1A1A1A"/>
                </a:solidFill>
              </a:defRPr>
            </a:pPr>
            <a:r>
              <a:t>• To reach what an mBRSET-trained model achieves (F1 0.815 / 0.807), the ordering itself must improve:</a:t>
            </a:r>
          </a:p>
          <a:p>
            <a:pPr lvl="1">
              <a:spcAft>
                <a:spcPts val="1000"/>
              </a:spcAft>
              <a:defRPr sz="1500">
                <a:solidFill>
                  <a:srgbClr val="5A5A5A"/>
                </a:solidFill>
              </a:defRPr>
            </a:pPr>
            <a:r>
              <a:t>– AUC 0.909 → about 0.95 for DR, and 0.933 → about 0.985 for macular edema.</a:t>
            </a:r>
          </a:p>
        </p:txBody>
      </p:sp>
      <p:sp>
        <p:nvSpPr>
          <p:cNvPr id="5" name="TextBox 4"/>
          <p:cNvSpPr txBox="1"/>
          <p:nvPr/>
        </p:nvSpPr>
        <p:spPr>
          <a:xfrm>
            <a:off x="685800" y="5806440"/>
            <a:ext cx="10881360" cy="685800"/>
          </a:xfrm>
          <a:prstGeom prst="rect">
            <a:avLst/>
          </a:prstGeom>
          <a:noFill/>
        </p:spPr>
        <p:txBody>
          <a:bodyPr wrap="square">
            <a:spAutoFit/>
          </a:bodyPr>
          <a:lstStyle/>
          <a:p>
            <a:pPr>
              <a:defRPr sz="1600" b="1">
                <a:solidFill>
                  <a:srgbClr val="A53A1A"/>
                </a:solidFill>
              </a:defRPr>
            </a:pPr>
            <a:r>
              <a:t>The remaining gap is entirely ranking quality. Everything from here must improve AUC.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Part 2 — Plan to make the BRSET model work on mBRSET</a:t>
            </a:r>
          </a:p>
          <a:p>
            <a:pPr>
              <a:defRPr sz="1500">
                <a:solidFill>
                  <a:srgbClr val="5A5A5A"/>
                </a:solidFill>
              </a:defRPr>
            </a:pPr>
            <a:r>
              <a:t>Two methods proposed, one parked for your input. Ordered by expected gain per unit of effort.</a:t>
            </a:r>
          </a:p>
        </p:txBody>
      </p:sp>
      <p:graphicFrame>
        <p:nvGraphicFramePr>
          <p:cNvPr id="3" name="Table 2"/>
          <p:cNvGraphicFramePr>
            <a:graphicFrameLocks noGrp="1"/>
          </p:cNvGraphicFramePr>
          <p:nvPr/>
        </p:nvGraphicFramePr>
        <p:xfrm>
          <a:off x="685800" y="1737360"/>
          <a:ext cx="10789918" cy="3931920"/>
        </p:xfrm>
        <a:graphic>
          <a:graphicData uri="http://schemas.openxmlformats.org/drawingml/2006/table">
            <a:tbl>
              <a:tblPr firstRow="1" bandRow="1">
                <a:tableStyleId>{5C22544A-7EE6-4342-B048-85BDC9FD1C3A}</a:tableStyleId>
              </a:tblPr>
              <a:tblGrid>
                <a:gridCol w="372066"/>
                <a:gridCol w="2232397"/>
                <a:gridCol w="6139092"/>
                <a:gridCol w="744132"/>
                <a:gridCol w="1302231"/>
              </a:tblGrid>
              <a:tr h="982980">
                <a:tc>
                  <a:txBody>
                    <a:bodyPr/>
                    <a:lstStyle/>
                    <a:p>
                      <a:pPr algn="l">
                        <a:defRPr sz="1150" b="1">
                          <a:solidFill>
                            <a:srgbClr val="FFFFFF"/>
                          </a:solidFill>
                        </a:defRPr>
                      </a:pPr>
                      <a:r>
                        <a:rPr sz="1150" b="1">
                          <a:solidFill>
                            <a:srgbClr val="FFFFFF"/>
                          </a:solidFill>
                        </a:rPr>
                        <a:t>#</a:t>
                      </a:r>
                    </a:p>
                  </a:txBody>
                  <a:tcPr marL="73152" marR="73152" marT="27432" marB="27432">
                    <a:solidFill>
                      <a:srgbClr val="1F4E79"/>
                    </a:solidFill>
                  </a:tcPr>
                </a:tc>
                <a:tc>
                  <a:txBody>
                    <a:bodyPr/>
                    <a:lstStyle/>
                    <a:p>
                      <a:pPr algn="ctr">
                        <a:defRPr sz="1150" b="1">
                          <a:solidFill>
                            <a:srgbClr val="FFFFFF"/>
                          </a:solidFill>
                        </a:defRPr>
                      </a:pPr>
                      <a:r>
                        <a:rPr sz="1150" b="1">
                          <a:solidFill>
                            <a:srgbClr val="FFFFFF"/>
                          </a:solidFill>
                        </a:rPr>
                        <a:t>Method</a:t>
                      </a:r>
                    </a:p>
                  </a:txBody>
                  <a:tcPr marL="73152" marR="73152" marT="27432" marB="27432">
                    <a:solidFill>
                      <a:srgbClr val="1F4E79"/>
                    </a:solidFill>
                  </a:tcPr>
                </a:tc>
                <a:tc>
                  <a:txBody>
                    <a:bodyPr/>
                    <a:lstStyle/>
                    <a:p>
                      <a:pPr algn="ctr">
                        <a:defRPr sz="1150" b="1">
                          <a:solidFill>
                            <a:srgbClr val="FFFFFF"/>
                          </a:solidFill>
                        </a:defRPr>
                      </a:pPr>
                      <a:r>
                        <a:rPr sz="1150" b="1">
                          <a:solidFill>
                            <a:srgbClr val="FFFFFF"/>
                          </a:solidFill>
                        </a:rPr>
                        <a:t>What it does</a:t>
                      </a:r>
                    </a:p>
                  </a:txBody>
                  <a:tcPr marL="73152" marR="73152" marT="27432" marB="27432">
                    <a:solidFill>
                      <a:srgbClr val="1F4E79"/>
                    </a:solidFill>
                  </a:tcPr>
                </a:tc>
                <a:tc>
                  <a:txBody>
                    <a:bodyPr/>
                    <a:lstStyle/>
                    <a:p>
                      <a:pPr algn="ctr">
                        <a:defRPr sz="1150" b="1">
                          <a:solidFill>
                            <a:srgbClr val="FFFFFF"/>
                          </a:solidFill>
                        </a:defRPr>
                      </a:pPr>
                      <a:r>
                        <a:rPr sz="1150" b="1">
                          <a:solidFill>
                            <a:srgbClr val="FFFFFF"/>
                          </a:solidFill>
                        </a:rPr>
                        <a:t>Effort</a:t>
                      </a:r>
                    </a:p>
                  </a:txBody>
                  <a:tcPr marL="73152" marR="73152" marT="27432" marB="27432">
                    <a:solidFill>
                      <a:srgbClr val="1F4E79"/>
                    </a:solidFill>
                  </a:tcPr>
                </a:tc>
                <a:tc>
                  <a:txBody>
                    <a:bodyPr/>
                    <a:lstStyle/>
                    <a:p>
                      <a:pPr algn="ctr">
                        <a:defRPr sz="1150" b="1">
                          <a:solidFill>
                            <a:srgbClr val="FFFFFF"/>
                          </a:solidFill>
                        </a:defRPr>
                      </a:pPr>
                      <a:r>
                        <a:rPr sz="1150" b="1">
                          <a:solidFill>
                            <a:srgbClr val="FFFFFF"/>
                          </a:solidFill>
                        </a:rPr>
                        <a:t>Status</a:t>
                      </a:r>
                    </a:p>
                  </a:txBody>
                  <a:tcPr marL="73152" marR="73152" marT="27432" marB="27432">
                    <a:solidFill>
                      <a:srgbClr val="1F4E79"/>
                    </a:solidFill>
                  </a:tcPr>
                </a:tc>
              </a:tr>
              <a:tr h="982980">
                <a:tc>
                  <a:txBody>
                    <a:bodyPr/>
                    <a:lstStyle/>
                    <a:p>
                      <a:pPr algn="l">
                        <a:defRPr sz="1150" b="0">
                          <a:solidFill>
                            <a:srgbClr val="1A1A1A"/>
                          </a:solidFill>
                        </a:defRPr>
                      </a:pPr>
                      <a:r>
                        <a:rPr sz="1150" b="0">
                          <a:solidFill>
                            <a:srgbClr val="1A1A1A"/>
                          </a:solidFill>
                        </a:rPr>
                        <a:t>1</a:t>
                      </a:r>
                    </a:p>
                  </a:txBody>
                  <a:tcPr marL="73152" marR="73152" marT="27432" marB="27432">
                    <a:solidFill>
                      <a:srgbClr val="FFFFFF"/>
                    </a:solidFill>
                  </a:tcPr>
                </a:tc>
                <a:tc>
                  <a:txBody>
                    <a:bodyPr/>
                    <a:lstStyle/>
                    <a:p>
                      <a:pPr algn="ctr">
                        <a:defRPr sz="1150" b="0">
                          <a:solidFill>
                            <a:srgbClr val="1A1A1A"/>
                          </a:solidFill>
                        </a:defRPr>
                      </a:pPr>
                      <a:r>
                        <a:rPr sz="1150" b="0">
                          <a:solidFill>
                            <a:srgbClr val="1A1A1A"/>
                          </a:solidFill>
                        </a:rPr>
                        <a:t>Use all of a patient's</a:t>
                      </a:r>
                    </a:p>
                    <a:p>
                      <a:pPr algn="ctr">
                        <a:defRPr sz="1150" b="0">
                          <a:solidFill>
                            <a:srgbClr val="1A1A1A"/>
                          </a:solidFill>
                        </a:defRPr>
                      </a:pPr>
                      <a:r>
                        <a:rPr sz="1150" b="0">
                          <a:solidFill>
                            <a:srgbClr val="1A1A1A"/>
                          </a:solidFill>
                        </a:rPr>
                        <a:t>images together</a:t>
                      </a:r>
                    </a:p>
                  </a:txBody>
                  <a:tcPr marL="73152" marR="73152" marT="27432" marB="27432">
                    <a:solidFill>
                      <a:srgbClr val="FFFFFF"/>
                    </a:solidFill>
                  </a:tcPr>
                </a:tc>
                <a:tc>
                  <a:txBody>
                    <a:bodyPr/>
                    <a:lstStyle/>
                    <a:p>
                      <a:pPr algn="ctr">
                        <a:defRPr sz="1150" b="0">
                          <a:solidFill>
                            <a:srgbClr val="1A1A1A"/>
                          </a:solidFill>
                        </a:defRPr>
                      </a:pPr>
                      <a:r>
                        <a:rPr sz="1150" b="0">
                          <a:solidFill>
                            <a:srgbClr val="1A1A1A"/>
                          </a:solidFill>
                        </a:rPr>
                        <a:t>mBRSET has about 4 images per patient. 85% of the time they share</a:t>
                      </a:r>
                    </a:p>
                    <a:p>
                      <a:pPr algn="ctr">
                        <a:defRPr sz="1150" b="0">
                          <a:solidFill>
                            <a:srgbClr val="1A1A1A"/>
                          </a:solidFill>
                        </a:defRPr>
                      </a:pPr>
                      <a:r>
                        <a:rPr sz="1150" b="0">
                          <a:solidFill>
                            <a:srgbClr val="1A1A1A"/>
                          </a:solidFill>
                        </a:rPr>
                        <a:t>the same diagnosis, but we currently judge each image alone.</a:t>
                      </a:r>
                    </a:p>
                    <a:p>
                      <a:pPr algn="ctr">
                        <a:defRPr sz="1150" b="0">
                          <a:solidFill>
                            <a:srgbClr val="1A1A1A"/>
                          </a:solidFill>
                        </a:defRPr>
                      </a:pPr>
                      <a:r>
                        <a:rPr sz="1150" b="0">
                          <a:solidFill>
                            <a:srgbClr val="1A1A1A"/>
                          </a:solidFill>
                        </a:rPr>
                        <a:t>Blur differs per image, so combining them cancels it out.</a:t>
                      </a:r>
                    </a:p>
                    <a:p>
                      <a:pPr algn="ctr">
                        <a:defRPr sz="1150" b="0">
                          <a:solidFill>
                            <a:srgbClr val="1A1A1A"/>
                          </a:solidFill>
                        </a:defRPr>
                      </a:pPr>
                      <a:r>
                        <a:rPr sz="1150" b="0">
                          <a:solidFill>
                            <a:srgbClr val="1A1A1A"/>
                          </a:solidFill>
                        </a:rPr>
                        <a:t>Published gains on retinal data: +0.085 to +0.121 AUC. We need +0.04.</a:t>
                      </a:r>
                    </a:p>
                  </a:txBody>
                  <a:tcPr marL="73152" marR="73152" marT="27432" marB="27432">
                    <a:solidFill>
                      <a:srgbClr val="FFFFFF"/>
                    </a:solidFill>
                  </a:tcPr>
                </a:tc>
                <a:tc>
                  <a:txBody>
                    <a:bodyPr/>
                    <a:lstStyle/>
                    <a:p>
                      <a:pPr algn="ctr">
                        <a:defRPr sz="1150" b="0">
                          <a:solidFill>
                            <a:srgbClr val="1A1A1A"/>
                          </a:solidFill>
                        </a:defRPr>
                      </a:pPr>
                      <a:r>
                        <a:rPr sz="1150" b="0">
                          <a:solidFill>
                            <a:srgbClr val="1A1A1A"/>
                          </a:solidFill>
                        </a:rPr>
                        <a:t>3–5 d</a:t>
                      </a:r>
                    </a:p>
                  </a:txBody>
                  <a:tcPr marL="73152" marR="73152" marT="27432" marB="27432">
                    <a:solidFill>
                      <a:srgbClr val="FFFFFF"/>
                    </a:solidFill>
                  </a:tcPr>
                </a:tc>
                <a:tc>
                  <a:txBody>
                    <a:bodyPr/>
                    <a:lstStyle/>
                    <a:p>
                      <a:pPr algn="ctr">
                        <a:defRPr sz="1150" b="0">
                          <a:solidFill>
                            <a:srgbClr val="1A1A1A"/>
                          </a:solidFill>
                        </a:defRPr>
                      </a:pPr>
                      <a:r>
                        <a:rPr sz="1150" b="0">
                          <a:solidFill>
                            <a:srgbClr val="1A1A1A"/>
                          </a:solidFill>
                        </a:rPr>
                        <a:t>Proposed</a:t>
                      </a:r>
                    </a:p>
                  </a:txBody>
                  <a:tcPr marL="73152" marR="73152" marT="27432" marB="27432">
                    <a:solidFill>
                      <a:srgbClr val="FFFFFF"/>
                    </a:solidFill>
                  </a:tcPr>
                </a:tc>
              </a:tr>
              <a:tr h="982980">
                <a:tc>
                  <a:txBody>
                    <a:bodyPr/>
                    <a:lstStyle/>
                    <a:p>
                      <a:pPr algn="l">
                        <a:defRPr sz="1150" b="0">
                          <a:solidFill>
                            <a:srgbClr val="1A1A1A"/>
                          </a:solidFill>
                        </a:defRPr>
                      </a:pPr>
                      <a:r>
                        <a:rPr sz="1150" b="0">
                          <a:solidFill>
                            <a:srgbClr val="1A1A1A"/>
                          </a:solidFill>
                        </a:rPr>
                        <a:t>2</a:t>
                      </a:r>
                    </a:p>
                  </a:txBody>
                  <a:tcPr marL="73152" marR="73152" marT="27432" marB="27432">
                    <a:solidFill>
                      <a:srgbClr val="F2F4F7"/>
                    </a:solidFill>
                  </a:tcPr>
                </a:tc>
                <a:tc>
                  <a:txBody>
                    <a:bodyPr/>
                    <a:lstStyle/>
                    <a:p>
                      <a:pPr algn="ctr">
                        <a:defRPr sz="1150" b="0">
                          <a:solidFill>
                            <a:srgbClr val="1A1A1A"/>
                          </a:solidFill>
                        </a:defRPr>
                      </a:pPr>
                      <a:r>
                        <a:rPr sz="1150" b="0">
                          <a:solidFill>
                            <a:srgbClr val="1A1A1A"/>
                          </a:solidFill>
                        </a:rPr>
                        <a:t>Set the cutoff without</a:t>
                      </a:r>
                    </a:p>
                    <a:p>
                      <a:pPr algn="ctr">
                        <a:defRPr sz="1150" b="0">
                          <a:solidFill>
                            <a:srgbClr val="1A1A1A"/>
                          </a:solidFill>
                        </a:defRPr>
                      </a:pPr>
                      <a:r>
                        <a:rPr sz="1150" b="0">
                          <a:solidFill>
                            <a:srgbClr val="1A1A1A"/>
                          </a:solidFill>
                        </a:rPr>
                        <a:t>needing an answer key</a:t>
                      </a:r>
                    </a:p>
                  </a:txBody>
                  <a:tcPr marL="73152" marR="73152" marT="27432" marB="27432">
                    <a:solidFill>
                      <a:srgbClr val="F2F4F7"/>
                    </a:solidFill>
                  </a:tcPr>
                </a:tc>
                <a:tc>
                  <a:txBody>
                    <a:bodyPr/>
                    <a:lstStyle/>
                    <a:p>
                      <a:pPr algn="ctr">
                        <a:defRPr sz="1150" b="0">
                          <a:solidFill>
                            <a:srgbClr val="1A1A1A"/>
                          </a:solidFill>
                        </a:defRPr>
                      </a:pPr>
                      <a:r>
                        <a:rPr sz="1150" b="0">
                          <a:solidFill>
                            <a:srgbClr val="1A1A1A"/>
                          </a:solidFill>
                        </a:rPr>
                        <a:t>Estimates the disease rate from unlabelled images, so the cutoff fix</a:t>
                      </a:r>
                    </a:p>
                    <a:p>
                      <a:pPr algn="ctr">
                        <a:defRPr sz="1150" b="0">
                          <a:solidFill>
                            <a:srgbClr val="1A1A1A"/>
                          </a:solidFill>
                        </a:defRPr>
                      </a:pPr>
                      <a:r>
                        <a:rPr sz="1150" b="0">
                          <a:solidFill>
                            <a:srgbClr val="1A1A1A"/>
                          </a:solidFill>
                        </a:rPr>
                        <a:t>works on a new camera with no annotations at all.</a:t>
                      </a:r>
                    </a:p>
                    <a:p>
                      <a:pPr algn="ctr">
                        <a:defRPr sz="1150" b="0">
                          <a:solidFill>
                            <a:srgbClr val="1A1A1A"/>
                          </a:solidFill>
                        </a:defRPr>
                      </a:pPr>
                      <a:r>
                        <a:rPr sz="1150" b="0">
                          <a:solidFill>
                            <a:srgbClr val="1A1A1A"/>
                          </a:solidFill>
                        </a:rPr>
                        <a:t>Does not raise AUC — it makes the gain we already have deployable,</a:t>
                      </a:r>
                    </a:p>
                    <a:p>
                      <a:pPr algn="ctr">
                        <a:defRPr sz="1150" b="0">
                          <a:solidFill>
                            <a:srgbClr val="1A1A1A"/>
                          </a:solidFill>
                        </a:defRPr>
                      </a:pPr>
                      <a:r>
                        <a:rPr sz="1150" b="0">
                          <a:solidFill>
                            <a:srgbClr val="1A1A1A"/>
                          </a:solidFill>
                        </a:rPr>
                        <a:t>and is the honest baseline the other methods are measured against.</a:t>
                      </a:r>
                    </a:p>
                  </a:txBody>
                  <a:tcPr marL="73152" marR="73152" marT="27432" marB="27432">
                    <a:solidFill>
                      <a:srgbClr val="F2F4F7"/>
                    </a:solidFill>
                  </a:tcPr>
                </a:tc>
                <a:tc>
                  <a:txBody>
                    <a:bodyPr/>
                    <a:lstStyle/>
                    <a:p>
                      <a:pPr algn="ctr">
                        <a:defRPr sz="1150" b="0">
                          <a:solidFill>
                            <a:srgbClr val="1A1A1A"/>
                          </a:solidFill>
                        </a:defRPr>
                      </a:pPr>
                      <a:r>
                        <a:rPr sz="1150" b="0">
                          <a:solidFill>
                            <a:srgbClr val="1A1A1A"/>
                          </a:solidFill>
                        </a:rPr>
                        <a:t>0.5 d</a:t>
                      </a:r>
                    </a:p>
                  </a:txBody>
                  <a:tcPr marL="73152" marR="73152" marT="27432" marB="27432">
                    <a:solidFill>
                      <a:srgbClr val="F2F4F7"/>
                    </a:solidFill>
                  </a:tcPr>
                </a:tc>
                <a:tc>
                  <a:txBody>
                    <a:bodyPr/>
                    <a:lstStyle/>
                    <a:p>
                      <a:pPr algn="ctr">
                        <a:defRPr sz="1150" b="0">
                          <a:solidFill>
                            <a:srgbClr val="1A1A1A"/>
                          </a:solidFill>
                        </a:defRPr>
                      </a:pPr>
                      <a:r>
                        <a:rPr sz="1150" b="0">
                          <a:solidFill>
                            <a:srgbClr val="1A1A1A"/>
                          </a:solidFill>
                        </a:rPr>
                        <a:t>Proposed</a:t>
                      </a:r>
                    </a:p>
                  </a:txBody>
                  <a:tcPr marL="73152" marR="73152" marT="27432" marB="27432">
                    <a:solidFill>
                      <a:srgbClr val="F2F4F7"/>
                    </a:solidFill>
                  </a:tcPr>
                </a:tc>
              </a:tr>
              <a:tr h="982980">
                <a:tc>
                  <a:txBody>
                    <a:bodyPr/>
                    <a:lstStyle/>
                    <a:p>
                      <a:pPr algn="l">
                        <a:defRPr sz="1150" b="0">
                          <a:solidFill>
                            <a:srgbClr val="1A1A1A"/>
                          </a:solidFill>
                        </a:defRPr>
                      </a:pPr>
                      <a:r>
                        <a:rPr sz="1150" b="0">
                          <a:solidFill>
                            <a:srgbClr val="1A1A1A"/>
                          </a:solidFill>
                        </a:rPr>
                        <a:t>3</a:t>
                      </a:r>
                    </a:p>
                  </a:txBody>
                  <a:tcPr marL="73152" marR="73152" marT="27432" marB="27432">
                    <a:solidFill>
                      <a:srgbClr val="FFFFFF"/>
                    </a:solidFill>
                  </a:tcPr>
                </a:tc>
                <a:tc>
                  <a:txBody>
                    <a:bodyPr/>
                    <a:lstStyle/>
                    <a:p>
                      <a:pPr algn="ctr">
                        <a:defRPr sz="1150" b="0">
                          <a:solidFill>
                            <a:srgbClr val="1A1A1A"/>
                          </a:solidFill>
                        </a:defRPr>
                      </a:pPr>
                      <a:r>
                        <a:rPr sz="1150" b="0">
                          <a:solidFill>
                            <a:srgbClr val="1A1A1A"/>
                          </a:solidFill>
                        </a:rPr>
                        <a:t>Train on deliberately</a:t>
                      </a:r>
                    </a:p>
                    <a:p>
                      <a:pPr algn="ctr">
                        <a:defRPr sz="1150" b="0">
                          <a:solidFill>
                            <a:srgbClr val="1A1A1A"/>
                          </a:solidFill>
                        </a:defRPr>
                      </a:pPr>
                      <a:r>
                        <a:rPr sz="1150" b="0">
                          <a:solidFill>
                            <a:srgbClr val="1A1A1A"/>
                          </a:solidFill>
                        </a:rPr>
                        <a:t>degraded BRSET images</a:t>
                      </a:r>
                    </a:p>
                  </a:txBody>
                  <a:tcPr marL="73152" marR="73152" marT="27432" marB="27432">
                    <a:solidFill>
                      <a:srgbClr val="FFFFFF"/>
                    </a:solidFill>
                  </a:tcPr>
                </a:tc>
                <a:tc>
                  <a:txBody>
                    <a:bodyPr/>
                    <a:lstStyle/>
                    <a:p>
                      <a:pPr algn="ctr">
                        <a:defRPr sz="1150" b="0">
                          <a:solidFill>
                            <a:srgbClr val="1A1A1A"/>
                          </a:solidFill>
                        </a:defRPr>
                      </a:pPr>
                      <a:r>
                        <a:rPr sz="1150" b="0">
                          <a:solidFill>
                            <a:srgbClr val="1A1A1A"/>
                          </a:solidFill>
                        </a:rPr>
                        <a:t>Blur and darken real BRSET images to imitate handheld capture, so</a:t>
                      </a:r>
                    </a:p>
                    <a:p>
                      <a:pPr algn="ctr">
                        <a:defRPr sz="1150" b="0">
                          <a:solidFill>
                            <a:srgbClr val="1A1A1A"/>
                          </a:solidFill>
                        </a:defRPr>
                      </a:pPr>
                      <a:r>
                        <a:rPr sz="1150" b="0">
                          <a:solidFill>
                            <a:srgbClr val="1A1A1A"/>
                          </a:solidFill>
                        </a:rPr>
                        <a:t>the model learns to find lesions despite poor quality.</a:t>
                      </a:r>
                    </a:p>
                    <a:p>
                      <a:pPr algn="ctr">
                        <a:defRPr sz="1150" b="0">
                          <a:solidFill>
                            <a:srgbClr val="1A1A1A"/>
                          </a:solidFill>
                        </a:defRPr>
                      </a:pPr>
                      <a:r>
                        <a:rPr sz="1150" b="0">
                          <a:solidFill>
                            <a:srgbClr val="1A1A1A"/>
                          </a:solidFill>
                        </a:rPr>
                        <a:t>Aimed at macular edema specifically, where blur destroys the sharp</a:t>
                      </a:r>
                    </a:p>
                    <a:p>
                      <a:pPr algn="ctr">
                        <a:defRPr sz="1150" b="0">
                          <a:solidFill>
                            <a:srgbClr val="1A1A1A"/>
                          </a:solidFill>
                        </a:defRPr>
                      </a:pPr>
                      <a:r>
                        <a:rPr sz="1150" b="0">
                          <a:solidFill>
                            <a:srgbClr val="1A1A1A"/>
                          </a:solidFill>
                        </a:rPr>
                        <a:t>edge that separates an exudate from a harmless drusen.</a:t>
                      </a:r>
                    </a:p>
                  </a:txBody>
                  <a:tcPr marL="73152" marR="73152" marT="27432" marB="27432">
                    <a:solidFill>
                      <a:srgbClr val="FFFFFF"/>
                    </a:solidFill>
                  </a:tcPr>
                </a:tc>
                <a:tc>
                  <a:txBody>
                    <a:bodyPr/>
                    <a:lstStyle/>
                    <a:p>
                      <a:pPr algn="ctr">
                        <a:defRPr sz="1150" b="0">
                          <a:solidFill>
                            <a:srgbClr val="1A1A1A"/>
                          </a:solidFill>
                        </a:defRPr>
                      </a:pPr>
                      <a:r>
                        <a:rPr sz="1150" b="0">
                          <a:solidFill>
                            <a:srgbClr val="1A1A1A"/>
                          </a:solidFill>
                        </a:rPr>
                        <a:t>3–5 d</a:t>
                      </a:r>
                    </a:p>
                  </a:txBody>
                  <a:tcPr marL="73152" marR="73152" marT="27432" marB="27432">
                    <a:solidFill>
                      <a:srgbClr val="FFFFFF"/>
                    </a:solidFill>
                  </a:tcPr>
                </a:tc>
                <a:tc>
                  <a:txBody>
                    <a:bodyPr/>
                    <a:lstStyle/>
                    <a:p>
                      <a:pPr algn="ctr">
                        <a:defRPr sz="1150" b="0">
                          <a:solidFill>
                            <a:srgbClr val="1A1A1A"/>
                          </a:solidFill>
                        </a:defRPr>
                      </a:pPr>
                      <a:r>
                        <a:rPr sz="1150" b="0">
                          <a:solidFill>
                            <a:srgbClr val="1A1A1A"/>
                          </a:solidFill>
                        </a:rPr>
                        <a:t>Parked —</a:t>
                      </a:r>
                    </a:p>
                    <a:p>
                      <a:pPr algn="ctr">
                        <a:defRPr sz="1150" b="0">
                          <a:solidFill>
                            <a:srgbClr val="1A1A1A"/>
                          </a:solidFill>
                        </a:defRPr>
                      </a:pPr>
                      <a:r>
                        <a:rPr sz="1150" b="0">
                          <a:solidFill>
                            <a:srgbClr val="1A1A1A"/>
                          </a:solidFill>
                        </a:rPr>
                        <a:t>for discussion</a:t>
                      </a:r>
                    </a:p>
                  </a:txBody>
                  <a:tcPr marL="73152" marR="73152" marT="27432" marB="27432">
                    <a:solidFill>
                      <a:srgbClr val="FFFFFF"/>
                    </a:solidFill>
                  </a:tcPr>
                </a:tc>
              </a:tr>
            </a:tbl>
          </a:graphicData>
        </a:graphic>
      </p:graphicFrame>
      <p:sp>
        <p:nvSpPr>
          <p:cNvPr id="4" name="TextBox 3"/>
          <p:cNvSpPr txBox="1"/>
          <p:nvPr/>
        </p:nvSpPr>
        <p:spPr>
          <a:xfrm>
            <a:off x="685800" y="5897880"/>
            <a:ext cx="10881360" cy="685800"/>
          </a:xfrm>
          <a:prstGeom prst="rect">
            <a:avLst/>
          </a:prstGeom>
          <a:noFill/>
        </p:spPr>
        <p:txBody>
          <a:bodyPr wrap="square">
            <a:spAutoFit/>
          </a:bodyPr>
          <a:lstStyle/>
          <a:p>
            <a:pPr>
              <a:defRPr sz="1600" b="1">
                <a:solidFill>
                  <a:srgbClr val="1F4E79"/>
                </a:solidFill>
              </a:defRPr>
            </a:pPr>
            <a:r>
              <a:t>Method 3 is the one I would like your view on before starting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Novelty — what we found, and how certain we are</a:t>
            </a:r>
          </a:p>
          <a:p>
            <a:pPr>
              <a:defRPr sz="1500">
                <a:solidFill>
                  <a:srgbClr val="5A5A5A"/>
                </a:solidFill>
              </a:defRPr>
            </a:pPr>
            <a:r>
              <a:t>Search covered all 33 papers citing either dataset, plus GitHub, arXiv and preprint servers.</a:t>
            </a:r>
          </a:p>
        </p:txBody>
      </p:sp>
      <p:graphicFrame>
        <p:nvGraphicFramePr>
          <p:cNvPr id="3" name="Table 2"/>
          <p:cNvGraphicFramePr>
            <a:graphicFrameLocks noGrp="1"/>
          </p:cNvGraphicFramePr>
          <p:nvPr/>
        </p:nvGraphicFramePr>
        <p:xfrm>
          <a:off x="685800" y="1783080"/>
          <a:ext cx="10789919" cy="3566160"/>
        </p:xfrm>
        <a:graphic>
          <a:graphicData uri="http://schemas.openxmlformats.org/drawingml/2006/table">
            <a:tbl>
              <a:tblPr firstRow="1" bandRow="1">
                <a:tableStyleId>{5C22544A-7EE6-4342-B048-85BDC9FD1C3A}</a:tableStyleId>
              </a:tblPr>
              <a:tblGrid>
                <a:gridCol w="6418142"/>
                <a:gridCol w="4371777"/>
              </a:tblGrid>
              <a:tr h="509451">
                <a:tc>
                  <a:txBody>
                    <a:bodyPr/>
                    <a:lstStyle/>
                    <a:p>
                      <a:pPr algn="l">
                        <a:defRPr sz="1150" b="1">
                          <a:solidFill>
                            <a:srgbClr val="FFFFFF"/>
                          </a:solidFill>
                        </a:defRPr>
                      </a:pPr>
                      <a:r>
                        <a:rPr sz="1150" b="1">
                          <a:solidFill>
                            <a:srgbClr val="FFFFFF"/>
                          </a:solidFill>
                        </a:rPr>
                        <a:t>Finding</a:t>
                      </a:r>
                    </a:p>
                  </a:txBody>
                  <a:tcPr marL="73152" marR="73152" marT="27432" marB="27432">
                    <a:solidFill>
                      <a:srgbClr val="1F4E79"/>
                    </a:solidFill>
                  </a:tcPr>
                </a:tc>
                <a:tc>
                  <a:txBody>
                    <a:bodyPr/>
                    <a:lstStyle/>
                    <a:p>
                      <a:pPr algn="ctr">
                        <a:defRPr sz="1150" b="1">
                          <a:solidFill>
                            <a:srgbClr val="FFFFFF"/>
                          </a:solidFill>
                        </a:defRPr>
                      </a:pPr>
                      <a:r>
                        <a:rPr sz="1150" b="1">
                          <a:solidFill>
                            <a:srgbClr val="FFFFFF"/>
                          </a:solidFill>
                        </a:rPr>
                        <a:t>How certain</a:t>
                      </a:r>
                    </a:p>
                  </a:txBody>
                  <a:tcPr marL="73152" marR="73152" marT="27432" marB="27432">
                    <a:solidFill>
                      <a:srgbClr val="1F4E79"/>
                    </a:solidFill>
                  </a:tcPr>
                </a:tc>
              </a:tr>
              <a:tr h="509451">
                <a:tc>
                  <a:txBody>
                    <a:bodyPr/>
                    <a:lstStyle/>
                    <a:p>
                      <a:pPr algn="l">
                        <a:defRPr sz="1150" b="0">
                          <a:solidFill>
                            <a:srgbClr val="1A1A1A"/>
                          </a:solidFill>
                        </a:defRPr>
                      </a:pPr>
                      <a:r>
                        <a:rPr sz="1150" b="0">
                          <a:solidFill>
                            <a:srgbClr val="1A1A1A"/>
                          </a:solidFill>
                        </a:rPr>
                        <a:t>No published BRSET → mBRSET transfer study found</a:t>
                      </a:r>
                    </a:p>
                  </a:txBody>
                  <a:tcPr marL="73152" marR="73152" marT="27432" marB="27432">
                    <a:solidFill>
                      <a:srgbClr val="FFFFFF"/>
                    </a:solidFill>
                  </a:tcPr>
                </a:tc>
                <a:tc>
                  <a:txBody>
                    <a:bodyPr/>
                    <a:lstStyle/>
                    <a:p>
                      <a:pPr algn="ctr">
                        <a:defRPr sz="1150" b="0">
                          <a:solidFill>
                            <a:srgbClr val="1A1A1A"/>
                          </a:solidFill>
                        </a:defRPr>
                      </a:pPr>
                      <a:r>
                        <a:rPr sz="1150" b="0">
                          <a:solidFill>
                            <a:srgbClr val="1A1A1A"/>
                          </a:solidFill>
                        </a:rPr>
                        <a:t>Exhaustive citation search — but not finding one</a:t>
                      </a:r>
                    </a:p>
                    <a:p>
                      <a:pPr algn="ctr">
                        <a:defRPr sz="1150" b="0">
                          <a:solidFill>
                            <a:srgbClr val="1A1A1A"/>
                          </a:solidFill>
                        </a:defRPr>
                      </a:pPr>
                      <a:r>
                        <a:rPr sz="1150" b="0">
                          <a:solidFill>
                            <a:srgbClr val="1A1A1A"/>
                          </a:solidFill>
                        </a:rPr>
                        <a:t>is not the same as proving none exists</a:t>
                      </a:r>
                    </a:p>
                  </a:txBody>
                  <a:tcPr marL="73152" marR="73152" marT="27432" marB="27432">
                    <a:solidFill>
                      <a:srgbClr val="FFFFFF"/>
                    </a:solidFill>
                  </a:tcPr>
                </a:tc>
              </a:tr>
              <a:tr h="509451">
                <a:tc>
                  <a:txBody>
                    <a:bodyPr/>
                    <a:lstStyle/>
                    <a:p>
                      <a:pPr algn="l">
                        <a:defRPr sz="1150" b="0">
                          <a:solidFill>
                            <a:srgbClr val="1A1A1A"/>
                          </a:solidFill>
                        </a:defRPr>
                      </a:pPr>
                      <a:r>
                        <a:rPr sz="1150" b="0">
                          <a:solidFill>
                            <a:srgbClr val="1A1A1A"/>
                          </a:solidFill>
                        </a:rPr>
                        <a:t>The dataset creators list "domain adaptation across imaging devices"</a:t>
                      </a:r>
                    </a:p>
                    <a:p>
                      <a:pPr algn="l">
                        <a:defRPr sz="1150" b="0">
                          <a:solidFill>
                            <a:srgbClr val="1A1A1A"/>
                          </a:solidFill>
                        </a:defRPr>
                      </a:pPr>
                      <a:r>
                        <a:rPr sz="1150" b="0">
                          <a:solidFill>
                            <a:srgbClr val="1A1A1A"/>
                          </a:solidFill>
                        </a:rPr>
                        <a:t>as an application, and report no such experiment</a:t>
                      </a:r>
                    </a:p>
                  </a:txBody>
                  <a:tcPr marL="73152" marR="73152" marT="27432" marB="27432">
                    <a:solidFill>
                      <a:srgbClr val="F2F4F7"/>
                    </a:solidFill>
                  </a:tcPr>
                </a:tc>
                <a:tc>
                  <a:txBody>
                    <a:bodyPr/>
                    <a:lstStyle/>
                    <a:p>
                      <a:pPr algn="ctr">
                        <a:defRPr sz="1150" b="0">
                          <a:solidFill>
                            <a:srgbClr val="1A1A1A"/>
                          </a:solidFill>
                        </a:defRPr>
                      </a:pPr>
                      <a:r>
                        <a:rPr sz="1150" b="0">
                          <a:solidFill>
                            <a:srgbClr val="1A1A1A"/>
                          </a:solidFill>
                        </a:rPr>
                        <a:t>Verified — stated on their March 2026 release</a:t>
                      </a:r>
                    </a:p>
                  </a:txBody>
                  <a:tcPr marL="73152" marR="73152" marT="27432" marB="27432">
                    <a:solidFill>
                      <a:srgbClr val="F2F4F7"/>
                    </a:solidFill>
                  </a:tcPr>
                </a:tc>
              </a:tr>
              <a:tr h="509451">
                <a:tc>
                  <a:txBody>
                    <a:bodyPr/>
                    <a:lstStyle/>
                    <a:p>
                      <a:pPr algn="l">
                        <a:defRPr sz="1150" b="0">
                          <a:solidFill>
                            <a:srgbClr val="1A1A1A"/>
                          </a:solidFill>
                        </a:defRPr>
                      </a:pPr>
                      <a:r>
                        <a:rPr sz="1150" b="0">
                          <a:solidFill>
                            <a:srgbClr val="1A1A1A"/>
                          </a:solidFill>
                        </a:rPr>
                        <a:t>No work uses BRSET's per-image degradation labels</a:t>
                      </a:r>
                    </a:p>
                    <a:p>
                      <a:pPr algn="l">
                        <a:defRPr sz="1150" b="0">
                          <a:solidFill>
                            <a:srgbClr val="1A1A1A"/>
                          </a:solidFill>
                        </a:defRPr>
                      </a:pPr>
                      <a:r>
                        <a:rPr sz="1150" b="0">
                          <a:solidFill>
                            <a:srgbClr val="1A1A1A"/>
                          </a:solidFill>
                        </a:rPr>
                        <a:t>(focus / illumination / field / artifact) for transfer</a:t>
                      </a:r>
                    </a:p>
                  </a:txBody>
                  <a:tcPr marL="73152" marR="73152" marT="27432" marB="27432">
                    <a:solidFill>
                      <a:srgbClr val="FFFFFF"/>
                    </a:solidFill>
                  </a:tcPr>
                </a:tc>
                <a:tc>
                  <a:txBody>
                    <a:bodyPr/>
                    <a:lstStyle/>
                    <a:p>
                      <a:pPr algn="ctr">
                        <a:defRPr sz="1150" b="0">
                          <a:solidFill>
                            <a:srgbClr val="1A1A1A"/>
                          </a:solidFill>
                        </a:defRPr>
                      </a:pPr>
                      <a:r>
                        <a:rPr sz="1150" b="0">
                          <a:solidFill>
                            <a:srgbClr val="1A1A1A"/>
                          </a:solidFill>
                        </a:rPr>
                        <a:t>Verified — the labels exist and are unused</a:t>
                      </a:r>
                    </a:p>
                  </a:txBody>
                  <a:tcPr marL="73152" marR="73152" marT="27432" marB="27432">
                    <a:solidFill>
                      <a:srgbClr val="FFFFFF"/>
                    </a:solidFill>
                  </a:tcPr>
                </a:tc>
              </a:tr>
              <a:tr h="509451">
                <a:tc>
                  <a:txBody>
                    <a:bodyPr/>
                    <a:lstStyle/>
                    <a:p>
                      <a:pPr algn="l">
                        <a:defRPr sz="1150" b="0">
                          <a:solidFill>
                            <a:srgbClr val="1A1A1A"/>
                          </a:solidFill>
                        </a:defRPr>
                      </a:pPr>
                      <a:r>
                        <a:rPr sz="1150" b="0">
                          <a:solidFill>
                            <a:srgbClr val="1A1A1A"/>
                          </a:solidFill>
                        </a:rPr>
                        <a:t>No work reports cross-device macular edema degradation</a:t>
                      </a:r>
                    </a:p>
                  </a:txBody>
                  <a:tcPr marL="73152" marR="73152" marT="27432" marB="27432">
                    <a:solidFill>
                      <a:srgbClr val="F2F4F7"/>
                    </a:solidFill>
                  </a:tcPr>
                </a:tc>
                <a:tc>
                  <a:txBody>
                    <a:bodyPr/>
                    <a:lstStyle/>
                    <a:p>
                      <a:pPr algn="ctr">
                        <a:defRPr sz="1150" b="0">
                          <a:solidFill>
                            <a:srgbClr val="1A1A1A"/>
                          </a:solidFill>
                        </a:defRPr>
                      </a:pPr>
                      <a:r>
                        <a:rPr sz="1150" b="0">
                          <a:solidFill>
                            <a:srgbClr val="1A1A1A"/>
                          </a:solidFill>
                        </a:rPr>
                        <a:t>Verified — and our ME gap (0.179) is larger</a:t>
                      </a:r>
                    </a:p>
                    <a:p>
                      <a:pPr algn="ctr">
                        <a:defRPr sz="1150" b="0">
                          <a:solidFill>
                            <a:srgbClr val="1A1A1A"/>
                          </a:solidFill>
                        </a:defRPr>
                      </a:pPr>
                      <a:r>
                        <a:rPr sz="1150" b="0">
                          <a:solidFill>
                            <a:srgbClr val="1A1A1A"/>
                          </a:solidFill>
                        </a:rPr>
                        <a:t>than our DR gap (0.098)</a:t>
                      </a:r>
                    </a:p>
                  </a:txBody>
                  <a:tcPr marL="73152" marR="73152" marT="27432" marB="27432">
                    <a:solidFill>
                      <a:srgbClr val="F2F4F7"/>
                    </a:solidFill>
                  </a:tcPr>
                </a:tc>
              </a:tr>
              <a:tr h="509451">
                <a:tc>
                  <a:txBody>
                    <a:bodyPr/>
                    <a:lstStyle/>
                    <a:p>
                      <a:pPr algn="l">
                        <a:defRPr sz="1150" b="0">
                          <a:solidFill>
                            <a:srgbClr val="1A1A1A"/>
                          </a:solidFill>
                        </a:defRPr>
                      </a:pPr>
                      <a:r>
                        <a:rPr sz="1150" b="0">
                          <a:solidFill>
                            <a:srgbClr val="1A1A1A"/>
                          </a:solidFill>
                        </a:rPr>
                        <a:t>RetSyn (J Biomed Inform 2025) — synthetic data for tabletop → portable.</a:t>
                      </a:r>
                    </a:p>
                    <a:p>
                      <a:pPr algn="l">
                        <a:defRPr sz="1150" b="0">
                          <a:solidFill>
                            <a:srgbClr val="1A1A1A"/>
                          </a:solidFill>
                        </a:defRPr>
                      </a:pPr>
                      <a:r>
                        <a:rPr sz="1150" b="0">
                          <a:solidFill>
                            <a:srgbClr val="1A1A1A"/>
                          </a:solidFill>
                        </a:rPr>
                        <a:t>Same senior author as both datasets.</a:t>
                      </a:r>
                    </a:p>
                  </a:txBody>
                  <a:tcPr marL="73152" marR="73152" marT="27432" marB="27432">
                    <a:solidFill>
                      <a:srgbClr val="FFFFFF"/>
                    </a:solidFill>
                  </a:tcPr>
                </a:tc>
                <a:tc>
                  <a:txBody>
                    <a:bodyPr/>
                    <a:lstStyle/>
                    <a:p>
                      <a:pPr algn="ctr">
                        <a:defRPr sz="1150" b="0">
                          <a:solidFill>
                            <a:srgbClr val="1A1A1A"/>
                          </a:solidFill>
                        </a:defRPr>
                      </a:pPr>
                      <a:r>
                        <a:rPr sz="1150" b="0">
                          <a:solidFill>
                            <a:srgbClr val="1A1A1A"/>
                          </a:solidFill>
                        </a:rPr>
                        <a:t>Published and real. This is the competitor.</a:t>
                      </a:r>
                    </a:p>
                  </a:txBody>
                  <a:tcPr marL="73152" marR="73152" marT="27432" marB="27432">
                    <a:solidFill>
                      <a:srgbClr val="FFFFFF"/>
                    </a:solidFill>
                  </a:tcPr>
                </a:tc>
              </a:tr>
              <a:tr h="509454">
                <a:tc>
                  <a:txBody>
                    <a:bodyPr/>
                    <a:lstStyle/>
                    <a:p>
                      <a:pPr algn="l">
                        <a:defRPr sz="1150" b="0">
                          <a:solidFill>
                            <a:srgbClr val="1A1A1A"/>
                          </a:solidFill>
                        </a:defRPr>
                      </a:pPr>
                      <a:r>
                        <a:rPr sz="1150" b="0">
                          <a:solidFill>
                            <a:srgbClr val="1A1A1A"/>
                          </a:solidFill>
                        </a:rPr>
                        <a:t>One GitHub project is doing a descriptive version of BRSET → mBRSET</a:t>
                      </a:r>
                    </a:p>
                  </a:txBody>
                  <a:tcPr marL="73152" marR="73152" marT="27432" marB="27432">
                    <a:solidFill>
                      <a:srgbClr val="F2F4F7"/>
                    </a:solidFill>
                  </a:tcPr>
                </a:tc>
                <a:tc>
                  <a:txBody>
                    <a:bodyPr/>
                    <a:lstStyle/>
                    <a:p>
                      <a:pPr algn="ctr">
                        <a:defRPr sz="1150" b="0">
                          <a:solidFill>
                            <a:srgbClr val="1A1A1A"/>
                          </a:solidFill>
                        </a:defRPr>
                      </a:pPr>
                      <a:r>
                        <a:rPr sz="1150" b="0">
                          <a:solidFill>
                            <a:srgbClr val="1A1A1A"/>
                          </a:solidFill>
                        </a:rPr>
                        <a:t>Real, but a single commit — code skeleton,</a:t>
                      </a:r>
                    </a:p>
                    <a:p>
                      <a:pPr algn="ctr">
                        <a:defRPr sz="1150" b="0">
                          <a:solidFill>
                            <a:srgbClr val="1A1A1A"/>
                          </a:solidFill>
                        </a:defRPr>
                      </a:pPr>
                      <a:r>
                        <a:rPr sz="1150" b="0">
                          <a:solidFill>
                            <a:srgbClr val="1A1A1A"/>
                          </a:solidFill>
                        </a:rPr>
                        <a:t>no data, no results published yet</a:t>
                      </a:r>
                    </a:p>
                  </a:txBody>
                  <a:tcPr marL="73152" marR="73152" marT="27432" marB="27432">
                    <a:solidFill>
                      <a:srgbClr val="F2F4F7"/>
                    </a:solidFill>
                  </a:tcPr>
                </a:tc>
              </a:tr>
            </a:tbl>
          </a:graphicData>
        </a:graphic>
      </p:graphicFrame>
      <p:sp>
        <p:nvSpPr>
          <p:cNvPr id="4" name="TextBox 3"/>
          <p:cNvSpPr txBox="1"/>
          <p:nvPr/>
        </p:nvSpPr>
        <p:spPr>
          <a:xfrm>
            <a:off x="685800" y="5440680"/>
            <a:ext cx="10881360" cy="1234439"/>
          </a:xfrm>
          <a:prstGeom prst="rect">
            <a:avLst/>
          </a:prstGeom>
          <a:noFill/>
        </p:spPr>
        <p:txBody>
          <a:bodyPr wrap="square">
            <a:spAutoFit/>
          </a:bodyPr>
          <a:lstStyle/>
          <a:p>
            <a:pPr>
              <a:spcAft>
                <a:spcPts val="1000"/>
              </a:spcAft>
              <a:defRPr sz="1300">
                <a:solidFill>
                  <a:srgbClr val="1A1A1A"/>
                </a:solidFill>
              </a:defRPr>
            </a:pPr>
            <a:r>
              <a:t>• How we differ from RetSyn: they generate synthetic images; we diagnose what actually breaks, and separate image quality from camera identity. They do not address macular edema or the cutoff problem.</a:t>
            </a:r>
          </a:p>
          <a:p>
            <a:pPr>
              <a:spcAft>
                <a:spcPts val="1000"/>
              </a:spcAft>
              <a:defRPr sz="1300">
                <a:solidFill>
                  <a:srgbClr val="1A1A1A"/>
                </a:solidFill>
              </a:defRPr>
            </a:pPr>
            <a:r>
              <a:t>• How we differ from the GitHub project: they use frozen features and a simple classifier; we fine-tune the whole model and cover both findings.</a:t>
            </a:r>
          </a:p>
          <a:p>
            <a:pPr>
              <a:spcAft>
                <a:spcPts val="1000"/>
              </a:spcAft>
              <a:defRPr sz="1300">
                <a:solidFill>
                  <a:srgbClr val="1A1A1A"/>
                </a:solidFill>
              </a:defRPr>
            </a:pPr>
            <a:r>
              <a:t>• Our shift is unusually clean: country, ethnicity, dilation, 45° field of view and grading protocol are all held constant, so only the camera changes. A study that also crossed country and protocol collapsed to AUC 0.54; ours holds 0.91.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Proposed contributions</a:t>
            </a:r>
          </a:p>
        </p:txBody>
      </p:sp>
      <p:graphicFrame>
        <p:nvGraphicFramePr>
          <p:cNvPr id="3" name="Table 2"/>
          <p:cNvGraphicFramePr>
            <a:graphicFrameLocks noGrp="1"/>
          </p:cNvGraphicFramePr>
          <p:nvPr/>
        </p:nvGraphicFramePr>
        <p:xfrm>
          <a:off x="685800" y="1783080"/>
          <a:ext cx="10789918" cy="3566160"/>
        </p:xfrm>
        <a:graphic>
          <a:graphicData uri="http://schemas.openxmlformats.org/drawingml/2006/table">
            <a:tbl>
              <a:tblPr firstRow="1" bandRow="1">
                <a:tableStyleId>{5C22544A-7EE6-4342-B048-85BDC9FD1C3A}</a:tableStyleId>
              </a:tblPr>
              <a:tblGrid>
                <a:gridCol w="465082"/>
                <a:gridCol w="4092728"/>
                <a:gridCol w="6232108"/>
              </a:tblGrid>
              <a:tr h="891540">
                <a:tc>
                  <a:txBody>
                    <a:bodyPr/>
                    <a:lstStyle/>
                    <a:p>
                      <a:pPr algn="l">
                        <a:defRPr sz="1200" b="1">
                          <a:solidFill>
                            <a:srgbClr val="FFFFFF"/>
                          </a:solidFill>
                        </a:defRPr>
                      </a:pPr>
                    </a:p>
                  </a:txBody>
                  <a:tcPr marL="73152" marR="73152" marT="27432" marB="27432">
                    <a:solidFill>
                      <a:srgbClr val="1F4E79"/>
                    </a:solidFill>
                  </a:tcPr>
                </a:tc>
                <a:tc>
                  <a:txBody>
                    <a:bodyPr/>
                    <a:lstStyle/>
                    <a:p>
                      <a:pPr algn="ctr">
                        <a:defRPr sz="1200" b="1">
                          <a:solidFill>
                            <a:srgbClr val="FFFFFF"/>
                          </a:solidFill>
                        </a:defRPr>
                      </a:pPr>
                      <a:r>
                        <a:rPr sz="1200" b="1">
                          <a:solidFill>
                            <a:srgbClr val="FFFFFF"/>
                          </a:solidFill>
                        </a:rPr>
                        <a:t>Contribution</a:t>
                      </a:r>
                    </a:p>
                  </a:txBody>
                  <a:tcPr marL="73152" marR="73152" marT="27432" marB="27432">
                    <a:solidFill>
                      <a:srgbClr val="1F4E79"/>
                    </a:solidFill>
                  </a:tcPr>
                </a:tc>
                <a:tc>
                  <a:txBody>
                    <a:bodyPr/>
                    <a:lstStyle/>
                    <a:p>
                      <a:pPr algn="ctr">
                        <a:defRPr sz="1200" b="1">
                          <a:solidFill>
                            <a:srgbClr val="FFFFFF"/>
                          </a:solidFill>
                        </a:defRPr>
                      </a:pPr>
                      <a:r>
                        <a:rPr sz="1200" b="1">
                          <a:solidFill>
                            <a:srgbClr val="FFFFFF"/>
                          </a:solidFill>
                        </a:rPr>
                        <a:t>Why it is new</a:t>
                      </a:r>
                    </a:p>
                  </a:txBody>
                  <a:tcPr marL="73152" marR="73152" marT="27432" marB="27432">
                    <a:solidFill>
                      <a:srgbClr val="1F4E79"/>
                    </a:solidFill>
                  </a:tcPr>
                </a:tc>
              </a:tr>
              <a:tr h="891540">
                <a:tc>
                  <a:txBody>
                    <a:bodyPr/>
                    <a:lstStyle/>
                    <a:p>
                      <a:pPr algn="l">
                        <a:defRPr sz="1200" b="0">
                          <a:solidFill>
                            <a:srgbClr val="1A1A1A"/>
                          </a:solidFill>
                        </a:defRPr>
                      </a:pPr>
                      <a:r>
                        <a:rPr sz="1200" b="0">
                          <a:solidFill>
                            <a:srgbClr val="1A1A1A"/>
                          </a:solidFill>
                        </a:rPr>
                        <a:t>1</a:t>
                      </a:r>
                    </a:p>
                  </a:txBody>
                  <a:tcPr marL="73152" marR="73152" marT="27432" marB="27432">
                    <a:solidFill>
                      <a:srgbClr val="FFFFFF"/>
                    </a:solidFill>
                  </a:tcPr>
                </a:tc>
                <a:tc>
                  <a:txBody>
                    <a:bodyPr/>
                    <a:lstStyle/>
                    <a:p>
                      <a:pPr algn="ctr">
                        <a:defRPr sz="1200" b="0">
                          <a:solidFill>
                            <a:srgbClr val="1A1A1A"/>
                          </a:solidFill>
                        </a:defRPr>
                      </a:pPr>
                      <a:r>
                        <a:rPr sz="1200" b="0">
                          <a:solidFill>
                            <a:srgbClr val="1A1A1A"/>
                          </a:solidFill>
                        </a:rPr>
                        <a:t>Decomposing a cross-device gap into</a:t>
                      </a:r>
                    </a:p>
                    <a:p>
                      <a:pPr algn="ctr">
                        <a:defRPr sz="1200" b="0">
                          <a:solidFill>
                            <a:srgbClr val="1A1A1A"/>
                          </a:solidFill>
                        </a:defRPr>
                      </a:pPr>
                      <a:r>
                        <a:rPr sz="1200" b="0">
                          <a:solidFill>
                            <a:srgbClr val="1A1A1A"/>
                          </a:solidFill>
                        </a:rPr>
                        <a:t>prevalence, calibration and ranking components</a:t>
                      </a:r>
                    </a:p>
                  </a:txBody>
                  <a:tcPr marL="73152" marR="73152" marT="27432" marB="27432">
                    <a:solidFill>
                      <a:srgbClr val="FFFFFF"/>
                    </a:solidFill>
                  </a:tcPr>
                </a:tc>
                <a:tc>
                  <a:txBody>
                    <a:bodyPr/>
                    <a:lstStyle/>
                    <a:p>
                      <a:pPr algn="ctr">
                        <a:defRPr sz="1200" b="0">
                          <a:solidFill>
                            <a:srgbClr val="1A1A1A"/>
                          </a:solidFill>
                        </a:defRPr>
                      </a:pPr>
                      <a:r>
                        <a:rPr sz="1200" b="0">
                          <a:solidFill>
                            <a:srgbClr val="1A1A1A"/>
                          </a:solidFill>
                        </a:rPr>
                        <a:t>Cross-domain F1 collapses are routinely blamed on the model.</a:t>
                      </a:r>
                    </a:p>
                    <a:p>
                      <a:pPr algn="ctr">
                        <a:defRPr sz="1200" b="0">
                          <a:solidFill>
                            <a:srgbClr val="1A1A1A"/>
                          </a:solidFill>
                        </a:defRPr>
                      </a:pPr>
                      <a:r>
                        <a:rPr sz="1200" b="0">
                          <a:solidFill>
                            <a:srgbClr val="1A1A1A"/>
                          </a:solidFill>
                        </a:rPr>
                        <a:t>We show the split is computable in closed form — and that in our</a:t>
                      </a:r>
                    </a:p>
                    <a:p>
                      <a:pPr algn="ctr">
                        <a:defRPr sz="1200" b="0">
                          <a:solidFill>
                            <a:srgbClr val="1A1A1A"/>
                          </a:solidFill>
                        </a:defRPr>
                      </a:pPr>
                      <a:r>
                        <a:rPr sz="1200" b="0">
                          <a:solidFill>
                            <a:srgbClr val="1A1A1A"/>
                          </a:solidFill>
                        </a:rPr>
                        <a:t>case the ranking component is all that remains.</a:t>
                      </a:r>
                    </a:p>
                  </a:txBody>
                  <a:tcPr marL="73152" marR="73152" marT="27432" marB="27432">
                    <a:solidFill>
                      <a:srgbClr val="FFFFFF"/>
                    </a:solidFill>
                  </a:tcPr>
                </a:tc>
              </a:tr>
              <a:tr h="891540">
                <a:tc>
                  <a:txBody>
                    <a:bodyPr/>
                    <a:lstStyle/>
                    <a:p>
                      <a:pPr algn="l">
                        <a:defRPr sz="1200" b="0">
                          <a:solidFill>
                            <a:srgbClr val="1A1A1A"/>
                          </a:solidFill>
                        </a:defRPr>
                      </a:pPr>
                      <a:r>
                        <a:rPr sz="1200" b="0">
                          <a:solidFill>
                            <a:srgbClr val="1A1A1A"/>
                          </a:solidFill>
                        </a:rPr>
                        <a:t>2</a:t>
                      </a:r>
                    </a:p>
                  </a:txBody>
                  <a:tcPr marL="73152" marR="73152" marT="27432" marB="27432">
                    <a:solidFill>
                      <a:srgbClr val="F2F4F7"/>
                    </a:solidFill>
                  </a:tcPr>
                </a:tc>
                <a:tc>
                  <a:txBody>
                    <a:bodyPr/>
                    <a:lstStyle/>
                    <a:p>
                      <a:pPr algn="ctr">
                        <a:defRPr sz="1200" b="0">
                          <a:solidFill>
                            <a:srgbClr val="1A1A1A"/>
                          </a:solidFill>
                        </a:defRPr>
                      </a:pPr>
                      <a:r>
                        <a:rPr sz="1200" b="0">
                          <a:solidFill>
                            <a:srgbClr val="1A1A1A"/>
                          </a:solidFill>
                        </a:rPr>
                        <a:t>Multi-view test-time aggregation for</a:t>
                      </a:r>
                    </a:p>
                    <a:p>
                      <a:pPr algn="ctr">
                        <a:defRPr sz="1200" b="0">
                          <a:solidFill>
                            <a:srgbClr val="1A1A1A"/>
                          </a:solidFill>
                        </a:defRPr>
                      </a:pPr>
                      <a:r>
                        <a:rPr sz="1200" b="0">
                          <a:solidFill>
                            <a:srgbClr val="1A1A1A"/>
                          </a:solidFill>
                        </a:rPr>
                        <a:t>cross-device retinal screening</a:t>
                      </a:r>
                    </a:p>
                  </a:txBody>
                  <a:tcPr marL="73152" marR="73152" marT="27432" marB="27432">
                    <a:solidFill>
                      <a:srgbClr val="F2F4F7"/>
                    </a:solidFill>
                  </a:tcPr>
                </a:tc>
                <a:tc>
                  <a:txBody>
                    <a:bodyPr/>
                    <a:lstStyle/>
                    <a:p>
                      <a:pPr algn="ctr">
                        <a:defRPr sz="1200" b="0">
                          <a:solidFill>
                            <a:srgbClr val="1A1A1A"/>
                          </a:solidFill>
                        </a:defRPr>
                      </a:pPr>
                      <a:r>
                        <a:rPr sz="1200" b="0">
                          <a:solidFill>
                            <a:srgbClr val="1A1A1A"/>
                          </a:solidFill>
                        </a:rPr>
                        <a:t>Exploits mBRSET's ~4 images per patient, a free signal no</a:t>
                      </a:r>
                    </a:p>
                    <a:p>
                      <a:pPr algn="ctr">
                        <a:defRPr sz="1200" b="0">
                          <a:solidFill>
                            <a:srgbClr val="1A1A1A"/>
                          </a:solidFill>
                        </a:defRPr>
                      </a:pPr>
                      <a:r>
                        <a:rPr sz="1200" b="0">
                          <a:solidFill>
                            <a:srgbClr val="1A1A1A"/>
                          </a:solidFill>
                        </a:rPr>
                        <a:t>cross-device study has used.</a:t>
                      </a:r>
                    </a:p>
                  </a:txBody>
                  <a:tcPr marL="73152" marR="73152" marT="27432" marB="27432">
                    <a:solidFill>
                      <a:srgbClr val="F2F4F7"/>
                    </a:solidFill>
                  </a:tcPr>
                </a:tc>
              </a:tr>
              <a:tr h="891540">
                <a:tc>
                  <a:txBody>
                    <a:bodyPr/>
                    <a:lstStyle/>
                    <a:p>
                      <a:pPr algn="l">
                        <a:defRPr sz="1200" b="0">
                          <a:solidFill>
                            <a:srgbClr val="1A1A1A"/>
                          </a:solidFill>
                        </a:defRPr>
                      </a:pPr>
                      <a:r>
                        <a:rPr sz="1200" b="0">
                          <a:solidFill>
                            <a:srgbClr val="1A1A1A"/>
                          </a:solidFill>
                        </a:rPr>
                        <a:t>3</a:t>
                      </a:r>
                    </a:p>
                  </a:txBody>
                  <a:tcPr marL="73152" marR="73152" marT="27432" marB="27432">
                    <a:solidFill>
                      <a:srgbClr val="FFFFFF"/>
                    </a:solidFill>
                  </a:tcPr>
                </a:tc>
                <a:tc>
                  <a:txBody>
                    <a:bodyPr/>
                    <a:lstStyle/>
                    <a:p>
                      <a:pPr algn="ctr">
                        <a:defRPr sz="1200" b="0">
                          <a:solidFill>
                            <a:srgbClr val="1A1A1A"/>
                          </a:solidFill>
                        </a:defRPr>
                      </a:pPr>
                      <a:r>
                        <a:rPr sz="1200" b="0">
                          <a:solidFill>
                            <a:srgbClr val="1A1A1A"/>
                          </a:solidFill>
                        </a:rPr>
                        <a:t>Adapting the internal normalisation layer</a:t>
                      </a:r>
                    </a:p>
                    <a:p>
                      <a:pPr algn="ctr">
                        <a:defRPr sz="1200" b="0">
                          <a:solidFill>
                            <a:srgbClr val="1A1A1A"/>
                          </a:solidFill>
                        </a:defRPr>
                      </a:pPr>
                      <a:r>
                        <a:rPr sz="1200" b="0">
                          <a:solidFill>
                            <a:srgbClr val="1A1A1A"/>
                          </a:solidFill>
                        </a:rPr>
                        <a:t>that is unique to ConvNeXt V2</a:t>
                      </a:r>
                    </a:p>
                  </a:txBody>
                  <a:tcPr marL="73152" marR="73152" marT="27432" marB="27432">
                    <a:solidFill>
                      <a:srgbClr val="FFFFFF"/>
                    </a:solidFill>
                  </a:tcPr>
                </a:tc>
                <a:tc>
                  <a:txBody>
                    <a:bodyPr/>
                    <a:lstStyle/>
                    <a:p>
                      <a:pPr algn="ctr">
                        <a:defRPr sz="1200" b="0">
                          <a:solidFill>
                            <a:srgbClr val="1A1A1A"/>
                          </a:solidFill>
                        </a:defRPr>
                      </a:pPr>
                      <a:r>
                        <a:rPr sz="1200" b="0">
                          <a:solidFill>
                            <a:srgbClr val="1A1A1A"/>
                          </a:solidFill>
                        </a:rPr>
                        <a:t>The standard adaptation trick relies on a component this model</a:t>
                      </a:r>
                    </a:p>
                    <a:p>
                      <a:pPr algn="ctr">
                        <a:defRPr sz="1200" b="0">
                          <a:solidFill>
                            <a:srgbClr val="1A1A1A"/>
                          </a:solidFill>
                        </a:defRPr>
                      </a:pPr>
                      <a:r>
                        <a:rPr sz="1200" b="0">
                          <a:solidFill>
                            <a:srgbClr val="1A1A1A"/>
                          </a:solidFill>
                        </a:rPr>
                        <a:t>does not have. Nobody has adapted the one it does have.</a:t>
                      </a:r>
                    </a:p>
                  </a:txBody>
                  <a:tcPr marL="73152" marR="73152" marT="27432" marB="27432">
                    <a:solidFill>
                      <a:srgbClr val="FFFFFF"/>
                    </a:solidFill>
                  </a:tcPr>
                </a:tc>
              </a:tr>
            </a:tbl>
          </a:graphicData>
        </a:graphic>
      </p:graphicFrame>
      <p:sp>
        <p:nvSpPr>
          <p:cNvPr id="4" name="TextBox 3"/>
          <p:cNvSpPr txBox="1"/>
          <p:nvPr/>
        </p:nvSpPr>
        <p:spPr>
          <a:xfrm>
            <a:off x="685800" y="5577840"/>
            <a:ext cx="10881360" cy="685800"/>
          </a:xfrm>
          <a:prstGeom prst="rect">
            <a:avLst/>
          </a:prstGeom>
          <a:noFill/>
        </p:spPr>
        <p:txBody>
          <a:bodyPr wrap="square">
            <a:spAutoFit/>
          </a:bodyPr>
          <a:lstStyle/>
          <a:p>
            <a:pPr>
              <a:defRPr sz="1600" b="1">
                <a:solidFill>
                  <a:srgbClr val="1F4E79"/>
                </a:solidFill>
              </a:defRPr>
            </a:pPr>
            <a:r>
              <a:t>Contribution 1 stands even if every method underperforms — the negative result is itself the finding.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Next steps</a:t>
            </a:r>
          </a:p>
        </p:txBody>
      </p:sp>
      <p:graphicFrame>
        <p:nvGraphicFramePr>
          <p:cNvPr id="3" name="Table 2"/>
          <p:cNvGraphicFramePr>
            <a:graphicFrameLocks noGrp="1"/>
          </p:cNvGraphicFramePr>
          <p:nvPr/>
        </p:nvGraphicFramePr>
        <p:xfrm>
          <a:off x="685800" y="1920240"/>
          <a:ext cx="10789919" cy="2560320"/>
        </p:xfrm>
        <a:graphic>
          <a:graphicData uri="http://schemas.openxmlformats.org/drawingml/2006/table">
            <a:tbl>
              <a:tblPr firstRow="1" bandRow="1">
                <a:tableStyleId>{5C22544A-7EE6-4342-B048-85BDC9FD1C3A}</a:tableStyleId>
              </a:tblPr>
              <a:tblGrid>
                <a:gridCol w="1674297"/>
                <a:gridCol w="9115622"/>
              </a:tblGrid>
              <a:tr h="512064">
                <a:tc>
                  <a:txBody>
                    <a:bodyPr/>
                    <a:lstStyle/>
                    <a:p>
                      <a:pPr algn="l">
                        <a:defRPr sz="1400" b="1">
                          <a:solidFill>
                            <a:srgbClr val="FFFFFF"/>
                          </a:solidFill>
                        </a:defRPr>
                      </a:pPr>
                      <a:r>
                        <a:rPr sz="1400" b="1">
                          <a:solidFill>
                            <a:srgbClr val="FFFFFF"/>
                          </a:solidFill>
                        </a:rPr>
                        <a:t>When</a:t>
                      </a:r>
                    </a:p>
                  </a:txBody>
                  <a:tcPr marL="73152" marR="73152" marT="27432" marB="27432">
                    <a:solidFill>
                      <a:srgbClr val="1F4E79"/>
                    </a:solidFill>
                  </a:tcPr>
                </a:tc>
                <a:tc>
                  <a:txBody>
                    <a:bodyPr/>
                    <a:lstStyle/>
                    <a:p>
                      <a:pPr algn="ctr">
                        <a:defRPr sz="1400" b="1">
                          <a:solidFill>
                            <a:srgbClr val="FFFFFF"/>
                          </a:solidFill>
                        </a:defRPr>
                      </a:pPr>
                      <a:r>
                        <a:rPr sz="1400" b="1">
                          <a:solidFill>
                            <a:srgbClr val="FFFFFF"/>
                          </a:solidFill>
                        </a:rPr>
                        <a:t>Action</a:t>
                      </a:r>
                    </a:p>
                  </a:txBody>
                  <a:tcPr marL="73152" marR="73152" marT="27432" marB="27432">
                    <a:solidFill>
                      <a:srgbClr val="1F4E79"/>
                    </a:solidFill>
                  </a:tcPr>
                </a:tc>
              </a:tr>
              <a:tr h="512064">
                <a:tc>
                  <a:txBody>
                    <a:bodyPr/>
                    <a:lstStyle/>
                    <a:p>
                      <a:pPr algn="l">
                        <a:defRPr sz="1400" b="0">
                          <a:solidFill>
                            <a:srgbClr val="1A1A1A"/>
                          </a:solidFill>
                        </a:defRPr>
                      </a:pPr>
                      <a:r>
                        <a:rPr sz="1400" b="0">
                          <a:solidFill>
                            <a:srgbClr val="1A1A1A"/>
                          </a:solidFill>
                        </a:rPr>
                        <a:t>This week</a:t>
                      </a:r>
                    </a:p>
                  </a:txBody>
                  <a:tcPr marL="73152" marR="73152" marT="27432" marB="27432">
                    <a:solidFill>
                      <a:srgbClr val="FFFFFF"/>
                    </a:solidFill>
                  </a:tcPr>
                </a:tc>
                <a:tc>
                  <a:txBody>
                    <a:bodyPr/>
                    <a:lstStyle/>
                    <a:p>
                      <a:pPr algn="ctr">
                        <a:defRPr sz="1400" b="0">
                          <a:solidFill>
                            <a:srgbClr val="1A1A1A"/>
                          </a:solidFill>
                        </a:defRPr>
                      </a:pPr>
                      <a:r>
                        <a:rPr sz="1400" b="0">
                          <a:solidFill>
                            <a:srgbClr val="1A1A1A"/>
                          </a:solidFill>
                        </a:rPr>
                        <a:t>Finish imbalance hyperparameter sweep (validation-selected); k-fold cross-validation to tighten confidence intervals on the baseline</a:t>
                      </a:r>
                    </a:p>
                  </a:txBody>
                  <a:tcPr marL="73152" marR="73152" marT="27432" marB="27432">
                    <a:solidFill>
                      <a:srgbClr val="FFFFFF"/>
                    </a:solidFill>
                  </a:tcPr>
                </a:tc>
              </a:tr>
              <a:tr h="512064">
                <a:tc>
                  <a:txBody>
                    <a:bodyPr/>
                    <a:lstStyle/>
                    <a:p>
                      <a:pPr algn="l">
                        <a:defRPr sz="1400" b="0">
                          <a:solidFill>
                            <a:srgbClr val="1A1A1A"/>
                          </a:solidFill>
                        </a:defRPr>
                      </a:pPr>
                      <a:r>
                        <a:rPr sz="1400" b="0">
                          <a:solidFill>
                            <a:srgbClr val="1A1A1A"/>
                          </a:solidFill>
                        </a:rPr>
                        <a:t>Next</a:t>
                      </a:r>
                    </a:p>
                  </a:txBody>
                  <a:tcPr marL="73152" marR="73152" marT="27432" marB="27432">
                    <a:solidFill>
                      <a:srgbClr val="F2F4F7"/>
                    </a:solidFill>
                  </a:tcPr>
                </a:tc>
                <a:tc>
                  <a:txBody>
                    <a:bodyPr/>
                    <a:lstStyle/>
                    <a:p>
                      <a:pPr algn="ctr">
                        <a:defRPr sz="1400" b="0">
                          <a:solidFill>
                            <a:srgbClr val="1A1A1A"/>
                          </a:solidFill>
                        </a:defRPr>
                      </a:pPr>
                      <a:r>
                        <a:rPr sz="1400" b="0">
                          <a:solidFill>
                            <a:srgbClr val="1A1A1A"/>
                          </a:solidFill>
                        </a:rPr>
                        <a:t>Implement label-free threshold placement — the honest baseline for all transfer results</a:t>
                      </a:r>
                    </a:p>
                  </a:txBody>
                  <a:tcPr marL="73152" marR="73152" marT="27432" marB="27432">
                    <a:solidFill>
                      <a:srgbClr val="F2F4F7"/>
                    </a:solidFill>
                  </a:tcPr>
                </a:tc>
              </a:tr>
              <a:tr h="512064">
                <a:tc>
                  <a:txBody>
                    <a:bodyPr/>
                    <a:lstStyle/>
                    <a:p>
                      <a:pPr algn="l">
                        <a:defRPr sz="1400" b="0">
                          <a:solidFill>
                            <a:srgbClr val="1A1A1A"/>
                          </a:solidFill>
                        </a:defRPr>
                      </a:pPr>
                      <a:r>
                        <a:rPr sz="1400" b="0">
                          <a:solidFill>
                            <a:srgbClr val="1A1A1A"/>
                          </a:solidFill>
                        </a:rPr>
                        <a:t>Then</a:t>
                      </a:r>
                    </a:p>
                  </a:txBody>
                  <a:tcPr marL="73152" marR="73152" marT="27432" marB="27432">
                    <a:solidFill>
                      <a:srgbClr val="FFFFFF"/>
                    </a:solidFill>
                  </a:tcPr>
                </a:tc>
                <a:tc>
                  <a:txBody>
                    <a:bodyPr/>
                    <a:lstStyle/>
                    <a:p>
                      <a:pPr algn="ctr">
                        <a:defRPr sz="1400" b="0">
                          <a:solidFill>
                            <a:srgbClr val="1A1A1A"/>
                          </a:solidFill>
                        </a:defRPr>
                      </a:pPr>
                      <a:r>
                        <a:rPr sz="1400" b="0">
                          <a:solidFill>
                            <a:srgbClr val="1A1A1A"/>
                          </a:solidFill>
                        </a:rPr>
                        <a:t>Multi-view aggregation, then degradation augmentation; measure AUC gain against the 0.95 / 0.985 target</a:t>
                      </a:r>
                    </a:p>
                  </a:txBody>
                  <a:tcPr marL="73152" marR="73152" marT="27432" marB="27432">
                    <a:solidFill>
                      <a:srgbClr val="FFFFFF"/>
                    </a:solidFill>
                  </a:tcPr>
                </a:tc>
              </a:tr>
              <a:tr h="512064">
                <a:tc>
                  <a:txBody>
                    <a:bodyPr/>
                    <a:lstStyle/>
                    <a:p>
                      <a:pPr algn="l">
                        <a:defRPr sz="1400" b="0">
                          <a:solidFill>
                            <a:srgbClr val="1A1A1A"/>
                          </a:solidFill>
                        </a:defRPr>
                      </a:pPr>
                      <a:r>
                        <a:rPr sz="1400" b="0">
                          <a:solidFill>
                            <a:srgbClr val="1A1A1A"/>
                          </a:solidFill>
                        </a:rPr>
                        <a:t>Open question</a:t>
                      </a:r>
                    </a:p>
                  </a:txBody>
                  <a:tcPr marL="73152" marR="73152" marT="27432" marB="27432">
                    <a:solidFill>
                      <a:srgbClr val="F2F4F7"/>
                    </a:solidFill>
                  </a:tcPr>
                </a:tc>
                <a:tc>
                  <a:txBody>
                    <a:bodyPr/>
                    <a:lstStyle/>
                    <a:p>
                      <a:pPr algn="ctr">
                        <a:defRPr sz="1400" b="0">
                          <a:solidFill>
                            <a:srgbClr val="1A1A1A"/>
                          </a:solidFill>
                        </a:defRPr>
                      </a:pPr>
                      <a:r>
                        <a:rPr sz="1400" b="0">
                          <a:solidFill>
                            <a:srgbClr val="1A1A1A"/>
                          </a:solidFill>
                        </a:rPr>
                        <a:t>Access to BRSET's per-image degradation-type metadata for the decomposition analysis</a:t>
                      </a:r>
                    </a:p>
                  </a:txBody>
                  <a:tcPr marL="73152" marR="73152" marT="27432" marB="27432">
                    <a:solidFill>
                      <a:srgbClr val="F2F4F7"/>
                    </a:solidFill>
                  </a:tcPr>
                </a:tc>
              </a:tr>
            </a:tbl>
          </a:graphicData>
        </a:graphic>
      </p:graphicFrame>
      <p:sp>
        <p:nvSpPr>
          <p:cNvPr id="4" name="TextBox 3"/>
          <p:cNvSpPr txBox="1"/>
          <p:nvPr/>
        </p:nvSpPr>
        <p:spPr>
          <a:xfrm>
            <a:off x="685800" y="4754880"/>
            <a:ext cx="10881360" cy="1828800"/>
          </a:xfrm>
          <a:prstGeom prst="rect">
            <a:avLst/>
          </a:prstGeom>
          <a:noFill/>
        </p:spPr>
        <p:txBody>
          <a:bodyPr wrap="square">
            <a:spAutoFit/>
          </a:bodyPr>
          <a:lstStyle/>
          <a:p>
            <a:pPr>
              <a:spcAft>
                <a:spcPts val="1000"/>
              </a:spcAft>
              <a:defRPr sz="1700">
                <a:solidFill>
                  <a:srgbClr val="1A1A1A"/>
                </a:solidFill>
              </a:defRPr>
            </a:pPr>
            <a:r>
              <a:t>• Baseline: complete and defensible — beats the paper on AUC, matches on F1.</a:t>
            </a:r>
          </a:p>
          <a:p>
            <a:pPr>
              <a:spcAft>
                <a:spcPts val="1000"/>
              </a:spcAft>
              <a:defRPr sz="1700">
                <a:solidFill>
                  <a:srgbClr val="1A1A1A"/>
                </a:solidFill>
              </a:defRPr>
            </a:pPr>
            <a:r>
              <a:t>• Transfer: diagnosed, literature reviewed, three methods ranked, novelty verified as open.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