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Task</a:t>
                      </a:r>
                    </a:p>
                  </a:txBody>
                  <a:tcPr marL="73152" marR="73152" marT="27432" marB="27432">
                    <a:solidFill>
                      <a:srgbClr val="1F4E79"/>
                    </a:solidFill>
                  </a:tcPr>
                </a:tc>
                <a:tc>
                  <a:txBody>
                    <a:bodyPr/>
                    <a:lstStyle/>
                    <a:p>
                      <a:pPr algn="ctr">
                        <a:defRPr sz="1500" b="1">
                          <a:solidFill>
                            <a:srgbClr val="FFFFFF"/>
                          </a:solidFill>
                        </a:defRPr>
                      </a:pPr>
                      <a:r>
                        <a:t>Status</a:t>
                      </a:r>
                    </a:p>
                  </a:txBody>
                  <a:tcPr marL="73152" marR="73152" marT="27432" marB="27432">
                    <a:solidFill>
                      <a:srgbClr val="1F4E79"/>
                    </a:solidFill>
                  </a:tcPr>
                </a:tc>
              </a:tr>
              <a:tr h="609600">
                <a:tc>
                  <a:txBody>
                    <a:bodyPr/>
                    <a:lstStyle/>
                    <a:p>
                      <a:pPr algn="l">
                        <a:defRPr sz="1500">
                          <a:solidFill>
                            <a:srgbClr val="1A1A1A"/>
                          </a:solidFill>
                        </a:defRPr>
                      </a:pPr>
                      <a:r>
                        <a:t>Part 1</a:t>
                      </a:r>
                    </a:p>
                  </a:txBody>
                  <a:tcPr marL="73152" marR="73152" marT="27432" marB="27432">
                    <a:solidFill>
                      <a:srgbClr val="FFFFFF"/>
                    </a:solidFill>
                  </a:tcPr>
                </a:tc>
                <a:tc>
                  <a:txBody>
                    <a:bodyPr/>
                    <a:lstStyle/>
                    <a:p>
                      <a:pPr algn="ctr">
                        <a:defRPr sz="1500">
                          <a:solidFill>
                            <a:srgbClr val="1A1A1A"/>
                          </a:solidFill>
                        </a:defRPr>
                      </a:pPr>
                      <a:r>
                        <a:t>A strong ConvNeXt V2 baseline on BRSET;</a:t>
                      </a:r>
                    </a:p>
                    <a:p>
                      <a:r>
                        <a:t>address the class imbalance holding F1 down</a:t>
                      </a:r>
                    </a:p>
                  </a:txBody>
                  <a:tcPr marL="73152" marR="73152" marT="27432" marB="27432">
                    <a:solidFill>
                      <a:srgbClr val="FFFFFF"/>
                    </a:solidFill>
                  </a:tcPr>
                </a:tc>
                <a:tc>
                  <a:txBody>
                    <a:bodyPr/>
                    <a:lstStyle/>
                    <a:p>
                      <a:pPr algn="ctr">
                        <a:defRPr sz="1500">
                          <a:solidFill>
                            <a:srgbClr val="1A1A1A"/>
                          </a:solidFill>
                        </a:defRPr>
                      </a:pPr>
                      <a:r>
                        <a:t>Complete</a:t>
                      </a:r>
                    </a:p>
                  </a:txBody>
                  <a:tcPr marL="73152" marR="73152" marT="27432" marB="27432">
                    <a:solidFill>
                      <a:srgbClr val="FFFFFF"/>
                    </a:solidFill>
                  </a:tcPr>
                </a:tc>
              </a:tr>
              <a:tr h="609600">
                <a:tc>
                  <a:txBody>
                    <a:bodyPr/>
                    <a:lstStyle/>
                    <a:p>
                      <a:pPr algn="l">
                        <a:defRPr sz="1500">
                          <a:solidFill>
                            <a:srgbClr val="1A1A1A"/>
                          </a:solidFill>
                        </a:defRPr>
                      </a:pPr>
                      <a:r>
                        <a:t>Part 2</a:t>
                      </a:r>
                    </a:p>
                  </a:txBody>
                  <a:tcPr marL="73152" marR="73152" marT="27432" marB="27432">
                    <a:solidFill>
                      <a:srgbClr val="F2F4F7"/>
                    </a:solidFill>
                  </a:tcPr>
                </a:tc>
                <a:tc>
                  <a:txBody>
                    <a:bodyPr/>
                    <a:lstStyle/>
                    <a:p>
                      <a:pPr algn="ctr">
                        <a:defRPr sz="1500">
                          <a:solidFill>
                            <a:srgbClr val="1A1A1A"/>
                          </a:solidFill>
                        </a:defRPr>
                      </a:pPr>
                      <a:r>
                        <a:t>Improve BRSET → mBRSET transfer.</a:t>
                      </a:r>
                    </a:p>
                    <a:p>
                      <a:r>
                        <a:t>Find relevant literature, implement, and find novelty</a:t>
                      </a:r>
                    </a:p>
                  </a:txBody>
                  <a:tcPr marL="73152" marR="73152" marT="27432" marB="27432">
                    <a:solidFill>
                      <a:srgbClr val="F2F4F7"/>
                    </a:solidFill>
                  </a:tcPr>
                </a:tc>
                <a:tc>
                  <a:txBody>
                    <a:bodyPr/>
                    <a:lstStyle/>
                    <a:p>
                      <a:pPr algn="ctr">
                        <a:defRPr sz="1500">
                          <a:solidFill>
                            <a:srgbClr val="1A1A1A"/>
                          </a:solidFill>
                        </a:defRPr>
                      </a:pPr>
                      <a:r>
                        <a:t>Diagnosed;</a:t>
                      </a:r>
                    </a:p>
                    <a:p>
                      <a: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t>Metric</a:t>
                      </a:r>
                    </a:p>
                  </a:txBody>
                  <a:tcPr marL="73152" marR="73152" marT="27432" marB="27432">
                    <a:solidFill>
                      <a:srgbClr val="1F4E79"/>
                    </a:solidFill>
                  </a:tcPr>
                </a:tc>
                <a:tc>
                  <a:txBody>
                    <a:bodyPr/>
                    <a:lstStyle/>
                    <a:p>
                      <a:pPr algn="ctr">
                        <a:defRPr sz="1400" b="1">
                          <a:solidFill>
                            <a:srgbClr val="FFFFFF"/>
                          </a:solidFill>
                        </a:defRPr>
                      </a:pPr>
                      <a:r>
                        <a:t>Paper (Nakayama 2024)</a:t>
                      </a:r>
                    </a:p>
                  </a:txBody>
                  <a:tcPr marL="73152" marR="73152" marT="27432" marB="27432">
                    <a:solidFill>
                      <a:srgbClr val="1F4E79"/>
                    </a:solidFill>
                  </a:tcPr>
                </a:tc>
                <a:tc>
                  <a:txBody>
                    <a:bodyPr/>
                    <a:lstStyle/>
                    <a:p>
                      <a:pPr algn="ctr">
                        <a:defRPr sz="1400" b="1">
                          <a:solidFill>
                            <a:srgbClr val="FFFFFF"/>
                          </a:solidFill>
                        </a:defRPr>
                      </a:pPr>
                      <a:r>
                        <a:t>Our model</a:t>
                      </a:r>
                    </a:p>
                  </a:txBody>
                  <a:tcPr marL="73152" marR="73152" marT="27432" marB="27432">
                    <a:solidFill>
                      <a:srgbClr val="1F4E79"/>
                    </a:solidFill>
                  </a:tcPr>
                </a:tc>
                <a:tc>
                  <a:txBody>
                    <a:bodyPr/>
                    <a:lstStyle/>
                    <a:p>
                      <a:pPr algn="ctr">
                        <a:defRPr sz="1400" b="1">
                          <a:solidFill>
                            <a:srgbClr val="FFFFFF"/>
                          </a:solidFill>
                        </a:defRPr>
                      </a:pPr>
                      <a:r>
                        <a:t>Verdict</a:t>
                      </a:r>
                    </a:p>
                  </a:txBody>
                  <a:tcPr marL="73152" marR="73152" marT="27432" marB="27432">
                    <a:solidFill>
                      <a:srgbClr val="1F4E79"/>
                    </a:solidFill>
                  </a:tcPr>
                </a:tc>
              </a:tr>
              <a:tr h="329183">
                <a:tc>
                  <a:txBody>
                    <a:bodyPr/>
                    <a:lstStyle/>
                    <a:p>
                      <a:pPr algn="l">
                        <a:defRPr sz="1400" b="1">
                          <a:solidFill>
                            <a:srgbClr val="1A1A1A"/>
                          </a:solidFill>
                        </a:defRPr>
                      </a:pPr>
                      <a:r>
                        <a:t>Diabetic retinopathy — AUC</a:t>
                      </a:r>
                    </a:p>
                  </a:txBody>
                  <a:tcPr marL="73152" marR="73152" marT="27432" marB="27432">
                    <a:solidFill>
                      <a:srgbClr val="E3EFE3"/>
                    </a:solidFill>
                  </a:tcPr>
                </a:tc>
                <a:tc>
                  <a:txBody>
                    <a:bodyPr/>
                    <a:lstStyle/>
                    <a:p>
                      <a:pPr algn="ctr">
                        <a:defRPr sz="1400" b="1">
                          <a:solidFill>
                            <a:srgbClr val="1A1A1A"/>
                          </a:solidFill>
                        </a:defRPr>
                      </a:pPr>
                      <a:r>
                        <a:t>0.97</a:t>
                      </a:r>
                    </a:p>
                  </a:txBody>
                  <a:tcPr marL="73152" marR="73152" marT="27432" marB="27432">
                    <a:solidFill>
                      <a:srgbClr val="E3EFE3"/>
                    </a:solidFill>
                  </a:tcPr>
                </a:tc>
                <a:tc>
                  <a:txBody>
                    <a:bodyPr/>
                    <a:lstStyle/>
                    <a:p>
                      <a:pPr algn="ctr">
                        <a:defRPr sz="1400" b="1">
                          <a:solidFill>
                            <a:srgbClr val="1A1A1A"/>
                          </a:solidFill>
                        </a:defRPr>
                      </a:pPr>
                      <a:r>
                        <a:t>0.992</a:t>
                      </a:r>
                    </a:p>
                  </a:txBody>
                  <a:tcPr marL="73152" marR="73152" marT="27432" marB="27432">
                    <a:solidFill>
                      <a:srgbClr val="E3EFE3"/>
                    </a:solidFill>
                  </a:tcPr>
                </a:tc>
                <a:tc>
                  <a:txBody>
                    <a:bodyPr/>
                    <a:lstStyle/>
                    <a:p>
                      <a:pPr algn="ctr">
                        <a:defRPr sz="1400" b="1">
                          <a:solidFill>
                            <a:srgbClr val="1A1A1A"/>
                          </a:solidFill>
                        </a:defRPr>
                      </a:pPr>
                      <a:r>
                        <a:t>Better than the paper</a:t>
                      </a:r>
                    </a:p>
                  </a:txBody>
                  <a:tcPr marL="73152" marR="73152" marT="27432" marB="27432">
                    <a:solidFill>
                      <a:srgbClr val="E3EFE3"/>
                    </a:solidFill>
                  </a:tcPr>
                </a:tc>
              </a:tr>
              <a:tr h="329183">
                <a:tc>
                  <a:txBody>
                    <a:bodyPr/>
                    <a:lstStyle/>
                    <a:p>
                      <a:pPr algn="l">
                        <a:defRPr sz="1400" b="1">
                          <a:solidFill>
                            <a:srgbClr val="1A1A1A"/>
                          </a:solidFill>
                        </a:defRPr>
                      </a:pPr>
                      <a:r>
                        <a:t>Diabetic retinopathy — F1</a:t>
                      </a:r>
                    </a:p>
                  </a:txBody>
                  <a:tcPr marL="73152" marR="73152" marT="27432" marB="27432">
                    <a:solidFill>
                      <a:srgbClr val="E3EFE3"/>
                    </a:solidFill>
                  </a:tcPr>
                </a:tc>
                <a:tc>
                  <a:txBody>
                    <a:bodyPr/>
                    <a:lstStyle/>
                    <a:p>
                      <a:pPr algn="ctr">
                        <a:defRPr sz="1400" b="1">
                          <a:solidFill>
                            <a:srgbClr val="1A1A1A"/>
                          </a:solidFill>
                        </a:defRPr>
                      </a:pPr>
                      <a:r>
                        <a:t>0.89</a:t>
                      </a:r>
                    </a:p>
                  </a:txBody>
                  <a:tcPr marL="73152" marR="73152" marT="27432" marB="27432">
                    <a:solidFill>
                      <a:srgbClr val="E3EFE3"/>
                    </a:solidFill>
                  </a:tcPr>
                </a:tc>
                <a:tc>
                  <a:txBody>
                    <a:bodyPr/>
                    <a:lstStyle/>
                    <a:p>
                      <a:pPr algn="ctr">
                        <a:defRPr sz="1400" b="1">
                          <a:solidFill>
                            <a:srgbClr val="1A1A1A"/>
                          </a:solidFill>
                        </a:defRPr>
                      </a:pPr>
                      <a:r>
                        <a:t>0.869</a:t>
                      </a:r>
                    </a:p>
                  </a:txBody>
                  <a:tcPr marL="73152" marR="73152" marT="27432" marB="27432">
                    <a:solidFill>
                      <a:srgbClr val="E3EFE3"/>
                    </a:solidFill>
                  </a:tcPr>
                </a:tc>
                <a:tc>
                  <a:txBody>
                    <a:bodyPr/>
                    <a:lstStyle/>
                    <a:p>
                      <a:pPr algn="ctr">
                        <a:defRPr sz="1400" b="1">
                          <a:solidFill>
                            <a:srgbClr val="1A1A1A"/>
                          </a:solidFill>
                        </a:defRPr>
                      </a:pPr>
                      <a:r>
                        <a:t>The same, within measurement error</a:t>
                      </a:r>
                    </a:p>
                  </a:txBody>
                  <a:tcPr marL="73152" marR="73152" marT="27432" marB="27432">
                    <a:solidFill>
                      <a:srgbClr val="E3EFE3"/>
                    </a:solidFill>
                  </a:tcPr>
                </a:tc>
              </a:tr>
              <a:tr h="329183">
                <a:tc>
                  <a:txBody>
                    <a:bodyPr/>
                    <a:lstStyle/>
                    <a:p>
                      <a:pPr algn="l">
                        <a:defRPr sz="1400">
                          <a:solidFill>
                            <a:srgbClr val="1A1A1A"/>
                          </a:solidFill>
                        </a:defRPr>
                      </a:pPr>
                      <a:r>
                        <a:t>Macular edema — AUC</a:t>
                      </a:r>
                    </a:p>
                  </a:txBody>
                  <a:tcPr marL="73152" marR="73152" marT="27432" marB="27432">
                    <a:solidFill>
                      <a:srgbClr val="FFFFFF"/>
                    </a:solidFill>
                  </a:tcPr>
                </a:tc>
                <a:tc>
                  <a:txBody>
                    <a:bodyPr/>
                    <a:lstStyle/>
                    <a:p>
                      <a:pPr algn="ctr">
                        <a:defRPr sz="1400">
                          <a:solidFill>
                            <a:srgbClr val="1A1A1A"/>
                          </a:solidFill>
                        </a:defRPr>
                      </a:pPr>
                      <a:r>
                        <a:t>not reported</a:t>
                      </a:r>
                    </a:p>
                  </a:txBody>
                  <a:tcPr marL="73152" marR="73152" marT="27432" marB="27432">
                    <a:solidFill>
                      <a:srgbClr val="FFFFFF"/>
                    </a:solidFill>
                  </a:tcPr>
                </a:tc>
                <a:tc>
                  <a:txBody>
                    <a:bodyPr/>
                    <a:lstStyle/>
                    <a:p>
                      <a:pPr algn="ctr">
                        <a:defRPr sz="1400">
                          <a:solidFill>
                            <a:srgbClr val="1A1A1A"/>
                          </a:solidFill>
                        </a:defRPr>
                      </a:pPr>
                      <a:r>
                        <a:t>0.989</a:t>
                      </a:r>
                    </a:p>
                  </a:txBody>
                  <a:tcPr marL="73152" marR="73152" marT="27432" marB="27432">
                    <a:solidFill>
                      <a:srgbClr val="FFFFFF"/>
                    </a:solidFill>
                  </a:tcPr>
                </a:tc>
                <a:tc>
                  <a:txBody>
                    <a:bodyPr/>
                    <a:lstStyle/>
                    <a:p>
                      <a:pPr algn="ctr">
                        <a:defRPr sz="1400">
                          <a:solidFill>
                            <a:srgbClr val="1A1A1A"/>
                          </a:solidFill>
                        </a:defRPr>
                      </a:pPr>
                      <a:r>
                        <a:t>No published benchmark to compare to</a:t>
                      </a:r>
                    </a:p>
                  </a:txBody>
                  <a:tcPr marL="73152" marR="73152" marT="27432" marB="27432">
                    <a:solidFill>
                      <a:srgbClr val="FFFFFF"/>
                    </a:solidFill>
                  </a:tcPr>
                </a:tc>
              </a:tr>
              <a:tr h="329187">
                <a:tc>
                  <a:txBody>
                    <a:bodyPr/>
                    <a:lstStyle/>
                    <a:p>
                      <a:pPr algn="l">
                        <a:defRPr sz="1400">
                          <a:solidFill>
                            <a:srgbClr val="1A1A1A"/>
                          </a:solidFill>
                        </a:defRPr>
                      </a:pPr>
                      <a:r>
                        <a:t>Macular edema — F1</a:t>
                      </a:r>
                    </a:p>
                  </a:txBody>
                  <a:tcPr marL="73152" marR="73152" marT="27432" marB="27432">
                    <a:solidFill>
                      <a:srgbClr val="F2F4F7"/>
                    </a:solidFill>
                  </a:tcPr>
                </a:tc>
                <a:tc>
                  <a:txBody>
                    <a:bodyPr/>
                    <a:lstStyle/>
                    <a:p>
                      <a:pPr algn="ctr">
                        <a:defRPr sz="1400">
                          <a:solidFill>
                            <a:srgbClr val="1A1A1A"/>
                          </a:solidFill>
                        </a:defRPr>
                      </a:pPr>
                      <a:r>
                        <a:t>not reported</a:t>
                      </a:r>
                    </a:p>
                  </a:txBody>
                  <a:tcPr marL="73152" marR="73152" marT="27432" marB="27432">
                    <a:solidFill>
                      <a:srgbClr val="F2F4F7"/>
                    </a:solidFill>
                  </a:tcPr>
                </a:tc>
                <a:tc>
                  <a:txBody>
                    <a:bodyPr/>
                    <a:lstStyle/>
                    <a:p>
                      <a:pPr algn="ctr">
                        <a:defRPr sz="1400">
                          <a:solidFill>
                            <a:srgbClr val="1A1A1A"/>
                          </a:solidFill>
                        </a:defRPr>
                      </a:pPr>
                      <a:r>
                        <a:t>0.748</a:t>
                      </a:r>
                    </a:p>
                  </a:txBody>
                  <a:tcPr marL="73152" marR="73152" marT="27432" marB="27432">
                    <a:solidFill>
                      <a:srgbClr val="F2F4F7"/>
                    </a:solidFill>
                  </a:tcPr>
                </a:tc>
                <a:tc>
                  <a:txBody>
                    <a:bodyPr/>
                    <a:lstStyle/>
                    <a:p>
                      <a:pPr algn="ctr">
                        <a:defRPr sz="1400">
                          <a:solidFill>
                            <a:srgbClr val="1A1A1A"/>
                          </a:solidFill>
                        </a:defRPr>
                      </a:pPr>
                      <a: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t>Split</a:t>
                      </a:r>
                    </a:p>
                  </a:txBody>
                  <a:tcPr marL="73152" marR="73152" marT="27432" marB="27432">
                    <a:solidFill>
                      <a:srgbClr val="1F4E79"/>
                    </a:solidFill>
                  </a:tcPr>
                </a:tc>
                <a:tc>
                  <a:txBody>
                    <a:bodyPr/>
                    <a:lstStyle/>
                    <a:p>
                      <a:pPr algn="ctr">
                        <a:defRPr sz="1500" b="1">
                          <a:solidFill>
                            <a:srgbClr val="FFFFFF"/>
                          </a:solidFill>
                        </a:defRPr>
                      </a:pPr>
                      <a:r>
                        <a:t>Images</a:t>
                      </a:r>
                    </a:p>
                  </a:txBody>
                  <a:tcPr marL="73152" marR="73152" marT="27432" marB="27432">
                    <a:solidFill>
                      <a:srgbClr val="1F4E79"/>
                    </a:solidFill>
                  </a:tcPr>
                </a:tc>
                <a:tc>
                  <a:txBody>
                    <a:bodyPr/>
                    <a:lstStyle/>
                    <a:p>
                      <a:pPr algn="ctr">
                        <a:defRPr sz="1500" b="1">
                          <a:solidFill>
                            <a:srgbClr val="FFFFFF"/>
                          </a:solidFill>
                        </a:defRPr>
                      </a:pPr>
                      <a:r>
                        <a:t>With diabetic retinopathy</a:t>
                      </a:r>
                    </a:p>
                  </a:txBody>
                  <a:tcPr marL="73152" marR="73152" marT="27432" marB="27432">
                    <a:solidFill>
                      <a:srgbClr val="1F4E79"/>
                    </a:solidFill>
                  </a:tcPr>
                </a:tc>
                <a:tc>
                  <a:txBody>
                    <a:bodyPr/>
                    <a:lstStyle/>
                    <a:p>
                      <a:pPr algn="ctr">
                        <a:defRPr sz="1500" b="1">
                          <a:solidFill>
                            <a:srgbClr val="FFFFFF"/>
                          </a:solidFill>
                        </a:defRPr>
                      </a:pPr>
                      <a:r>
                        <a:t>With macular edema</a:t>
                      </a:r>
                    </a:p>
                  </a:txBody>
                  <a:tcPr marL="73152" marR="73152" marT="27432" marB="27432">
                    <a:solidFill>
                      <a:srgbClr val="1F4E79"/>
                    </a:solidFill>
                  </a:tcPr>
                </a:tc>
              </a:tr>
              <a:tr h="365760">
                <a:tc>
                  <a:txBody>
                    <a:bodyPr/>
                    <a:lstStyle/>
                    <a:p>
                      <a:pPr algn="l">
                        <a:defRPr sz="1500">
                          <a:solidFill>
                            <a:srgbClr val="1A1A1A"/>
                          </a:solidFill>
                        </a:defRPr>
                      </a:pPr>
                      <a:r>
                        <a:t>Train</a:t>
                      </a:r>
                    </a:p>
                  </a:txBody>
                  <a:tcPr marL="73152" marR="73152" marT="27432" marB="27432">
                    <a:solidFill>
                      <a:srgbClr val="FFFFFF"/>
                    </a:solidFill>
                  </a:tcPr>
                </a:tc>
                <a:tc>
                  <a:txBody>
                    <a:bodyPr/>
                    <a:lstStyle/>
                    <a:p>
                      <a:pPr algn="ctr">
                        <a:defRPr sz="1500">
                          <a:solidFill>
                            <a:srgbClr val="1A1A1A"/>
                          </a:solidFill>
                        </a:defRPr>
                      </a:pPr>
                      <a:r>
                        <a:t>11,372</a:t>
                      </a:r>
                    </a:p>
                  </a:txBody>
                  <a:tcPr marL="73152" marR="73152" marT="27432" marB="27432">
                    <a:solidFill>
                      <a:srgbClr val="FFFFFF"/>
                    </a:solidFill>
                  </a:tcPr>
                </a:tc>
                <a:tc>
                  <a:txBody>
                    <a:bodyPr/>
                    <a:lstStyle/>
                    <a:p>
                      <a:pPr algn="ctr">
                        <a:defRPr sz="1500">
                          <a:solidFill>
                            <a:srgbClr val="1A1A1A"/>
                          </a:solidFill>
                        </a:defRPr>
                      </a:pPr>
                      <a:r>
                        <a:t>748  (6.6%)</a:t>
                      </a:r>
                    </a:p>
                  </a:txBody>
                  <a:tcPr marL="73152" marR="73152" marT="27432" marB="27432">
                    <a:solidFill>
                      <a:srgbClr val="FFFFFF"/>
                    </a:solidFill>
                  </a:tcPr>
                </a:tc>
                <a:tc>
                  <a:txBody>
                    <a:bodyPr/>
                    <a:lstStyle/>
                    <a:p>
                      <a:pPr algn="ctr">
                        <a:defRPr sz="1500">
                          <a:solidFill>
                            <a:srgbClr val="1A1A1A"/>
                          </a:solidFill>
                        </a:defRPr>
                      </a:pPr>
                      <a:r>
                        <a:t>274  (2.4%)</a:t>
                      </a:r>
                    </a:p>
                  </a:txBody>
                  <a:tcPr marL="73152" marR="73152" marT="27432" marB="27432">
                    <a:solidFill>
                      <a:srgbClr val="FFFFFF"/>
                    </a:solidFill>
                  </a:tcPr>
                </a:tc>
              </a:tr>
              <a:tr h="365760">
                <a:tc>
                  <a:txBody>
                    <a:bodyPr/>
                    <a:lstStyle/>
                    <a:p>
                      <a:pPr algn="l">
                        <a:defRPr sz="1500">
                          <a:solidFill>
                            <a:srgbClr val="1A1A1A"/>
                          </a:solidFill>
                        </a:defRPr>
                      </a:pPr>
                      <a:r>
                        <a:t>Validation</a:t>
                      </a:r>
                    </a:p>
                  </a:txBody>
                  <a:tcPr marL="73152" marR="73152" marT="27432" marB="27432">
                    <a:solidFill>
                      <a:srgbClr val="F2F4F7"/>
                    </a:solidFill>
                  </a:tcPr>
                </a:tc>
                <a:tc>
                  <a:txBody>
                    <a:bodyPr/>
                    <a:lstStyle/>
                    <a:p>
                      <a:pPr algn="ctr">
                        <a:defRPr sz="1500">
                          <a:solidFill>
                            <a:srgbClr val="1A1A1A"/>
                          </a:solidFill>
                        </a:defRPr>
                      </a:pPr>
                      <a:r>
                        <a:t>2,451</a:t>
                      </a:r>
                    </a:p>
                  </a:txBody>
                  <a:tcPr marL="73152" marR="73152" marT="27432" marB="27432">
                    <a:solidFill>
                      <a:srgbClr val="F2F4F7"/>
                    </a:solidFill>
                  </a:tcPr>
                </a:tc>
                <a:tc>
                  <a:txBody>
                    <a:bodyPr/>
                    <a:lstStyle/>
                    <a:p>
                      <a:pPr algn="ctr">
                        <a:defRPr sz="1500">
                          <a:solidFill>
                            <a:srgbClr val="1A1A1A"/>
                          </a:solidFill>
                        </a:defRPr>
                      </a:pPr>
                      <a:r>
                        <a:t>159  (6.5%)</a:t>
                      </a:r>
                    </a:p>
                  </a:txBody>
                  <a:tcPr marL="73152" marR="73152" marT="27432" marB="27432">
                    <a:solidFill>
                      <a:srgbClr val="F2F4F7"/>
                    </a:solidFill>
                  </a:tcPr>
                </a:tc>
                <a:tc>
                  <a:txBody>
                    <a:bodyPr/>
                    <a:lstStyle/>
                    <a:p>
                      <a:pPr algn="ctr">
                        <a:defRPr sz="1500">
                          <a:solidFill>
                            <a:srgbClr val="1A1A1A"/>
                          </a:solidFill>
                        </a:defRPr>
                      </a:pPr>
                      <a:r>
                        <a:t>65  (2.7%)</a:t>
                      </a:r>
                    </a:p>
                  </a:txBody>
                  <a:tcPr marL="73152" marR="73152" marT="27432" marB="27432">
                    <a:solidFill>
                      <a:srgbClr val="F2F4F7"/>
                    </a:solidFill>
                  </a:tcPr>
                </a:tc>
              </a:tr>
              <a:tr h="365760">
                <a:tc>
                  <a:txBody>
                    <a:bodyPr/>
                    <a:lstStyle/>
                    <a:p>
                      <a:pPr algn="l">
                        <a:defRPr sz="1500">
                          <a:solidFill>
                            <a:srgbClr val="1A1A1A"/>
                          </a:solidFill>
                        </a:defRPr>
                      </a:pPr>
                      <a:r>
                        <a:t>Test</a:t>
                      </a:r>
                    </a:p>
                  </a:txBody>
                  <a:tcPr marL="73152" marR="73152" marT="27432" marB="27432">
                    <a:solidFill>
                      <a:srgbClr val="FFFFFF"/>
                    </a:solidFill>
                  </a:tcPr>
                </a:tc>
                <a:tc>
                  <a:txBody>
                    <a:bodyPr/>
                    <a:lstStyle/>
                    <a:p>
                      <a:pPr algn="ctr">
                        <a:defRPr sz="1500">
                          <a:solidFill>
                            <a:srgbClr val="1A1A1A"/>
                          </a:solidFill>
                        </a:defRPr>
                      </a:pPr>
                      <a:r>
                        <a:t>2,435</a:t>
                      </a:r>
                    </a:p>
                  </a:txBody>
                  <a:tcPr marL="73152" marR="73152" marT="27432" marB="27432">
                    <a:solidFill>
                      <a:srgbClr val="FFFFFF"/>
                    </a:solidFill>
                  </a:tcPr>
                </a:tc>
                <a:tc>
                  <a:txBody>
                    <a:bodyPr/>
                    <a:lstStyle/>
                    <a:p>
                      <a:pPr algn="ctr">
                        <a:defRPr sz="1500">
                          <a:solidFill>
                            <a:srgbClr val="1A1A1A"/>
                          </a:solidFill>
                        </a:defRPr>
                      </a:pPr>
                      <a:r>
                        <a:t>162  (6.7%)</a:t>
                      </a:r>
                    </a:p>
                  </a:txBody>
                  <a:tcPr marL="73152" marR="73152" marT="27432" marB="27432">
                    <a:solidFill>
                      <a:srgbClr val="FFFFFF"/>
                    </a:solidFill>
                  </a:tcPr>
                </a:tc>
                <a:tc>
                  <a:txBody>
                    <a:bodyPr/>
                    <a:lstStyle/>
                    <a:p>
                      <a:pPr algn="ctr">
                        <a:defRPr sz="1500">
                          <a:solidFill>
                            <a:srgbClr val="1A1A1A"/>
                          </a:solidFill>
                        </a:defRPr>
                      </a:pPr>
                      <a: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t>Loss function tested</a:t>
                      </a:r>
                    </a:p>
                  </a:txBody>
                  <a:tcPr marL="73152" marR="73152" marT="27432" marB="27432">
                    <a:solidFill>
                      <a:srgbClr val="1F4E79"/>
                    </a:solidFill>
                  </a:tcPr>
                </a:tc>
                <a:tc>
                  <a:txBody>
                    <a:bodyPr/>
                    <a:lstStyle/>
                    <a:p>
                      <a:pPr algn="ctr">
                        <a:defRPr sz="1300" b="1">
                          <a:solidFill>
                            <a:srgbClr val="FFFFFF"/>
                          </a:solidFill>
                        </a:defRPr>
                      </a:pPr>
                      <a:r>
                        <a:t>DR F1</a:t>
                      </a:r>
                    </a:p>
                  </a:txBody>
                  <a:tcPr marL="73152" marR="73152" marT="27432" marB="27432">
                    <a:solidFill>
                      <a:srgbClr val="1F4E79"/>
                    </a:solidFill>
                  </a:tcPr>
                </a:tc>
                <a:tc>
                  <a:txBody>
                    <a:bodyPr/>
                    <a:lstStyle/>
                    <a:p>
                      <a:pPr algn="ctr">
                        <a:defRPr sz="1300" b="1">
                          <a:solidFill>
                            <a:srgbClr val="FFFFFF"/>
                          </a:solidFill>
                        </a:defRPr>
                      </a:pPr>
                      <a:r>
                        <a:t>ME F1</a:t>
                      </a:r>
                    </a:p>
                  </a:txBody>
                  <a:tcPr marL="73152" marR="73152" marT="27432" marB="27432">
                    <a:solidFill>
                      <a:srgbClr val="1F4E79"/>
                    </a:solidFill>
                  </a:tcPr>
                </a:tc>
                <a:tc>
                  <a:txBody>
                    <a:bodyPr/>
                    <a:lstStyle/>
                    <a:p>
                      <a:pPr algn="ctr">
                        <a:defRPr sz="1300" b="1">
                          <a:solidFill>
                            <a:srgbClr val="FFFFFF"/>
                          </a:solidFill>
                        </a:defRPr>
                      </a:pPr>
                      <a:r>
                        <a:t>Outcome</a:t>
                      </a:r>
                    </a:p>
                  </a:txBody>
                  <a:tcPr marL="73152" marR="73152" marT="27432" marB="27432">
                    <a:solidFill>
                      <a:srgbClr val="1F4E79"/>
                    </a:solidFill>
                  </a:tcPr>
                </a:tc>
              </a:tr>
              <a:tr h="411480">
                <a:tc>
                  <a:txBody>
                    <a:bodyPr/>
                    <a:lstStyle/>
                    <a:p>
                      <a:pPr algn="l">
                        <a:defRPr sz="1300">
                          <a:solidFill>
                            <a:srgbClr val="1A1A1A"/>
                          </a:solidFill>
                        </a:defRPr>
                      </a:pPr>
                      <a:r>
                        <a:t>Focal loss — one dial for all images</a:t>
                      </a:r>
                    </a:p>
                  </a:txBody>
                  <a:tcPr marL="73152" marR="73152" marT="27432" marB="27432">
                    <a:solidFill>
                      <a:srgbClr val="FFFFFF"/>
                    </a:solidFill>
                  </a:tcPr>
                </a:tc>
                <a:tc>
                  <a:txBody>
                    <a:bodyPr/>
                    <a:lstStyle/>
                    <a:p>
                      <a:pPr algn="ctr">
                        <a:defRPr sz="1300">
                          <a:solidFill>
                            <a:srgbClr val="1A1A1A"/>
                          </a:solidFill>
                        </a:defRPr>
                      </a:pPr>
                      <a:r>
                        <a:t>0.869</a:t>
                      </a:r>
                    </a:p>
                  </a:txBody>
                  <a:tcPr marL="73152" marR="73152" marT="27432" marB="27432">
                    <a:solidFill>
                      <a:srgbClr val="FFFFFF"/>
                    </a:solidFill>
                  </a:tcPr>
                </a:tc>
                <a:tc>
                  <a:txBody>
                    <a:bodyPr/>
                    <a:lstStyle/>
                    <a:p>
                      <a:pPr algn="ctr">
                        <a:defRPr sz="1300">
                          <a:solidFill>
                            <a:srgbClr val="1A1A1A"/>
                          </a:solidFill>
                        </a:defRPr>
                      </a:pPr>
                      <a:r>
                        <a:t>0.748</a:t>
                      </a:r>
                    </a:p>
                  </a:txBody>
                  <a:tcPr marL="73152" marR="73152" marT="27432" marB="27432">
                    <a:solidFill>
                      <a:srgbClr val="FFFFFF"/>
                    </a:solidFill>
                  </a:tcPr>
                </a:tc>
                <a:tc>
                  <a:txBody>
                    <a:bodyPr/>
                    <a:lstStyle/>
                    <a:p>
                      <a:pPr algn="ctr">
                        <a:defRPr sz="1300">
                          <a:solidFill>
                            <a:srgbClr val="1A1A1A"/>
                          </a:solidFill>
                        </a:defRPr>
                      </a:pPr>
                      <a:r>
                        <a:t>Kept</a:t>
                      </a:r>
                    </a:p>
                  </a:txBody>
                  <a:tcPr marL="73152" marR="73152" marT="27432" marB="27432">
                    <a:solidFill>
                      <a:srgbClr val="FFFFFF"/>
                    </a:solidFill>
                  </a:tcPr>
                </a:tc>
              </a:tr>
              <a:tr h="411480">
                <a:tc>
                  <a:txBody>
                    <a:bodyPr/>
                    <a:lstStyle/>
                    <a:p>
                      <a:pPr algn="l">
                        <a:defRPr sz="1300">
                          <a:solidFill>
                            <a:srgbClr val="1A1A1A"/>
                          </a:solidFill>
                        </a:defRPr>
                      </a:pPr>
                      <a:r>
                        <a:t>Asymmetric Loss — separate dials for</a:t>
                      </a:r>
                    </a:p>
                    <a:p>
                      <a:r>
                        <a:t>healthy and for diseased images</a:t>
                      </a:r>
                    </a:p>
                  </a:txBody>
                  <a:tcPr marL="73152" marR="73152" marT="27432" marB="27432">
                    <a:solidFill>
                      <a:srgbClr val="F2F4F7"/>
                    </a:solidFill>
                  </a:tcPr>
                </a:tc>
                <a:tc>
                  <a:txBody>
                    <a:bodyPr/>
                    <a:lstStyle/>
                    <a:p>
                      <a:pPr algn="ctr">
                        <a:defRPr sz="1300">
                          <a:solidFill>
                            <a:srgbClr val="1A1A1A"/>
                          </a:solidFill>
                        </a:defRPr>
                      </a:pPr>
                      <a:r>
                        <a:t>0.834</a:t>
                      </a:r>
                    </a:p>
                  </a:txBody>
                  <a:tcPr marL="73152" marR="73152" marT="27432" marB="27432">
                    <a:solidFill>
                      <a:srgbClr val="F2F4F7"/>
                    </a:solidFill>
                  </a:tcPr>
                </a:tc>
                <a:tc>
                  <a:txBody>
                    <a:bodyPr/>
                    <a:lstStyle/>
                    <a:p>
                      <a:pPr algn="ctr">
                        <a:defRPr sz="1300">
                          <a:solidFill>
                            <a:srgbClr val="1A1A1A"/>
                          </a:solidFill>
                        </a:defRPr>
                      </a:pPr>
                      <a:r>
                        <a:t>0.758</a:t>
                      </a:r>
                    </a:p>
                  </a:txBody>
                  <a:tcPr marL="73152" marR="73152" marT="27432" marB="27432">
                    <a:solidFill>
                      <a:srgbClr val="F2F4F7"/>
                    </a:solidFill>
                  </a:tcPr>
                </a:tc>
                <a:tc>
                  <a:txBody>
                    <a:bodyPr/>
                    <a:lstStyle/>
                    <a:p>
                      <a:pPr algn="ctr">
                        <a:defRPr sz="1300">
                          <a:solidFill>
                            <a:srgbClr val="1A1A1A"/>
                          </a:solidFill>
                        </a:defRPr>
                      </a:pPr>
                      <a: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Two further steps, if you would like them</a:t>
            </a:r>
          </a:p>
          <a:p>
            <a:pPr>
              <a:defRPr sz="1500">
                <a:solidFill>
                  <a:srgbClr val="5A5A5A"/>
                </a:solidFill>
              </a:defRPr>
            </a:pPr>
            <a:r>
              <a:t>Both are ready to launch. About 15 hours on the cluster, and neither blocks the Part 2 work.</a:t>
            </a:r>
          </a:p>
        </p:txBody>
      </p:sp>
      <p:graphicFrame>
        <p:nvGraphicFramePr>
          <p:cNvPr id="3" name="Table 2"/>
          <p:cNvGraphicFramePr>
            <a:graphicFrameLocks noGrp="1"/>
          </p:cNvGraphicFramePr>
          <p:nvPr/>
        </p:nvGraphicFramePr>
        <p:xfrm>
          <a:off x="685800" y="1874519"/>
          <a:ext cx="10789919" cy="2377440"/>
        </p:xfrm>
        <a:graphic>
          <a:graphicData uri="http://schemas.openxmlformats.org/drawingml/2006/table">
            <a:tbl>
              <a:tblPr firstRow="1" bandRow="1">
                <a:tableStyleId>{5C22544A-7EE6-4342-B048-85BDC9FD1C3A}</a:tableStyleId>
              </a:tblPr>
              <a:tblGrid>
                <a:gridCol w="1830432"/>
                <a:gridCol w="4046220"/>
                <a:gridCol w="4046220"/>
                <a:gridCol w="867047"/>
              </a:tblGrid>
              <a:tr h="792480">
                <a:tc>
                  <a:txBody>
                    <a:bodyPr/>
                    <a:lstStyle/>
                    <a:p>
                      <a:pPr algn="l">
                        <a:defRPr sz="1250" b="1">
                          <a:solidFill>
                            <a:srgbClr val="FFFFFF"/>
                          </a:solidFill>
                        </a:defRPr>
                      </a:pPr>
                      <a:r>
                        <a:t>Step</a:t>
                      </a:r>
                    </a:p>
                  </a:txBody>
                  <a:tcPr marL="73152" marR="73152" marT="27432" marB="27432">
                    <a:solidFill>
                      <a:srgbClr val="1F4E79"/>
                    </a:solidFill>
                  </a:tcPr>
                </a:tc>
                <a:tc>
                  <a:txBody>
                    <a:bodyPr/>
                    <a:lstStyle/>
                    <a:p>
                      <a:pPr algn="ctr">
                        <a:defRPr sz="1250" b="1">
                          <a:solidFill>
                            <a:srgbClr val="FFFFFF"/>
                          </a:solidFill>
                        </a:defRPr>
                      </a:pPr>
                      <a:r>
                        <a:t>What it does</a:t>
                      </a:r>
                    </a:p>
                  </a:txBody>
                  <a:tcPr marL="73152" marR="73152" marT="27432" marB="27432">
                    <a:solidFill>
                      <a:srgbClr val="1F4E79"/>
                    </a:solidFill>
                  </a:tcPr>
                </a:tc>
                <a:tc>
                  <a:txBody>
                    <a:bodyPr/>
                    <a:lstStyle/>
                    <a:p>
                      <a:pPr algn="ctr">
                        <a:defRPr sz="1250" b="1">
                          <a:solidFill>
                            <a:srgbClr val="FFFFFF"/>
                          </a:solidFill>
                        </a:defRPr>
                      </a:pPr>
                      <a:r>
                        <a:t>Why it would matter</a:t>
                      </a:r>
                    </a:p>
                  </a:txBody>
                  <a:tcPr marL="73152" marR="73152" marT="27432" marB="27432">
                    <a:solidFill>
                      <a:srgbClr val="1F4E79"/>
                    </a:solidFill>
                  </a:tcPr>
                </a:tc>
                <a:tc>
                  <a:txBody>
                    <a:bodyPr/>
                    <a:lstStyle/>
                    <a:p>
                      <a:pPr algn="ctr">
                        <a:defRPr sz="1250" b="1">
                          <a:solidFill>
                            <a:srgbClr val="FFFFFF"/>
                          </a:solidFill>
                        </a:defRPr>
                      </a:pPr>
                      <a:r>
                        <a:t>Cost</a:t>
                      </a:r>
                    </a:p>
                  </a:txBody>
                  <a:tcPr marL="73152" marR="73152" marT="27432" marB="27432">
                    <a:solidFill>
                      <a:srgbClr val="1F4E79"/>
                    </a:solidFill>
                  </a:tcPr>
                </a:tc>
              </a:tr>
              <a:tr h="792480">
                <a:tc>
                  <a:txBody>
                    <a:bodyPr/>
                    <a:lstStyle/>
                    <a:p>
                      <a:pPr algn="l">
                        <a:defRPr sz="1250">
                          <a:solidFill>
                            <a:srgbClr val="1A1A1A"/>
                          </a:solidFill>
                        </a:defRPr>
                      </a:pPr>
                      <a:r>
                        <a:t>Hyperparameter</a:t>
                      </a:r>
                    </a:p>
                    <a:p>
                      <a:r>
                        <a:t>sweep</a:t>
                      </a:r>
                    </a:p>
                  </a:txBody>
                  <a:tcPr marL="73152" marR="73152" marT="27432" marB="27432">
                    <a:solidFill>
                      <a:srgbClr val="FFFFFF"/>
                    </a:solidFill>
                  </a:tcPr>
                </a:tc>
                <a:tc>
                  <a:txBody>
                    <a:bodyPr/>
                    <a:lstStyle/>
                    <a:p>
                      <a:pPr algn="ctr">
                        <a:defRPr sz="1250">
                          <a:solidFill>
                            <a:srgbClr val="1A1A1A"/>
                          </a:solidFill>
                        </a:defRPr>
                      </a:pPr>
                      <a:r>
                        <a:t>Tries six settings of the imbalance</a:t>
                      </a:r>
                    </a:p>
                    <a:p>
                      <a:r>
                        <a:t>controls, instead of the one value we</a:t>
                      </a:r>
                    </a:p>
                    <a:p>
                      <a:r>
                        <a:t>chose by hand</a:t>
                      </a:r>
                    </a:p>
                  </a:txBody>
                  <a:tcPr marL="73152" marR="73152" marT="27432" marB="27432">
                    <a:solidFill>
                      <a:srgbClr val="FFFFFF"/>
                    </a:solidFill>
                  </a:tcPr>
                </a:tc>
                <a:tc>
                  <a:txBody>
                    <a:bodyPr/>
                    <a:lstStyle/>
                    <a:p>
                      <a:pPr algn="ctr">
                        <a:defRPr sz="1250">
                          <a:solidFill>
                            <a:srgbClr val="1A1A1A"/>
                          </a:solidFill>
                        </a:defRPr>
                      </a:pPr>
                      <a:r>
                        <a:t>Lets us say we searched the settings</a:t>
                      </a:r>
                    </a:p>
                    <a:p>
                      <a:r>
                        <a:t>properly, rather than used the first</a:t>
                      </a:r>
                    </a:p>
                    <a:p>
                      <a:r>
                        <a:t>value we tried</a:t>
                      </a:r>
                    </a:p>
                  </a:txBody>
                  <a:tcPr marL="73152" marR="73152" marT="27432" marB="27432">
                    <a:solidFill>
                      <a:srgbClr val="FFFFFF"/>
                    </a:solidFill>
                  </a:tcPr>
                </a:tc>
                <a:tc>
                  <a:txBody>
                    <a:bodyPr/>
                    <a:lstStyle/>
                    <a:p>
                      <a:pPr algn="ctr">
                        <a:defRPr sz="1250">
                          <a:solidFill>
                            <a:srgbClr val="1A1A1A"/>
                          </a:solidFill>
                        </a:defRPr>
                      </a:pPr>
                      <a:r>
                        <a:t>~7 h</a:t>
                      </a:r>
                    </a:p>
                  </a:txBody>
                  <a:tcPr marL="73152" marR="73152" marT="27432" marB="27432">
                    <a:solidFill>
                      <a:srgbClr val="FFFFFF"/>
                    </a:solidFill>
                  </a:tcPr>
                </a:tc>
              </a:tr>
              <a:tr h="792480">
                <a:tc>
                  <a:txBody>
                    <a:bodyPr/>
                    <a:lstStyle/>
                    <a:p>
                      <a:pPr algn="l">
                        <a:defRPr sz="1250">
                          <a:solidFill>
                            <a:srgbClr val="1A1A1A"/>
                          </a:solidFill>
                        </a:defRPr>
                      </a:pPr>
                      <a:r>
                        <a:t>5-fold</a:t>
                      </a:r>
                    </a:p>
                    <a:p>
                      <a:r>
                        <a:t>cross-validation</a:t>
                      </a:r>
                    </a:p>
                  </a:txBody>
                  <a:tcPr marL="73152" marR="73152" marT="27432" marB="27432">
                    <a:solidFill>
                      <a:srgbClr val="F2F4F7"/>
                    </a:solidFill>
                  </a:tcPr>
                </a:tc>
                <a:tc>
                  <a:txBody>
                    <a:bodyPr/>
                    <a:lstStyle/>
                    <a:p>
                      <a:pPr algn="ctr">
                        <a:defRPr sz="1250">
                          <a:solidFill>
                            <a:srgbClr val="1A1A1A"/>
                          </a:solidFill>
                        </a:defRPr>
                      </a:pPr>
                      <a:r>
                        <a:t>Re-runs the model five times so every</a:t>
                      </a:r>
                    </a:p>
                    <a:p>
                      <a:r>
                        <a:t>image gets tested, instead of testing</a:t>
                      </a:r>
                    </a:p>
                    <a:p>
                      <a:r>
                        <a:t>on a single 15% slice</a:t>
                      </a:r>
                    </a:p>
                  </a:txBody>
                  <a:tcPr marL="73152" marR="73152" marT="27432" marB="27432">
                    <a:solidFill>
                      <a:srgbClr val="F2F4F7"/>
                    </a:solidFill>
                  </a:tcPr>
                </a:tc>
                <a:tc>
                  <a:txBody>
                    <a:bodyPr/>
                    <a:lstStyle/>
                    <a:p>
                      <a:pPr algn="ctr">
                        <a:defRPr sz="1250">
                          <a:solidFill>
                            <a:srgbClr val="1A1A1A"/>
                          </a:solidFill>
                        </a:defRPr>
                      </a:pPr>
                      <a:r>
                        <a:t>Halves the measurement error. That is</a:t>
                      </a:r>
                    </a:p>
                    <a:p>
                      <a:r>
                        <a:t>what would make a 0.02 change in F1</a:t>
                      </a:r>
                    </a:p>
                    <a:p>
                      <a:r>
                        <a:t>provable rather than nominal</a:t>
                      </a:r>
                    </a:p>
                  </a:txBody>
                  <a:tcPr marL="73152" marR="73152" marT="27432" marB="27432">
                    <a:solidFill>
                      <a:srgbClr val="F2F4F7"/>
                    </a:solidFill>
                  </a:tcPr>
                </a:tc>
                <a:tc>
                  <a:txBody>
                    <a:bodyPr/>
                    <a:lstStyle/>
                    <a:p>
                      <a:pPr algn="ctr">
                        <a:defRPr sz="1250">
                          <a:solidFill>
                            <a:srgbClr val="1A1A1A"/>
                          </a:solidFill>
                        </a:defRPr>
                      </a:pPr>
                      <a:r>
                        <a:t>~7 h</a:t>
                      </a:r>
                    </a:p>
                  </a:txBody>
                  <a:tcPr marL="73152" marR="73152" marT="27432" marB="27432">
                    <a:solidFill>
                      <a:srgbClr val="F2F4F7"/>
                    </a:solidFill>
                  </a:tcPr>
                </a:tc>
              </a:tr>
            </a:tbl>
          </a:graphicData>
        </a:graphic>
      </p:graphicFrame>
      <p:sp>
        <p:nvSpPr>
          <p:cNvPr id="4" name="TextBox 3"/>
          <p:cNvSpPr txBox="1"/>
          <p:nvPr/>
        </p:nvSpPr>
        <p:spPr>
          <a:xfrm>
            <a:off x="685800" y="4480560"/>
            <a:ext cx="10881360" cy="1234439"/>
          </a:xfrm>
          <a:prstGeom prst="rect">
            <a:avLst/>
          </a:prstGeom>
          <a:noFill/>
        </p:spPr>
        <p:txBody>
          <a:bodyPr wrap="square">
            <a:spAutoFit/>
          </a:bodyPr>
          <a:lstStyle/>
          <a:p>
            <a:pPr>
              <a:spcAft>
                <a:spcPts val="1000"/>
              </a:spcAft>
              <a:defRPr sz="1500">
                <a:solidFill>
                  <a:srgbClr val="1A1A1A"/>
                </a:solidFill>
              </a:defRPr>
            </a:pPr>
            <a:r>
              <a:t>• Expected effect on the headline numbers: small. We are already at the paper's level, and the sweep is unlikely to move it much.</a:t>
            </a:r>
          </a:p>
          <a:p>
            <a:pPr>
              <a:spcAft>
                <a:spcPts val="1000"/>
              </a:spcAft>
              <a:defRPr sz="1500">
                <a:solidFill>
                  <a:srgbClr val="1A1A1A"/>
                </a:solidFill>
              </a:defRPr>
            </a:pPr>
            <a:r>
              <a:t>• The gain is confidence rather than score — the cross-validation would let us state the result with half the current uncertainty.</a:t>
            </a:r>
          </a:p>
          <a:p>
            <a:pPr>
              <a:spcAft>
                <a:spcPts val="1000"/>
              </a:spcAft>
              <a:defRPr sz="1500">
                <a:solidFill>
                  <a:srgbClr val="1A1A1A"/>
                </a:solidFill>
              </a:defRPr>
            </a:pPr>
            <a:r>
              <a:t>• Neither blocks Part 2. The cross-device work can proceed in parallel either way.</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Happy to run both, either, or neither — whichever you think is the better use of the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t>Trained → Tested</a:t>
                      </a:r>
                    </a:p>
                  </a:txBody>
                  <a:tcPr marL="73152" marR="73152" marT="27432" marB="27432">
                    <a:solidFill>
                      <a:srgbClr val="1F4E79"/>
                    </a:solidFill>
                  </a:tcPr>
                </a:tc>
                <a:tc>
                  <a:txBody>
                    <a:bodyPr/>
                    <a:lstStyle/>
                    <a:p>
                      <a:pPr algn="ctr">
                        <a:defRPr sz="1400" b="1">
                          <a:solidFill>
                            <a:srgbClr val="FFFFFF"/>
                          </a:solidFill>
                        </a:defRPr>
                      </a:pPr>
                      <a:r>
                        <a:t>AUC (DR / ME)</a:t>
                      </a:r>
                    </a:p>
                  </a:txBody>
                  <a:tcPr marL="73152" marR="73152" marT="27432" marB="27432">
                    <a:solidFill>
                      <a:srgbClr val="1F4E79"/>
                    </a:solidFill>
                  </a:tcPr>
                </a:tc>
                <a:tc>
                  <a:txBody>
                    <a:bodyPr/>
                    <a:lstStyle/>
                    <a:p>
                      <a:pPr algn="ctr">
                        <a:defRPr sz="1400" b="1">
                          <a:solidFill>
                            <a:srgbClr val="FFFFFF"/>
                          </a:solidFill>
                        </a:defRPr>
                      </a:pPr>
                      <a:r>
                        <a:t>F1 (DR / ME)</a:t>
                      </a:r>
                    </a:p>
                  </a:txBody>
                  <a:tcPr marL="73152" marR="73152" marT="27432" marB="27432">
                    <a:solidFill>
                      <a:srgbClr val="1F4E79"/>
                    </a:solidFill>
                  </a:tcPr>
                </a:tc>
                <a:tc>
                  <a:txBody>
                    <a:bodyPr/>
                    <a:lstStyle/>
                    <a:p>
                      <a:pPr algn="ctr">
                        <a:defRPr sz="1400" b="1">
                          <a:solidFill>
                            <a:srgbClr val="FFFFFF"/>
                          </a:solidFill>
                        </a:defRPr>
                      </a:pPr>
                      <a:r>
                        <a:t>Recall (DR / ME)</a:t>
                      </a:r>
                    </a:p>
                  </a:txBody>
                  <a:tcPr marL="73152" marR="73152" marT="27432" marB="27432">
                    <a:solidFill>
                      <a:srgbClr val="1F4E79"/>
                    </a:solidFill>
                  </a:tcPr>
                </a:tc>
              </a:tr>
              <a:tr h="329183">
                <a:tc>
                  <a:txBody>
                    <a:bodyPr/>
                    <a:lstStyle/>
                    <a:p>
                      <a:pPr algn="l">
                        <a:defRPr sz="1400">
                          <a:solidFill>
                            <a:srgbClr val="1A1A1A"/>
                          </a:solidFill>
                        </a:defRPr>
                      </a:pPr>
                      <a:r>
                        <a:t>BRSET → BRSET (in-domain)</a:t>
                      </a:r>
                    </a:p>
                  </a:txBody>
                  <a:tcPr marL="73152" marR="73152" marT="27432" marB="27432">
                    <a:solidFill>
                      <a:srgbClr val="FFFFFF"/>
                    </a:solidFill>
                  </a:tcPr>
                </a:tc>
                <a:tc>
                  <a:txBody>
                    <a:bodyPr/>
                    <a:lstStyle/>
                    <a:p>
                      <a:pPr algn="ctr">
                        <a:defRPr sz="1400">
                          <a:solidFill>
                            <a:srgbClr val="1A1A1A"/>
                          </a:solidFill>
                        </a:defRPr>
                      </a:pPr>
                      <a:r>
                        <a:t>0.988 / 0.994</a:t>
                      </a:r>
                    </a:p>
                  </a:txBody>
                  <a:tcPr marL="73152" marR="73152" marT="27432" marB="27432">
                    <a:solidFill>
                      <a:srgbClr val="FFFFFF"/>
                    </a:solidFill>
                  </a:tcPr>
                </a:tc>
                <a:tc>
                  <a:txBody>
                    <a:bodyPr/>
                    <a:lstStyle/>
                    <a:p>
                      <a:pPr algn="ctr">
                        <a:defRPr sz="1400">
                          <a:solidFill>
                            <a:srgbClr val="1A1A1A"/>
                          </a:solidFill>
                        </a:defRPr>
                      </a:pPr>
                      <a:r>
                        <a:t>0.869 / 0.790</a:t>
                      </a:r>
                    </a:p>
                  </a:txBody>
                  <a:tcPr marL="73152" marR="73152" marT="27432" marB="27432">
                    <a:solidFill>
                      <a:srgbClr val="FFFFFF"/>
                    </a:solidFill>
                  </a:tcPr>
                </a:tc>
                <a:tc>
                  <a:txBody>
                    <a:bodyPr/>
                    <a:lstStyle/>
                    <a:p>
                      <a:pPr algn="ctr">
                        <a:defRPr sz="1400">
                          <a:solidFill>
                            <a:srgbClr val="1A1A1A"/>
                          </a:solidFill>
                        </a:defRPr>
                      </a:pPr>
                      <a:r>
                        <a:t>0.877 / 0.770</a:t>
                      </a:r>
                    </a:p>
                  </a:txBody>
                  <a:tcPr marL="73152" marR="73152" marT="27432" marB="27432">
                    <a:solidFill>
                      <a:srgbClr val="FFFFFF"/>
                    </a:solidFill>
                  </a:tcPr>
                </a:tc>
              </a:tr>
              <a:tr h="329183">
                <a:tc>
                  <a:txBody>
                    <a:bodyPr/>
                    <a:lstStyle/>
                    <a:p>
                      <a:pPr algn="l">
                        <a:defRPr sz="1400">
                          <a:solidFill>
                            <a:srgbClr val="1A1A1A"/>
                          </a:solidFill>
                        </a:defRPr>
                      </a:pPr>
                      <a:r>
                        <a:t>mBRSET → mBRSET (in-domain)</a:t>
                      </a:r>
                    </a:p>
                  </a:txBody>
                  <a:tcPr marL="73152" marR="73152" marT="27432" marB="27432">
                    <a:solidFill>
                      <a:srgbClr val="F2F4F7"/>
                    </a:solidFill>
                  </a:tcPr>
                </a:tc>
                <a:tc>
                  <a:txBody>
                    <a:bodyPr/>
                    <a:lstStyle/>
                    <a:p>
                      <a:pPr algn="ctr">
                        <a:defRPr sz="1400">
                          <a:solidFill>
                            <a:srgbClr val="1A1A1A"/>
                          </a:solidFill>
                        </a:defRPr>
                      </a:pPr>
                      <a:r>
                        <a:t>0.939 / 0.988</a:t>
                      </a:r>
                    </a:p>
                  </a:txBody>
                  <a:tcPr marL="73152" marR="73152" marT="27432" marB="27432">
                    <a:solidFill>
                      <a:srgbClr val="F2F4F7"/>
                    </a:solidFill>
                  </a:tcPr>
                </a:tc>
                <a:tc>
                  <a:txBody>
                    <a:bodyPr/>
                    <a:lstStyle/>
                    <a:p>
                      <a:pPr algn="ctr">
                        <a:defRPr sz="1400">
                          <a:solidFill>
                            <a:srgbClr val="1A1A1A"/>
                          </a:solidFill>
                        </a:defRPr>
                      </a:pPr>
                      <a:r>
                        <a:t>0.815 / 0.807</a:t>
                      </a:r>
                    </a:p>
                  </a:txBody>
                  <a:tcPr marL="73152" marR="73152" marT="27432" marB="27432">
                    <a:solidFill>
                      <a:srgbClr val="F2F4F7"/>
                    </a:solidFill>
                  </a:tcPr>
                </a:tc>
                <a:tc>
                  <a:txBody>
                    <a:bodyPr/>
                    <a:lstStyle/>
                    <a:p>
                      <a:pPr algn="ctr">
                        <a:defRPr sz="1400">
                          <a:solidFill>
                            <a:srgbClr val="1A1A1A"/>
                          </a:solidFill>
                        </a:defRPr>
                      </a:pPr>
                      <a:r>
                        <a:t>0.774 / 0.730</a:t>
                      </a:r>
                    </a:p>
                  </a:txBody>
                  <a:tcPr marL="73152" marR="73152" marT="27432" marB="27432">
                    <a:solidFill>
                      <a:srgbClr val="F2F4F7"/>
                    </a:solidFill>
                  </a:tcPr>
                </a:tc>
              </a:tr>
              <a:tr h="329183">
                <a:tc>
                  <a:txBody>
                    <a:bodyPr/>
                    <a:lstStyle/>
                    <a:p>
                      <a:pPr algn="l">
                        <a:defRPr sz="1400">
                          <a:solidFill>
                            <a:srgbClr val="1A1A1A"/>
                          </a:solidFill>
                        </a:defRPr>
                      </a:pPr>
                      <a:r>
                        <a:t>BRSET → mBRSET, BRSET threshold</a:t>
                      </a:r>
                    </a:p>
                  </a:txBody>
                  <a:tcPr marL="73152" marR="73152" marT="27432" marB="27432">
                    <a:solidFill>
                      <a:srgbClr val="FFFFFF"/>
                    </a:solidFill>
                  </a:tcPr>
                </a:tc>
                <a:tc>
                  <a:txBody>
                    <a:bodyPr/>
                    <a:lstStyle/>
                    <a:p>
                      <a:pPr algn="ctr">
                        <a:defRPr sz="1400">
                          <a:solidFill>
                            <a:srgbClr val="1A1A1A"/>
                          </a:solidFill>
                        </a:defRPr>
                      </a:pPr>
                      <a:r>
                        <a:t>0.909 / 0.933</a:t>
                      </a:r>
                    </a:p>
                  </a:txBody>
                  <a:tcPr marL="73152" marR="73152" marT="27432" marB="27432">
                    <a:solidFill>
                      <a:srgbClr val="FFFFFF"/>
                    </a:solidFill>
                  </a:tcPr>
                </a:tc>
                <a:tc>
                  <a:txBody>
                    <a:bodyPr/>
                    <a:lstStyle/>
                    <a:p>
                      <a:pPr algn="ctr">
                        <a:defRPr sz="1400">
                          <a:solidFill>
                            <a:srgbClr val="1A1A1A"/>
                          </a:solidFill>
                        </a:defRPr>
                      </a:pPr>
                      <a:r>
                        <a:t>0.661 / 0.566</a:t>
                      </a:r>
                    </a:p>
                  </a:txBody>
                  <a:tcPr marL="73152" marR="73152" marT="27432" marB="27432">
                    <a:solidFill>
                      <a:srgbClr val="FFFFFF"/>
                    </a:solidFill>
                  </a:tcPr>
                </a:tc>
                <a:tc>
                  <a:txBody>
                    <a:bodyPr/>
                    <a:lstStyle/>
                    <a:p>
                      <a:pPr algn="ctr">
                        <a:defRPr sz="1400">
                          <a:solidFill>
                            <a:srgbClr val="1A1A1A"/>
                          </a:solidFill>
                        </a:defRPr>
                      </a:pPr>
                      <a:r>
                        <a:t>0.503 / 0.444</a:t>
                      </a:r>
                    </a:p>
                  </a:txBody>
                  <a:tcPr marL="73152" marR="73152" marT="27432" marB="27432">
                    <a:solidFill>
                      <a:srgbClr val="FFFFFF"/>
                    </a:solidFill>
                  </a:tcPr>
                </a:tc>
              </a:tr>
              <a:tr h="329187">
                <a:tc>
                  <a:txBody>
                    <a:bodyPr/>
                    <a:lstStyle/>
                    <a:p>
                      <a:pPr algn="l">
                        <a:defRPr sz="1400" b="1">
                          <a:solidFill>
                            <a:srgbClr val="1A1A1A"/>
                          </a:solidFill>
                        </a:defRPr>
                      </a:pPr>
                      <a:r>
                        <a:t>BRSET → mBRSET, threshold retuned</a:t>
                      </a:r>
                    </a:p>
                  </a:txBody>
                  <a:tcPr marL="73152" marR="73152" marT="27432" marB="27432">
                    <a:solidFill>
                      <a:srgbClr val="FDF0E6"/>
                    </a:solidFill>
                  </a:tcPr>
                </a:tc>
                <a:tc>
                  <a:txBody>
                    <a:bodyPr/>
                    <a:lstStyle/>
                    <a:p>
                      <a:pPr algn="ctr">
                        <a:defRPr sz="1400" b="1">
                          <a:solidFill>
                            <a:srgbClr val="1A1A1A"/>
                          </a:solidFill>
                        </a:defRPr>
                      </a:pPr>
                      <a:r>
                        <a:t>0.909 / 0.933</a:t>
                      </a:r>
                    </a:p>
                  </a:txBody>
                  <a:tcPr marL="73152" marR="73152" marT="27432" marB="27432">
                    <a:solidFill>
                      <a:srgbClr val="FDF0E6"/>
                    </a:solidFill>
                  </a:tcPr>
                </a:tc>
                <a:tc>
                  <a:txBody>
                    <a:bodyPr/>
                    <a:lstStyle/>
                    <a:p>
                      <a:pPr algn="ctr">
                        <a:defRPr sz="1400" b="1">
                          <a:solidFill>
                            <a:srgbClr val="1A1A1A"/>
                          </a:solidFill>
                        </a:defRPr>
                      </a:pPr>
                      <a:r>
                        <a:t>0.717 / 0.628</a:t>
                      </a:r>
                    </a:p>
                  </a:txBody>
                  <a:tcPr marL="73152" marR="73152" marT="27432" marB="27432">
                    <a:solidFill>
                      <a:srgbClr val="FDF0E6"/>
                    </a:solidFill>
                  </a:tcPr>
                </a:tc>
                <a:tc>
                  <a:txBody>
                    <a:bodyPr/>
                    <a:lstStyle/>
                    <a:p>
                      <a:pPr algn="ctr">
                        <a:defRPr sz="1400" b="1">
                          <a:solidFill>
                            <a:srgbClr val="1A1A1A"/>
                          </a:solidFill>
                        </a:defRPr>
                      </a:pPr>
                      <a: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How many patients have the disease</a:t>
                      </a:r>
                    </a:p>
                  </a:txBody>
                  <a:tcPr marL="73152" marR="73152" marT="27432" marB="27432">
                    <a:solidFill>
                      <a:srgbClr val="1F4E79"/>
                    </a:solidFill>
                  </a:tcPr>
                </a:tc>
                <a:tc>
                  <a:txBody>
                    <a:bodyPr/>
                    <a:lstStyle/>
                    <a:p>
                      <a:pPr algn="ctr">
                        <a:defRPr sz="1500" b="1">
                          <a:solidFill>
                            <a:srgbClr val="FFFFFF"/>
                          </a:solidFill>
                        </a:defRPr>
                      </a:pPr>
                      <a:r>
                        <a:t>Best cutoff for that group</a:t>
                      </a:r>
                    </a:p>
                  </a:txBody>
                  <a:tcPr marL="73152" marR="73152" marT="27432" marB="27432">
                    <a:solidFill>
                      <a:srgbClr val="1F4E79"/>
                    </a:solidFill>
                  </a:tcPr>
                </a:tc>
              </a:tr>
              <a:tr h="457200">
                <a:tc>
                  <a:txBody>
                    <a:bodyPr/>
                    <a:lstStyle/>
                    <a:p>
                      <a:pPr algn="l">
                        <a:defRPr sz="1500">
                          <a:solidFill>
                            <a:srgbClr val="1A1A1A"/>
                          </a:solidFill>
                        </a:defRPr>
                      </a:pPr>
                      <a:r>
                        <a:t>BRSET — where we trained</a:t>
                      </a:r>
                    </a:p>
                  </a:txBody>
                  <a:tcPr marL="73152" marR="73152" marT="27432" marB="27432">
                    <a:solidFill>
                      <a:srgbClr val="FFFFFF"/>
                    </a:solidFill>
                  </a:tcPr>
                </a:tc>
                <a:tc>
                  <a:txBody>
                    <a:bodyPr/>
                    <a:lstStyle/>
                    <a:p>
                      <a:pPr algn="ctr">
                        <a:defRPr sz="1500">
                          <a:solidFill>
                            <a:srgbClr val="1A1A1A"/>
                          </a:solidFill>
                        </a:defRPr>
                      </a:pPr>
                      <a:r>
                        <a:t>6.6% of eyes  (1 in 15)</a:t>
                      </a:r>
                    </a:p>
                  </a:txBody>
                  <a:tcPr marL="73152" marR="73152" marT="27432" marB="27432">
                    <a:solidFill>
                      <a:srgbClr val="FFFFFF"/>
                    </a:solidFill>
                  </a:tcPr>
                </a:tc>
                <a:tc>
                  <a:txBody>
                    <a:bodyPr/>
                    <a:lstStyle/>
                    <a:p>
                      <a:pPr algn="ctr">
                        <a:defRPr sz="1500">
                          <a:solidFill>
                            <a:srgbClr val="1A1A1A"/>
                          </a:solidFill>
                        </a:defRPr>
                      </a:pPr>
                      <a:r>
                        <a:t>0.61   be strict</a:t>
                      </a:r>
                    </a:p>
                  </a:txBody>
                  <a:tcPr marL="73152" marR="73152" marT="27432" marB="27432">
                    <a:solidFill>
                      <a:srgbClr val="FFFFFF"/>
                    </a:solidFill>
                  </a:tcPr>
                </a:tc>
              </a:tr>
              <a:tr h="457200">
                <a:tc>
                  <a:txBody>
                    <a:bodyPr/>
                    <a:lstStyle/>
                    <a:p>
                      <a:pPr algn="l">
                        <a:defRPr sz="1500">
                          <a:solidFill>
                            <a:srgbClr val="1A1A1A"/>
                          </a:solidFill>
                        </a:defRPr>
                      </a:pPr>
                      <a:r>
                        <a:t>mBRSET — where we tested</a:t>
                      </a:r>
                    </a:p>
                  </a:txBody>
                  <a:tcPr marL="73152" marR="73152" marT="27432" marB="27432">
                    <a:solidFill>
                      <a:srgbClr val="F2F4F7"/>
                    </a:solidFill>
                  </a:tcPr>
                </a:tc>
                <a:tc>
                  <a:txBody>
                    <a:bodyPr/>
                    <a:lstStyle/>
                    <a:p>
                      <a:pPr algn="ctr">
                        <a:defRPr sz="1500">
                          <a:solidFill>
                            <a:srgbClr val="1A1A1A"/>
                          </a:solidFill>
                        </a:defRPr>
                      </a:pPr>
                      <a:r>
                        <a:t>23.3% of eyes  (1 in 4)</a:t>
                      </a:r>
                    </a:p>
                  </a:txBody>
                  <a:tcPr marL="73152" marR="73152" marT="27432" marB="27432">
                    <a:solidFill>
                      <a:srgbClr val="F2F4F7"/>
                    </a:solidFill>
                  </a:tcPr>
                </a:tc>
                <a:tc>
                  <a:txBody>
                    <a:bodyPr/>
                    <a:lstStyle/>
                    <a:p>
                      <a:pPr algn="ctr">
                        <a:defRPr sz="1500">
                          <a:solidFill>
                            <a:srgbClr val="1A1A1A"/>
                          </a:solidFill>
                        </a:defRPr>
                      </a:pPr>
                      <a: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t>BRSET → mBRSET</a:t>
                      </a:r>
                    </a:p>
                  </a:txBody>
                  <a:tcPr marL="73152" marR="73152" marT="27432" marB="27432">
                    <a:solidFill>
                      <a:srgbClr val="1F4E79"/>
                    </a:solidFill>
                  </a:tcPr>
                </a:tc>
                <a:tc>
                  <a:txBody>
                    <a:bodyPr/>
                    <a:lstStyle/>
                    <a:p>
                      <a:pPr algn="ctr">
                        <a:defRPr sz="1500" b="1">
                          <a:solidFill>
                            <a:srgbClr val="FFFFFF"/>
                          </a:solidFill>
                        </a:defRPr>
                      </a:pPr>
                      <a:r>
                        <a:t>AUC</a:t>
                      </a:r>
                    </a:p>
                  </a:txBody>
                  <a:tcPr marL="73152" marR="73152" marT="27432" marB="27432">
                    <a:solidFill>
                      <a:srgbClr val="1F4E79"/>
                    </a:solidFill>
                  </a:tcPr>
                </a:tc>
                <a:tc>
                  <a:txBody>
                    <a:bodyPr/>
                    <a:lstStyle/>
                    <a:p>
                      <a:pPr algn="ctr">
                        <a:defRPr sz="1500" b="1">
                          <a:solidFill>
                            <a:srgbClr val="FFFFFF"/>
                          </a:solidFill>
                        </a:defRPr>
                      </a:pPr>
                      <a:r>
                        <a:t>Target prevalence</a:t>
                      </a:r>
                    </a:p>
                  </a:txBody>
                  <a:tcPr marL="73152" marR="73152" marT="27432" marB="27432">
                    <a:solidFill>
                      <a:srgbClr val="1F4E79"/>
                    </a:solidFill>
                  </a:tcPr>
                </a:tc>
                <a:tc>
                  <a:txBody>
                    <a:bodyPr/>
                    <a:lstStyle/>
                    <a:p>
                      <a:pPr algn="ctr">
                        <a:defRPr sz="1500" b="1">
                          <a:solidFill>
                            <a:srgbClr val="FFFFFF"/>
                          </a:solidFill>
                        </a:defRPr>
                      </a:pPr>
                      <a:r>
                        <a:t>Max possible F1</a:t>
                      </a:r>
                    </a:p>
                  </a:txBody>
                  <a:tcPr marL="73152" marR="73152" marT="27432" marB="27432">
                    <a:solidFill>
                      <a:srgbClr val="1F4E79"/>
                    </a:solidFill>
                  </a:tcPr>
                </a:tc>
                <a:tc>
                  <a:txBody>
                    <a:bodyPr/>
                    <a:lstStyle/>
                    <a:p>
                      <a:pPr algn="ctr">
                        <a:defRPr sz="1500" b="1">
                          <a:solidFill>
                            <a:srgbClr val="FFFFFF"/>
                          </a:solidFill>
                        </a:defRPr>
                      </a:pPr>
                      <a:r>
                        <a:t>Our F1</a:t>
                      </a:r>
                    </a:p>
                  </a:txBody>
                  <a:tcPr marL="73152" marR="73152" marT="27432" marB="27432">
                    <a:solidFill>
                      <a:srgbClr val="1F4E79"/>
                    </a:solidFill>
                  </a:tcPr>
                </a:tc>
              </a:tr>
              <a:tr h="329184">
                <a:tc>
                  <a:txBody>
                    <a:bodyPr/>
                    <a:lstStyle/>
                    <a:p>
                      <a:pPr algn="l">
                        <a:defRPr sz="1500" b="1">
                          <a:solidFill>
                            <a:srgbClr val="1A1A1A"/>
                          </a:solidFill>
                        </a:defRPr>
                      </a:pPr>
                      <a:r>
                        <a:t>Diabetic retinopathy</a:t>
                      </a:r>
                    </a:p>
                  </a:txBody>
                  <a:tcPr marL="73152" marR="73152" marT="27432" marB="27432">
                    <a:solidFill>
                      <a:srgbClr val="E3EFE3"/>
                    </a:solidFill>
                  </a:tcPr>
                </a:tc>
                <a:tc>
                  <a:txBody>
                    <a:bodyPr/>
                    <a:lstStyle/>
                    <a:p>
                      <a:pPr algn="ctr">
                        <a:defRPr sz="1500" b="1">
                          <a:solidFill>
                            <a:srgbClr val="1A1A1A"/>
                          </a:solidFill>
                        </a:defRPr>
                      </a:pPr>
                      <a:r>
                        <a:t>0.909</a:t>
                      </a:r>
                    </a:p>
                  </a:txBody>
                  <a:tcPr marL="73152" marR="73152" marT="27432" marB="27432">
                    <a:solidFill>
                      <a:srgbClr val="E3EFE3"/>
                    </a:solidFill>
                  </a:tcPr>
                </a:tc>
                <a:tc>
                  <a:txBody>
                    <a:bodyPr/>
                    <a:lstStyle/>
                    <a:p>
                      <a:pPr algn="ctr">
                        <a:defRPr sz="1500" b="1">
                          <a:solidFill>
                            <a:srgbClr val="1A1A1A"/>
                          </a:solidFill>
                        </a:defRPr>
                      </a:pPr>
                      <a:r>
                        <a:t>21.7%</a:t>
                      </a:r>
                    </a:p>
                  </a:txBody>
                  <a:tcPr marL="73152" marR="73152" marT="27432" marB="27432">
                    <a:solidFill>
                      <a:srgbClr val="E3EFE3"/>
                    </a:solidFill>
                  </a:tcPr>
                </a:tc>
                <a:tc>
                  <a:txBody>
                    <a:bodyPr/>
                    <a:lstStyle/>
                    <a:p>
                      <a:pPr algn="ctr">
                        <a:defRPr sz="1500" b="1">
                          <a:solidFill>
                            <a:srgbClr val="1A1A1A"/>
                          </a:solidFill>
                        </a:defRPr>
                      </a:pPr>
                      <a:r>
                        <a:t>0.697</a:t>
                      </a:r>
                    </a:p>
                  </a:txBody>
                  <a:tcPr marL="73152" marR="73152" marT="27432" marB="27432">
                    <a:solidFill>
                      <a:srgbClr val="E3EFE3"/>
                    </a:solidFill>
                  </a:tcPr>
                </a:tc>
                <a:tc>
                  <a:txBody>
                    <a:bodyPr/>
                    <a:lstStyle/>
                    <a:p>
                      <a:pPr algn="ctr">
                        <a:defRPr sz="1500" b="1">
                          <a:solidFill>
                            <a:srgbClr val="1A1A1A"/>
                          </a:solidFill>
                        </a:defRPr>
                      </a:pPr>
                      <a:r>
                        <a:t>0.717</a:t>
                      </a:r>
                    </a:p>
                  </a:txBody>
                  <a:tcPr marL="73152" marR="73152" marT="27432" marB="27432">
                    <a:solidFill>
                      <a:srgbClr val="E3EFE3"/>
                    </a:solidFill>
                  </a:tcPr>
                </a:tc>
              </a:tr>
              <a:tr h="329184">
                <a:tc>
                  <a:txBody>
                    <a:bodyPr/>
                    <a:lstStyle/>
                    <a:p>
                      <a:pPr algn="l">
                        <a:defRPr sz="1500" b="1">
                          <a:solidFill>
                            <a:srgbClr val="1A1A1A"/>
                          </a:solidFill>
                        </a:defRPr>
                      </a:pPr>
                      <a:r>
                        <a:t>Macular edema</a:t>
                      </a:r>
                    </a:p>
                  </a:txBody>
                  <a:tcPr marL="73152" marR="73152" marT="27432" marB="27432">
                    <a:solidFill>
                      <a:srgbClr val="E3EFE3"/>
                    </a:solidFill>
                  </a:tcPr>
                </a:tc>
                <a:tc>
                  <a:txBody>
                    <a:bodyPr/>
                    <a:lstStyle/>
                    <a:p>
                      <a:pPr algn="ctr">
                        <a:defRPr sz="1500" b="1">
                          <a:solidFill>
                            <a:srgbClr val="1A1A1A"/>
                          </a:solidFill>
                        </a:defRPr>
                      </a:pPr>
                      <a:r>
                        <a:t>0.933</a:t>
                      </a:r>
                    </a:p>
                  </a:txBody>
                  <a:tcPr marL="73152" marR="73152" marT="27432" marB="27432">
                    <a:solidFill>
                      <a:srgbClr val="E3EFE3"/>
                    </a:solidFill>
                  </a:tcPr>
                </a:tc>
                <a:tc>
                  <a:txBody>
                    <a:bodyPr/>
                    <a:lstStyle/>
                    <a:p>
                      <a:pPr algn="ctr">
                        <a:defRPr sz="1500" b="1">
                          <a:solidFill>
                            <a:srgbClr val="1A1A1A"/>
                          </a:solidFill>
                        </a:defRPr>
                      </a:pPr>
                      <a:r>
                        <a:t>8.6%</a:t>
                      </a:r>
                    </a:p>
                  </a:txBody>
                  <a:tcPr marL="73152" marR="73152" marT="27432" marB="27432">
                    <a:solidFill>
                      <a:srgbClr val="E3EFE3"/>
                    </a:solidFill>
                  </a:tcPr>
                </a:tc>
                <a:tc>
                  <a:txBody>
                    <a:bodyPr/>
                    <a:lstStyle/>
                    <a:p>
                      <a:pPr algn="ctr">
                        <a:defRPr sz="1500" b="1">
                          <a:solidFill>
                            <a:srgbClr val="1A1A1A"/>
                          </a:solidFill>
                        </a:defRPr>
                      </a:pPr>
                      <a:r>
                        <a:t>0.623</a:t>
                      </a:r>
                    </a:p>
                  </a:txBody>
                  <a:tcPr marL="73152" marR="73152" marT="27432" marB="27432">
                    <a:solidFill>
                      <a:srgbClr val="E3EFE3"/>
                    </a:solidFill>
                  </a:tcPr>
                </a:tc>
                <a:tc>
                  <a:txBody>
                    <a:bodyPr/>
                    <a:lstStyle/>
                    <a:p>
                      <a:pPr algn="ctr">
                        <a:defRPr sz="1500" b="1">
                          <a:solidFill>
                            <a:srgbClr val="1A1A1A"/>
                          </a:solidFill>
                        </a:defRPr>
                      </a:pPr>
                      <a: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close the gap</a:t>
            </a:r>
          </a:p>
          <a:p>
            <a:pPr>
              <a:defRPr sz="1500">
                <a:solidFill>
                  <a:srgbClr val="5A5A5A"/>
                </a:solidFill>
              </a:defRPr>
            </a:pPr>
            <a:r>
              <a:t>Ordered by expected gain per unit of effort.</a:t>
            </a:r>
          </a:p>
        </p:txBody>
      </p:sp>
      <p:graphicFrame>
        <p:nvGraphicFramePr>
          <p:cNvPr id="3" name="Table 2"/>
          <p:cNvGraphicFramePr>
            <a:graphicFrameLocks noGrp="1"/>
          </p:cNvGraphicFramePr>
          <p:nvPr/>
        </p:nvGraphicFramePr>
        <p:xfrm>
          <a:off x="685800" y="1783080"/>
          <a:ext cx="10789917" cy="3840480"/>
        </p:xfrm>
        <a:graphic>
          <a:graphicData uri="http://schemas.openxmlformats.org/drawingml/2006/table">
            <a:tbl>
              <a:tblPr firstRow="1" bandRow="1">
                <a:tableStyleId>{5C22544A-7EE6-4342-B048-85BDC9FD1C3A}</a:tableStyleId>
              </a:tblPr>
              <a:tblGrid>
                <a:gridCol w="465082"/>
                <a:gridCol w="2325413"/>
                <a:gridCol w="7069257"/>
                <a:gridCol w="930165"/>
              </a:tblGrid>
              <a:tr h="960120">
                <a:tc>
                  <a:txBody>
                    <a:bodyPr/>
                    <a:lstStyle/>
                    <a:p>
                      <a:pPr algn="l">
                        <a:defRPr sz="1200" b="1">
                          <a:solidFill>
                            <a:srgbClr val="FFFFFF"/>
                          </a:solidFill>
                        </a:defRPr>
                      </a:pPr>
                      <a:r>
                        <a:t>#</a:t>
                      </a:r>
                    </a:p>
                  </a:txBody>
                  <a:tcPr marL="73152" marR="73152" marT="27432" marB="27432">
                    <a:solidFill>
                      <a:srgbClr val="1F4E79"/>
                    </a:solidFill>
                  </a:tcPr>
                </a:tc>
                <a:tc>
                  <a:txBody>
                    <a:bodyPr/>
                    <a:lstStyle/>
                    <a:p>
                      <a:pPr algn="ctr">
                        <a:defRPr sz="1200" b="1">
                          <a:solidFill>
                            <a:srgbClr val="FFFFFF"/>
                          </a:solidFill>
                        </a:defRPr>
                      </a:pPr>
                      <a:r>
                        <a:t>Method</a:t>
                      </a:r>
                    </a:p>
                  </a:txBody>
                  <a:tcPr marL="73152" marR="73152" marT="27432" marB="27432">
                    <a:solidFill>
                      <a:srgbClr val="1F4E79"/>
                    </a:solidFill>
                  </a:tcPr>
                </a:tc>
                <a:tc>
                  <a:txBody>
                    <a:bodyPr/>
                    <a:lstStyle/>
                    <a:p>
                      <a:pPr algn="ctr">
                        <a:defRPr sz="1200" b="1">
                          <a:solidFill>
                            <a:srgbClr val="FFFFFF"/>
                          </a:solidFill>
                        </a:defRPr>
                      </a:pPr>
                      <a:r>
                        <a:t>Mechanism</a:t>
                      </a:r>
                    </a:p>
                  </a:txBody>
                  <a:tcPr marL="73152" marR="73152" marT="27432" marB="27432">
                    <a:solidFill>
                      <a:srgbClr val="1F4E79"/>
                    </a:solidFill>
                  </a:tcPr>
                </a:tc>
                <a:tc>
                  <a:txBody>
                    <a:bodyPr/>
                    <a:lstStyle/>
                    <a:p>
                      <a:pPr algn="ctr">
                        <a:defRPr sz="1200" b="1">
                          <a:solidFill>
                            <a:srgbClr val="FFFFFF"/>
                          </a:solidFill>
                        </a:defRPr>
                      </a:pPr>
                      <a:r>
                        <a:t>Effort</a:t>
                      </a:r>
                    </a:p>
                  </a:txBody>
                  <a:tcPr marL="73152" marR="73152" marT="27432" marB="27432">
                    <a:solidFill>
                      <a:srgbClr val="1F4E79"/>
                    </a:solidFill>
                  </a:tcPr>
                </a:tc>
              </a:tr>
              <a:tr h="96012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Per-patient multi-view</a:t>
                      </a:r>
                    </a:p>
                    <a:p>
                      <a:r>
                        <a:t>aggregation</a:t>
                      </a:r>
                    </a:p>
                  </a:txBody>
                  <a:tcPr marL="73152" marR="73152" marT="27432" marB="27432">
                    <a:solidFill>
                      <a:srgbClr val="FFFFFF"/>
                    </a:solidFill>
                  </a:tcPr>
                </a:tc>
                <a:tc>
                  <a:txBody>
                    <a:bodyPr/>
                    <a:lstStyle/>
                    <a:p>
                      <a:pPr algn="ctr">
                        <a:defRPr sz="1200">
                          <a:solidFill>
                            <a:srgbClr val="1A1A1A"/>
                          </a:solidFill>
                        </a:defRPr>
                      </a:pPr>
                      <a:r>
                        <a:t>mBRSET has ~3.8 images per patient (both eyes × 2 fields), 85.5% share a</a:t>
                      </a:r>
                    </a:p>
                    <a:p>
                      <a:r>
                        <a:t>diagnosis. Blur is random per image; averaging cancels it and sharpens ranking.</a:t>
                      </a:r>
                    </a:p>
                    <a:p>
                      <a:r>
                        <a:t>Published gains on fundus data: +0.085 to +0.121 AUC. We need +0.04.</a:t>
                      </a:r>
                    </a:p>
                  </a:txBody>
                  <a:tcPr marL="73152" marR="73152" marT="27432" marB="27432">
                    <a:solidFill>
                      <a:srgbClr val="FFFFFF"/>
                    </a:solidFill>
                  </a:tcPr>
                </a:tc>
                <a:tc>
                  <a:txBody>
                    <a:bodyPr/>
                    <a:lstStyle/>
                    <a:p>
                      <a:pPr algn="ctr">
                        <a:defRPr sz="1200">
                          <a:solidFill>
                            <a:srgbClr val="1A1A1A"/>
                          </a:solidFill>
                        </a:defRPr>
                      </a:pPr>
                      <a:r>
                        <a:t>3–5 d</a:t>
                      </a:r>
                    </a:p>
                  </a:txBody>
                  <a:tcPr marL="73152" marR="73152" marT="27432" marB="27432">
                    <a:solidFill>
                      <a:srgbClr val="FFFFFF"/>
                    </a:solidFill>
                  </a:tcPr>
                </a:tc>
              </a:tr>
              <a:tr h="96012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Handheld-degradation</a:t>
                      </a:r>
                    </a:p>
                    <a:p>
                      <a:r>
                        <a:t>augmentation</a:t>
                      </a:r>
                    </a:p>
                  </a:txBody>
                  <a:tcPr marL="73152" marR="73152" marT="27432" marB="27432">
                    <a:solidFill>
                      <a:srgbClr val="F2F4F7"/>
                    </a:solidFill>
                  </a:tcPr>
                </a:tc>
                <a:tc>
                  <a:txBody>
                    <a:bodyPr/>
                    <a:lstStyle/>
                    <a:p>
                      <a:pPr algn="ctr">
                        <a:defRPr sz="1200">
                          <a:solidFill>
                            <a:srgbClr val="1A1A1A"/>
                          </a:solidFill>
                        </a:defRPr>
                      </a:pPr>
                      <a:r>
                        <a:t>Degrade real BRSET images (defocus, illumination gradient, vignetting, noise,</a:t>
                      </a:r>
                    </a:p>
                    <a:p>
                      <a:r>
                        <a:t>JPEG) so the model learns to find lesions despite them. Labels stay true —</a:t>
                      </a:r>
                    </a:p>
                    <a:p>
                      <a:r>
                        <a:t>unlike generative translation, degradation cannot invent or erase a lesion.</a:t>
                      </a:r>
                    </a:p>
                  </a:txBody>
                  <a:tcPr marL="73152" marR="73152" marT="27432" marB="27432">
                    <a:solidFill>
                      <a:srgbClr val="F2F4F7"/>
                    </a:solidFill>
                  </a:tcPr>
                </a:tc>
                <a:tc>
                  <a:txBody>
                    <a:bodyPr/>
                    <a:lstStyle/>
                    <a:p>
                      <a:pPr algn="ctr">
                        <a:defRPr sz="1200">
                          <a:solidFill>
                            <a:srgbClr val="1A1A1A"/>
                          </a:solidFill>
                        </a:defRPr>
                      </a:pPr>
                      <a:r>
                        <a:t>3–5 d</a:t>
                      </a:r>
                    </a:p>
                  </a:txBody>
                  <a:tcPr marL="73152" marR="73152" marT="27432" marB="27432">
                    <a:solidFill>
                      <a:srgbClr val="F2F4F7"/>
                    </a:solidFill>
                  </a:tcPr>
                </a:tc>
              </a:tr>
              <a:tr h="96012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Label-free threshold</a:t>
                      </a:r>
                    </a:p>
                    <a:p>
                      <a:r>
                        <a:t>placement</a:t>
                      </a:r>
                    </a:p>
                  </a:txBody>
                  <a:tcPr marL="73152" marR="73152" marT="27432" marB="27432">
                    <a:solidFill>
                      <a:srgbClr val="FFFFFF"/>
                    </a:solidFill>
                  </a:tcPr>
                </a:tc>
                <a:tc>
                  <a:txBody>
                    <a:bodyPr/>
                    <a:lstStyle/>
                    <a:p>
                      <a:pPr algn="ctr">
                        <a:defRPr sz="1200">
                          <a:solidFill>
                            <a:srgbClr val="1A1A1A"/>
                          </a:solidFill>
                        </a:defRPr>
                      </a:pPr>
                      <a:r>
                        <a:t>Estimates target prevalence from unlabeled images, so the threshold fix works</a:t>
                      </a:r>
                    </a:p>
                    <a:p>
                      <a:r>
                        <a:t>on a new camera with zero annotations. Does not raise AUC — makes the existing</a:t>
                      </a:r>
                    </a:p>
                    <a:p>
                      <a:r>
                        <a:t>gain deployable, and is the honest baseline for everything above.</a:t>
                      </a:r>
                    </a:p>
                  </a:txBody>
                  <a:tcPr marL="73152" marR="73152" marT="27432" marB="27432">
                    <a:solidFill>
                      <a:srgbClr val="FFFFFF"/>
                    </a:solidFill>
                  </a:tcPr>
                </a:tc>
                <a:tc>
                  <a:txBody>
                    <a:bodyPr/>
                    <a:lstStyle/>
                    <a:p>
                      <a:pPr algn="ctr">
                        <a:defRPr sz="1200">
                          <a:solidFill>
                            <a:srgbClr val="1A1A1A"/>
                          </a:solidFill>
                        </a:defRPr>
                      </a:pPr>
                      <a:r>
                        <a:t>0.5 d</a:t>
                      </a:r>
                    </a:p>
                  </a:txBody>
                  <a:tcPr marL="73152" marR="73152" marT="27432" marB="27432">
                    <a:solidFill>
                      <a:srgbClr val="FFFFFF"/>
                    </a:solidFill>
                  </a:tcPr>
                </a:tc>
              </a:tr>
            </a:tbl>
          </a:graphicData>
        </a:graphic>
      </p:graphicFrame>
      <p:sp>
        <p:nvSpPr>
          <p:cNvPr id="4" name="TextBox 3"/>
          <p:cNvSpPr txBox="1"/>
          <p:nvPr/>
        </p:nvSpPr>
        <p:spPr>
          <a:xfrm>
            <a:off x="685800" y="5852160"/>
            <a:ext cx="10881360" cy="685800"/>
          </a:xfrm>
          <a:prstGeom prst="rect">
            <a:avLst/>
          </a:prstGeom>
          <a:noFill/>
        </p:spPr>
        <p:txBody>
          <a:bodyPr wrap="square">
            <a:spAutoFit/>
          </a:bodyPr>
          <a:lstStyle/>
          <a:p>
            <a:pPr>
              <a:defRPr sz="1600" b="1">
                <a:solidFill>
                  <a:srgbClr val="1F4E79"/>
                </a:solidFill>
              </a:defRPr>
            </a:pPr>
            <a:r>
              <a:t>Method 1 attacks the ME gap least; Method 2 attacks it most — blur destroys the exudate edge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is unclaimed</a:t>
            </a:r>
          </a:p>
          <a:p>
            <a:pPr>
              <a:defRPr sz="1500">
                <a:solidFill>
                  <a:srgbClr val="5A5A5A"/>
                </a:solidFill>
              </a:defRPr>
            </a:pPr>
            <a:r>
              <a:t>Verified against all 33 papers citing both dataset papers, plus GitHub, arXiv and preprint servers.</a:t>
            </a:r>
          </a:p>
        </p:txBody>
      </p:sp>
      <p:sp>
        <p:nvSpPr>
          <p:cNvPr id="3" name="TextBox 2"/>
          <p:cNvSpPr txBox="1"/>
          <p:nvPr/>
        </p:nvSpPr>
        <p:spPr>
          <a:xfrm>
            <a:off x="685800" y="1828800"/>
            <a:ext cx="10881360" cy="2651760"/>
          </a:xfrm>
          <a:prstGeom prst="rect">
            <a:avLst/>
          </a:prstGeom>
          <a:noFill/>
        </p:spPr>
        <p:txBody>
          <a:bodyPr wrap="square">
            <a:spAutoFit/>
          </a:bodyPr>
          <a:lstStyle/>
          <a:p>
            <a:pPr>
              <a:spcAft>
                <a:spcPts val="1000"/>
              </a:spcAft>
              <a:defRPr sz="1600">
                <a:solidFill>
                  <a:srgbClr val="1A1A1A"/>
                </a:solidFill>
              </a:defRPr>
            </a:pPr>
            <a:r>
              <a:t>• No published BRSET → mBRSET transfer study exists.</a:t>
            </a:r>
          </a:p>
          <a:p>
            <a:pPr>
              <a:spcAft>
                <a:spcPts val="1000"/>
              </a:spcAft>
              <a:defRPr sz="1600">
                <a:solidFill>
                  <a:srgbClr val="1A1A1A"/>
                </a:solidFill>
              </a:defRPr>
            </a:pPr>
            <a:r>
              <a:t>• The dataset creators' own March 2026 release lists “domain adaptation across imaging devices” as an application — and reports no such experiment.</a:t>
            </a:r>
          </a:p>
          <a:p>
            <a:pPr>
              <a:spcAft>
                <a:spcPts val="1000"/>
              </a:spcAft>
              <a:defRPr sz="1600">
                <a:solidFill>
                  <a:srgbClr val="1A1A1A"/>
                </a:solidFill>
              </a:defRPr>
            </a:pPr>
            <a:r>
              <a:t>• No work uses BRSET's typed degradation labels (focus / illumination / field / artifact) for transfer.</a:t>
            </a:r>
          </a:p>
          <a:p>
            <a:pPr>
              <a:spcAft>
                <a:spcPts val="1000"/>
              </a:spcAft>
              <a:defRPr sz="1600">
                <a:solidFill>
                  <a:srgbClr val="1A1A1A"/>
                </a:solidFill>
              </a:defRPr>
            </a:pPr>
            <a:r>
              <a:t>• No work reports cross-device macular edema degradation — our ME gap (0.179) exceeds our DR gap (0.098).</a:t>
            </a:r>
          </a:p>
          <a:p>
            <a:pPr>
              <a:spcAft>
                <a:spcPts val="1000"/>
              </a:spcAft>
              <a:defRPr sz="1600">
                <a:solidFill>
                  <a:srgbClr val="1A1A1A"/>
                </a:solidFill>
              </a:defRPr>
            </a:pPr>
            <a:r>
              <a:t>• Closest prior work: RetSyn (J Biomed Inform 2025, same senior author) — synthetic data for tabletop → portable. It does not diagnose what breaks, separate quality from device, or address ME or thresholds.</a:t>
            </a:r>
          </a:p>
        </p:txBody>
      </p:sp>
      <p:sp>
        <p:nvSpPr>
          <p:cNvPr id="4" name="TextBox 3"/>
          <p:cNvSpPr txBox="1"/>
          <p:nvPr/>
        </p:nvSpPr>
        <p:spPr>
          <a:xfrm>
            <a:off x="685800" y="4572000"/>
            <a:ext cx="10881360" cy="2011680"/>
          </a:xfrm>
          <a:prstGeom prst="rect">
            <a:avLst/>
          </a:prstGeom>
          <a:noFill/>
        </p:spPr>
        <p:txBody>
          <a:bodyPr wrap="square">
            <a:spAutoFit/>
          </a:bodyPr>
          <a:lstStyle/>
          <a:p>
            <a:pPr>
              <a:spcAft>
                <a:spcPts val="600"/>
              </a:spcAft>
              <a:defRPr sz="1600">
                <a:solidFill>
                  <a:srgbClr val="1A1A1A"/>
                </a:solidFill>
              </a:defRPr>
            </a:pPr>
            <a:r>
              <a:t>• Our shift is unusually clean, and that is the asset:</a:t>
            </a:r>
          </a:p>
          <a:p>
            <a:pPr lvl="1">
              <a:spcAft>
                <a:spcPts val="600"/>
              </a:spcAft>
              <a:defRPr sz="1400">
                <a:solidFill>
                  <a:srgbClr val="5A5A5A"/>
                </a:solidFill>
              </a:defRPr>
            </a:pPr>
            <a:r>
              <a:t>– BRSET → mBRSET holds country, ethnicity, dilation, 45° field of view and grading protocol constant.</a:t>
            </a:r>
          </a:p>
          <a:p>
            <a:pPr lvl="1">
              <a:spcAft>
                <a:spcPts val="600"/>
              </a:spcAft>
              <a:defRPr sz="1400">
                <a:solidFill>
                  <a:srgbClr val="5A5A5A"/>
                </a:solidFill>
              </a:defRPr>
            </a:pPr>
            <a:r>
              <a:t>– Only the camera changes. A comparable study crossing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Proposed contributions</a:t>
            </a:r>
          </a:p>
        </p:txBody>
      </p:sp>
      <p:graphicFrame>
        <p:nvGraphicFramePr>
          <p:cNvPr id="3" name="Table 2"/>
          <p:cNvGraphicFramePr>
            <a:graphicFrameLocks noGrp="1"/>
          </p:cNvGraphicFramePr>
          <p:nvPr/>
        </p:nvGraphicFramePr>
        <p:xfrm>
          <a:off x="685800" y="1783080"/>
          <a:ext cx="10789918" cy="3566160"/>
        </p:xfrm>
        <a:graphic>
          <a:graphicData uri="http://schemas.openxmlformats.org/drawingml/2006/table">
            <a:tbl>
              <a:tblPr firstRow="1" bandRow="1">
                <a:tableStyleId>{5C22544A-7EE6-4342-B048-85BDC9FD1C3A}</a:tableStyleId>
              </a:tblPr>
              <a:tblGrid>
                <a:gridCol w="465082"/>
                <a:gridCol w="4092728"/>
                <a:gridCol w="6232108"/>
              </a:tblGrid>
              <a:tr h="891540">
                <a:tc>
                  <a:txBody>
                    <a:bodyPr/>
                    <a:lstStyle/>
                    <a:p>
                      <a:pPr algn="l">
                        <a:defRPr sz="1200" b="1">
                          <a:solidFill>
                            <a:srgbClr val="FFFFFF"/>
                          </a:solidFill>
                        </a:defRPr>
                      </a:pPr>
                    </a:p>
                  </a:txBody>
                  <a:tcPr marL="73152" marR="73152" marT="27432" marB="27432">
                    <a:solidFill>
                      <a:srgbClr val="1F4E79"/>
                    </a:solidFill>
                  </a:tcPr>
                </a:tc>
                <a:tc>
                  <a:txBody>
                    <a:bodyPr/>
                    <a:lstStyle/>
                    <a:p>
                      <a:pPr algn="ctr">
                        <a:defRPr sz="1200" b="1">
                          <a:solidFill>
                            <a:srgbClr val="FFFFFF"/>
                          </a:solidFill>
                        </a:defRPr>
                      </a:pPr>
                      <a:r>
                        <a:t>Contribution</a:t>
                      </a:r>
                    </a:p>
                  </a:txBody>
                  <a:tcPr marL="73152" marR="73152" marT="27432" marB="27432">
                    <a:solidFill>
                      <a:srgbClr val="1F4E79"/>
                    </a:solidFill>
                  </a:tcPr>
                </a:tc>
                <a:tc>
                  <a:txBody>
                    <a:bodyPr/>
                    <a:lstStyle/>
                    <a:p>
                      <a:pPr algn="ctr">
                        <a:defRPr sz="1200" b="1">
                          <a:solidFill>
                            <a:srgbClr val="FFFFFF"/>
                          </a:solidFill>
                        </a:defRPr>
                      </a:pPr>
                      <a:r>
                        <a:t>Why it is new</a:t>
                      </a:r>
                    </a:p>
                  </a:txBody>
                  <a:tcPr marL="73152" marR="73152" marT="27432" marB="27432">
                    <a:solidFill>
                      <a:srgbClr val="1F4E79"/>
                    </a:solidFill>
                  </a:tcPr>
                </a:tc>
              </a:tr>
              <a:tr h="89154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Decomposing a cross-device gap into</a:t>
                      </a:r>
                    </a:p>
                    <a:p>
                      <a:r>
                        <a:t>prevalence, calibration and ranking components</a:t>
                      </a:r>
                    </a:p>
                  </a:txBody>
                  <a:tcPr marL="73152" marR="73152" marT="27432" marB="27432">
                    <a:solidFill>
                      <a:srgbClr val="FFFFFF"/>
                    </a:solidFill>
                  </a:tcPr>
                </a:tc>
                <a:tc>
                  <a:txBody>
                    <a:bodyPr/>
                    <a:lstStyle/>
                    <a:p>
                      <a:pPr algn="ctr">
                        <a:defRPr sz="1200">
                          <a:solidFill>
                            <a:srgbClr val="1A1A1A"/>
                          </a:solidFill>
                        </a:defRPr>
                      </a:pPr>
                      <a:r>
                        <a:t>Cross-domain F1 collapses are routinely blamed on the model.</a:t>
                      </a:r>
                    </a:p>
                    <a:p>
                      <a:r>
                        <a:t>We show the split is computable in closed form — and that in our</a:t>
                      </a:r>
                    </a:p>
                    <a:p>
                      <a:r>
                        <a:t>case the ranking component is all that remains.</a:t>
                      </a:r>
                    </a:p>
                  </a:txBody>
                  <a:tcPr marL="73152" marR="73152" marT="27432" marB="27432">
                    <a:solidFill>
                      <a:srgbClr val="FFFFFF"/>
                    </a:solidFill>
                  </a:tcPr>
                </a:tc>
              </a:tr>
              <a:tr h="89154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Multi-view test-time aggregation for</a:t>
                      </a:r>
                    </a:p>
                    <a:p>
                      <a:r>
                        <a:t>cross-device retinal screening</a:t>
                      </a:r>
                    </a:p>
                  </a:txBody>
                  <a:tcPr marL="73152" marR="73152" marT="27432" marB="27432">
                    <a:solidFill>
                      <a:srgbClr val="F2F4F7"/>
                    </a:solidFill>
                  </a:tcPr>
                </a:tc>
                <a:tc>
                  <a:txBody>
                    <a:bodyPr/>
                    <a:lstStyle/>
                    <a:p>
                      <a:pPr algn="ctr">
                        <a:defRPr sz="1200">
                          <a:solidFill>
                            <a:srgbClr val="1A1A1A"/>
                          </a:solidFill>
                        </a:defRPr>
                      </a:pPr>
                      <a:r>
                        <a:t>Exploits mBRSET's ~4 images per patient, a free signal no</a:t>
                      </a:r>
                    </a:p>
                    <a:p>
                      <a:r>
                        <a:t>cross-device study has used.</a:t>
                      </a:r>
                    </a:p>
                  </a:txBody>
                  <a:tcPr marL="73152" marR="73152" marT="27432" marB="27432">
                    <a:solidFill>
                      <a:srgbClr val="F2F4F7"/>
                    </a:solidFill>
                  </a:tcPr>
                </a:tc>
              </a:tr>
              <a:tr h="89154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Adapting the internal normalisation layer</a:t>
                      </a:r>
                    </a:p>
                    <a:p>
                      <a:r>
                        <a:t>that is unique to ConvNeXt V2</a:t>
                      </a:r>
                    </a:p>
                  </a:txBody>
                  <a:tcPr marL="73152" marR="73152" marT="27432" marB="27432">
                    <a:solidFill>
                      <a:srgbClr val="FFFFFF"/>
                    </a:solidFill>
                  </a:tcPr>
                </a:tc>
                <a:tc>
                  <a:txBody>
                    <a:bodyPr/>
                    <a:lstStyle/>
                    <a:p>
                      <a:pPr algn="ctr">
                        <a:defRPr sz="1200">
                          <a:solidFill>
                            <a:srgbClr val="1A1A1A"/>
                          </a:solidFill>
                        </a:defRPr>
                      </a:pPr>
                      <a:r>
                        <a:t>The standard adaptation trick relies on a component this model</a:t>
                      </a:r>
                    </a:p>
                    <a:p>
                      <a:r>
                        <a:t>does not have. Nobody has adapted the one it does have.</a:t>
                      </a:r>
                    </a:p>
                  </a:txBody>
                  <a:tcPr marL="73152" marR="73152" marT="27432" marB="27432">
                    <a:solidFill>
                      <a:srgbClr val="FFFFFF"/>
                    </a:solidFill>
                  </a:tcPr>
                </a:tc>
              </a:tr>
            </a:tbl>
          </a:graphicData>
        </a:graphic>
      </p:graphicFrame>
      <p:sp>
        <p:nvSpPr>
          <p:cNvPr id="4" name="TextBox 3"/>
          <p:cNvSpPr txBox="1"/>
          <p:nvPr/>
        </p:nvSpPr>
        <p:spPr>
          <a:xfrm>
            <a:off x="685800" y="5577840"/>
            <a:ext cx="10881360" cy="685800"/>
          </a:xfrm>
          <a:prstGeom prst="rect">
            <a:avLst/>
          </a:prstGeom>
          <a:noFill/>
        </p:spPr>
        <p:txBody>
          <a:bodyPr wrap="square">
            <a:spAutoFit/>
          </a:bodyPr>
          <a:lstStyle/>
          <a:p>
            <a:pPr>
              <a:defRPr sz="1600" b="1">
                <a:solidFill>
                  <a:srgbClr val="1F4E79"/>
                </a:solidFill>
              </a:defRPr>
            </a:pPr>
            <a:r>
              <a:t>Contribution 1 stands even if every method underperforms — the negative result is itself the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Next steps</a:t>
            </a:r>
          </a:p>
        </p:txBody>
      </p:sp>
      <p:graphicFrame>
        <p:nvGraphicFramePr>
          <p:cNvPr id="3" name="Table 2"/>
          <p:cNvGraphicFramePr>
            <a:graphicFrameLocks noGrp="1"/>
          </p:cNvGraphicFramePr>
          <p:nvPr/>
        </p:nvGraphicFramePr>
        <p:xfrm>
          <a:off x="685800" y="1920240"/>
          <a:ext cx="10789919" cy="2560320"/>
        </p:xfrm>
        <a:graphic>
          <a:graphicData uri="http://schemas.openxmlformats.org/drawingml/2006/table">
            <a:tbl>
              <a:tblPr firstRow="1" bandRow="1">
                <a:tableStyleId>{5C22544A-7EE6-4342-B048-85BDC9FD1C3A}</a:tableStyleId>
              </a:tblPr>
              <a:tblGrid>
                <a:gridCol w="1674297"/>
                <a:gridCol w="9115622"/>
              </a:tblGrid>
              <a:tr h="512064">
                <a:tc>
                  <a:txBody>
                    <a:bodyPr/>
                    <a:lstStyle/>
                    <a:p>
                      <a:pPr algn="l">
                        <a:defRPr sz="1400" b="1">
                          <a:solidFill>
                            <a:srgbClr val="FFFFFF"/>
                          </a:solidFill>
                        </a:defRPr>
                      </a:pPr>
                      <a:r>
                        <a:t>When</a:t>
                      </a:r>
                    </a:p>
                  </a:txBody>
                  <a:tcPr marL="73152" marR="73152" marT="27432" marB="27432">
                    <a:solidFill>
                      <a:srgbClr val="1F4E79"/>
                    </a:solidFill>
                  </a:tcPr>
                </a:tc>
                <a:tc>
                  <a:txBody>
                    <a:bodyPr/>
                    <a:lstStyle/>
                    <a:p>
                      <a:pPr algn="ctr">
                        <a:defRPr sz="1400" b="1">
                          <a:solidFill>
                            <a:srgbClr val="FFFFFF"/>
                          </a:solidFill>
                        </a:defRPr>
                      </a:pPr>
                      <a:r>
                        <a:t>Action</a:t>
                      </a:r>
                    </a:p>
                  </a:txBody>
                  <a:tcPr marL="73152" marR="73152" marT="27432" marB="27432">
                    <a:solidFill>
                      <a:srgbClr val="1F4E79"/>
                    </a:solidFill>
                  </a:tcPr>
                </a:tc>
              </a:tr>
              <a:tr h="512064">
                <a:tc>
                  <a:txBody>
                    <a:bodyPr/>
                    <a:lstStyle/>
                    <a:p>
                      <a:pPr algn="l">
                        <a:defRPr sz="1400">
                          <a:solidFill>
                            <a:srgbClr val="1A1A1A"/>
                          </a:solidFill>
                        </a:defRPr>
                      </a:pPr>
                      <a:r>
                        <a:t>This week</a:t>
                      </a:r>
                    </a:p>
                  </a:txBody>
                  <a:tcPr marL="73152" marR="73152" marT="27432" marB="27432">
                    <a:solidFill>
                      <a:srgbClr val="FFFFFF"/>
                    </a:solidFill>
                  </a:tcPr>
                </a:tc>
                <a:tc>
                  <a:txBody>
                    <a:bodyPr/>
                    <a:lstStyle/>
                    <a:p>
                      <a:pPr algn="ctr">
                        <a:defRPr sz="1400">
                          <a:solidFill>
                            <a:srgbClr val="1A1A1A"/>
                          </a:solidFill>
                        </a:defRPr>
                      </a:pPr>
                      <a:r>
                        <a:t>Finish imbalance hyperparameter sweep (validation-selected); k-fold cross-validation to tighten confidence intervals on the baseline</a:t>
                      </a:r>
                    </a:p>
                  </a:txBody>
                  <a:tcPr marL="73152" marR="73152" marT="27432" marB="27432">
                    <a:solidFill>
                      <a:srgbClr val="FFFFFF"/>
                    </a:solidFill>
                  </a:tcPr>
                </a:tc>
              </a:tr>
              <a:tr h="512064">
                <a:tc>
                  <a:txBody>
                    <a:bodyPr/>
                    <a:lstStyle/>
                    <a:p>
                      <a:pPr algn="l">
                        <a:defRPr sz="1400">
                          <a:solidFill>
                            <a:srgbClr val="1A1A1A"/>
                          </a:solidFill>
                        </a:defRPr>
                      </a:pPr>
                      <a:r>
                        <a:t>Next</a:t>
                      </a:r>
                    </a:p>
                  </a:txBody>
                  <a:tcPr marL="73152" marR="73152" marT="27432" marB="27432">
                    <a:solidFill>
                      <a:srgbClr val="F2F4F7"/>
                    </a:solidFill>
                  </a:tcPr>
                </a:tc>
                <a:tc>
                  <a:txBody>
                    <a:bodyPr/>
                    <a:lstStyle/>
                    <a:p>
                      <a:pPr algn="ctr">
                        <a:defRPr sz="1400">
                          <a:solidFill>
                            <a:srgbClr val="1A1A1A"/>
                          </a:solidFill>
                        </a:defRPr>
                      </a:pPr>
                      <a:r>
                        <a:t>Implement label-free threshold placement — the honest baseline for all transfer results</a:t>
                      </a:r>
                    </a:p>
                  </a:txBody>
                  <a:tcPr marL="73152" marR="73152" marT="27432" marB="27432">
                    <a:solidFill>
                      <a:srgbClr val="F2F4F7"/>
                    </a:solidFill>
                  </a:tcPr>
                </a:tc>
              </a:tr>
              <a:tr h="512064">
                <a:tc>
                  <a:txBody>
                    <a:bodyPr/>
                    <a:lstStyle/>
                    <a:p>
                      <a:pPr algn="l">
                        <a:defRPr sz="1400">
                          <a:solidFill>
                            <a:srgbClr val="1A1A1A"/>
                          </a:solidFill>
                        </a:defRPr>
                      </a:pPr>
                      <a:r>
                        <a:t>Then</a:t>
                      </a:r>
                    </a:p>
                  </a:txBody>
                  <a:tcPr marL="73152" marR="73152" marT="27432" marB="27432">
                    <a:solidFill>
                      <a:srgbClr val="FFFFFF"/>
                    </a:solidFill>
                  </a:tcPr>
                </a:tc>
                <a:tc>
                  <a:txBody>
                    <a:bodyPr/>
                    <a:lstStyle/>
                    <a:p>
                      <a:pPr algn="ctr">
                        <a:defRPr sz="1400">
                          <a:solidFill>
                            <a:srgbClr val="1A1A1A"/>
                          </a:solidFill>
                        </a:defRPr>
                      </a:pPr>
                      <a:r>
                        <a:t>Multi-view aggregation, then degradation augmentation; measure AUC gain against the 0.95 / 0.985 target</a:t>
                      </a:r>
                    </a:p>
                  </a:txBody>
                  <a:tcPr marL="73152" marR="73152" marT="27432" marB="27432">
                    <a:solidFill>
                      <a:srgbClr val="FFFFFF"/>
                    </a:solidFill>
                  </a:tcPr>
                </a:tc>
              </a:tr>
              <a:tr h="512064">
                <a:tc>
                  <a:txBody>
                    <a:bodyPr/>
                    <a:lstStyle/>
                    <a:p>
                      <a:pPr algn="l">
                        <a:defRPr sz="1400">
                          <a:solidFill>
                            <a:srgbClr val="1A1A1A"/>
                          </a:solidFill>
                        </a:defRPr>
                      </a:pPr>
                      <a:r>
                        <a:t>Open question</a:t>
                      </a:r>
                    </a:p>
                  </a:txBody>
                  <a:tcPr marL="73152" marR="73152" marT="27432" marB="27432">
                    <a:solidFill>
                      <a:srgbClr val="F2F4F7"/>
                    </a:solidFill>
                  </a:tcPr>
                </a:tc>
                <a:tc>
                  <a:txBody>
                    <a:bodyPr/>
                    <a:lstStyle/>
                    <a:p>
                      <a:pPr algn="ctr">
                        <a:defRPr sz="1400">
                          <a:solidFill>
                            <a:srgbClr val="1A1A1A"/>
                          </a:solidFill>
                        </a:defRPr>
                      </a:pPr>
                      <a:r>
                        <a:t>Access to BRSET's per-image degradation-type metadata for the decomposition analysis</a:t>
                      </a:r>
                    </a:p>
                  </a:txBody>
                  <a:tcPr marL="73152" marR="73152" marT="27432" marB="27432">
                    <a:solidFill>
                      <a:srgbClr val="F2F4F7"/>
                    </a:solidFill>
                  </a:tcPr>
                </a:tc>
              </a:tr>
            </a:tbl>
          </a:graphicData>
        </a:graphic>
      </p:graphicFrame>
      <p:sp>
        <p:nvSpPr>
          <p:cNvPr id="4" name="TextBox 3"/>
          <p:cNvSpPr txBox="1"/>
          <p:nvPr/>
        </p:nvSpPr>
        <p:spPr>
          <a:xfrm>
            <a:off x="685800" y="4754880"/>
            <a:ext cx="10881360" cy="1828800"/>
          </a:xfrm>
          <a:prstGeom prst="rect">
            <a:avLst/>
          </a:prstGeom>
          <a:noFill/>
        </p:spPr>
        <p:txBody>
          <a:bodyPr wrap="square">
            <a:spAutoFit/>
          </a:bodyPr>
          <a:lstStyle/>
          <a:p>
            <a:pPr>
              <a:spcAft>
                <a:spcPts val="1000"/>
              </a:spcAft>
              <a:defRPr sz="1700">
                <a:solidFill>
                  <a:srgbClr val="1A1A1A"/>
                </a:solidFill>
              </a:defRPr>
            </a:pPr>
            <a:r>
              <a:t>• Baseline: complete and defensible — beats the paper on AUC, matches on F1.</a:t>
            </a:r>
          </a:p>
          <a:p>
            <a:pPr>
              <a:spcAft>
                <a:spcPts val="1000"/>
              </a:spcAft>
              <a:defRPr sz="1700">
                <a:solidFill>
                  <a:srgbClr val="1A1A1A"/>
                </a:solidFill>
              </a:defRPr>
            </a:pPr>
            <a:r>
              <a:t>• Transfer: diagnosed, literature reviewed, three methods ranked, novelty verified as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