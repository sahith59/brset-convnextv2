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Task</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Status</a:t>
                      </a:r>
                    </a:p>
                  </a:txBody>
                  <a:tcPr marL="73152" marR="73152" marT="27432" marB="27432">
                    <a:solidFill>
                      <a:srgbClr val="1F4E79"/>
                    </a:solidFill>
                  </a:tcPr>
                </a:tc>
              </a:tr>
              <a:tr h="609600">
                <a:tc>
                  <a:txBody>
                    <a:bodyPr/>
                    <a:lstStyle/>
                    <a:p>
                      <a:pPr algn="l">
                        <a:defRPr sz="1500" b="0">
                          <a:solidFill>
                            <a:srgbClr val="1A1A1A"/>
                          </a:solidFill>
                        </a:defRPr>
                      </a:pPr>
                      <a:r>
                        <a:rPr sz="1500" b="0">
                          <a:solidFill>
                            <a:srgbClr val="1A1A1A"/>
                          </a:solidFill>
                        </a:rPr>
                        <a:t>Part 1</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A strong ConvNeXt V2 baseline on BRSET;</a:t>
                      </a:r>
                    </a:p>
                    <a:p>
                      <a:pPr algn="ctr">
                        <a:defRPr sz="1500" b="0">
                          <a:solidFill>
                            <a:srgbClr val="1A1A1A"/>
                          </a:solidFill>
                        </a:defRPr>
                      </a:pPr>
                      <a:r>
                        <a:rPr sz="1500" b="0">
                          <a:solidFill>
                            <a:srgbClr val="1A1A1A"/>
                          </a:solidFill>
                        </a:rPr>
                        <a:t>address the class imbalance holding F1 down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Complete</a:t>
                      </a:r>
                    </a:p>
                  </a:txBody>
                  <a:tcPr marL="73152" marR="73152" marT="27432" marB="27432">
                    <a:solidFill>
                      <a:srgbClr val="FFFFFF"/>
                    </a:solidFill>
                  </a:tcPr>
                </a:tc>
              </a:tr>
              <a:tr h="609600">
                <a:tc>
                  <a:txBody>
                    <a:bodyPr/>
                    <a:lstStyle/>
                    <a:p>
                      <a:pPr algn="l">
                        <a:defRPr sz="1500" b="0">
                          <a:solidFill>
                            <a:srgbClr val="1A1A1A"/>
                          </a:solidFill>
                        </a:defRPr>
                      </a:pPr>
                      <a:r>
                        <a:rPr sz="1500" b="0">
                          <a:solidFill>
                            <a:srgbClr val="1A1A1A"/>
                          </a:solidFill>
                        </a:rPr>
                        <a:t>Part 2</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Improve BRSET → mBRSET transfer.</a:t>
                      </a:r>
                    </a:p>
                    <a:p>
                      <a:pPr algn="ctr">
                        <a:defRPr sz="1500" b="0">
                          <a:solidFill>
                            <a:srgbClr val="1A1A1A"/>
                          </a:solidFill>
                        </a:defRPr>
                      </a:pPr>
                      <a:r>
                        <a:rPr sz="1500" b="0">
                          <a:solidFill>
                            <a:srgbClr val="1A1A1A"/>
                          </a:solidFill>
                        </a:rPr>
                        <a:t>Find relevant literature, implement, and find novelty</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Diagnosed;</a:t>
                      </a:r>
                    </a:p>
                    <a:p>
                      <a:pPr algn="ctr">
                        <a:defRPr sz="1500" b="0">
                          <a:solidFill>
                            <a:srgbClr val="1A1A1A"/>
                          </a:solidFill>
                        </a:defRPr>
                      </a:pPr>
                      <a:r>
                        <a:rPr sz="1500" b="0">
                          <a:solidFill>
                            <a:srgbClr val="1A1A1A"/>
                          </a:solidFill>
                        </a:rP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rPr sz="1400" b="1">
                          <a:solidFill>
                            <a:srgbClr val="FFFFFF"/>
                          </a:solidFill>
                        </a:rPr>
                        <a:t>Metric</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Paper (Nakayama 2024)</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Our model</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Verdict</a:t>
                      </a:r>
                    </a:p>
                  </a:txBody>
                  <a:tcPr marL="73152" marR="73152" marT="27432" marB="27432">
                    <a:solidFill>
                      <a:srgbClr val="1F4E79"/>
                    </a:solidFill>
                  </a:tcPr>
                </a:tc>
              </a:tr>
              <a:tr h="329183">
                <a:tc>
                  <a:txBody>
                    <a:bodyPr/>
                    <a:lstStyle/>
                    <a:p>
                      <a:pPr algn="l">
                        <a:defRPr sz="1400" b="1">
                          <a:solidFill>
                            <a:srgbClr val="1A1A1A"/>
                          </a:solidFill>
                        </a:defRPr>
                      </a:pPr>
                      <a:r>
                        <a:rPr sz="1400" b="1">
                          <a:solidFill>
                            <a:srgbClr val="1A1A1A"/>
                          </a:solidFill>
                        </a:rPr>
                        <a:t>Diabetic retinopathy — AUC</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0.97</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0.992</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Better than the paper</a:t>
                      </a:r>
                    </a:p>
                  </a:txBody>
                  <a:tcPr marL="73152" marR="73152" marT="27432" marB="27432">
                    <a:solidFill>
                      <a:srgbClr val="E3EFE3"/>
                    </a:solidFill>
                  </a:tcPr>
                </a:tc>
              </a:tr>
              <a:tr h="329183">
                <a:tc>
                  <a:txBody>
                    <a:bodyPr/>
                    <a:lstStyle/>
                    <a:p>
                      <a:pPr algn="l">
                        <a:defRPr sz="1400" b="1">
                          <a:solidFill>
                            <a:srgbClr val="1A1A1A"/>
                          </a:solidFill>
                        </a:defRPr>
                      </a:pPr>
                      <a:r>
                        <a:rPr sz="1400" b="1">
                          <a:solidFill>
                            <a:srgbClr val="1A1A1A"/>
                          </a:solidFill>
                        </a:rPr>
                        <a:t>Diabetic retinopathy — F1</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0.869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The same, within measurement error</a:t>
                      </a:r>
                    </a:p>
                  </a:txBody>
                  <a:tcPr marL="73152" marR="73152" marT="27432" marB="27432">
                    <a:solidFill>
                      <a:srgbClr val="E3EFE3"/>
                    </a:solidFill>
                  </a:tcPr>
                </a:tc>
              </a:tr>
              <a:tr h="329183">
                <a:tc>
                  <a:txBody>
                    <a:bodyPr/>
                    <a:lstStyle/>
                    <a:p>
                      <a:pPr algn="l">
                        <a:defRPr sz="1400" b="0">
                          <a:solidFill>
                            <a:srgbClr val="1A1A1A"/>
                          </a:solidFill>
                        </a:defRPr>
                      </a:pPr>
                      <a:r>
                        <a:rPr sz="1400" b="0">
                          <a:solidFill>
                            <a:srgbClr val="1A1A1A"/>
                          </a:solidFill>
                        </a:rPr>
                        <a:t>Macular edema — AUC</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0.989</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FFFFF"/>
                    </a:solidFill>
                  </a:tcPr>
                </a:tc>
              </a:tr>
              <a:tr h="329187">
                <a:tc>
                  <a:txBody>
                    <a:bodyPr/>
                    <a:lstStyle/>
                    <a:p>
                      <a:pPr algn="l">
                        <a:defRPr sz="1400" b="0">
                          <a:solidFill>
                            <a:srgbClr val="1A1A1A"/>
                          </a:solidFill>
                        </a:defRPr>
                      </a:pPr>
                      <a:r>
                        <a:rPr sz="1400" b="0">
                          <a:solidFill>
                            <a:srgbClr val="1A1A1A"/>
                          </a:solidFill>
                        </a:rPr>
                        <a:t>Macular edema — F1</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0.748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rPr sz="1500" b="1">
                          <a:solidFill>
                            <a:srgbClr val="FFFFFF"/>
                          </a:solidFill>
                        </a:rPr>
                        <a:t>Split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Images</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diabetic retinopathy</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macular edema</a:t>
                      </a:r>
                    </a:p>
                  </a:txBody>
                  <a:tcPr marL="73152" marR="73152" marT="27432" marB="27432">
                    <a:solidFill>
                      <a:srgbClr val="1F4E79"/>
                    </a:solidFill>
                  </a:tcPr>
                </a:tc>
              </a:tr>
              <a:tr h="365760">
                <a:tc>
                  <a:txBody>
                    <a:bodyPr/>
                    <a:lstStyle/>
                    <a:p>
                      <a:pPr algn="l">
                        <a:defRPr sz="1500" b="0">
                          <a:solidFill>
                            <a:srgbClr val="1A1A1A"/>
                          </a:solidFill>
                        </a:defRPr>
                      </a:pPr>
                      <a:r>
                        <a:rPr sz="1500" b="0">
                          <a:solidFill>
                            <a:srgbClr val="1A1A1A"/>
                          </a:solidFill>
                        </a:rPr>
                        <a:t>Train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11,372</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748  (6.6%)</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274  (2.4%)</a:t>
                      </a:r>
                    </a:p>
                  </a:txBody>
                  <a:tcPr marL="73152" marR="73152" marT="27432" marB="27432">
                    <a:solidFill>
                      <a:srgbClr val="FFFFFF"/>
                    </a:solidFill>
                  </a:tcPr>
                </a:tc>
              </a:tr>
              <a:tr h="365760">
                <a:tc>
                  <a:txBody>
                    <a:bodyPr/>
                    <a:lstStyle/>
                    <a:p>
                      <a:pPr algn="l">
                        <a:defRPr sz="1500" b="0">
                          <a:solidFill>
                            <a:srgbClr val="1A1A1A"/>
                          </a:solidFill>
                        </a:defRPr>
                      </a:pPr>
                      <a:r>
                        <a:rPr sz="1500" b="0">
                          <a:solidFill>
                            <a:srgbClr val="1A1A1A"/>
                          </a:solidFill>
                        </a:rPr>
                        <a:t>Validation</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2,451</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159  (6.5%)</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65  (2.7%)</a:t>
                      </a:r>
                    </a:p>
                  </a:txBody>
                  <a:tcPr marL="73152" marR="73152" marT="27432" marB="27432">
                    <a:solidFill>
                      <a:srgbClr val="F2F4F7"/>
                    </a:solidFill>
                  </a:tcPr>
                </a:tc>
              </a:tr>
              <a:tr h="365760">
                <a:tc>
                  <a:txBody>
                    <a:bodyPr/>
                    <a:lstStyle/>
                    <a:p>
                      <a:pPr algn="l">
                        <a:defRPr sz="1500" b="0">
                          <a:solidFill>
                            <a:srgbClr val="1A1A1A"/>
                          </a:solidFill>
                        </a:defRPr>
                      </a:pPr>
                      <a:r>
                        <a:rPr sz="1500" b="0">
                          <a:solidFill>
                            <a:srgbClr val="1A1A1A"/>
                          </a:solidFill>
                        </a:rPr>
                        <a:t>Test</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2,435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162  (6.7%)</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rPr sz="1300" b="1">
                          <a:solidFill>
                            <a:srgbClr val="FFFFFF"/>
                          </a:solidFill>
                        </a:rPr>
                        <a:t>Loss function tested</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DR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ME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Outcome</a:t>
                      </a:r>
                    </a:p>
                  </a:txBody>
                  <a:tcPr marL="73152" marR="73152" marT="27432" marB="27432">
                    <a:solidFill>
                      <a:srgbClr val="1F4E79"/>
                    </a:solidFill>
                  </a:tcPr>
                </a:tc>
              </a:tr>
              <a:tr h="411480">
                <a:tc>
                  <a:txBody>
                    <a:bodyPr/>
                    <a:lstStyle/>
                    <a:p>
                      <a:pPr algn="l">
                        <a:defRPr sz="1300" b="0">
                          <a:solidFill>
                            <a:srgbClr val="1A1A1A"/>
                          </a:solidFill>
                        </a:defRPr>
                      </a:pPr>
                      <a:r>
                        <a:rPr sz="1300" b="0">
                          <a:solidFill>
                            <a:srgbClr val="1A1A1A"/>
                          </a:solidFill>
                        </a:rPr>
                        <a:t>Focal loss — one dial for all images</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0.869</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0.748</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Kept</a:t>
                      </a:r>
                    </a:p>
                  </a:txBody>
                  <a:tcPr marL="73152" marR="73152" marT="27432" marB="27432">
                    <a:solidFill>
                      <a:srgbClr val="FFFFFF"/>
                    </a:solidFill>
                  </a:tcPr>
                </a:tc>
              </a:tr>
              <a:tr h="411480">
                <a:tc>
                  <a:txBody>
                    <a:bodyPr/>
                    <a:lstStyle/>
                    <a:p>
                      <a:pPr algn="l">
                        <a:defRPr sz="1300" b="0">
                          <a:solidFill>
                            <a:srgbClr val="1A1A1A"/>
                          </a:solidFill>
                        </a:defRPr>
                      </a:pPr>
                      <a:r>
                        <a:rPr sz="1300" b="0">
                          <a:solidFill>
                            <a:srgbClr val="1A1A1A"/>
                          </a:solidFill>
                        </a:rPr>
                        <a:t>Asymmetric Loss — separate dials for</a:t>
                      </a:r>
                    </a:p>
                    <a:p>
                      <a:pPr algn="l">
                        <a:defRPr sz="1300" b="0">
                          <a:solidFill>
                            <a:srgbClr val="1A1A1A"/>
                          </a:solidFill>
                        </a:defRPr>
                      </a:pPr>
                      <a:r>
                        <a:rPr sz="1300" b="0">
                          <a:solidFill>
                            <a:srgbClr val="1A1A1A"/>
                          </a:solidFill>
                        </a:rPr>
                        <a:t>healthy and for diseased images</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0.834</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0.758</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Two further steps, if you would like them</a:t>
            </a:r>
          </a:p>
          <a:p>
            <a:pPr>
              <a:defRPr sz="1500">
                <a:solidFill>
                  <a:srgbClr val="5A5A5A"/>
                </a:solidFill>
              </a:defRPr>
            </a:pPr>
            <a:r>
              <a:t>Both are ready to launch. About 15 hours on the cluster, and neither blocks the Part 2 work.</a:t>
            </a:r>
          </a:p>
        </p:txBody>
      </p:sp>
      <p:graphicFrame>
        <p:nvGraphicFramePr>
          <p:cNvPr id="3" name="Table 2"/>
          <p:cNvGraphicFramePr>
            <a:graphicFrameLocks noGrp="1"/>
          </p:cNvGraphicFramePr>
          <p:nvPr/>
        </p:nvGraphicFramePr>
        <p:xfrm>
          <a:off x="685800" y="1874519"/>
          <a:ext cx="10789919" cy="2377440"/>
        </p:xfrm>
        <a:graphic>
          <a:graphicData uri="http://schemas.openxmlformats.org/drawingml/2006/table">
            <a:tbl>
              <a:tblPr firstRow="1" bandRow="1">
                <a:tableStyleId>{5C22544A-7EE6-4342-B048-85BDC9FD1C3A}</a:tableStyleId>
              </a:tblPr>
              <a:tblGrid>
                <a:gridCol w="1830432"/>
                <a:gridCol w="4046220"/>
                <a:gridCol w="4046220"/>
                <a:gridCol w="867047"/>
              </a:tblGrid>
              <a:tr h="792480">
                <a:tc>
                  <a:txBody>
                    <a:bodyPr/>
                    <a:lstStyle/>
                    <a:p>
                      <a:pPr algn="l">
                        <a:defRPr sz="1250" b="1">
                          <a:solidFill>
                            <a:srgbClr val="FFFFFF"/>
                          </a:solidFill>
                        </a:defRPr>
                      </a:pPr>
                      <a:r>
                        <a:rPr sz="1250" b="1">
                          <a:solidFill>
                            <a:srgbClr val="FFFFFF"/>
                          </a:solidFill>
                        </a:rPr>
                        <a:t>Step</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What it does</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Why it would matter</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Cost</a:t>
                      </a:r>
                    </a:p>
                  </a:txBody>
                  <a:tcPr marL="73152" marR="73152" marT="27432" marB="27432">
                    <a:solidFill>
                      <a:srgbClr val="1F4E79"/>
                    </a:solidFill>
                  </a:tcPr>
                </a:tc>
              </a:tr>
              <a:tr h="792480">
                <a:tc>
                  <a:txBody>
                    <a:bodyPr/>
                    <a:lstStyle/>
                    <a:p>
                      <a:pPr algn="l">
                        <a:defRPr sz="1250" b="0">
                          <a:solidFill>
                            <a:srgbClr val="1A1A1A"/>
                          </a:solidFill>
                        </a:defRPr>
                      </a:pPr>
                      <a:r>
                        <a:rPr sz="1250" b="0">
                          <a:solidFill>
                            <a:srgbClr val="1A1A1A"/>
                          </a:solidFill>
                        </a:rPr>
                        <a:t>Hyperparameter</a:t>
                      </a:r>
                    </a:p>
                    <a:p>
                      <a:pPr algn="l">
                        <a:defRPr sz="1250" b="0">
                          <a:solidFill>
                            <a:srgbClr val="1A1A1A"/>
                          </a:solidFill>
                        </a:defRPr>
                      </a:pPr>
                      <a:r>
                        <a:rPr sz="1250" b="0">
                          <a:solidFill>
                            <a:srgbClr val="1A1A1A"/>
                          </a:solidFill>
                        </a:rPr>
                        <a:t>sweep</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Tries six settings of the imbalance</a:t>
                      </a:r>
                    </a:p>
                    <a:p>
                      <a:pPr algn="ctr">
                        <a:defRPr sz="1250" b="0">
                          <a:solidFill>
                            <a:srgbClr val="1A1A1A"/>
                          </a:solidFill>
                        </a:defRPr>
                      </a:pPr>
                      <a:r>
                        <a:rPr sz="1250" b="0">
                          <a:solidFill>
                            <a:srgbClr val="1A1A1A"/>
                          </a:solidFill>
                        </a:rPr>
                        <a:t>controls, instead of the one value we</a:t>
                      </a:r>
                    </a:p>
                    <a:p>
                      <a:pPr algn="ctr">
                        <a:defRPr sz="1250" b="0">
                          <a:solidFill>
                            <a:srgbClr val="1A1A1A"/>
                          </a:solidFill>
                        </a:defRPr>
                      </a:pPr>
                      <a:r>
                        <a:rPr sz="1250" b="0">
                          <a:solidFill>
                            <a:srgbClr val="1A1A1A"/>
                          </a:solidFill>
                        </a:rPr>
                        <a:t>chose by hand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Lets us say we searched the settings</a:t>
                      </a:r>
                    </a:p>
                    <a:p>
                      <a:pPr algn="ctr">
                        <a:defRPr sz="1250" b="0">
                          <a:solidFill>
                            <a:srgbClr val="1A1A1A"/>
                          </a:solidFill>
                        </a:defRPr>
                      </a:pPr>
                      <a:r>
                        <a:rPr sz="1250" b="0">
                          <a:solidFill>
                            <a:srgbClr val="1A1A1A"/>
                          </a:solidFill>
                        </a:rPr>
                        <a:t>properly, rather than used the first</a:t>
                      </a:r>
                    </a:p>
                    <a:p>
                      <a:pPr algn="ctr">
                        <a:defRPr sz="1250" b="0">
                          <a:solidFill>
                            <a:srgbClr val="1A1A1A"/>
                          </a:solidFill>
                        </a:defRPr>
                      </a:pPr>
                      <a:r>
                        <a:rPr sz="1250" b="0">
                          <a:solidFill>
                            <a:srgbClr val="1A1A1A"/>
                          </a:solidFill>
                        </a:rPr>
                        <a:t>value we tried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FFFFF"/>
                    </a:solidFill>
                  </a:tcPr>
                </a:tc>
              </a:tr>
              <a:tr h="792480">
                <a:tc>
                  <a:txBody>
                    <a:bodyPr/>
                    <a:lstStyle/>
                    <a:p>
                      <a:pPr algn="l">
                        <a:defRPr sz="1250" b="0">
                          <a:solidFill>
                            <a:srgbClr val="1A1A1A"/>
                          </a:solidFill>
                        </a:defRPr>
                      </a:pPr>
                      <a:r>
                        <a:rPr sz="1250" b="0">
                          <a:solidFill>
                            <a:srgbClr val="1A1A1A"/>
                          </a:solidFill>
                        </a:rPr>
                        <a:t>5-fold</a:t>
                      </a:r>
                    </a:p>
                    <a:p>
                      <a:pPr algn="l">
                        <a:defRPr sz="1250" b="0">
                          <a:solidFill>
                            <a:srgbClr val="1A1A1A"/>
                          </a:solidFill>
                        </a:defRPr>
                      </a:pPr>
                      <a:r>
                        <a:rPr sz="1250" b="0">
                          <a:solidFill>
                            <a:srgbClr val="1A1A1A"/>
                          </a:solidFill>
                        </a:rPr>
                        <a:t>cross-validation</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Re-runs the model five times so every</a:t>
                      </a:r>
                    </a:p>
                    <a:p>
                      <a:pPr algn="ctr">
                        <a:defRPr sz="1250" b="0">
                          <a:solidFill>
                            <a:srgbClr val="1A1A1A"/>
                          </a:solidFill>
                        </a:defRPr>
                      </a:pPr>
                      <a:r>
                        <a:rPr sz="1250" b="0">
                          <a:solidFill>
                            <a:srgbClr val="1A1A1A"/>
                          </a:solidFill>
                        </a:rPr>
                        <a:t>image gets tested, instead of testing</a:t>
                      </a:r>
                    </a:p>
                    <a:p>
                      <a:pPr algn="ctr">
                        <a:defRPr sz="1250" b="0">
                          <a:solidFill>
                            <a:srgbClr val="1A1A1A"/>
                          </a:solidFill>
                        </a:defRPr>
                      </a:pPr>
                      <a:r>
                        <a:rPr sz="1250" b="0">
                          <a:solidFill>
                            <a:srgbClr val="1A1A1A"/>
                          </a:solidFill>
                        </a:rPr>
                        <a:t>on a single 15% slice</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Halves the measurement error. That is</a:t>
                      </a:r>
                    </a:p>
                    <a:p>
                      <a:pPr algn="ctr">
                        <a:defRPr sz="1250" b="0">
                          <a:solidFill>
                            <a:srgbClr val="1A1A1A"/>
                          </a:solidFill>
                        </a:defRPr>
                      </a:pPr>
                      <a:r>
                        <a:rPr sz="1250" b="0">
                          <a:solidFill>
                            <a:srgbClr val="1A1A1A"/>
                          </a:solidFill>
                        </a:rPr>
                        <a:t>what would make a 0.02 change in F1</a:t>
                      </a:r>
                    </a:p>
                    <a:p>
                      <a:pPr algn="ctr">
                        <a:defRPr sz="1250" b="0">
                          <a:solidFill>
                            <a:srgbClr val="1A1A1A"/>
                          </a:solidFill>
                        </a:defRPr>
                      </a:pPr>
                      <a:r>
                        <a:rPr sz="1250" b="0">
                          <a:solidFill>
                            <a:srgbClr val="1A1A1A"/>
                          </a:solidFill>
                        </a:rPr>
                        <a:t>provable rather than nominal</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2F4F7"/>
                    </a:solidFill>
                  </a:tcPr>
                </a:tc>
              </a:tr>
            </a:tbl>
          </a:graphicData>
        </a:graphic>
      </p:graphicFrame>
      <p:sp>
        <p:nvSpPr>
          <p:cNvPr id="4" name="TextBox 3"/>
          <p:cNvSpPr txBox="1"/>
          <p:nvPr/>
        </p:nvSpPr>
        <p:spPr>
          <a:xfrm>
            <a:off x="685800" y="4480560"/>
            <a:ext cx="10881360" cy="1234439"/>
          </a:xfrm>
          <a:prstGeom prst="rect">
            <a:avLst/>
          </a:prstGeom>
          <a:noFill/>
        </p:spPr>
        <p:txBody>
          <a:bodyPr wrap="square">
            <a:spAutoFit/>
          </a:bodyPr>
          <a:lstStyle/>
          <a:p>
            <a:pPr>
              <a:spcAft>
                <a:spcPts val="1000"/>
              </a:spcAft>
              <a:defRPr sz="1500">
                <a:solidFill>
                  <a:srgbClr val="1A1A1A"/>
                </a:solidFill>
              </a:defRPr>
            </a:pPr>
            <a:r>
              <a:t>• Expected effect on the headline numbers: small. We are already at the paper's level, and the sweep is unlikely to move it much.</a:t>
            </a:r>
          </a:p>
          <a:p>
            <a:pPr>
              <a:spcAft>
                <a:spcPts val="1000"/>
              </a:spcAft>
              <a:defRPr sz="1500">
                <a:solidFill>
                  <a:srgbClr val="1A1A1A"/>
                </a:solidFill>
              </a:defRPr>
            </a:pPr>
            <a:r>
              <a:t>• The gain is confidence rather than score — the cross-validation would let us state the result with half the current uncertainty.</a:t>
            </a:r>
          </a:p>
          <a:p>
            <a:pPr>
              <a:spcAft>
                <a:spcPts val="1000"/>
              </a:spcAft>
              <a:defRPr sz="1500">
                <a:solidFill>
                  <a:srgbClr val="1A1A1A"/>
                </a:solidFill>
              </a:defRPr>
            </a:pPr>
            <a:r>
              <a:t>• Neither blocks Part 2. The cross-device work can proceed in parallel either way.</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Happy to run both, either, or neither — whichever you think is the better use of the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rPr sz="1400" b="1">
                          <a:solidFill>
                            <a:srgbClr val="FFFFFF"/>
                          </a:solidFill>
                        </a:rPr>
                        <a:t>Trained → Tested</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AUC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F1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Recall (DR / ME)</a:t>
                      </a:r>
                    </a:p>
                  </a:txBody>
                  <a:tcPr marL="73152" marR="73152" marT="27432" marB="27432">
                    <a:solidFill>
                      <a:srgbClr val="1F4E79"/>
                    </a:solidFill>
                  </a:tcPr>
                </a:tc>
              </a:tr>
              <a:tr h="329183">
                <a:tc>
                  <a:txBody>
                    <a:bodyPr/>
                    <a:lstStyle/>
                    <a:p>
                      <a:pPr algn="l">
                        <a:defRPr sz="1400" b="0">
                          <a:solidFill>
                            <a:srgbClr val="1A1A1A"/>
                          </a:solidFill>
                        </a:defRPr>
                      </a:pPr>
                      <a:r>
                        <a:rPr sz="1400" b="0">
                          <a:solidFill>
                            <a:srgbClr val="1A1A1A"/>
                          </a:solidFill>
                        </a:rPr>
                        <a:t>BRSET → BRSET (in-domain)</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0.988 / 0.994</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0.869 / 0.790</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0.877 / 0.770</a:t>
                      </a:r>
                    </a:p>
                  </a:txBody>
                  <a:tcPr marL="73152" marR="73152" marT="27432" marB="27432">
                    <a:solidFill>
                      <a:srgbClr val="FFFFFF"/>
                    </a:solidFill>
                  </a:tcPr>
                </a:tc>
              </a:tr>
              <a:tr h="329183">
                <a:tc>
                  <a:txBody>
                    <a:bodyPr/>
                    <a:lstStyle/>
                    <a:p>
                      <a:pPr algn="l">
                        <a:defRPr sz="1400" b="0">
                          <a:solidFill>
                            <a:srgbClr val="1A1A1A"/>
                          </a:solidFill>
                        </a:defRPr>
                      </a:pPr>
                      <a:r>
                        <a:rPr sz="1400" b="0">
                          <a:solidFill>
                            <a:srgbClr val="1A1A1A"/>
                          </a:solidFill>
                        </a:rPr>
                        <a:t>mBRSET → mBRSET (in-domain)</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0.939 / 0.988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0.815 / 0.807</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0.774 / 0.730</a:t>
                      </a:r>
                    </a:p>
                  </a:txBody>
                  <a:tcPr marL="73152" marR="73152" marT="27432" marB="27432">
                    <a:solidFill>
                      <a:srgbClr val="F2F4F7"/>
                    </a:solidFill>
                  </a:tcPr>
                </a:tc>
              </a:tr>
              <a:tr h="329183">
                <a:tc>
                  <a:txBody>
                    <a:bodyPr/>
                    <a:lstStyle/>
                    <a:p>
                      <a:pPr algn="l">
                        <a:defRPr sz="1400" b="0">
                          <a:solidFill>
                            <a:srgbClr val="1A1A1A"/>
                          </a:solidFill>
                        </a:defRPr>
                      </a:pPr>
                      <a:r>
                        <a:rPr sz="1400" b="0">
                          <a:solidFill>
                            <a:srgbClr val="1A1A1A"/>
                          </a:solidFill>
                        </a:rPr>
                        <a:t>BRSET → mBRSET, BRSET threshold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0.909 / 0.933</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0.661 / 0.566</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0.503 / 0.444</a:t>
                      </a:r>
                    </a:p>
                  </a:txBody>
                  <a:tcPr marL="73152" marR="73152" marT="27432" marB="27432">
                    <a:solidFill>
                      <a:srgbClr val="FFFFFF"/>
                    </a:solidFill>
                  </a:tcPr>
                </a:tc>
              </a:tr>
              <a:tr h="329187">
                <a:tc>
                  <a:txBody>
                    <a:bodyPr/>
                    <a:lstStyle/>
                    <a:p>
                      <a:pPr algn="l">
                        <a:defRPr sz="1400" b="1">
                          <a:solidFill>
                            <a:srgbClr val="1A1A1A"/>
                          </a:solidFill>
                        </a:defRPr>
                      </a:pPr>
                      <a:r>
                        <a:rPr sz="1400" b="1">
                          <a:solidFill>
                            <a:srgbClr val="1A1A1A"/>
                          </a:solidFill>
                        </a:rPr>
                        <a:t>BRSET → mBRSET, threshold retuned</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0.909 / 0.933</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0.717 / 0.628</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How many patients have the disease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Best cutoff for that group</a:t>
                      </a:r>
                    </a:p>
                  </a:txBody>
                  <a:tcPr marL="73152" marR="73152" marT="27432" marB="27432">
                    <a:solidFill>
                      <a:srgbClr val="1F4E79"/>
                    </a:solidFill>
                  </a:tcPr>
                </a:tc>
              </a:tr>
              <a:tr h="457200">
                <a:tc>
                  <a:txBody>
                    <a:bodyPr/>
                    <a:lstStyle/>
                    <a:p>
                      <a:pPr algn="l">
                        <a:defRPr sz="1500" b="0">
                          <a:solidFill>
                            <a:srgbClr val="1A1A1A"/>
                          </a:solidFill>
                        </a:defRPr>
                      </a:pPr>
                      <a:r>
                        <a:rPr sz="1500" b="0">
                          <a:solidFill>
                            <a:srgbClr val="1A1A1A"/>
                          </a:solidFill>
                        </a:rPr>
                        <a:t>BRSET — where we trained</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6.6% of eyes  (1 in 15)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0.61   be strict</a:t>
                      </a:r>
                    </a:p>
                  </a:txBody>
                  <a:tcPr marL="73152" marR="73152" marT="27432" marB="27432">
                    <a:solidFill>
                      <a:srgbClr val="FFFFFF"/>
                    </a:solidFill>
                  </a:tcPr>
                </a:tc>
              </a:tr>
              <a:tr h="457200">
                <a:tc>
                  <a:txBody>
                    <a:bodyPr/>
                    <a:lstStyle/>
                    <a:p>
                      <a:pPr algn="l">
                        <a:defRPr sz="1500" b="0">
                          <a:solidFill>
                            <a:srgbClr val="1A1A1A"/>
                          </a:solidFill>
                        </a:defRPr>
                      </a:pPr>
                      <a:r>
                        <a:rPr sz="1500" b="0">
                          <a:solidFill>
                            <a:srgbClr val="1A1A1A"/>
                          </a:solidFill>
                        </a:rPr>
                        <a:t>mBRSET — where we tested</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23.3% of eyes  (1 in 4)</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rPr sz="1500" b="1">
                          <a:solidFill>
                            <a:srgbClr val="FFFFFF"/>
                          </a:solidFill>
                        </a:rPr>
                        <a:t>BRSET → mBRSET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AUC</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Target prevalence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Max possible F1</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Our F1</a:t>
                      </a:r>
                    </a:p>
                  </a:txBody>
                  <a:tcPr marL="73152" marR="73152" marT="27432" marB="27432">
                    <a:solidFill>
                      <a:srgbClr val="1F4E79"/>
                    </a:solidFill>
                  </a:tcPr>
                </a:tc>
              </a:tr>
              <a:tr h="329184">
                <a:tc>
                  <a:txBody>
                    <a:bodyPr/>
                    <a:lstStyle/>
                    <a:p>
                      <a:pPr algn="l">
                        <a:defRPr sz="1500" b="1">
                          <a:solidFill>
                            <a:srgbClr val="1A1A1A"/>
                          </a:solidFill>
                        </a:defRPr>
                      </a:pPr>
                      <a:r>
                        <a:rPr sz="1500" b="1">
                          <a:solidFill>
                            <a:srgbClr val="1A1A1A"/>
                          </a:solidFill>
                        </a:rPr>
                        <a:t>Diabetic retinopathy</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0.909</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21.7%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0.697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0.717</a:t>
                      </a:r>
                    </a:p>
                  </a:txBody>
                  <a:tcPr marL="73152" marR="73152" marT="27432" marB="27432">
                    <a:solidFill>
                      <a:srgbClr val="E3EFE3"/>
                    </a:solidFill>
                  </a:tcPr>
                </a:tc>
              </a:tr>
              <a:tr h="329184">
                <a:tc>
                  <a:txBody>
                    <a:bodyPr/>
                    <a:lstStyle/>
                    <a:p>
                      <a:pPr algn="l">
                        <a:defRPr sz="1500" b="1">
                          <a:solidFill>
                            <a:srgbClr val="1A1A1A"/>
                          </a:solidFill>
                        </a:defRPr>
                      </a:pPr>
                      <a:r>
                        <a:rPr sz="1500" b="1">
                          <a:solidFill>
                            <a:srgbClr val="1A1A1A"/>
                          </a:solidFill>
                        </a:rPr>
                        <a:t>Macular edema</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0.933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8.6%</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make the BRSET model work on mBRSET</a:t>
            </a:r>
          </a:p>
          <a:p>
            <a:pPr>
              <a:defRPr sz="1500">
                <a:solidFill>
                  <a:srgbClr val="5A5A5A"/>
                </a:solidFill>
              </a:defRPr>
            </a:pPr>
            <a:r>
              <a:t>Two methods proposed, one parked for your input. Ordered by expected gain per unit of effort.</a:t>
            </a:r>
          </a:p>
        </p:txBody>
      </p:sp>
      <p:graphicFrame>
        <p:nvGraphicFramePr>
          <p:cNvPr id="3" name="Table 2"/>
          <p:cNvGraphicFramePr>
            <a:graphicFrameLocks noGrp="1"/>
          </p:cNvGraphicFramePr>
          <p:nvPr/>
        </p:nvGraphicFramePr>
        <p:xfrm>
          <a:off x="685800" y="1737360"/>
          <a:ext cx="10789918" cy="3931920"/>
        </p:xfrm>
        <a:graphic>
          <a:graphicData uri="http://schemas.openxmlformats.org/drawingml/2006/table">
            <a:tbl>
              <a:tblPr firstRow="1" bandRow="1">
                <a:tableStyleId>{5C22544A-7EE6-4342-B048-85BDC9FD1C3A}</a:tableStyleId>
              </a:tblPr>
              <a:tblGrid>
                <a:gridCol w="372066"/>
                <a:gridCol w="2232397"/>
                <a:gridCol w="6139092"/>
                <a:gridCol w="744132"/>
                <a:gridCol w="1302231"/>
              </a:tblGrid>
              <a:tr h="982980">
                <a:tc>
                  <a:txBody>
                    <a:bodyPr/>
                    <a:lstStyle/>
                    <a:p>
                      <a:pPr algn="l">
                        <a:defRPr sz="1150" b="1">
                          <a:solidFill>
                            <a:srgbClr val="FFFFFF"/>
                          </a:solidFill>
                        </a:defRPr>
                      </a:pPr>
                      <a:r>
                        <a:rPr sz="1150" b="1">
                          <a:solidFill>
                            <a:srgbClr val="FFFFFF"/>
                          </a:solidFill>
                        </a:rPr>
                        <a: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Method</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it does</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Effort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98298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Use all of a patient's</a:t>
                      </a:r>
                    </a:p>
                    <a:p>
                      <a:pPr algn="ctr">
                        <a:defRPr sz="1150" b="0">
                          <a:solidFill>
                            <a:srgbClr val="1A1A1A"/>
                          </a:solidFill>
                        </a:defRPr>
                      </a:pPr>
                      <a:r>
                        <a:rPr sz="1150" b="0">
                          <a:solidFill>
                            <a:srgbClr val="1A1A1A"/>
                          </a:solidFill>
                        </a:rPr>
                        <a:t>images together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mBRSET has about 4 images per patient. 85% of the time they share</a:t>
                      </a:r>
                    </a:p>
                    <a:p>
                      <a:pPr algn="ctr">
                        <a:defRPr sz="1150" b="0">
                          <a:solidFill>
                            <a:srgbClr val="1A1A1A"/>
                          </a:solidFill>
                        </a:defRPr>
                      </a:pPr>
                      <a:r>
                        <a:rPr sz="1150" b="0">
                          <a:solidFill>
                            <a:srgbClr val="1A1A1A"/>
                          </a:solidFill>
                        </a:rPr>
                        <a:t>the same diagnosis, but we currently judge each image alone.</a:t>
                      </a:r>
                    </a:p>
                    <a:p>
                      <a:pPr algn="ctr">
                        <a:defRPr sz="1150" b="0">
                          <a:solidFill>
                            <a:srgbClr val="1A1A1A"/>
                          </a:solidFill>
                        </a:defRPr>
                      </a:pPr>
                      <a:r>
                        <a:rPr sz="1150" b="0">
                          <a:solidFill>
                            <a:srgbClr val="1A1A1A"/>
                          </a:solidFill>
                        </a:rPr>
                        <a:t>Blur differs per image, so combining them cancels it out.</a:t>
                      </a:r>
                    </a:p>
                    <a:p>
                      <a:pPr algn="ctr">
                        <a:defRPr sz="1150" b="0">
                          <a:solidFill>
                            <a:srgbClr val="1A1A1A"/>
                          </a:solidFill>
                        </a:defRPr>
                      </a:pPr>
                      <a:r>
                        <a:rPr sz="1150" b="0">
                          <a:solidFill>
                            <a:srgbClr val="1A1A1A"/>
                          </a:solidFill>
                        </a:rPr>
                        <a:t>Published gains on retinal data: +0.085 to +0.121 AUC. We need +0.04.</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FFFFF"/>
                    </a:solidFill>
                  </a:tcPr>
                </a:tc>
              </a:tr>
              <a:tr h="98298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Set the cutoff without</a:t>
                      </a:r>
                    </a:p>
                    <a:p>
                      <a:pPr algn="ctr">
                        <a:defRPr sz="1150" b="0">
                          <a:solidFill>
                            <a:srgbClr val="1A1A1A"/>
                          </a:solidFill>
                        </a:defRPr>
                      </a:pPr>
                      <a:r>
                        <a:rPr sz="1150" b="0">
                          <a:solidFill>
                            <a:srgbClr val="1A1A1A"/>
                          </a:solidFill>
                        </a:rPr>
                        <a:t>needing an answer key</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Estimates the disease rate from unlabelled images, so the cutoff fix</a:t>
                      </a:r>
                    </a:p>
                    <a:p>
                      <a:pPr algn="ctr">
                        <a:defRPr sz="1150" b="0">
                          <a:solidFill>
                            <a:srgbClr val="1A1A1A"/>
                          </a:solidFill>
                        </a:defRPr>
                      </a:pPr>
                      <a:r>
                        <a:rPr sz="1150" b="0">
                          <a:solidFill>
                            <a:srgbClr val="1A1A1A"/>
                          </a:solidFill>
                        </a:rPr>
                        <a:t>works on a new camera with no annotations at all.</a:t>
                      </a:r>
                    </a:p>
                    <a:p>
                      <a:pPr algn="ctr">
                        <a:defRPr sz="1150" b="0">
                          <a:solidFill>
                            <a:srgbClr val="1A1A1A"/>
                          </a:solidFill>
                        </a:defRPr>
                      </a:pPr>
                      <a:r>
                        <a:rPr sz="1150" b="0">
                          <a:solidFill>
                            <a:srgbClr val="1A1A1A"/>
                          </a:solidFill>
                        </a:rPr>
                        <a:t>Does not raise AUC — it makes the gain we already have deployable,</a:t>
                      </a:r>
                    </a:p>
                    <a:p>
                      <a:pPr algn="ctr">
                        <a:defRPr sz="1150" b="0">
                          <a:solidFill>
                            <a:srgbClr val="1A1A1A"/>
                          </a:solidFill>
                        </a:defRPr>
                      </a:pPr>
                      <a:r>
                        <a:rPr sz="1150" b="0">
                          <a:solidFill>
                            <a:srgbClr val="1A1A1A"/>
                          </a:solidFill>
                        </a:rPr>
                        <a:t>and is the honest baseline the other methods are measured against.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0.5 d</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2F4F7"/>
                    </a:solidFill>
                  </a:tcPr>
                </a:tc>
              </a:tr>
              <a:tr h="98298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Train on deliberately</a:t>
                      </a:r>
                    </a:p>
                    <a:p>
                      <a:pPr algn="ctr">
                        <a:defRPr sz="1150" b="0">
                          <a:solidFill>
                            <a:srgbClr val="1A1A1A"/>
                          </a:solidFill>
                        </a:defRPr>
                      </a:pPr>
                      <a:r>
                        <a:rPr sz="1150" b="0">
                          <a:solidFill>
                            <a:srgbClr val="1A1A1A"/>
                          </a:solidFill>
                        </a:rPr>
                        <a:t>degraded BRSET images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Blur and darken real BRSET images to imitate handheld capture, so</a:t>
                      </a:r>
                    </a:p>
                    <a:p>
                      <a:pPr algn="ctr">
                        <a:defRPr sz="1150" b="0">
                          <a:solidFill>
                            <a:srgbClr val="1A1A1A"/>
                          </a:solidFill>
                        </a:defRPr>
                      </a:pPr>
                      <a:r>
                        <a:rPr sz="1150" b="0">
                          <a:solidFill>
                            <a:srgbClr val="1A1A1A"/>
                          </a:solidFill>
                        </a:rPr>
                        <a:t>the model learns to find lesions despite poor quality.</a:t>
                      </a:r>
                    </a:p>
                    <a:p>
                      <a:pPr algn="ctr">
                        <a:defRPr sz="1150" b="0">
                          <a:solidFill>
                            <a:srgbClr val="1A1A1A"/>
                          </a:solidFill>
                        </a:defRPr>
                      </a:pPr>
                      <a:r>
                        <a:rPr sz="1150" b="0">
                          <a:solidFill>
                            <a:srgbClr val="1A1A1A"/>
                          </a:solidFill>
                        </a:rPr>
                        <a:t>Aimed at macular edema specifically, where blur destroys the sharp</a:t>
                      </a:r>
                    </a:p>
                    <a:p>
                      <a:pPr algn="ctr">
                        <a:defRPr sz="1150" b="0">
                          <a:solidFill>
                            <a:srgbClr val="1A1A1A"/>
                          </a:solidFill>
                        </a:defRPr>
                      </a:pPr>
                      <a:r>
                        <a:rPr sz="1150" b="0">
                          <a:solidFill>
                            <a:srgbClr val="1A1A1A"/>
                          </a:solidFill>
                        </a:rPr>
                        <a:t>edge that separates an exudate from a harmless drusen.</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Parked —</a:t>
                      </a:r>
                    </a:p>
                    <a:p>
                      <a:pPr algn="ctr">
                        <a:defRPr sz="1150" b="0">
                          <a:solidFill>
                            <a:srgbClr val="1A1A1A"/>
                          </a:solidFill>
                        </a:defRPr>
                      </a:pPr>
                      <a:r>
                        <a:rPr sz="1150" b="0">
                          <a:solidFill>
                            <a:srgbClr val="1A1A1A"/>
                          </a:solidFill>
                        </a:rPr>
                        <a:t>for discussion</a:t>
                      </a:r>
                    </a:p>
                  </a:txBody>
                  <a:tcPr marL="73152" marR="73152" marT="27432" marB="27432">
                    <a:solidFill>
                      <a:srgbClr val="FFFFFF"/>
                    </a:solidFill>
                  </a:tcPr>
                </a:tc>
              </a:tr>
            </a:tbl>
          </a:graphicData>
        </a:graphic>
      </p:graphicFrame>
      <p:sp>
        <p:nvSpPr>
          <p:cNvPr id="4" name="TextBox 3"/>
          <p:cNvSpPr txBox="1"/>
          <p:nvPr/>
        </p:nvSpPr>
        <p:spPr>
          <a:xfrm>
            <a:off x="685800" y="5897880"/>
            <a:ext cx="10881360" cy="685800"/>
          </a:xfrm>
          <a:prstGeom prst="rect">
            <a:avLst/>
          </a:prstGeom>
          <a:noFill/>
        </p:spPr>
        <p:txBody>
          <a:bodyPr wrap="square">
            <a:spAutoFit/>
          </a:bodyPr>
          <a:lstStyle/>
          <a:p>
            <a:pPr>
              <a:defRPr sz="1600" b="1">
                <a:solidFill>
                  <a:srgbClr val="1F4E79"/>
                </a:solidFill>
              </a:defRPr>
            </a:pPr>
            <a:r>
              <a:t>Method 3 is the one I would like your view on before starting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we found, and how certain we are</a:t>
            </a:r>
          </a:p>
          <a:p>
            <a:pPr>
              <a:defRPr sz="1500">
                <a:solidFill>
                  <a:srgbClr val="5A5A5A"/>
                </a:solidFill>
              </a:defRPr>
            </a:pPr>
            <a:r>
              <a:t>Search covered all 33 papers citing either dataset, plus GitHub, arXiv and preprint servers.</a:t>
            </a:r>
          </a:p>
        </p:txBody>
      </p:sp>
      <p:graphicFrame>
        <p:nvGraphicFramePr>
          <p:cNvPr id="3" name="Table 2"/>
          <p:cNvGraphicFramePr>
            <a:graphicFrameLocks noGrp="1"/>
          </p:cNvGraphicFramePr>
          <p:nvPr/>
        </p:nvGraphicFramePr>
        <p:xfrm>
          <a:off x="685800" y="1783080"/>
          <a:ext cx="10789919" cy="3566160"/>
        </p:xfrm>
        <a:graphic>
          <a:graphicData uri="http://schemas.openxmlformats.org/drawingml/2006/table">
            <a:tbl>
              <a:tblPr firstRow="1" bandRow="1">
                <a:tableStyleId>{5C22544A-7EE6-4342-B048-85BDC9FD1C3A}</a:tableStyleId>
              </a:tblPr>
              <a:tblGrid>
                <a:gridCol w="6418142"/>
                <a:gridCol w="4371777"/>
              </a:tblGrid>
              <a:tr h="509451">
                <a:tc>
                  <a:txBody>
                    <a:bodyPr/>
                    <a:lstStyle/>
                    <a:p>
                      <a:pPr algn="l">
                        <a:defRPr sz="1150" b="1">
                          <a:solidFill>
                            <a:srgbClr val="FFFFFF"/>
                          </a:solidFill>
                        </a:defRPr>
                      </a:pPr>
                      <a:r>
                        <a:rPr sz="1150" b="1">
                          <a:solidFill>
                            <a:srgbClr val="FFFFFF"/>
                          </a:solidFill>
                        </a:rPr>
                        <a:t>Finding</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How certain</a:t>
                      </a:r>
                    </a:p>
                  </a:txBody>
                  <a:tcPr marL="73152" marR="73152" marT="27432" marB="27432">
                    <a:solidFill>
                      <a:srgbClr val="1F4E79"/>
                    </a:solidFill>
                  </a:tcPr>
                </a:tc>
              </a:tr>
              <a:tr h="509451">
                <a:tc>
                  <a:txBody>
                    <a:bodyPr/>
                    <a:lstStyle/>
                    <a:p>
                      <a:pPr algn="l">
                        <a:defRPr sz="1150" b="0">
                          <a:solidFill>
                            <a:srgbClr val="1A1A1A"/>
                          </a:solidFill>
                        </a:defRPr>
                      </a:pPr>
                      <a:r>
                        <a:rPr sz="1150" b="0">
                          <a:solidFill>
                            <a:srgbClr val="1A1A1A"/>
                          </a:solidFill>
                        </a:rPr>
                        <a:t>No published BRSET → mBRSET transfer study found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Exhaustive citation search — but not finding one</a:t>
                      </a:r>
                    </a:p>
                    <a:p>
                      <a:pPr algn="ctr">
                        <a:defRPr sz="1150" b="0">
                          <a:solidFill>
                            <a:srgbClr val="1A1A1A"/>
                          </a:solidFill>
                        </a:defRPr>
                      </a:pPr>
                      <a:r>
                        <a:rPr sz="1150" b="0">
                          <a:solidFill>
                            <a:srgbClr val="1A1A1A"/>
                          </a:solidFill>
                        </a:rPr>
                        <a:t>is not the same as proving none exists</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The dataset creators list "domain adaptation across imaging devices"</a:t>
                      </a:r>
                    </a:p>
                    <a:p>
                      <a:pPr algn="l">
                        <a:defRPr sz="1150" b="0">
                          <a:solidFill>
                            <a:srgbClr val="1A1A1A"/>
                          </a:solidFill>
                        </a:defRPr>
                      </a:pPr>
                      <a:r>
                        <a:rPr sz="1150" b="0">
                          <a:solidFill>
                            <a:srgbClr val="1A1A1A"/>
                          </a:solidFill>
                        </a:rPr>
                        <a:t>as an application, and report no such experiment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stated on their March 2026 release</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No work uses BRSET's per-image degradation labels</a:t>
                      </a:r>
                    </a:p>
                    <a:p>
                      <a:pPr algn="l">
                        <a:defRPr sz="1150" b="0">
                          <a:solidFill>
                            <a:srgbClr val="1A1A1A"/>
                          </a:solidFill>
                        </a:defRPr>
                      </a:pPr>
                      <a:r>
                        <a:rPr sz="1150" b="0">
                          <a:solidFill>
                            <a:srgbClr val="1A1A1A"/>
                          </a:solidFill>
                        </a:rPr>
                        <a:t>(focus / illumination / field / artifact) for transfer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Verified — the labels exist and are unused</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No work reports cross-device macular edema degradation</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and our ME gap (0.179) is larger</a:t>
                      </a:r>
                    </a:p>
                    <a:p>
                      <a:pPr algn="ctr">
                        <a:defRPr sz="1150" b="0">
                          <a:solidFill>
                            <a:srgbClr val="1A1A1A"/>
                          </a:solidFill>
                        </a:defRPr>
                      </a:pPr>
                      <a:r>
                        <a:rPr sz="1150" b="0">
                          <a:solidFill>
                            <a:srgbClr val="1A1A1A"/>
                          </a:solidFill>
                        </a:rPr>
                        <a:t>than our DR gap (0.098)</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RetSyn (J Biomed Inform 2025) — synthetic data for tabletop → portable.</a:t>
                      </a:r>
                    </a:p>
                    <a:p>
                      <a:pPr algn="l">
                        <a:defRPr sz="1150" b="0">
                          <a:solidFill>
                            <a:srgbClr val="1A1A1A"/>
                          </a:solidFill>
                        </a:defRPr>
                      </a:pPr>
                      <a:r>
                        <a:rPr sz="1150" b="0">
                          <a:solidFill>
                            <a:srgbClr val="1A1A1A"/>
                          </a:solidFill>
                        </a:rPr>
                        <a:t>Same senior author as both datasets.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Published and real. This is the competitor.</a:t>
                      </a:r>
                    </a:p>
                  </a:txBody>
                  <a:tcPr marL="73152" marR="73152" marT="27432" marB="27432">
                    <a:solidFill>
                      <a:srgbClr val="FFFFFF"/>
                    </a:solidFill>
                  </a:tcPr>
                </a:tc>
              </a:tr>
              <a:tr h="509454">
                <a:tc>
                  <a:txBody>
                    <a:bodyPr/>
                    <a:lstStyle/>
                    <a:p>
                      <a:pPr algn="l">
                        <a:defRPr sz="1150" b="0">
                          <a:solidFill>
                            <a:srgbClr val="1A1A1A"/>
                          </a:solidFill>
                        </a:defRPr>
                      </a:pPr>
                      <a:r>
                        <a:rPr sz="1150" b="0">
                          <a:solidFill>
                            <a:srgbClr val="1A1A1A"/>
                          </a:solidFill>
                        </a:rPr>
                        <a:t>One GitHub project is doing a descriptive version of BRSET → mBRSET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Real, but a single commit — code skeleton,</a:t>
                      </a:r>
                    </a:p>
                    <a:p>
                      <a:pPr algn="ctr">
                        <a:defRPr sz="1150" b="0">
                          <a:solidFill>
                            <a:srgbClr val="1A1A1A"/>
                          </a:solidFill>
                        </a:defRPr>
                      </a:pPr>
                      <a:r>
                        <a:rPr sz="1150" b="0">
                          <a:solidFill>
                            <a:srgbClr val="1A1A1A"/>
                          </a:solidFill>
                        </a:rPr>
                        <a:t>no data, no results published yet</a:t>
                      </a:r>
                    </a:p>
                  </a:txBody>
                  <a:tcPr marL="73152" marR="73152" marT="27432" marB="27432">
                    <a:solidFill>
                      <a:srgbClr val="F2F4F7"/>
                    </a:solidFill>
                  </a:tcPr>
                </a:tc>
              </a:tr>
            </a:tbl>
          </a:graphicData>
        </a:graphic>
      </p:graphicFrame>
      <p:sp>
        <p:nvSpPr>
          <p:cNvPr id="4" name="TextBox 3"/>
          <p:cNvSpPr txBox="1"/>
          <p:nvPr/>
        </p:nvSpPr>
        <p:spPr>
          <a:xfrm>
            <a:off x="685800" y="5440680"/>
            <a:ext cx="10881360" cy="1234439"/>
          </a:xfrm>
          <a:prstGeom prst="rect">
            <a:avLst/>
          </a:prstGeom>
          <a:noFill/>
        </p:spPr>
        <p:txBody>
          <a:bodyPr wrap="square">
            <a:spAutoFit/>
          </a:bodyPr>
          <a:lstStyle/>
          <a:p>
            <a:pPr>
              <a:spcAft>
                <a:spcPts val="1000"/>
              </a:spcAft>
              <a:defRPr sz="1300">
                <a:solidFill>
                  <a:srgbClr val="1A1A1A"/>
                </a:solidFill>
              </a:defRPr>
            </a:pPr>
            <a:r>
              <a:t>• How we differ from RetSyn: they generate synthetic images; we diagnose what actually breaks, and separate image quality from camera identity. They do not address macular edema or the cutoff problem.</a:t>
            </a:r>
          </a:p>
          <a:p>
            <a:pPr>
              <a:spcAft>
                <a:spcPts val="1000"/>
              </a:spcAft>
              <a:defRPr sz="1300">
                <a:solidFill>
                  <a:srgbClr val="1A1A1A"/>
                </a:solidFill>
              </a:defRPr>
            </a:pPr>
            <a:r>
              <a:t>• How we differ from the GitHub project: they use frozen features and a simple classifier; we fine-tune the whole model and cover both findings.</a:t>
            </a:r>
          </a:p>
          <a:p>
            <a:pPr>
              <a:spcAft>
                <a:spcPts val="1000"/>
              </a:spcAft>
              <a:defRPr sz="1300">
                <a:solidFill>
                  <a:srgbClr val="1A1A1A"/>
                </a:solidFill>
              </a:defRPr>
            </a:pPr>
            <a:r>
              <a:t>• Our shift is unusually clean: country, ethnicity, dilation, 45° field of view and grading protocol are all held constant, so only the camera changes. A study that also crossed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would be new here</a:t>
            </a:r>
          </a:p>
          <a:p>
            <a:pPr>
              <a:defRPr sz="1500">
                <a:solidFill>
                  <a:srgbClr val="5A5A5A"/>
                </a:solidFill>
              </a:defRPr>
            </a:pPr>
            <a:r>
              <a:t>Three things nobody has done. The first is the strongest, and it holds whatever the methods turn out to do.</a:t>
            </a:r>
          </a:p>
        </p:txBody>
      </p:sp>
      <p:graphicFrame>
        <p:nvGraphicFramePr>
          <p:cNvPr id="3" name="Table 2"/>
          <p:cNvGraphicFramePr>
            <a:graphicFrameLocks noGrp="1"/>
          </p:cNvGraphicFramePr>
          <p:nvPr/>
        </p:nvGraphicFramePr>
        <p:xfrm>
          <a:off x="685800" y="1737360"/>
          <a:ext cx="10789919" cy="3840480"/>
        </p:xfrm>
        <a:graphic>
          <a:graphicData uri="http://schemas.openxmlformats.org/drawingml/2006/table">
            <a:tbl>
              <a:tblPr firstRow="1" bandRow="1">
                <a:tableStyleId>{5C22544A-7EE6-4342-B048-85BDC9FD1C3A}</a:tableStyleId>
              </a:tblPr>
              <a:tblGrid>
                <a:gridCol w="337185"/>
                <a:gridCol w="3757204"/>
                <a:gridCol w="5394960"/>
                <a:gridCol w="1300570"/>
              </a:tblGrid>
              <a:tr h="960120">
                <a:tc>
                  <a:txBody>
                    <a:bodyPr/>
                    <a:lstStyle/>
                    <a:p>
                      <a:pPr algn="l">
                        <a:defRPr sz="1150" b="1">
                          <a:solidFill>
                            <a:srgbClr val="FFFFFF"/>
                          </a:solidFill>
                        </a:defRPr>
                      </a:pP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we would contribute</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Why nobody has done it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96012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Show what a cross-device drop is</a:t>
                      </a:r>
                    </a:p>
                    <a:p>
                      <a:pPr algn="ctr">
                        <a:defRPr sz="1150" b="0">
                          <a:solidFill>
                            <a:srgbClr val="1A1A1A"/>
                          </a:solidFill>
                        </a:defRPr>
                      </a:pPr>
                      <a:r>
                        <a:rPr sz="1150" b="0">
                          <a:solidFill>
                            <a:srgbClr val="1A1A1A"/>
                          </a:solidFill>
                        </a:rPr>
                        <a:t>actually made of: how much comes</a:t>
                      </a:r>
                    </a:p>
                    <a:p>
                      <a:pPr algn="ctr">
                        <a:defRPr sz="1150" b="0">
                          <a:solidFill>
                            <a:srgbClr val="1A1A1A"/>
                          </a:solidFill>
                        </a:defRPr>
                      </a:pPr>
                      <a:r>
                        <a:rPr sz="1150" b="0">
                          <a:solidFill>
                            <a:srgbClr val="1A1A1A"/>
                          </a:solidFill>
                        </a:rPr>
                        <a:t>from the sicker population, how much</a:t>
                      </a:r>
                    </a:p>
                    <a:p>
                      <a:pPr algn="ctr">
                        <a:defRPr sz="1150" b="0">
                          <a:solidFill>
                            <a:srgbClr val="1A1A1A"/>
                          </a:solidFill>
                        </a:defRPr>
                      </a:pPr>
                      <a:r>
                        <a:rPr sz="1150" b="0">
                          <a:solidFill>
                            <a:srgbClr val="1A1A1A"/>
                          </a:solidFill>
                        </a:rPr>
                        <a:t>from a badly-set cutoff, and how much</a:t>
                      </a:r>
                    </a:p>
                    <a:p>
                      <a:pPr algn="ctr">
                        <a:defRPr sz="1150" b="0">
                          <a:solidFill>
                            <a:srgbClr val="1A1A1A"/>
                          </a:solidFill>
                        </a:defRPr>
                      </a:pPr>
                      <a:r>
                        <a:rPr sz="1150" b="0">
                          <a:solidFill>
                            <a:srgbClr val="1A1A1A"/>
                          </a:solidFill>
                        </a:rPr>
                        <a:t>from the model genuinely doing worse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Papers report one number for the drop and</a:t>
                      </a:r>
                    </a:p>
                    <a:p>
                      <a:pPr algn="ctr">
                        <a:defRPr sz="1150" b="0">
                          <a:solidFill>
                            <a:srgbClr val="1A1A1A"/>
                          </a:solidFill>
                        </a:defRPr>
                      </a:pPr>
                      <a:r>
                        <a:rPr sz="1150" b="0">
                          <a:solidFill>
                            <a:srgbClr val="1A1A1A"/>
                          </a:solidFill>
                        </a:rPr>
                        <a:t>blame the model. We show the three causes</a:t>
                      </a:r>
                    </a:p>
                    <a:p>
                      <a:pPr algn="ctr">
                        <a:defRPr sz="1150" b="0">
                          <a:solidFill>
                            <a:srgbClr val="1A1A1A"/>
                          </a:solidFill>
                        </a:defRPr>
                      </a:pPr>
                      <a:r>
                        <a:rPr sz="1150" b="0">
                          <a:solidFill>
                            <a:srgbClr val="1A1A1A"/>
                          </a:solidFill>
                        </a:rPr>
                        <a:t>can be separated with arithmetic — and that</a:t>
                      </a:r>
                    </a:p>
                    <a:p>
                      <a:pPr algn="ctr">
                        <a:defRPr sz="1150" b="0">
                          <a:solidFill>
                            <a:srgbClr val="1A1A1A"/>
                          </a:solidFill>
                        </a:defRPr>
                      </a:pPr>
                      <a:r>
                        <a:rPr sz="1150" b="0">
                          <a:solidFill>
                            <a:srgbClr val="1A1A1A"/>
                          </a:solidFill>
                        </a:rPr>
                        <a:t>in our case only the last one is left.</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FFFFF"/>
                    </a:solidFill>
                  </a:tcPr>
                </a:tc>
              </a:tr>
              <a:tr h="96012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Judge a patient using all four of their</a:t>
                      </a:r>
                    </a:p>
                    <a:p>
                      <a:pPr algn="ctr">
                        <a:defRPr sz="1150" b="0">
                          <a:solidFill>
                            <a:srgbClr val="1A1A1A"/>
                          </a:solidFill>
                        </a:defRPr>
                      </a:pPr>
                      <a:r>
                        <a:rPr sz="1150" b="0">
                          <a:solidFill>
                            <a:srgbClr val="1A1A1A"/>
                          </a:solidFill>
                        </a:rPr>
                        <a:t>images together, instead of one</a:t>
                      </a:r>
                    </a:p>
                    <a:p>
                      <a:pPr algn="ctr">
                        <a:defRPr sz="1150" b="0">
                          <a:solidFill>
                            <a:srgbClr val="1A1A1A"/>
                          </a:solidFill>
                        </a:defRPr>
                      </a:pPr>
                      <a:r>
                        <a:rPr sz="1150" b="0">
                          <a:solidFill>
                            <a:srgbClr val="1A1A1A"/>
                          </a:solidFill>
                        </a:rPr>
                        <a:t>image at a time</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A free signal sitting unused in the data.</a:t>
                      </a:r>
                    </a:p>
                    <a:p>
                      <a:pPr algn="ctr">
                        <a:defRPr sz="1150" b="0">
                          <a:solidFill>
                            <a:srgbClr val="1A1A1A"/>
                          </a:solidFill>
                        </a:defRPr>
                      </a:pPr>
                      <a:r>
                        <a:rPr sz="1150" b="0">
                          <a:solidFill>
                            <a:srgbClr val="1A1A1A"/>
                          </a:solidFill>
                        </a:rPr>
                        <a:t>No cross-device retinal study has used it.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Core</a:t>
                      </a:r>
                    </a:p>
                  </a:txBody>
                  <a:tcPr marL="73152" marR="73152" marT="27432" marB="27432">
                    <a:solidFill>
                      <a:srgbClr val="F2F4F7"/>
                    </a:solidFill>
                  </a:tcPr>
                </a:tc>
              </a:tr>
              <a:tr h="96012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Adapt the part of ConvNeXt V2 that the</a:t>
                      </a:r>
                    </a:p>
                    <a:p>
                      <a:pPr algn="ctr">
                        <a:defRPr sz="1150" b="0">
                          <a:solidFill>
                            <a:srgbClr val="1A1A1A"/>
                          </a:solidFill>
                        </a:defRPr>
                      </a:pPr>
                      <a:r>
                        <a:rPr sz="1150" b="0">
                          <a:solidFill>
                            <a:srgbClr val="1A1A1A"/>
                          </a:solidFill>
                        </a:rPr>
                        <a:t>standard method cannot reach</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The usual adaptation trick needs a component</a:t>
                      </a:r>
                    </a:p>
                    <a:p>
                      <a:pPr algn="ctr">
                        <a:defRPr sz="1150" b="0">
                          <a:solidFill>
                            <a:srgbClr val="1A1A1A"/>
                          </a:solidFill>
                        </a:defRPr>
                      </a:pPr>
                      <a:r>
                        <a:rPr sz="1150" b="0">
                          <a:solidFill>
                            <a:srgbClr val="1A1A1A"/>
                          </a:solidFill>
                        </a:rPr>
                        <a:t>this model does not have. Nobody has adapted</a:t>
                      </a:r>
                    </a:p>
                    <a:p>
                      <a:pPr algn="ctr">
                        <a:defRPr sz="1150" b="0">
                          <a:solidFill>
                            <a:srgbClr val="1A1A1A"/>
                          </a:solidFill>
                        </a:defRPr>
                      </a:pPr>
                      <a:r>
                        <a:rPr sz="1150" b="0">
                          <a:solidFill>
                            <a:srgbClr val="1A1A1A"/>
                          </a:solidFill>
                        </a:rPr>
                        <a:t>the one it does have.</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Exploratory —</a:t>
                      </a:r>
                    </a:p>
                    <a:p>
                      <a:pPr algn="ctr">
                        <a:defRPr sz="1150" b="0">
                          <a:solidFill>
                            <a:srgbClr val="1A1A1A"/>
                          </a:solidFill>
                        </a:defRPr>
                      </a:pPr>
                      <a:r>
                        <a:rPr sz="1150" b="0">
                          <a:solidFill>
                            <a:srgbClr val="1A1A1A"/>
                          </a:solidFill>
                        </a:rPr>
                        <a:t>may not work</a:t>
                      </a:r>
                    </a:p>
                  </a:txBody>
                  <a:tcPr marL="73152" marR="73152" marT="27432" marB="27432">
                    <a:solidFill>
                      <a:srgbClr val="FFFFFF"/>
                    </a:solidFill>
                  </a:tcPr>
                </a:tc>
              </a:tr>
            </a:tbl>
          </a:graphicData>
        </a:graphic>
      </p:graphicFrame>
      <p:sp>
        <p:nvSpPr>
          <p:cNvPr id="4" name="TextBox 3"/>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Contribution 1 holds even if both methods underperform — showing what the gap is made of is itself the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