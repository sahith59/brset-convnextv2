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ConvNeXt V2 on BRSET</a:t>
            </a:r>
          </a:p>
          <a:p>
            <a:pPr>
              <a:spcBef>
                <a:spcPts val="800"/>
              </a:spcBef>
              <a:defRPr sz="2100">
                <a:solidFill>
                  <a:srgbClr val="1A1A1A"/>
                </a:solidFill>
              </a:defRPr>
            </a:pPr>
            <a:r>
              <a:t>A strong baseline, and closing the BRSET → mBRSET device gap</a:t>
            </a:r>
          </a:p>
          <a:p>
            <a:pPr>
              <a:spcBef>
                <a:spcPts val="2200"/>
              </a:spcBef>
              <a:defRPr sz="1400">
                <a:solidFill>
                  <a:srgbClr val="5A5A5A"/>
                </a:solidFill>
              </a:defRPr>
            </a:pPr>
            <a:r>
              <a:t>Sahith Reddy Thummala   |   For: Dr. Dong Hye Ye   |   cc: Nagur Shareef Shaik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What was assigned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828800"/>
          <a:ext cx="1078991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2362"/>
                <a:gridCol w="7230358"/>
                <a:gridCol w="2447198"/>
              </a:tblGrid>
              <a:tr h="60960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Part 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A strong ConvNeXt V2 baseline on BRSET;</a:t>
                      </a:r>
                    </a:p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address the class imbalance holding F1 down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Complete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Part 2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Improve BRSET → mBRSET transfer.</a:t>
                      </a:r>
                    </a:p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Find relevant literature, implement, and find novelty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Diagnosed;</a:t>
                      </a:r>
                    </a:p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plan ready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57200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Part 1 is answered. Part 2 is where the contribution is — and the lane is open.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1 — Baseline vs. the original BRSET paper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One ConvNeXt V2 Large model at 512px, all 16,258 images, split by patient, trained with focal loss.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965960"/>
          <a:ext cx="10789918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2562"/>
                <a:gridCol w="2232397"/>
                <a:gridCol w="1581281"/>
                <a:gridCol w="3813678"/>
              </a:tblGrid>
              <a:tr h="329183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Paper (Nakayama 2024)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Our model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Diabetic retinopathy — AUC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0.97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0.992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Better than the paper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Diabetic retinopathy — macro F1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0.89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0.930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Better than the paper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Macular edema — AUC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not reported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0.989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No published benchmark to compare to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Macular edema — macro F1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not reported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0.871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No published benchmark to compare to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840480"/>
            <a:ext cx="1088136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A1A1A"/>
                </a:solidFill>
              </a:defRPr>
            </a:pPr>
            <a:r>
              <a:t>• Both improvements are larger than measurement error. Across 2,000 resamples of the test set our AUC ranges 0.987–0.996 and our macro F1 ranges 0.908–0.948; the paper's 0.97 and 0.89 both fall below those.</a:t>
            </a:r>
          </a:p>
          <a:p>
            <a:pPr>
              <a:spcAft>
                <a:spcPts val="1000"/>
              </a:spcAft>
              <a:defRPr sz="1400">
                <a:solidFill>
                  <a:srgbClr val="1A1A1A"/>
                </a:solidFill>
              </a:defRPr>
            </a:pPr>
            <a:r>
              <a:t>• Macro F1 averages performance over the healthy and the diseased class — it is the figure the paper reports, so it is the like-for-like comparison.</a:t>
            </a:r>
          </a:p>
          <a:p>
            <a:pPr>
              <a:spcAft>
                <a:spcPts val="1000"/>
              </a:spcAft>
              <a:defRPr sz="1400">
                <a:solidFill>
                  <a:srgbClr val="1A1A1A"/>
                </a:solidFill>
              </a:defRPr>
            </a:pPr>
            <a:r>
              <a:t>• On the stricter diseased-class-only F1 we score 0.869 (DR) and 0.748 (ME). The paper does not report that figure, so there is no benchmark for it.</a:t>
            </a:r>
          </a:p>
          <a:p>
            <a:pPr>
              <a:spcAft>
                <a:spcPts val="1000"/>
              </a:spcAft>
              <a:defRPr sz="1400">
                <a:solidFill>
                  <a:srgbClr val="1A1A1A"/>
                </a:solidFill>
              </a:defRPr>
            </a:pPr>
            <a:r>
              <a:t>• This is a single model. It matches our earlier two-model ensemble on DR using half the models.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7A3C"/>
                </a:solidFill>
              </a:defRPr>
            </a:pPr>
            <a:r>
              <a:t>Measured the way the paper measures, we beat it on both AUC and F1.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1 — The imbalance we had to handle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Almost every image in BRSET is healthy. That is why F1 lags behind AUC.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92024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3200400"/>
                <a:gridCol w="298704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Images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With diabetic retinopathy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With macular edema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Train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11,372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748  (6.6%)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274  (2.4%)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Validation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2,451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159  (6.5%)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65  (2.7%)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Test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2,435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162  (6.7%)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61  (2.5%)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749039"/>
            <a:ext cx="10881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Roughly 15 healthy images for every 1 with disease — and 40 to 1 for macular edema.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A model can score 93% accuracy by calling everything healthy, and be useless. So we never report accuracy alone.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AUC stays high because ranking sick above healthy is easy. F1 suffers because the model,</a:t>
            </a:r>
          </a:p>
          <a:p>
            <a:pPr lvl="1">
              <a:spcAft>
                <a:spcPts val="1000"/>
              </a:spcAft>
              <a:defRPr sz="1400">
                <a:solidFill>
                  <a:srgbClr val="5A5A5A"/>
                </a:solidFill>
              </a:defRPr>
            </a:pPr>
            <a:r>
              <a:t>– seeing mostly healthy eyes, becomes reluctant to call anything diseased.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The imbalance is the reason F1 is the hard metric here — not AUC.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1 — How the imbalance was addressed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BRSET has about 15 healthy images for every diseased one. Four steps stop the majority drowning out the rest.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965960"/>
            <a:ext cx="108813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Focal loss — the model stops spending effort on images it already gets right, and concentrates on the hard ones.</a:t>
            </a:r>
          </a:p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Oversampling — rare diseased images are shown more often during training than they naturally occur.</a:t>
            </a:r>
          </a:p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Tuned referral cutoff — chosen on validation data, separately for each finding, instead of a blind 0.5.</a:t>
            </a:r>
          </a:p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Averaging — the model is averaged over training, and each image is predicted from four flipped copies.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4114800"/>
          <a:ext cx="10058399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2046"/>
                <a:gridCol w="1257300"/>
                <a:gridCol w="1257300"/>
                <a:gridCol w="3481753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Loss function tested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DR F1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(diseased class)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ME F1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(diseased class)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Outcome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Focal loss — one dial for all images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0.869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0.748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Kept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Asymmetric Loss — separate dials for</a:t>
                      </a:r>
                    </a:p>
                    <a:p>
                      <a:pPr algn="l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healthy and for diseased images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0.834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0.758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Clearly worse on DR — not used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We tested a more elaborate alternative. It did not help, so the simpler standard loss stands.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1 — Two further steps, if you would like them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Both are ready to launch. About 15 hours on the cluster, and neither blocks the Part 2 work.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874519"/>
          <a:ext cx="1078991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0432"/>
                <a:gridCol w="4046220"/>
                <a:gridCol w="4046220"/>
                <a:gridCol w="867047"/>
              </a:tblGrid>
              <a:tr h="79248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Why it would matter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Hyperparameter</a:t>
                      </a:r>
                    </a:p>
                    <a:p>
                      <a:pPr algn="l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sweep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Tries six settings of the imbalance</a:t>
                      </a:r>
                    </a:p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controls, instead of the one value we</a:t>
                      </a:r>
                    </a:p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chose by hand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Lets us say we searched the settings</a:t>
                      </a:r>
                    </a:p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properly, rather than used the first</a:t>
                      </a:r>
                    </a:p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value we tried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~7 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5-fold</a:t>
                      </a:r>
                    </a:p>
                    <a:p>
                      <a:pPr algn="l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cross-validation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Re-runs the model five times so every</a:t>
                      </a:r>
                    </a:p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image gets tested, instead of testing</a:t>
                      </a:r>
                    </a:p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on a single 15% slice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Halves the measurement error. That is</a:t>
                      </a:r>
                    </a:p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what would make a 0.02 change in F1</a:t>
                      </a:r>
                    </a:p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provable rather than nominal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0">
                          <a:solidFill>
                            <a:srgbClr val="1A1A1A"/>
                          </a:solidFill>
                        </a:defRPr>
                      </a:pPr>
                      <a:r>
                        <a:rPr sz="1250" b="0">
                          <a:solidFill>
                            <a:srgbClr val="1A1A1A"/>
                          </a:solidFill>
                        </a:rPr>
                        <a:t>~7 h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480560"/>
            <a:ext cx="10881360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1A1A1A"/>
                </a:solidFill>
              </a:defRPr>
            </a:pPr>
            <a:r>
              <a:t>• Expected effect on the headline numbers: small. We are already at the paper's level, and the sweep is unlikely to move it much.</a:t>
            </a:r>
          </a:p>
          <a:p>
            <a:pPr>
              <a:spcAft>
                <a:spcPts val="1000"/>
              </a:spcAft>
              <a:defRPr sz="1500">
                <a:solidFill>
                  <a:srgbClr val="1A1A1A"/>
                </a:solidFill>
              </a:defRPr>
            </a:pPr>
            <a:r>
              <a:t>• The gain is confidence rather than score — the cross-validation would let us state the result with half the current uncertainty.</a:t>
            </a:r>
          </a:p>
          <a:p>
            <a:pPr>
              <a:spcAft>
                <a:spcPts val="1000"/>
              </a:spcAft>
              <a:defRPr sz="1500">
                <a:solidFill>
                  <a:srgbClr val="1A1A1A"/>
                </a:solidFill>
              </a:defRPr>
            </a:pPr>
            <a:r>
              <a:t>• Neither blocks Part 2. The cross-device work can proceed in parallel either 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Happy to run both, either, or neither — whichever you think is the better use of the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2 — The BRSET → mBRSET problem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BRSET: tabletop hospital cameras. mBRSET: handheld smartphone camera, community screening, 83% with artifacts.   |   Figures below come from the earlier two-model ensemble — the cross-device test has not yet been re-run with the new single model.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2011680"/>
          <a:ext cx="10789918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4628"/>
                <a:gridCol w="2418430"/>
                <a:gridCol w="2418430"/>
                <a:gridCol w="2418430"/>
              </a:tblGrid>
              <a:tr h="329183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Trained → Tested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AUC (DR / ME)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F1 (DR / ME)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Recall (DR / ME)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BRSET → BRSET (in-domain)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0.988 / 0.994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0.869 / 0.790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0.877 / 0.770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mBRSET → mBRSET (in-domain)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0.939 / 0.988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0.815 / 0.807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0.774 / 0.730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BRSET → mBRSET, BRSET threshold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0.909 / 0.933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0.661 / 0.566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A1A1A"/>
                          </a:solidFill>
                        </a:defRPr>
                      </a:pPr>
                      <a:r>
                        <a:rPr sz="1400" b="0">
                          <a:solidFill>
                            <a:srgbClr val="1A1A1A"/>
                          </a:solidFill>
                        </a:rPr>
                        <a:t>0.503 / 0.444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BRSET → mBRSET, threshold retuned</a:t>
                      </a:r>
                    </a:p>
                  </a:txBody>
                  <a:tcPr marL="73152" marR="73152" marT="27432" marB="27432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0.909 / 0.933</a:t>
                      </a:r>
                    </a:p>
                  </a:txBody>
                  <a:tcPr marL="73152" marR="73152" marT="27432" marB="27432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0.717 / 0.628</a:t>
                      </a:r>
                    </a:p>
                  </a:txBody>
                  <a:tcPr marL="73152" marR="73152" marT="27432" marB="27432">
                    <a:solidFill>
                      <a:srgbClr val="FDF0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A1A1A"/>
                          </a:solidFill>
                        </a:defRPr>
                      </a:pPr>
                      <a:r>
                        <a:rPr sz="1400" b="1">
                          <a:solidFill>
                            <a:srgbClr val="1A1A1A"/>
                          </a:solidFill>
                        </a:rPr>
                        <a:t>0.780 / 0.603</a:t>
                      </a:r>
                    </a:p>
                  </a:txBody>
                  <a:tcPr marL="73152" marR="73152" marT="27432" marB="27432">
                    <a:solidFill>
                      <a:srgbClr val="FDF0E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2062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Retuning only the decision threshold — no retraining — lifted DR recall from 0.503 to 0.780.</a:t>
            </a:r>
          </a:p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Remaining gap to a model trained directly on mBRSET: 0.098 F1 (DR), 0.179 F1 (ME).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Question: what is that remaining gap actually made of, and what can close it?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Diagnosis 1 — the referral cutoff was wrong, not the model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The model scores each image from 0 (healthy) to 1 (diseased). A cutoff decides who gets referred.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2057400"/>
          <a:ext cx="987551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4564"/>
                <a:gridCol w="4066390"/>
                <a:gridCol w="2904564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How many patients have the disease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Best cutoff for that group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BRSET — where we trained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6.6% of eyes  (1 in 15)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0.61   be strict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mBRSET — where we tested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23.3% of eyes  (1 in 4)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A1A1A"/>
                          </a:solidFill>
                        </a:defRPr>
                      </a:pPr>
                      <a:r>
                        <a:rPr sz="1500" b="0">
                          <a:solidFill>
                            <a:srgbClr val="1A1A1A"/>
                          </a:solidFill>
                        </a:rPr>
                        <a:t>0.19   be lenient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886200"/>
            <a:ext cx="108813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We applied BRSET's strict 0.61 cutoff to mBRSET, where nearly 1 in 4 patients is diseased. The model stayed quiet and missed half the cases.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Of the move needed from 0.61 down to 0.19:  77% is explained by the higher disease rate alone, and only 23% by the model being less certain on blurrier images.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• The disease-rate part can be estimated from unlabelled images — no answer key required.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Moving the cutoff alone — no retraining — lifted F1 from 0.661 to 0.717, and recall from 0.503 to 0.780.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Diagnosis 2 — Threshold tuning is already exhausted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For a given AUC and disease rate there is a maximum achievable F1, across every possible cutoff. The maximum below is an estimate, accurate to roughly ±0.02.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920240"/>
          <a:ext cx="10789918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2705"/>
                <a:gridCol w="1471352"/>
                <a:gridCol w="2354164"/>
                <a:gridCol w="2354164"/>
                <a:gridCol w="1667533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BRSET → mBRSET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Disease rate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Estimated max F1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</a:rPr>
                        <a:t>Our F1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Diabetic retinopathy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0.909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21.7%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0.697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0.717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Macular edema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0.933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8.6%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0.623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A1A1A"/>
                          </a:solidFill>
                        </a:defRPr>
                      </a:pPr>
                      <a:r>
                        <a:rPr sz="1500" b="1">
                          <a:solidFill>
                            <a:srgbClr val="1A1A1A"/>
                          </a:solidFill>
                        </a:rPr>
                        <a:t>0.628</a:t>
                      </a:r>
                    </a:p>
                  </a:txBody>
                  <a:tcPr marL="73152" marR="73152" marT="27432" marB="27432">
                    <a:solidFill>
                      <a:srgbClr val="E3EFE3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65760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We are already at that ceiling. Moving the cutoff further cannot help — any cutoff method only slides the</a:t>
            </a:r>
          </a:p>
          <a:p>
            <a:pPr lvl="1">
              <a:spcAft>
                <a:spcPts val="1000"/>
              </a:spcAft>
              <a:defRPr sz="1500">
                <a:solidFill>
                  <a:srgbClr val="5A5A5A"/>
                </a:solidFill>
              </a:defRPr>
            </a:pPr>
            <a:r>
              <a:t>– referral line along a fixed ordering of patients. It never changes how well the model orders them.</a:t>
            </a:r>
          </a:p>
          <a:p>
            <a:pPr>
              <a:spcAft>
                <a:spcPts val="1000"/>
              </a:spcAft>
              <a:defRPr sz="1700">
                <a:solidFill>
                  <a:srgbClr val="1A1A1A"/>
                </a:solidFill>
              </a:defRPr>
            </a:pPr>
            <a:r>
              <a:t>• To reach what an mBRSET-trained model achieves (F1 0.815 / 0.807), the ordering itself must improve:</a:t>
            </a:r>
          </a:p>
          <a:p>
            <a:pPr lvl="1">
              <a:spcAft>
                <a:spcPts val="1000"/>
              </a:spcAft>
              <a:defRPr sz="1500">
                <a:solidFill>
                  <a:srgbClr val="5A5A5A"/>
                </a:solidFill>
              </a:defRPr>
            </a:pPr>
            <a:r>
              <a:t>– AUC 0.909 → about 0.95 for DR, and 0.933 → about 0.985 for macular edema.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53A1A"/>
                </a:solidFill>
              </a:defRPr>
            </a:pPr>
            <a:r>
              <a:t>The remaining gap is entirely ranking quality. Everything from here must improve AUC.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Part 2 — Plan to make the BRSET model work on mBRSET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Two methods proposed, one parked for your input. Ordered by expected gain per unit of effort.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691640"/>
          <a:ext cx="10789918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066"/>
                <a:gridCol w="2232397"/>
                <a:gridCol w="6139092"/>
                <a:gridCol w="744132"/>
                <a:gridCol w="1302231"/>
              </a:tblGrid>
              <a:tr h="104013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Effort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104013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Use all of a patient's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images together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mBRSET has about 4 images per patient. 85% of the time they share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the same diagnosis, but we currently judge each image alone.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Blur differs per image, so combining them cancels it out.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RetiGen (Chen et al., arXiv 2403.15647) does this on fundus images and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reports +0.002 to +0.086 AUC across seven baselines, median ≈ +0.044.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We need +0.04 — achievable, but not guaranteed.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3–5 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Proposed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104013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2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Set the cutoff without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needing an answer key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Estimates the disease rate from unlabelled images, so the cutoff fix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works on a new camera with no annotations at all.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Does not raise AUC — it makes the gain we already have deployable,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and is the honest baseline the other methods are measured against.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0.5 d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Proposed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104013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Train on deliberately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degraded BRSET images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Blur and darken real BRSET images to imitate handheld capture, so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the model learns to find lesions despite poor quality.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Aimed at macular edema specifically, where blur destroys the sharp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edge that separates an exudate from a harmless drusen.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3–5 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Parked —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for discussion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60350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Method 3 is the one I would like your view on before starting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Novelty — what is open, and who else is nearby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Checked every paper citing either dataset (33 in total), plus GitHub, arXiv and preprint servers.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920240"/>
          <a:ext cx="104241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4496"/>
                <a:gridCol w="4169664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found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How certain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No published BRSET → mBRSET transfer study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Searched exhaustively and found none —</a:t>
                      </a:r>
                    </a:p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though that is not proof none exists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The dataset creators name device adaptation as an</a:t>
                      </a:r>
                    </a:p>
                    <a:p>
                      <a:pPr algn="l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application but have not done it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Verified on their March 2026 release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Nobody uses BRSET's per-image quality labels for transfer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Verified — the labels exist and sit unused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Nobody reports cross-device macular edema loss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A1A1A"/>
                          </a:solidFill>
                        </a:defRPr>
                      </a:pPr>
                      <a:r>
                        <a:rPr sz="1300" b="0">
                          <a:solidFill>
                            <a:srgbClr val="1A1A1A"/>
                          </a:solidFill>
                        </a:rPr>
                        <a:t>Verified — and ours is the larger gap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572000"/>
            <a:ext cx="108813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A1A1A"/>
                </a:solidFill>
              </a:defRPr>
            </a:pPr>
            <a:r>
              <a:t>• Two groups are working nearby, and neither is doing what we propose:</a:t>
            </a:r>
          </a:p>
          <a:p>
            <a:pPr lvl="1">
              <a:spcAft>
                <a:spcPts val="700"/>
              </a:spcAft>
              <a:defRPr sz="1200">
                <a:solidFill>
                  <a:srgbClr val="5A5A5A"/>
                </a:solidFill>
              </a:defRPr>
            </a:pPr>
            <a:r>
              <a:t>– RetSyn (J Biomed Inform 2025, same senior author as both datasets) generates synthetic images for tabletop → portable. It does not diagnose what breaks, and does not cover macular edema or the cutoff.</a:t>
            </a:r>
          </a:p>
          <a:p>
            <a:pPr lvl="1">
              <a:spcAft>
                <a:spcPts val="700"/>
              </a:spcAft>
              <a:defRPr sz="1200">
                <a:solidFill>
                  <a:srgbClr val="5A5A5A"/>
                </a:solidFill>
              </a:defRPr>
            </a:pPr>
            <a:r>
              <a:t>– A GitHub project is starting a descriptive version of BRSET → mBRSET — a single commit so far, no results. It uses frozen features; we fine-tune the whole model.</a:t>
            </a:r>
          </a:p>
          <a:p>
            <a:pPr>
              <a:spcAft>
                <a:spcPts val="700"/>
              </a:spcAft>
              <a:defRPr sz="1400">
                <a:solidFill>
                  <a:srgbClr val="1A1A1A"/>
                </a:solidFill>
              </a:defRPr>
            </a:pPr>
            <a:r>
              <a:t>• Our comparison is unusually clean: country, ethnicity, dilation, field of view and grading protocol are all held constant, so only the camera changes. A study that also crossed country collapsed to AUC 0.54; ours holds 0.91.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What would be new here</a:t>
            </a:r>
          </a:p>
          <a:p>
            <a:pPr>
              <a:defRPr sz="1500">
                <a:solidFill>
                  <a:srgbClr val="5A5A5A"/>
                </a:solidFill>
              </a:defRPr>
            </a:pPr>
            <a:r>
              <a:t>Three things nobody has done. The first is the strongest, and it holds whatever the methods turn out to do.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737360"/>
          <a:ext cx="1078991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85"/>
                <a:gridCol w="3757204"/>
                <a:gridCol w="5394960"/>
                <a:gridCol w="1300570"/>
              </a:tblGrid>
              <a:tr h="96012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What we would contribute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Why nobody has done it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 marL="73152" marR="73152" marT="27432" marB="27432">
                    <a:solidFill>
                      <a:srgbClr val="1F4E79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Show what a cross-device drop is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actually made of: how much comes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from the sicker population, how much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from a badly-set cutoff, and how much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from the model genuinely doing worse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Papers report one number for the drop and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blame the model. We show the three causes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can be separated with arithmetic — and that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in our case only the last one is left.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Core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2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Judge a patient using all four of their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images together, instead of one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image at a time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A free signal sitting unused in the data.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No cross-device retinal study has used it.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Core</a:t>
                      </a:r>
                    </a:p>
                  </a:txBody>
                  <a:tcPr marL="73152" marR="73152" marT="27432" marB="27432">
                    <a:solidFill>
                      <a:srgbClr val="F2F4F7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Adapt the part of ConvNeXt V2 that the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standard method cannot reach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The usual adaptation trick needs a component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this model does not have. Nobody has adapted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the one it does have.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Exploratory —</a:t>
                      </a:r>
                    </a:p>
                    <a:p>
                      <a:pPr algn="ctr">
                        <a:defRPr sz="1150" b="0">
                          <a:solidFill>
                            <a:srgbClr val="1A1A1A"/>
                          </a:solidFill>
                        </a:defRPr>
                      </a:pPr>
                      <a:r>
                        <a:rPr sz="1150" b="0">
                          <a:solidFill>
                            <a:srgbClr val="1A1A1A"/>
                          </a:solidFill>
                        </a:rPr>
                        <a:t>may not work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Contribution 1 holds even if both methods underperform — showing what the gap is made of is itself the result.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