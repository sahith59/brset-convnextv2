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94560"/>
            <a:ext cx="10607040" cy="2011680"/>
          </a:xfrm>
          <a:prstGeom prst="rect">
            <a:avLst/>
          </a:prstGeom>
          <a:noFill/>
        </p:spPr>
        <p:txBody>
          <a:bodyPr wrap="square">
            <a:spAutoFit/>
          </a:bodyPr>
          <a:lstStyle/>
          <a:p>
            <a:pPr>
              <a:defRPr sz="4000" b="1">
                <a:solidFill>
                  <a:srgbClr val="1F4E79"/>
                </a:solidFill>
              </a:defRPr>
            </a:pPr>
            <a:r>
              <a:t>ConvNeXt V2 on BRSET</a:t>
            </a:r>
          </a:p>
          <a:p>
            <a:pPr>
              <a:spcBef>
                <a:spcPts val="800"/>
              </a:spcBef>
              <a:defRPr sz="2100">
                <a:solidFill>
                  <a:srgbClr val="1A1A1A"/>
                </a:solidFill>
              </a:defRPr>
            </a:pPr>
            <a:r>
              <a:t>A strong baseline, and closing the BRSET → mBRSET device gap</a:t>
            </a:r>
          </a:p>
          <a:p>
            <a:pPr>
              <a:spcBef>
                <a:spcPts val="2200"/>
              </a:spcBef>
              <a:defRPr sz="1400">
                <a:solidFill>
                  <a:srgbClr val="5A5A5A"/>
                </a:solidFill>
              </a:defRPr>
            </a:pPr>
            <a:r>
              <a:t>Sahith Reddy Thummala   |   For: Dr. Dong Hye Ye   |   cc: Nagur Shareef Shaik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What was assigned</a:t>
            </a:r>
          </a:p>
        </p:txBody>
      </p:sp>
      <p:graphicFrame>
        <p:nvGraphicFramePr>
          <p:cNvPr id="3" name="Table 2"/>
          <p:cNvGraphicFramePr>
            <a:graphicFrameLocks noGrp="1"/>
          </p:cNvGraphicFramePr>
          <p:nvPr/>
        </p:nvGraphicFramePr>
        <p:xfrm>
          <a:off x="685800" y="1828800"/>
          <a:ext cx="10789918" cy="1828800"/>
        </p:xfrm>
        <a:graphic>
          <a:graphicData uri="http://schemas.openxmlformats.org/drawingml/2006/table">
            <a:tbl>
              <a:tblPr firstRow="1" bandRow="1">
                <a:tableStyleId>{5C22544A-7EE6-4342-B048-85BDC9FD1C3A}</a:tableStyleId>
              </a:tblPr>
              <a:tblGrid>
                <a:gridCol w="1112362"/>
                <a:gridCol w="7230358"/>
                <a:gridCol w="2447198"/>
              </a:tblGrid>
              <a:tr h="609600">
                <a:tc>
                  <a:txBody>
                    <a:bodyPr/>
                    <a:lstStyle/>
                    <a:p>
                      <a:pPr algn="l">
                        <a:defRPr sz="1500" b="1">
                          <a:solidFill>
                            <a:srgbClr val="FFFFFF"/>
                          </a:solidFill>
                        </a:defRPr>
                      </a:pP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Task</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Status</a:t>
                      </a:r>
                    </a:p>
                  </a:txBody>
                  <a:tcPr marL="73152" marR="73152" marT="27432" marB="27432">
                    <a:solidFill>
                      <a:srgbClr val="1F4E79"/>
                    </a:solidFill>
                  </a:tcPr>
                </a:tc>
              </a:tr>
              <a:tr h="609600">
                <a:tc>
                  <a:txBody>
                    <a:bodyPr/>
                    <a:lstStyle/>
                    <a:p>
                      <a:pPr algn="l">
                        <a:defRPr sz="1500" b="0">
                          <a:solidFill>
                            <a:srgbClr val="1A1A1A"/>
                          </a:solidFill>
                        </a:defRPr>
                      </a:pPr>
                      <a:r>
                        <a:rPr sz="1500" b="0">
                          <a:solidFill>
                            <a:srgbClr val="1A1A1A"/>
                          </a:solidFill>
                        </a:rPr>
                        <a:t>Part 1</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A strong ConvNeXt V2 baseline on BRSET;</a:t>
                      </a:r>
                    </a:p>
                    <a:p>
                      <a:pPr algn="ctr">
                        <a:defRPr sz="1500" b="0">
                          <a:solidFill>
                            <a:srgbClr val="1A1A1A"/>
                          </a:solidFill>
                        </a:defRPr>
                      </a:pPr>
                      <a:r>
                        <a:rPr sz="1500" b="0">
                          <a:solidFill>
                            <a:srgbClr val="1A1A1A"/>
                          </a:solidFill>
                        </a:rPr>
                        <a:t>address the class imbalance holding F1 down</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Complete</a:t>
                      </a:r>
                    </a:p>
                  </a:txBody>
                  <a:tcPr marL="73152" marR="73152" marT="27432" marB="27432">
                    <a:solidFill>
                      <a:srgbClr val="FFFFFF"/>
                    </a:solidFill>
                  </a:tcPr>
                </a:tc>
              </a:tr>
              <a:tr h="609600">
                <a:tc>
                  <a:txBody>
                    <a:bodyPr/>
                    <a:lstStyle/>
                    <a:p>
                      <a:pPr algn="l">
                        <a:defRPr sz="1500" b="0">
                          <a:solidFill>
                            <a:srgbClr val="1A1A1A"/>
                          </a:solidFill>
                        </a:defRPr>
                      </a:pPr>
                      <a:r>
                        <a:rPr sz="1500" b="0">
                          <a:solidFill>
                            <a:srgbClr val="1A1A1A"/>
                          </a:solidFill>
                        </a:rPr>
                        <a:t>Part 2</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Improve BRSET → mBRSET transfer.</a:t>
                      </a:r>
                    </a:p>
                    <a:p>
                      <a:pPr algn="ctr">
                        <a:defRPr sz="1500" b="0">
                          <a:solidFill>
                            <a:srgbClr val="1A1A1A"/>
                          </a:solidFill>
                        </a:defRPr>
                      </a:pPr>
                      <a:r>
                        <a:rPr sz="1500" b="0">
                          <a:solidFill>
                            <a:srgbClr val="1A1A1A"/>
                          </a:solidFill>
                        </a:rPr>
                        <a:t>Find relevant literature, implement, and find novelty</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Diagnosed;</a:t>
                      </a:r>
                    </a:p>
                    <a:p>
                      <a:pPr algn="ctr">
                        <a:defRPr sz="1500" b="0">
                          <a:solidFill>
                            <a:srgbClr val="1A1A1A"/>
                          </a:solidFill>
                        </a:defRPr>
                      </a:pPr>
                      <a:r>
                        <a:rPr sz="1500" b="0">
                          <a:solidFill>
                            <a:srgbClr val="1A1A1A"/>
                          </a:solidFill>
                        </a:rPr>
                        <a:t>plan ready</a:t>
                      </a:r>
                    </a:p>
                  </a:txBody>
                  <a:tcPr marL="73152" marR="73152" marT="27432" marB="27432">
                    <a:solidFill>
                      <a:srgbClr val="F2F4F7"/>
                    </a:solidFill>
                  </a:tcPr>
                </a:tc>
              </a:tr>
            </a:tbl>
          </a:graphicData>
        </a:graphic>
      </p:graphicFrame>
      <p:sp>
        <p:nvSpPr>
          <p:cNvPr id="4" name="TextBox 3"/>
          <p:cNvSpPr txBox="1"/>
          <p:nvPr/>
        </p:nvSpPr>
        <p:spPr>
          <a:xfrm>
            <a:off x="685800" y="4572000"/>
            <a:ext cx="10881360" cy="685800"/>
          </a:xfrm>
          <a:prstGeom prst="rect">
            <a:avLst/>
          </a:prstGeom>
          <a:noFill/>
        </p:spPr>
        <p:txBody>
          <a:bodyPr wrap="square">
            <a:spAutoFit/>
          </a:bodyPr>
          <a:lstStyle/>
          <a:p>
            <a:pPr>
              <a:defRPr sz="1600" b="1">
                <a:solidFill>
                  <a:srgbClr val="1F4E79"/>
                </a:solidFill>
              </a:defRPr>
            </a:pPr>
            <a:r>
              <a:t>Part 1 is answered. Part 2 is where the contribution is — and the lane is open.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Baseline vs. the original BRSET paper</a:t>
            </a:r>
          </a:p>
          <a:p>
            <a:pPr>
              <a:defRPr sz="1500">
                <a:solidFill>
                  <a:srgbClr val="5A5A5A"/>
                </a:solidFill>
              </a:defRPr>
            </a:pPr>
            <a:r>
              <a:t>One ConvNeXt V2 Large model at 512px, all 16,258 images, split by patient, trained with focal loss.</a:t>
            </a:r>
          </a:p>
        </p:txBody>
      </p:sp>
      <p:graphicFrame>
        <p:nvGraphicFramePr>
          <p:cNvPr id="3" name="Table 2"/>
          <p:cNvGraphicFramePr>
            <a:graphicFrameLocks noGrp="1"/>
          </p:cNvGraphicFramePr>
          <p:nvPr/>
        </p:nvGraphicFramePr>
        <p:xfrm>
          <a:off x="685800" y="1965960"/>
          <a:ext cx="10789918" cy="1645919"/>
        </p:xfrm>
        <a:graphic>
          <a:graphicData uri="http://schemas.openxmlformats.org/drawingml/2006/table">
            <a:tbl>
              <a:tblPr firstRow="1" bandRow="1">
                <a:tableStyleId>{5C22544A-7EE6-4342-B048-85BDC9FD1C3A}</a:tableStyleId>
              </a:tblPr>
              <a:tblGrid>
                <a:gridCol w="3162562"/>
                <a:gridCol w="2232397"/>
                <a:gridCol w="1581281"/>
                <a:gridCol w="3813678"/>
              </a:tblGrid>
              <a:tr h="329183">
                <a:tc>
                  <a:txBody>
                    <a:bodyPr/>
                    <a:lstStyle/>
                    <a:p>
                      <a:pPr algn="l">
                        <a:defRPr sz="1400" b="1">
                          <a:solidFill>
                            <a:srgbClr val="FFFFFF"/>
                          </a:solidFill>
                        </a:defRPr>
                      </a:pPr>
                      <a:r>
                        <a:rPr sz="1400" b="1">
                          <a:solidFill>
                            <a:srgbClr val="FFFFFF"/>
                          </a:solidFill>
                        </a:rPr>
                        <a:t>Metric</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Paper (Nakayama 2024)</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Our model</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Verdict</a:t>
                      </a:r>
                    </a:p>
                  </a:txBody>
                  <a:tcPr marL="73152" marR="73152" marT="27432" marB="27432">
                    <a:solidFill>
                      <a:srgbClr val="1F4E79"/>
                    </a:solidFill>
                  </a:tcPr>
                </a:tc>
              </a:tr>
              <a:tr h="329183">
                <a:tc>
                  <a:txBody>
                    <a:bodyPr/>
                    <a:lstStyle/>
                    <a:p>
                      <a:pPr algn="l">
                        <a:defRPr sz="1400" b="1">
                          <a:solidFill>
                            <a:srgbClr val="1A1A1A"/>
                          </a:solidFill>
                        </a:defRPr>
                      </a:pPr>
                      <a:r>
                        <a:rPr sz="1400" b="1">
                          <a:solidFill>
                            <a:srgbClr val="1A1A1A"/>
                          </a:solidFill>
                        </a:rPr>
                        <a:t>Diabetic retinopathy — AUC</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0.97</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0.992</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Better than the paper</a:t>
                      </a:r>
                    </a:p>
                  </a:txBody>
                  <a:tcPr marL="73152" marR="73152" marT="27432" marB="27432">
                    <a:solidFill>
                      <a:srgbClr val="E3EFE3"/>
                    </a:solidFill>
                  </a:tcPr>
                </a:tc>
              </a:tr>
              <a:tr h="329183">
                <a:tc>
                  <a:txBody>
                    <a:bodyPr/>
                    <a:lstStyle/>
                    <a:p>
                      <a:pPr algn="l">
                        <a:defRPr sz="1400" b="1">
                          <a:solidFill>
                            <a:srgbClr val="1A1A1A"/>
                          </a:solidFill>
                        </a:defRPr>
                      </a:pPr>
                      <a:r>
                        <a:rPr sz="1400" b="1">
                          <a:solidFill>
                            <a:srgbClr val="1A1A1A"/>
                          </a:solidFill>
                        </a:rPr>
                        <a:t>Diabetic retinopathy — macro F1</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0.89</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0.930</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Better than the paper</a:t>
                      </a:r>
                    </a:p>
                  </a:txBody>
                  <a:tcPr marL="73152" marR="73152" marT="27432" marB="27432">
                    <a:solidFill>
                      <a:srgbClr val="E3EFE3"/>
                    </a:solidFill>
                  </a:tcPr>
                </a:tc>
              </a:tr>
              <a:tr h="329183">
                <a:tc>
                  <a:txBody>
                    <a:bodyPr/>
                    <a:lstStyle/>
                    <a:p>
                      <a:pPr algn="l">
                        <a:defRPr sz="1400" b="0">
                          <a:solidFill>
                            <a:srgbClr val="1A1A1A"/>
                          </a:solidFill>
                        </a:defRPr>
                      </a:pPr>
                      <a:r>
                        <a:rPr sz="1400" b="0">
                          <a:solidFill>
                            <a:srgbClr val="1A1A1A"/>
                          </a:solidFill>
                        </a:rPr>
                        <a:t>Macular edema — AUC</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not reported</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0.989</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No published benchmark to compare to</a:t>
                      </a:r>
                    </a:p>
                  </a:txBody>
                  <a:tcPr marL="73152" marR="73152" marT="27432" marB="27432">
                    <a:solidFill>
                      <a:srgbClr val="FFFFFF"/>
                    </a:solidFill>
                  </a:tcPr>
                </a:tc>
              </a:tr>
              <a:tr h="329187">
                <a:tc>
                  <a:txBody>
                    <a:bodyPr/>
                    <a:lstStyle/>
                    <a:p>
                      <a:pPr algn="l">
                        <a:defRPr sz="1400" b="0">
                          <a:solidFill>
                            <a:srgbClr val="1A1A1A"/>
                          </a:solidFill>
                        </a:defRPr>
                      </a:pPr>
                      <a:r>
                        <a:rPr sz="1400" b="0">
                          <a:solidFill>
                            <a:srgbClr val="1A1A1A"/>
                          </a:solidFill>
                        </a:rPr>
                        <a:t>Macular edema — macro F1</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not reported</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0.871</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No published benchmark to compare to</a:t>
                      </a:r>
                    </a:p>
                  </a:txBody>
                  <a:tcPr marL="73152" marR="73152" marT="27432" marB="27432">
                    <a:solidFill>
                      <a:srgbClr val="F2F4F7"/>
                    </a:solidFill>
                  </a:tcPr>
                </a:tc>
              </a:tr>
            </a:tbl>
          </a:graphicData>
        </a:graphic>
      </p:graphicFrame>
      <p:sp>
        <p:nvSpPr>
          <p:cNvPr id="4" name="TextBox 3"/>
          <p:cNvSpPr txBox="1"/>
          <p:nvPr/>
        </p:nvSpPr>
        <p:spPr>
          <a:xfrm>
            <a:off x="685800" y="3840480"/>
            <a:ext cx="10881360" cy="1920239"/>
          </a:xfrm>
          <a:prstGeom prst="rect">
            <a:avLst/>
          </a:prstGeom>
          <a:noFill/>
        </p:spPr>
        <p:txBody>
          <a:bodyPr wrap="square">
            <a:spAutoFit/>
          </a:bodyPr>
          <a:lstStyle/>
          <a:p>
            <a:pPr>
              <a:spcAft>
                <a:spcPts val="1000"/>
              </a:spcAft>
              <a:defRPr sz="1400">
                <a:solidFill>
                  <a:srgbClr val="1A1A1A"/>
                </a:solidFill>
              </a:defRPr>
            </a:pPr>
            <a:r>
              <a:t>• Both improvements are larger than measurement error. Across 2,000 resamples of the test set our AUC ranges 0.987–0.996 and our macro F1 ranges 0.908–0.948; the paper's 0.97 and 0.89 both fall below those.</a:t>
            </a:r>
          </a:p>
          <a:p>
            <a:pPr>
              <a:spcAft>
                <a:spcPts val="1000"/>
              </a:spcAft>
              <a:defRPr sz="1400">
                <a:solidFill>
                  <a:srgbClr val="1A1A1A"/>
                </a:solidFill>
              </a:defRPr>
            </a:pPr>
            <a:r>
              <a:t>• Macro F1 averages performance over the healthy and the diseased class — it is the figure the paper reports, so it is the like-for-like comparison.</a:t>
            </a:r>
          </a:p>
          <a:p>
            <a:pPr>
              <a:spcAft>
                <a:spcPts val="1000"/>
              </a:spcAft>
              <a:defRPr sz="1400">
                <a:solidFill>
                  <a:srgbClr val="1A1A1A"/>
                </a:solidFill>
              </a:defRPr>
            </a:pPr>
            <a:r>
              <a:t>• On the stricter diseased-class-only F1 we score 0.869 (DR) and 0.748 (ME). The paper does not report that figure, so there is no benchmark for it.</a:t>
            </a:r>
          </a:p>
          <a:p>
            <a:pPr>
              <a:spcAft>
                <a:spcPts val="1000"/>
              </a:spcAft>
              <a:defRPr sz="1400">
                <a:solidFill>
                  <a:srgbClr val="1A1A1A"/>
                </a:solidFill>
              </a:defRPr>
            </a:pPr>
            <a:r>
              <a:t>• This is a single model. It matches our earlier two-model ensemble on DR using half the models.</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E7A3C"/>
                </a:solidFill>
              </a:defRPr>
            </a:pPr>
            <a:r>
              <a:t>Measured the way the paper measures, we beat it on both AUC and F1.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The imbalance we had to handle</a:t>
            </a:r>
          </a:p>
          <a:p>
            <a:pPr>
              <a:defRPr sz="1500">
                <a:solidFill>
                  <a:srgbClr val="5A5A5A"/>
                </a:solidFill>
              </a:defRPr>
            </a:pPr>
            <a:r>
              <a:t>Almost every image in BRSET is healthy. That is why F1 lags behind AUC.</a:t>
            </a:r>
          </a:p>
        </p:txBody>
      </p:sp>
      <p:graphicFrame>
        <p:nvGraphicFramePr>
          <p:cNvPr id="3" name="Table 2"/>
          <p:cNvGraphicFramePr>
            <a:graphicFrameLocks noGrp="1"/>
          </p:cNvGraphicFramePr>
          <p:nvPr/>
        </p:nvGraphicFramePr>
        <p:xfrm>
          <a:off x="685800" y="1920240"/>
          <a:ext cx="9601200" cy="1463040"/>
        </p:xfrm>
        <a:graphic>
          <a:graphicData uri="http://schemas.openxmlformats.org/drawingml/2006/table">
            <a:tbl>
              <a:tblPr firstRow="1" bandRow="1">
                <a:tableStyleId>{5C22544A-7EE6-4342-B048-85BDC9FD1C3A}</a:tableStyleId>
              </a:tblPr>
              <a:tblGrid>
                <a:gridCol w="1706880"/>
                <a:gridCol w="1706880"/>
                <a:gridCol w="3200400"/>
                <a:gridCol w="2987040"/>
              </a:tblGrid>
              <a:tr h="365760">
                <a:tc>
                  <a:txBody>
                    <a:bodyPr/>
                    <a:lstStyle/>
                    <a:p>
                      <a:pPr algn="l">
                        <a:defRPr sz="1500" b="1">
                          <a:solidFill>
                            <a:srgbClr val="FFFFFF"/>
                          </a:solidFill>
                        </a:defRPr>
                      </a:pPr>
                      <a:r>
                        <a:rPr sz="1500" b="1">
                          <a:solidFill>
                            <a:srgbClr val="FFFFFF"/>
                          </a:solidFill>
                        </a:rPr>
                        <a:t>Split</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Images</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With diabetic retinopathy</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With macular edema</a:t>
                      </a:r>
                    </a:p>
                  </a:txBody>
                  <a:tcPr marL="73152" marR="73152" marT="27432" marB="27432">
                    <a:solidFill>
                      <a:srgbClr val="1F4E79"/>
                    </a:solidFill>
                  </a:tcPr>
                </a:tc>
              </a:tr>
              <a:tr h="365760">
                <a:tc>
                  <a:txBody>
                    <a:bodyPr/>
                    <a:lstStyle/>
                    <a:p>
                      <a:pPr algn="l">
                        <a:defRPr sz="1500" b="0">
                          <a:solidFill>
                            <a:srgbClr val="1A1A1A"/>
                          </a:solidFill>
                        </a:defRPr>
                      </a:pPr>
                      <a:r>
                        <a:rPr sz="1500" b="0">
                          <a:solidFill>
                            <a:srgbClr val="1A1A1A"/>
                          </a:solidFill>
                        </a:rPr>
                        <a:t>Train</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11,372</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748  (6.6%)</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274  (2.4%)</a:t>
                      </a:r>
                    </a:p>
                  </a:txBody>
                  <a:tcPr marL="73152" marR="73152" marT="27432" marB="27432">
                    <a:solidFill>
                      <a:srgbClr val="FFFFFF"/>
                    </a:solidFill>
                  </a:tcPr>
                </a:tc>
              </a:tr>
              <a:tr h="365760">
                <a:tc>
                  <a:txBody>
                    <a:bodyPr/>
                    <a:lstStyle/>
                    <a:p>
                      <a:pPr algn="l">
                        <a:defRPr sz="1500" b="0">
                          <a:solidFill>
                            <a:srgbClr val="1A1A1A"/>
                          </a:solidFill>
                        </a:defRPr>
                      </a:pPr>
                      <a:r>
                        <a:rPr sz="1500" b="0">
                          <a:solidFill>
                            <a:srgbClr val="1A1A1A"/>
                          </a:solidFill>
                        </a:rPr>
                        <a:t>Validation</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2,451</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159  (6.5%)</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65  (2.7%)</a:t>
                      </a:r>
                    </a:p>
                  </a:txBody>
                  <a:tcPr marL="73152" marR="73152" marT="27432" marB="27432">
                    <a:solidFill>
                      <a:srgbClr val="F2F4F7"/>
                    </a:solidFill>
                  </a:tcPr>
                </a:tc>
              </a:tr>
              <a:tr h="365760">
                <a:tc>
                  <a:txBody>
                    <a:bodyPr/>
                    <a:lstStyle/>
                    <a:p>
                      <a:pPr algn="l">
                        <a:defRPr sz="1500" b="0">
                          <a:solidFill>
                            <a:srgbClr val="1A1A1A"/>
                          </a:solidFill>
                        </a:defRPr>
                      </a:pPr>
                      <a:r>
                        <a:rPr sz="1500" b="0">
                          <a:solidFill>
                            <a:srgbClr val="1A1A1A"/>
                          </a:solidFill>
                        </a:rPr>
                        <a:t>Test</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2,435</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162  (6.7%)</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61  (2.5%)</a:t>
                      </a:r>
                    </a:p>
                  </a:txBody>
                  <a:tcPr marL="73152" marR="73152" marT="27432" marB="27432">
                    <a:solidFill>
                      <a:srgbClr val="FFFFFF"/>
                    </a:solidFill>
                  </a:tcPr>
                </a:tc>
              </a:tr>
            </a:tbl>
          </a:graphicData>
        </a:graphic>
      </p:graphicFrame>
      <p:sp>
        <p:nvSpPr>
          <p:cNvPr id="4" name="TextBox 3"/>
          <p:cNvSpPr txBox="1"/>
          <p:nvPr/>
        </p:nvSpPr>
        <p:spPr>
          <a:xfrm>
            <a:off x="685800" y="3749039"/>
            <a:ext cx="10881360" cy="1920240"/>
          </a:xfrm>
          <a:prstGeom prst="rect">
            <a:avLst/>
          </a:prstGeom>
          <a:noFill/>
        </p:spPr>
        <p:txBody>
          <a:bodyPr wrap="square">
            <a:spAutoFit/>
          </a:bodyPr>
          <a:lstStyle/>
          <a:p>
            <a:pPr>
              <a:spcAft>
                <a:spcPts val="1000"/>
              </a:spcAft>
              <a:defRPr sz="1600">
                <a:solidFill>
                  <a:srgbClr val="1A1A1A"/>
                </a:solidFill>
              </a:defRPr>
            </a:pPr>
            <a:r>
              <a:t>• Roughly 15 healthy images for every 1 with disease — and 40 to 1 for macular edema.</a:t>
            </a:r>
          </a:p>
          <a:p>
            <a:pPr>
              <a:spcAft>
                <a:spcPts val="1000"/>
              </a:spcAft>
              <a:defRPr sz="1600">
                <a:solidFill>
                  <a:srgbClr val="1A1A1A"/>
                </a:solidFill>
              </a:defRPr>
            </a:pPr>
            <a:r>
              <a:t>• A model can score 93% accuracy by calling everything healthy, and be useless. So we never report accuracy alone.</a:t>
            </a:r>
          </a:p>
          <a:p>
            <a:pPr>
              <a:spcAft>
                <a:spcPts val="1000"/>
              </a:spcAft>
              <a:defRPr sz="1600">
                <a:solidFill>
                  <a:srgbClr val="1A1A1A"/>
                </a:solidFill>
              </a:defRPr>
            </a:pPr>
            <a:r>
              <a:t>• AUC stays high because ranking sick above healthy is easy. F1 suffers because the model,</a:t>
            </a:r>
          </a:p>
          <a:p>
            <a:pPr lvl="1">
              <a:spcAft>
                <a:spcPts val="1000"/>
              </a:spcAft>
              <a:defRPr sz="1400">
                <a:solidFill>
                  <a:srgbClr val="5A5A5A"/>
                </a:solidFill>
              </a:defRPr>
            </a:pPr>
            <a:r>
              <a:t>– seeing mostly healthy eyes, becomes reluctant to call anything diseased.</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The imbalance is the reason F1 is the hard metric here — not AUC.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How the imbalance was addressed</a:t>
            </a:r>
          </a:p>
          <a:p>
            <a:pPr>
              <a:defRPr sz="1500">
                <a:solidFill>
                  <a:srgbClr val="5A5A5A"/>
                </a:solidFill>
              </a:defRPr>
            </a:pPr>
            <a:r>
              <a:t>BRSET has about 15 healthy images for every diseased one. Four steps stop the majority drowning out the rest.</a:t>
            </a:r>
          </a:p>
        </p:txBody>
      </p:sp>
      <p:sp>
        <p:nvSpPr>
          <p:cNvPr id="3" name="TextBox 2"/>
          <p:cNvSpPr txBox="1"/>
          <p:nvPr/>
        </p:nvSpPr>
        <p:spPr>
          <a:xfrm>
            <a:off x="685800" y="1965960"/>
            <a:ext cx="10881360" cy="1965960"/>
          </a:xfrm>
          <a:prstGeom prst="rect">
            <a:avLst/>
          </a:prstGeom>
          <a:noFill/>
        </p:spPr>
        <p:txBody>
          <a:bodyPr wrap="square">
            <a:spAutoFit/>
          </a:bodyPr>
          <a:lstStyle/>
          <a:p>
            <a:pPr>
              <a:spcAft>
                <a:spcPts val="1000"/>
              </a:spcAft>
              <a:defRPr sz="1700">
                <a:solidFill>
                  <a:srgbClr val="1A1A1A"/>
                </a:solidFill>
              </a:defRPr>
            </a:pPr>
            <a:r>
              <a:t>• Focal loss — the model stops spending effort on images it already gets right, and concentrates on the hard ones.</a:t>
            </a:r>
          </a:p>
          <a:p>
            <a:pPr>
              <a:spcAft>
                <a:spcPts val="1000"/>
              </a:spcAft>
              <a:defRPr sz="1700">
                <a:solidFill>
                  <a:srgbClr val="1A1A1A"/>
                </a:solidFill>
              </a:defRPr>
            </a:pPr>
            <a:r>
              <a:t>• Oversampling — rare diseased images are shown more often during training than they naturally occur.</a:t>
            </a:r>
          </a:p>
          <a:p>
            <a:pPr>
              <a:spcAft>
                <a:spcPts val="1000"/>
              </a:spcAft>
              <a:defRPr sz="1700">
                <a:solidFill>
                  <a:srgbClr val="1A1A1A"/>
                </a:solidFill>
              </a:defRPr>
            </a:pPr>
            <a:r>
              <a:t>• Tuned referral cutoff — chosen on validation data, separately for each finding, instead of a blind 0.5.</a:t>
            </a:r>
          </a:p>
          <a:p>
            <a:pPr>
              <a:spcAft>
                <a:spcPts val="1000"/>
              </a:spcAft>
              <a:defRPr sz="1700">
                <a:solidFill>
                  <a:srgbClr val="1A1A1A"/>
                </a:solidFill>
              </a:defRPr>
            </a:pPr>
            <a:r>
              <a:t>• Averaging — the model is averaged over training, and each image is predicted from four flipped copies.</a:t>
            </a:r>
          </a:p>
        </p:txBody>
      </p:sp>
      <p:graphicFrame>
        <p:nvGraphicFramePr>
          <p:cNvPr id="4" name="Table 3"/>
          <p:cNvGraphicFramePr>
            <a:graphicFrameLocks noGrp="1"/>
          </p:cNvGraphicFramePr>
          <p:nvPr/>
        </p:nvGraphicFramePr>
        <p:xfrm>
          <a:off x="685800" y="4114800"/>
          <a:ext cx="10058399" cy="1234440"/>
        </p:xfrm>
        <a:graphic>
          <a:graphicData uri="http://schemas.openxmlformats.org/drawingml/2006/table">
            <a:tbl>
              <a:tblPr firstRow="1" bandRow="1">
                <a:tableStyleId>{5C22544A-7EE6-4342-B048-85BDC9FD1C3A}</a:tableStyleId>
              </a:tblPr>
              <a:tblGrid>
                <a:gridCol w="4062046"/>
                <a:gridCol w="1257300"/>
                <a:gridCol w="1257300"/>
                <a:gridCol w="3481753"/>
              </a:tblGrid>
              <a:tr h="411480">
                <a:tc>
                  <a:txBody>
                    <a:bodyPr/>
                    <a:lstStyle/>
                    <a:p>
                      <a:pPr algn="l">
                        <a:defRPr sz="1300" b="1">
                          <a:solidFill>
                            <a:srgbClr val="FFFFFF"/>
                          </a:solidFill>
                        </a:defRPr>
                      </a:pPr>
                      <a:r>
                        <a:rPr sz="1300" b="1">
                          <a:solidFill>
                            <a:srgbClr val="FFFFFF"/>
                          </a:solidFill>
                        </a:rPr>
                        <a:t>Loss function tested</a:t>
                      </a:r>
                    </a:p>
                  </a:txBody>
                  <a:tcPr marL="73152" marR="73152" marT="27432" marB="27432">
                    <a:solidFill>
                      <a:srgbClr val="1F4E79"/>
                    </a:solidFill>
                  </a:tcPr>
                </a:tc>
                <a:tc>
                  <a:txBody>
                    <a:bodyPr/>
                    <a:lstStyle/>
                    <a:p>
                      <a:pPr algn="ctr">
                        <a:defRPr sz="1300" b="1">
                          <a:solidFill>
                            <a:srgbClr val="FFFFFF"/>
                          </a:solidFill>
                        </a:defRPr>
                      </a:pPr>
                      <a:r>
                        <a:rPr sz="1300" b="1">
                          <a:solidFill>
                            <a:srgbClr val="FFFFFF"/>
                          </a:solidFill>
                        </a:rPr>
                        <a:t>DR F1</a:t>
                      </a:r>
                    </a:p>
                    <a:p>
                      <a:pPr algn="ctr">
                        <a:defRPr sz="1300" b="1">
                          <a:solidFill>
                            <a:srgbClr val="FFFFFF"/>
                          </a:solidFill>
                        </a:defRPr>
                      </a:pPr>
                      <a:r>
                        <a:rPr sz="1300" b="1">
                          <a:solidFill>
                            <a:srgbClr val="FFFFFF"/>
                          </a:solidFill>
                        </a:rPr>
                        <a:t>(diseased class)</a:t>
                      </a:r>
                    </a:p>
                  </a:txBody>
                  <a:tcPr marL="73152" marR="73152" marT="27432" marB="27432">
                    <a:solidFill>
                      <a:srgbClr val="1F4E79"/>
                    </a:solidFill>
                  </a:tcPr>
                </a:tc>
                <a:tc>
                  <a:txBody>
                    <a:bodyPr/>
                    <a:lstStyle/>
                    <a:p>
                      <a:pPr algn="ctr">
                        <a:defRPr sz="1300" b="1">
                          <a:solidFill>
                            <a:srgbClr val="FFFFFF"/>
                          </a:solidFill>
                        </a:defRPr>
                      </a:pPr>
                      <a:r>
                        <a:rPr sz="1300" b="1">
                          <a:solidFill>
                            <a:srgbClr val="FFFFFF"/>
                          </a:solidFill>
                        </a:rPr>
                        <a:t>ME F1</a:t>
                      </a:r>
                    </a:p>
                    <a:p>
                      <a:pPr algn="ctr">
                        <a:defRPr sz="1300" b="1">
                          <a:solidFill>
                            <a:srgbClr val="FFFFFF"/>
                          </a:solidFill>
                        </a:defRPr>
                      </a:pPr>
                      <a:r>
                        <a:rPr sz="1300" b="1">
                          <a:solidFill>
                            <a:srgbClr val="FFFFFF"/>
                          </a:solidFill>
                        </a:rPr>
                        <a:t>(diseased class)</a:t>
                      </a:r>
                    </a:p>
                  </a:txBody>
                  <a:tcPr marL="73152" marR="73152" marT="27432" marB="27432">
                    <a:solidFill>
                      <a:srgbClr val="1F4E79"/>
                    </a:solidFill>
                  </a:tcPr>
                </a:tc>
                <a:tc>
                  <a:txBody>
                    <a:bodyPr/>
                    <a:lstStyle/>
                    <a:p>
                      <a:pPr algn="ctr">
                        <a:defRPr sz="1300" b="1">
                          <a:solidFill>
                            <a:srgbClr val="FFFFFF"/>
                          </a:solidFill>
                        </a:defRPr>
                      </a:pPr>
                      <a:r>
                        <a:rPr sz="1300" b="1">
                          <a:solidFill>
                            <a:srgbClr val="FFFFFF"/>
                          </a:solidFill>
                        </a:rPr>
                        <a:t>Outcome</a:t>
                      </a:r>
                    </a:p>
                  </a:txBody>
                  <a:tcPr marL="73152" marR="73152" marT="27432" marB="27432">
                    <a:solidFill>
                      <a:srgbClr val="1F4E79"/>
                    </a:solidFill>
                  </a:tcPr>
                </a:tc>
              </a:tr>
              <a:tr h="411480">
                <a:tc>
                  <a:txBody>
                    <a:bodyPr/>
                    <a:lstStyle/>
                    <a:p>
                      <a:pPr algn="l">
                        <a:defRPr sz="1300" b="0">
                          <a:solidFill>
                            <a:srgbClr val="1A1A1A"/>
                          </a:solidFill>
                        </a:defRPr>
                      </a:pPr>
                      <a:r>
                        <a:rPr sz="1300" b="0">
                          <a:solidFill>
                            <a:srgbClr val="1A1A1A"/>
                          </a:solidFill>
                        </a:rPr>
                        <a:t>Focal loss — one dial for all images</a:t>
                      </a:r>
                    </a:p>
                  </a:txBody>
                  <a:tcPr marL="73152" marR="73152" marT="27432" marB="27432">
                    <a:solidFill>
                      <a:srgbClr val="FFFFFF"/>
                    </a:solidFill>
                  </a:tcPr>
                </a:tc>
                <a:tc>
                  <a:txBody>
                    <a:bodyPr/>
                    <a:lstStyle/>
                    <a:p>
                      <a:pPr algn="ctr">
                        <a:defRPr sz="1300" b="0">
                          <a:solidFill>
                            <a:srgbClr val="1A1A1A"/>
                          </a:solidFill>
                        </a:defRPr>
                      </a:pPr>
                      <a:r>
                        <a:rPr sz="1300" b="0">
                          <a:solidFill>
                            <a:srgbClr val="1A1A1A"/>
                          </a:solidFill>
                        </a:rPr>
                        <a:t>0.869</a:t>
                      </a:r>
                    </a:p>
                  </a:txBody>
                  <a:tcPr marL="73152" marR="73152" marT="27432" marB="27432">
                    <a:solidFill>
                      <a:srgbClr val="FFFFFF"/>
                    </a:solidFill>
                  </a:tcPr>
                </a:tc>
                <a:tc>
                  <a:txBody>
                    <a:bodyPr/>
                    <a:lstStyle/>
                    <a:p>
                      <a:pPr algn="ctr">
                        <a:defRPr sz="1300" b="0">
                          <a:solidFill>
                            <a:srgbClr val="1A1A1A"/>
                          </a:solidFill>
                        </a:defRPr>
                      </a:pPr>
                      <a:r>
                        <a:rPr sz="1300" b="0">
                          <a:solidFill>
                            <a:srgbClr val="1A1A1A"/>
                          </a:solidFill>
                        </a:rPr>
                        <a:t>0.748</a:t>
                      </a:r>
                    </a:p>
                  </a:txBody>
                  <a:tcPr marL="73152" marR="73152" marT="27432" marB="27432">
                    <a:solidFill>
                      <a:srgbClr val="FFFFFF"/>
                    </a:solidFill>
                  </a:tcPr>
                </a:tc>
                <a:tc>
                  <a:txBody>
                    <a:bodyPr/>
                    <a:lstStyle/>
                    <a:p>
                      <a:pPr algn="ctr">
                        <a:defRPr sz="1300" b="0">
                          <a:solidFill>
                            <a:srgbClr val="1A1A1A"/>
                          </a:solidFill>
                        </a:defRPr>
                      </a:pPr>
                      <a:r>
                        <a:rPr sz="1300" b="0">
                          <a:solidFill>
                            <a:srgbClr val="1A1A1A"/>
                          </a:solidFill>
                        </a:rPr>
                        <a:t>Kept</a:t>
                      </a:r>
                    </a:p>
                  </a:txBody>
                  <a:tcPr marL="73152" marR="73152" marT="27432" marB="27432">
                    <a:solidFill>
                      <a:srgbClr val="FFFFFF"/>
                    </a:solidFill>
                  </a:tcPr>
                </a:tc>
              </a:tr>
              <a:tr h="411480">
                <a:tc>
                  <a:txBody>
                    <a:bodyPr/>
                    <a:lstStyle/>
                    <a:p>
                      <a:pPr algn="l">
                        <a:defRPr sz="1300" b="0">
                          <a:solidFill>
                            <a:srgbClr val="1A1A1A"/>
                          </a:solidFill>
                        </a:defRPr>
                      </a:pPr>
                      <a:r>
                        <a:rPr sz="1300" b="0">
                          <a:solidFill>
                            <a:srgbClr val="1A1A1A"/>
                          </a:solidFill>
                        </a:rPr>
                        <a:t>Asymmetric Loss — separate dials for</a:t>
                      </a:r>
                    </a:p>
                    <a:p>
                      <a:pPr algn="l">
                        <a:defRPr sz="1300" b="0">
                          <a:solidFill>
                            <a:srgbClr val="1A1A1A"/>
                          </a:solidFill>
                        </a:defRPr>
                      </a:pPr>
                      <a:r>
                        <a:rPr sz="1300" b="0">
                          <a:solidFill>
                            <a:srgbClr val="1A1A1A"/>
                          </a:solidFill>
                        </a:rPr>
                        <a:t>healthy and for diseased images</a:t>
                      </a:r>
                    </a:p>
                  </a:txBody>
                  <a:tcPr marL="73152" marR="73152" marT="27432" marB="27432">
                    <a:solidFill>
                      <a:srgbClr val="F2F4F7"/>
                    </a:solidFill>
                  </a:tcPr>
                </a:tc>
                <a:tc>
                  <a:txBody>
                    <a:bodyPr/>
                    <a:lstStyle/>
                    <a:p>
                      <a:pPr algn="ctr">
                        <a:defRPr sz="1300" b="0">
                          <a:solidFill>
                            <a:srgbClr val="1A1A1A"/>
                          </a:solidFill>
                        </a:defRPr>
                      </a:pPr>
                      <a:r>
                        <a:rPr sz="1300" b="0">
                          <a:solidFill>
                            <a:srgbClr val="1A1A1A"/>
                          </a:solidFill>
                        </a:rPr>
                        <a:t>0.834</a:t>
                      </a:r>
                    </a:p>
                  </a:txBody>
                  <a:tcPr marL="73152" marR="73152" marT="27432" marB="27432">
                    <a:solidFill>
                      <a:srgbClr val="F2F4F7"/>
                    </a:solidFill>
                  </a:tcPr>
                </a:tc>
                <a:tc>
                  <a:txBody>
                    <a:bodyPr/>
                    <a:lstStyle/>
                    <a:p>
                      <a:pPr algn="ctr">
                        <a:defRPr sz="1300" b="0">
                          <a:solidFill>
                            <a:srgbClr val="1A1A1A"/>
                          </a:solidFill>
                        </a:defRPr>
                      </a:pPr>
                      <a:r>
                        <a:rPr sz="1300" b="0">
                          <a:solidFill>
                            <a:srgbClr val="1A1A1A"/>
                          </a:solidFill>
                        </a:rPr>
                        <a:t>0.758</a:t>
                      </a:r>
                    </a:p>
                  </a:txBody>
                  <a:tcPr marL="73152" marR="73152" marT="27432" marB="27432">
                    <a:solidFill>
                      <a:srgbClr val="F2F4F7"/>
                    </a:solidFill>
                  </a:tcPr>
                </a:tc>
                <a:tc>
                  <a:txBody>
                    <a:bodyPr/>
                    <a:lstStyle/>
                    <a:p>
                      <a:pPr algn="ctr">
                        <a:defRPr sz="1300" b="0">
                          <a:solidFill>
                            <a:srgbClr val="1A1A1A"/>
                          </a:solidFill>
                        </a:defRPr>
                      </a:pPr>
                      <a:r>
                        <a:rPr sz="1300" b="0">
                          <a:solidFill>
                            <a:srgbClr val="1A1A1A"/>
                          </a:solidFill>
                        </a:rPr>
                        <a:t>Clearly worse on DR — not used</a:t>
                      </a:r>
                    </a:p>
                  </a:txBody>
                  <a:tcPr marL="73152" marR="73152" marT="27432" marB="27432">
                    <a:solidFill>
                      <a:srgbClr val="F2F4F7"/>
                    </a:solidFill>
                  </a:tcPr>
                </a:tc>
              </a:tr>
            </a:tbl>
          </a:graphicData>
        </a:graphic>
      </p:graphicFrame>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We tested a more elaborate alternative. It did not help, so the simpler standard loss stands.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Two further steps, if you would like them</a:t>
            </a:r>
          </a:p>
          <a:p>
            <a:pPr>
              <a:defRPr sz="1500">
                <a:solidFill>
                  <a:srgbClr val="5A5A5A"/>
                </a:solidFill>
              </a:defRPr>
            </a:pPr>
            <a:r>
              <a:t>Both are ready to launch. About 15 hours on the cluster, and neither blocks the Part 2 work.</a:t>
            </a:r>
          </a:p>
        </p:txBody>
      </p:sp>
      <p:graphicFrame>
        <p:nvGraphicFramePr>
          <p:cNvPr id="3" name="Table 2"/>
          <p:cNvGraphicFramePr>
            <a:graphicFrameLocks noGrp="1"/>
          </p:cNvGraphicFramePr>
          <p:nvPr/>
        </p:nvGraphicFramePr>
        <p:xfrm>
          <a:off x="685800" y="1874519"/>
          <a:ext cx="10789919" cy="2377440"/>
        </p:xfrm>
        <a:graphic>
          <a:graphicData uri="http://schemas.openxmlformats.org/drawingml/2006/table">
            <a:tbl>
              <a:tblPr firstRow="1" bandRow="1">
                <a:tableStyleId>{5C22544A-7EE6-4342-B048-85BDC9FD1C3A}</a:tableStyleId>
              </a:tblPr>
              <a:tblGrid>
                <a:gridCol w="1830432"/>
                <a:gridCol w="4046220"/>
                <a:gridCol w="4046220"/>
                <a:gridCol w="867047"/>
              </a:tblGrid>
              <a:tr h="792480">
                <a:tc>
                  <a:txBody>
                    <a:bodyPr/>
                    <a:lstStyle/>
                    <a:p>
                      <a:pPr algn="l">
                        <a:defRPr sz="1250" b="1">
                          <a:solidFill>
                            <a:srgbClr val="FFFFFF"/>
                          </a:solidFill>
                        </a:defRPr>
                      </a:pPr>
                      <a:r>
                        <a:rPr sz="1250" b="1">
                          <a:solidFill>
                            <a:srgbClr val="FFFFFF"/>
                          </a:solidFill>
                        </a:rPr>
                        <a:t>Step</a:t>
                      </a:r>
                    </a:p>
                  </a:txBody>
                  <a:tcPr marL="73152" marR="73152" marT="27432" marB="27432">
                    <a:solidFill>
                      <a:srgbClr val="1F4E79"/>
                    </a:solidFill>
                  </a:tcPr>
                </a:tc>
                <a:tc>
                  <a:txBody>
                    <a:bodyPr/>
                    <a:lstStyle/>
                    <a:p>
                      <a:pPr algn="ctr">
                        <a:defRPr sz="1250" b="1">
                          <a:solidFill>
                            <a:srgbClr val="FFFFFF"/>
                          </a:solidFill>
                        </a:defRPr>
                      </a:pPr>
                      <a:r>
                        <a:rPr sz="1250" b="1">
                          <a:solidFill>
                            <a:srgbClr val="FFFFFF"/>
                          </a:solidFill>
                        </a:rPr>
                        <a:t>What it does</a:t>
                      </a:r>
                    </a:p>
                  </a:txBody>
                  <a:tcPr marL="73152" marR="73152" marT="27432" marB="27432">
                    <a:solidFill>
                      <a:srgbClr val="1F4E79"/>
                    </a:solidFill>
                  </a:tcPr>
                </a:tc>
                <a:tc>
                  <a:txBody>
                    <a:bodyPr/>
                    <a:lstStyle/>
                    <a:p>
                      <a:pPr algn="ctr">
                        <a:defRPr sz="1250" b="1">
                          <a:solidFill>
                            <a:srgbClr val="FFFFFF"/>
                          </a:solidFill>
                        </a:defRPr>
                      </a:pPr>
                      <a:r>
                        <a:rPr sz="1250" b="1">
                          <a:solidFill>
                            <a:srgbClr val="FFFFFF"/>
                          </a:solidFill>
                        </a:rPr>
                        <a:t>Why it would matter</a:t>
                      </a:r>
                    </a:p>
                  </a:txBody>
                  <a:tcPr marL="73152" marR="73152" marT="27432" marB="27432">
                    <a:solidFill>
                      <a:srgbClr val="1F4E79"/>
                    </a:solidFill>
                  </a:tcPr>
                </a:tc>
                <a:tc>
                  <a:txBody>
                    <a:bodyPr/>
                    <a:lstStyle/>
                    <a:p>
                      <a:pPr algn="ctr">
                        <a:defRPr sz="1250" b="1">
                          <a:solidFill>
                            <a:srgbClr val="FFFFFF"/>
                          </a:solidFill>
                        </a:defRPr>
                      </a:pPr>
                      <a:r>
                        <a:rPr sz="1250" b="1">
                          <a:solidFill>
                            <a:srgbClr val="FFFFFF"/>
                          </a:solidFill>
                        </a:rPr>
                        <a:t>Cost</a:t>
                      </a:r>
                    </a:p>
                  </a:txBody>
                  <a:tcPr marL="73152" marR="73152" marT="27432" marB="27432">
                    <a:solidFill>
                      <a:srgbClr val="1F4E79"/>
                    </a:solidFill>
                  </a:tcPr>
                </a:tc>
              </a:tr>
              <a:tr h="792480">
                <a:tc>
                  <a:txBody>
                    <a:bodyPr/>
                    <a:lstStyle/>
                    <a:p>
                      <a:pPr algn="l">
                        <a:defRPr sz="1250" b="0">
                          <a:solidFill>
                            <a:srgbClr val="1A1A1A"/>
                          </a:solidFill>
                        </a:defRPr>
                      </a:pPr>
                      <a:r>
                        <a:rPr sz="1250" b="0">
                          <a:solidFill>
                            <a:srgbClr val="1A1A1A"/>
                          </a:solidFill>
                        </a:rPr>
                        <a:t>Hyperparameter</a:t>
                      </a:r>
                    </a:p>
                    <a:p>
                      <a:pPr algn="l">
                        <a:defRPr sz="1250" b="0">
                          <a:solidFill>
                            <a:srgbClr val="1A1A1A"/>
                          </a:solidFill>
                        </a:defRPr>
                      </a:pPr>
                      <a:r>
                        <a:rPr sz="1250" b="0">
                          <a:solidFill>
                            <a:srgbClr val="1A1A1A"/>
                          </a:solidFill>
                        </a:rPr>
                        <a:t>sweep</a:t>
                      </a:r>
                    </a:p>
                  </a:txBody>
                  <a:tcPr marL="73152" marR="73152" marT="27432" marB="27432">
                    <a:solidFill>
                      <a:srgbClr val="FFFFFF"/>
                    </a:solidFill>
                  </a:tcPr>
                </a:tc>
                <a:tc>
                  <a:txBody>
                    <a:bodyPr/>
                    <a:lstStyle/>
                    <a:p>
                      <a:pPr algn="ctr">
                        <a:defRPr sz="1250" b="0">
                          <a:solidFill>
                            <a:srgbClr val="1A1A1A"/>
                          </a:solidFill>
                        </a:defRPr>
                      </a:pPr>
                      <a:r>
                        <a:rPr sz="1250" b="0">
                          <a:solidFill>
                            <a:srgbClr val="1A1A1A"/>
                          </a:solidFill>
                        </a:rPr>
                        <a:t>Tries six settings of the imbalance</a:t>
                      </a:r>
                    </a:p>
                    <a:p>
                      <a:pPr algn="ctr">
                        <a:defRPr sz="1250" b="0">
                          <a:solidFill>
                            <a:srgbClr val="1A1A1A"/>
                          </a:solidFill>
                        </a:defRPr>
                      </a:pPr>
                      <a:r>
                        <a:rPr sz="1250" b="0">
                          <a:solidFill>
                            <a:srgbClr val="1A1A1A"/>
                          </a:solidFill>
                        </a:rPr>
                        <a:t>controls, instead of the one value we</a:t>
                      </a:r>
                    </a:p>
                    <a:p>
                      <a:pPr algn="ctr">
                        <a:defRPr sz="1250" b="0">
                          <a:solidFill>
                            <a:srgbClr val="1A1A1A"/>
                          </a:solidFill>
                        </a:defRPr>
                      </a:pPr>
                      <a:r>
                        <a:rPr sz="1250" b="0">
                          <a:solidFill>
                            <a:srgbClr val="1A1A1A"/>
                          </a:solidFill>
                        </a:rPr>
                        <a:t>chose by hand</a:t>
                      </a:r>
                    </a:p>
                  </a:txBody>
                  <a:tcPr marL="73152" marR="73152" marT="27432" marB="27432">
                    <a:solidFill>
                      <a:srgbClr val="FFFFFF"/>
                    </a:solidFill>
                  </a:tcPr>
                </a:tc>
                <a:tc>
                  <a:txBody>
                    <a:bodyPr/>
                    <a:lstStyle/>
                    <a:p>
                      <a:pPr algn="ctr">
                        <a:defRPr sz="1250" b="0">
                          <a:solidFill>
                            <a:srgbClr val="1A1A1A"/>
                          </a:solidFill>
                        </a:defRPr>
                      </a:pPr>
                      <a:r>
                        <a:rPr sz="1250" b="0">
                          <a:solidFill>
                            <a:srgbClr val="1A1A1A"/>
                          </a:solidFill>
                        </a:rPr>
                        <a:t>Lets us say we searched the settings</a:t>
                      </a:r>
                    </a:p>
                    <a:p>
                      <a:pPr algn="ctr">
                        <a:defRPr sz="1250" b="0">
                          <a:solidFill>
                            <a:srgbClr val="1A1A1A"/>
                          </a:solidFill>
                        </a:defRPr>
                      </a:pPr>
                      <a:r>
                        <a:rPr sz="1250" b="0">
                          <a:solidFill>
                            <a:srgbClr val="1A1A1A"/>
                          </a:solidFill>
                        </a:rPr>
                        <a:t>properly, rather than used the first</a:t>
                      </a:r>
                    </a:p>
                    <a:p>
                      <a:pPr algn="ctr">
                        <a:defRPr sz="1250" b="0">
                          <a:solidFill>
                            <a:srgbClr val="1A1A1A"/>
                          </a:solidFill>
                        </a:defRPr>
                      </a:pPr>
                      <a:r>
                        <a:rPr sz="1250" b="0">
                          <a:solidFill>
                            <a:srgbClr val="1A1A1A"/>
                          </a:solidFill>
                        </a:rPr>
                        <a:t>value we tried</a:t>
                      </a:r>
                    </a:p>
                  </a:txBody>
                  <a:tcPr marL="73152" marR="73152" marT="27432" marB="27432">
                    <a:solidFill>
                      <a:srgbClr val="FFFFFF"/>
                    </a:solidFill>
                  </a:tcPr>
                </a:tc>
                <a:tc>
                  <a:txBody>
                    <a:bodyPr/>
                    <a:lstStyle/>
                    <a:p>
                      <a:pPr algn="ctr">
                        <a:defRPr sz="1250" b="0">
                          <a:solidFill>
                            <a:srgbClr val="1A1A1A"/>
                          </a:solidFill>
                        </a:defRPr>
                      </a:pPr>
                      <a:r>
                        <a:rPr sz="1250" b="0">
                          <a:solidFill>
                            <a:srgbClr val="1A1A1A"/>
                          </a:solidFill>
                        </a:rPr>
                        <a:t>~7 h</a:t>
                      </a:r>
                    </a:p>
                  </a:txBody>
                  <a:tcPr marL="73152" marR="73152" marT="27432" marB="27432">
                    <a:solidFill>
                      <a:srgbClr val="FFFFFF"/>
                    </a:solidFill>
                  </a:tcPr>
                </a:tc>
              </a:tr>
              <a:tr h="792480">
                <a:tc>
                  <a:txBody>
                    <a:bodyPr/>
                    <a:lstStyle/>
                    <a:p>
                      <a:pPr algn="l">
                        <a:defRPr sz="1250" b="0">
                          <a:solidFill>
                            <a:srgbClr val="1A1A1A"/>
                          </a:solidFill>
                        </a:defRPr>
                      </a:pPr>
                      <a:r>
                        <a:rPr sz="1250" b="0">
                          <a:solidFill>
                            <a:srgbClr val="1A1A1A"/>
                          </a:solidFill>
                        </a:rPr>
                        <a:t>5-fold</a:t>
                      </a:r>
                    </a:p>
                    <a:p>
                      <a:pPr algn="l">
                        <a:defRPr sz="1250" b="0">
                          <a:solidFill>
                            <a:srgbClr val="1A1A1A"/>
                          </a:solidFill>
                        </a:defRPr>
                      </a:pPr>
                      <a:r>
                        <a:rPr sz="1250" b="0">
                          <a:solidFill>
                            <a:srgbClr val="1A1A1A"/>
                          </a:solidFill>
                        </a:rPr>
                        <a:t>cross-validation</a:t>
                      </a:r>
                    </a:p>
                  </a:txBody>
                  <a:tcPr marL="73152" marR="73152" marT="27432" marB="27432">
                    <a:solidFill>
                      <a:srgbClr val="F2F4F7"/>
                    </a:solidFill>
                  </a:tcPr>
                </a:tc>
                <a:tc>
                  <a:txBody>
                    <a:bodyPr/>
                    <a:lstStyle/>
                    <a:p>
                      <a:pPr algn="ctr">
                        <a:defRPr sz="1250" b="0">
                          <a:solidFill>
                            <a:srgbClr val="1A1A1A"/>
                          </a:solidFill>
                        </a:defRPr>
                      </a:pPr>
                      <a:r>
                        <a:rPr sz="1250" b="0">
                          <a:solidFill>
                            <a:srgbClr val="1A1A1A"/>
                          </a:solidFill>
                        </a:rPr>
                        <a:t>Re-runs the model five times so every</a:t>
                      </a:r>
                    </a:p>
                    <a:p>
                      <a:pPr algn="ctr">
                        <a:defRPr sz="1250" b="0">
                          <a:solidFill>
                            <a:srgbClr val="1A1A1A"/>
                          </a:solidFill>
                        </a:defRPr>
                      </a:pPr>
                      <a:r>
                        <a:rPr sz="1250" b="0">
                          <a:solidFill>
                            <a:srgbClr val="1A1A1A"/>
                          </a:solidFill>
                        </a:rPr>
                        <a:t>image gets tested, instead of testing</a:t>
                      </a:r>
                    </a:p>
                    <a:p>
                      <a:pPr algn="ctr">
                        <a:defRPr sz="1250" b="0">
                          <a:solidFill>
                            <a:srgbClr val="1A1A1A"/>
                          </a:solidFill>
                        </a:defRPr>
                      </a:pPr>
                      <a:r>
                        <a:rPr sz="1250" b="0">
                          <a:solidFill>
                            <a:srgbClr val="1A1A1A"/>
                          </a:solidFill>
                        </a:rPr>
                        <a:t>on a single 15% slice</a:t>
                      </a:r>
                    </a:p>
                  </a:txBody>
                  <a:tcPr marL="73152" marR="73152" marT="27432" marB="27432">
                    <a:solidFill>
                      <a:srgbClr val="F2F4F7"/>
                    </a:solidFill>
                  </a:tcPr>
                </a:tc>
                <a:tc>
                  <a:txBody>
                    <a:bodyPr/>
                    <a:lstStyle/>
                    <a:p>
                      <a:pPr algn="ctr">
                        <a:defRPr sz="1250" b="0">
                          <a:solidFill>
                            <a:srgbClr val="1A1A1A"/>
                          </a:solidFill>
                        </a:defRPr>
                      </a:pPr>
                      <a:r>
                        <a:rPr sz="1250" b="0">
                          <a:solidFill>
                            <a:srgbClr val="1A1A1A"/>
                          </a:solidFill>
                        </a:rPr>
                        <a:t>Halves the measurement error. That is</a:t>
                      </a:r>
                    </a:p>
                    <a:p>
                      <a:pPr algn="ctr">
                        <a:defRPr sz="1250" b="0">
                          <a:solidFill>
                            <a:srgbClr val="1A1A1A"/>
                          </a:solidFill>
                        </a:defRPr>
                      </a:pPr>
                      <a:r>
                        <a:rPr sz="1250" b="0">
                          <a:solidFill>
                            <a:srgbClr val="1A1A1A"/>
                          </a:solidFill>
                        </a:rPr>
                        <a:t>what would make a 0.02 change in F1</a:t>
                      </a:r>
                    </a:p>
                    <a:p>
                      <a:pPr algn="ctr">
                        <a:defRPr sz="1250" b="0">
                          <a:solidFill>
                            <a:srgbClr val="1A1A1A"/>
                          </a:solidFill>
                        </a:defRPr>
                      </a:pPr>
                      <a:r>
                        <a:rPr sz="1250" b="0">
                          <a:solidFill>
                            <a:srgbClr val="1A1A1A"/>
                          </a:solidFill>
                        </a:rPr>
                        <a:t>provable rather than nominal</a:t>
                      </a:r>
                    </a:p>
                  </a:txBody>
                  <a:tcPr marL="73152" marR="73152" marT="27432" marB="27432">
                    <a:solidFill>
                      <a:srgbClr val="F2F4F7"/>
                    </a:solidFill>
                  </a:tcPr>
                </a:tc>
                <a:tc>
                  <a:txBody>
                    <a:bodyPr/>
                    <a:lstStyle/>
                    <a:p>
                      <a:pPr algn="ctr">
                        <a:defRPr sz="1250" b="0">
                          <a:solidFill>
                            <a:srgbClr val="1A1A1A"/>
                          </a:solidFill>
                        </a:defRPr>
                      </a:pPr>
                      <a:r>
                        <a:rPr sz="1250" b="0">
                          <a:solidFill>
                            <a:srgbClr val="1A1A1A"/>
                          </a:solidFill>
                        </a:rPr>
                        <a:t>~7 h</a:t>
                      </a:r>
                    </a:p>
                  </a:txBody>
                  <a:tcPr marL="73152" marR="73152" marT="27432" marB="27432">
                    <a:solidFill>
                      <a:srgbClr val="F2F4F7"/>
                    </a:solidFill>
                  </a:tcPr>
                </a:tc>
              </a:tr>
            </a:tbl>
          </a:graphicData>
        </a:graphic>
      </p:graphicFrame>
      <p:sp>
        <p:nvSpPr>
          <p:cNvPr id="4" name="TextBox 3"/>
          <p:cNvSpPr txBox="1"/>
          <p:nvPr/>
        </p:nvSpPr>
        <p:spPr>
          <a:xfrm>
            <a:off x="685800" y="4480560"/>
            <a:ext cx="10881360" cy="1234439"/>
          </a:xfrm>
          <a:prstGeom prst="rect">
            <a:avLst/>
          </a:prstGeom>
          <a:noFill/>
        </p:spPr>
        <p:txBody>
          <a:bodyPr wrap="square">
            <a:spAutoFit/>
          </a:bodyPr>
          <a:lstStyle/>
          <a:p>
            <a:pPr>
              <a:spcAft>
                <a:spcPts val="1000"/>
              </a:spcAft>
              <a:defRPr sz="1500">
                <a:solidFill>
                  <a:srgbClr val="1A1A1A"/>
                </a:solidFill>
              </a:defRPr>
            </a:pPr>
            <a:r>
              <a:t>• Expected effect on the headline numbers: small. We are already at the paper's level, and the sweep is unlikely to move it much.</a:t>
            </a:r>
          </a:p>
          <a:p>
            <a:pPr>
              <a:spcAft>
                <a:spcPts val="1000"/>
              </a:spcAft>
              <a:defRPr sz="1500">
                <a:solidFill>
                  <a:srgbClr val="1A1A1A"/>
                </a:solidFill>
              </a:defRPr>
            </a:pPr>
            <a:r>
              <a:t>• The gain is confidence rather than score — the cross-validation would let us state the result with half the current uncertainty.</a:t>
            </a:r>
          </a:p>
          <a:p>
            <a:pPr>
              <a:spcAft>
                <a:spcPts val="1000"/>
              </a:spcAft>
              <a:defRPr sz="1500">
                <a:solidFill>
                  <a:srgbClr val="1A1A1A"/>
                </a:solidFill>
              </a:defRPr>
            </a:pPr>
            <a:r>
              <a:t>• Neither blocks Part 2. The cross-device work can proceed in parallel either way.</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Happy to run both, either, or neither — whichever you think is the better use of the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2 — The BRSET → mBRSET problem</a:t>
            </a:r>
          </a:p>
          <a:p>
            <a:pPr>
              <a:defRPr sz="1500">
                <a:solidFill>
                  <a:srgbClr val="5A5A5A"/>
                </a:solidFill>
              </a:defRPr>
            </a:pPr>
            <a:r>
              <a:t>BRSET: tabletop hospital cameras. mBRSET: handheld smartphone camera, community screening, 83% with artifacts.   |   Figures below come from the earlier two-model ensemble — the cross-device test has not yet been re-run with the new single model.</a:t>
            </a:r>
          </a:p>
        </p:txBody>
      </p:sp>
      <p:graphicFrame>
        <p:nvGraphicFramePr>
          <p:cNvPr id="3" name="Table 2"/>
          <p:cNvGraphicFramePr>
            <a:graphicFrameLocks noGrp="1"/>
          </p:cNvGraphicFramePr>
          <p:nvPr/>
        </p:nvGraphicFramePr>
        <p:xfrm>
          <a:off x="685800" y="2011680"/>
          <a:ext cx="10789918" cy="1645919"/>
        </p:xfrm>
        <a:graphic>
          <a:graphicData uri="http://schemas.openxmlformats.org/drawingml/2006/table">
            <a:tbl>
              <a:tblPr firstRow="1" bandRow="1">
                <a:tableStyleId>{5C22544A-7EE6-4342-B048-85BDC9FD1C3A}</a:tableStyleId>
              </a:tblPr>
              <a:tblGrid>
                <a:gridCol w="3534628"/>
                <a:gridCol w="2418430"/>
                <a:gridCol w="2418430"/>
                <a:gridCol w="2418430"/>
              </a:tblGrid>
              <a:tr h="329183">
                <a:tc>
                  <a:txBody>
                    <a:bodyPr/>
                    <a:lstStyle/>
                    <a:p>
                      <a:pPr algn="l">
                        <a:defRPr sz="1400" b="1">
                          <a:solidFill>
                            <a:srgbClr val="FFFFFF"/>
                          </a:solidFill>
                        </a:defRPr>
                      </a:pPr>
                      <a:r>
                        <a:rPr sz="1400" b="1">
                          <a:solidFill>
                            <a:srgbClr val="FFFFFF"/>
                          </a:solidFill>
                        </a:rPr>
                        <a:t>Trained → Tested</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AUC (DR / ME)</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F1 (DR / ME)</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Recall (DR / ME)</a:t>
                      </a:r>
                    </a:p>
                  </a:txBody>
                  <a:tcPr marL="73152" marR="73152" marT="27432" marB="27432">
                    <a:solidFill>
                      <a:srgbClr val="1F4E79"/>
                    </a:solidFill>
                  </a:tcPr>
                </a:tc>
              </a:tr>
              <a:tr h="329183">
                <a:tc>
                  <a:txBody>
                    <a:bodyPr/>
                    <a:lstStyle/>
                    <a:p>
                      <a:pPr algn="l">
                        <a:defRPr sz="1400" b="0">
                          <a:solidFill>
                            <a:srgbClr val="1A1A1A"/>
                          </a:solidFill>
                        </a:defRPr>
                      </a:pPr>
                      <a:r>
                        <a:rPr sz="1400" b="0">
                          <a:solidFill>
                            <a:srgbClr val="1A1A1A"/>
                          </a:solidFill>
                        </a:rPr>
                        <a:t>BRSET → BRSET (in-domain)</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0.988 / 0.994</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0.869 / 0.790</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0.877 / 0.770</a:t>
                      </a:r>
                    </a:p>
                  </a:txBody>
                  <a:tcPr marL="73152" marR="73152" marT="27432" marB="27432">
                    <a:solidFill>
                      <a:srgbClr val="FFFFFF"/>
                    </a:solidFill>
                  </a:tcPr>
                </a:tc>
              </a:tr>
              <a:tr h="329183">
                <a:tc>
                  <a:txBody>
                    <a:bodyPr/>
                    <a:lstStyle/>
                    <a:p>
                      <a:pPr algn="l">
                        <a:defRPr sz="1400" b="0">
                          <a:solidFill>
                            <a:srgbClr val="1A1A1A"/>
                          </a:solidFill>
                        </a:defRPr>
                      </a:pPr>
                      <a:r>
                        <a:rPr sz="1400" b="0">
                          <a:solidFill>
                            <a:srgbClr val="1A1A1A"/>
                          </a:solidFill>
                        </a:rPr>
                        <a:t>mBRSET → mBRSET (in-domain)</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0.939 / 0.988</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0.815 / 0.807</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0.774 / 0.730</a:t>
                      </a:r>
                    </a:p>
                  </a:txBody>
                  <a:tcPr marL="73152" marR="73152" marT="27432" marB="27432">
                    <a:solidFill>
                      <a:srgbClr val="F2F4F7"/>
                    </a:solidFill>
                  </a:tcPr>
                </a:tc>
              </a:tr>
              <a:tr h="329183">
                <a:tc>
                  <a:txBody>
                    <a:bodyPr/>
                    <a:lstStyle/>
                    <a:p>
                      <a:pPr algn="l">
                        <a:defRPr sz="1400" b="0">
                          <a:solidFill>
                            <a:srgbClr val="1A1A1A"/>
                          </a:solidFill>
                        </a:defRPr>
                      </a:pPr>
                      <a:r>
                        <a:rPr sz="1400" b="0">
                          <a:solidFill>
                            <a:srgbClr val="1A1A1A"/>
                          </a:solidFill>
                        </a:rPr>
                        <a:t>BRSET → mBRSET, BRSET threshold</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0.909 / 0.933</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0.661 / 0.566</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0.503 / 0.444</a:t>
                      </a:r>
                    </a:p>
                  </a:txBody>
                  <a:tcPr marL="73152" marR="73152" marT="27432" marB="27432">
                    <a:solidFill>
                      <a:srgbClr val="FFFFFF"/>
                    </a:solidFill>
                  </a:tcPr>
                </a:tc>
              </a:tr>
              <a:tr h="329187">
                <a:tc>
                  <a:txBody>
                    <a:bodyPr/>
                    <a:lstStyle/>
                    <a:p>
                      <a:pPr algn="l">
                        <a:defRPr sz="1400" b="1">
                          <a:solidFill>
                            <a:srgbClr val="1A1A1A"/>
                          </a:solidFill>
                        </a:defRPr>
                      </a:pPr>
                      <a:r>
                        <a:rPr sz="1400" b="1">
                          <a:solidFill>
                            <a:srgbClr val="1A1A1A"/>
                          </a:solidFill>
                        </a:rPr>
                        <a:t>BRSET → mBRSET, threshold retuned</a:t>
                      </a:r>
                    </a:p>
                  </a:txBody>
                  <a:tcPr marL="73152" marR="73152" marT="27432" marB="27432">
                    <a:solidFill>
                      <a:srgbClr val="FDF0E6"/>
                    </a:solidFill>
                  </a:tcPr>
                </a:tc>
                <a:tc>
                  <a:txBody>
                    <a:bodyPr/>
                    <a:lstStyle/>
                    <a:p>
                      <a:pPr algn="ctr">
                        <a:defRPr sz="1400" b="1">
                          <a:solidFill>
                            <a:srgbClr val="1A1A1A"/>
                          </a:solidFill>
                        </a:defRPr>
                      </a:pPr>
                      <a:r>
                        <a:rPr sz="1400" b="1">
                          <a:solidFill>
                            <a:srgbClr val="1A1A1A"/>
                          </a:solidFill>
                        </a:rPr>
                        <a:t>0.909 / 0.933</a:t>
                      </a:r>
                    </a:p>
                  </a:txBody>
                  <a:tcPr marL="73152" marR="73152" marT="27432" marB="27432">
                    <a:solidFill>
                      <a:srgbClr val="FDF0E6"/>
                    </a:solidFill>
                  </a:tcPr>
                </a:tc>
                <a:tc>
                  <a:txBody>
                    <a:bodyPr/>
                    <a:lstStyle/>
                    <a:p>
                      <a:pPr algn="ctr">
                        <a:defRPr sz="1400" b="1">
                          <a:solidFill>
                            <a:srgbClr val="1A1A1A"/>
                          </a:solidFill>
                        </a:defRPr>
                      </a:pPr>
                      <a:r>
                        <a:rPr sz="1400" b="1">
                          <a:solidFill>
                            <a:srgbClr val="1A1A1A"/>
                          </a:solidFill>
                        </a:rPr>
                        <a:t>0.717 / 0.628</a:t>
                      </a:r>
                    </a:p>
                  </a:txBody>
                  <a:tcPr marL="73152" marR="73152" marT="27432" marB="27432">
                    <a:solidFill>
                      <a:srgbClr val="FDF0E6"/>
                    </a:solidFill>
                  </a:tcPr>
                </a:tc>
                <a:tc>
                  <a:txBody>
                    <a:bodyPr/>
                    <a:lstStyle/>
                    <a:p>
                      <a:pPr algn="ctr">
                        <a:defRPr sz="1400" b="1">
                          <a:solidFill>
                            <a:srgbClr val="1A1A1A"/>
                          </a:solidFill>
                        </a:defRPr>
                      </a:pPr>
                      <a:r>
                        <a:rPr sz="1400" b="1">
                          <a:solidFill>
                            <a:srgbClr val="1A1A1A"/>
                          </a:solidFill>
                        </a:rPr>
                        <a:t>0.780 / 0.603</a:t>
                      </a:r>
                    </a:p>
                  </a:txBody>
                  <a:tcPr marL="73152" marR="73152" marT="27432" marB="27432">
                    <a:solidFill>
                      <a:srgbClr val="FDF0E6"/>
                    </a:solidFill>
                  </a:tcPr>
                </a:tc>
              </a:tr>
            </a:tbl>
          </a:graphicData>
        </a:graphic>
      </p:graphicFrame>
      <p:sp>
        <p:nvSpPr>
          <p:cNvPr id="4" name="TextBox 3"/>
          <p:cNvSpPr txBox="1"/>
          <p:nvPr/>
        </p:nvSpPr>
        <p:spPr>
          <a:xfrm>
            <a:off x="685800" y="4206240"/>
            <a:ext cx="10881360" cy="1463040"/>
          </a:xfrm>
          <a:prstGeom prst="rect">
            <a:avLst/>
          </a:prstGeom>
          <a:noFill/>
        </p:spPr>
        <p:txBody>
          <a:bodyPr wrap="square">
            <a:spAutoFit/>
          </a:bodyPr>
          <a:lstStyle/>
          <a:p>
            <a:pPr>
              <a:spcAft>
                <a:spcPts val="1000"/>
              </a:spcAft>
              <a:defRPr sz="1700">
                <a:solidFill>
                  <a:srgbClr val="1A1A1A"/>
                </a:solidFill>
              </a:defRPr>
            </a:pPr>
            <a:r>
              <a:t>• Retuning only the decision threshold — no retraining — lifted DR recall from 0.503 to 0.780.</a:t>
            </a:r>
          </a:p>
          <a:p>
            <a:pPr>
              <a:spcAft>
                <a:spcPts val="1000"/>
              </a:spcAft>
              <a:defRPr sz="1700">
                <a:solidFill>
                  <a:srgbClr val="1A1A1A"/>
                </a:solidFill>
              </a:defRPr>
            </a:pPr>
            <a:r>
              <a:t>• Remaining gap to a model trained directly on mBRSET: 0.098 F1 (DR), 0.179 F1 (ME).</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Question: what is that remaining gap actually made of, and what can close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Diagnosis 1 — the referral cutoff was wrong, not the model</a:t>
            </a:r>
          </a:p>
          <a:p>
            <a:pPr>
              <a:defRPr sz="1500">
                <a:solidFill>
                  <a:srgbClr val="5A5A5A"/>
                </a:solidFill>
              </a:defRPr>
            </a:pPr>
            <a:r>
              <a:t>The model scores each image from 0 (healthy) to 1 (diseased). A cutoff decides who gets referred. Figures below are for diabetic retinopathy.</a:t>
            </a:r>
          </a:p>
        </p:txBody>
      </p:sp>
      <p:graphicFrame>
        <p:nvGraphicFramePr>
          <p:cNvPr id="3" name="Table 2"/>
          <p:cNvGraphicFramePr>
            <a:graphicFrameLocks noGrp="1"/>
          </p:cNvGraphicFramePr>
          <p:nvPr/>
        </p:nvGraphicFramePr>
        <p:xfrm>
          <a:off x="685800" y="2057400"/>
          <a:ext cx="9875518" cy="1371600"/>
        </p:xfrm>
        <a:graphic>
          <a:graphicData uri="http://schemas.openxmlformats.org/drawingml/2006/table">
            <a:tbl>
              <a:tblPr firstRow="1" bandRow="1">
                <a:tableStyleId>{5C22544A-7EE6-4342-B048-85BDC9FD1C3A}</a:tableStyleId>
              </a:tblPr>
              <a:tblGrid>
                <a:gridCol w="2904564"/>
                <a:gridCol w="4066390"/>
                <a:gridCol w="2904564"/>
              </a:tblGrid>
              <a:tr h="457200">
                <a:tc>
                  <a:txBody>
                    <a:bodyPr/>
                    <a:lstStyle/>
                    <a:p>
                      <a:pPr algn="l">
                        <a:defRPr sz="1500" b="1">
                          <a:solidFill>
                            <a:srgbClr val="FFFFFF"/>
                          </a:solidFill>
                        </a:defRPr>
                      </a:pP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How many patients have the disease</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Best cutoff for that group</a:t>
                      </a:r>
                    </a:p>
                  </a:txBody>
                  <a:tcPr marL="73152" marR="73152" marT="27432" marB="27432">
                    <a:solidFill>
                      <a:srgbClr val="1F4E79"/>
                    </a:solidFill>
                  </a:tcPr>
                </a:tc>
              </a:tr>
              <a:tr h="457200">
                <a:tc>
                  <a:txBody>
                    <a:bodyPr/>
                    <a:lstStyle/>
                    <a:p>
                      <a:pPr algn="l">
                        <a:defRPr sz="1500" b="0">
                          <a:solidFill>
                            <a:srgbClr val="1A1A1A"/>
                          </a:solidFill>
                        </a:defRPr>
                      </a:pPr>
                      <a:r>
                        <a:rPr sz="1500" b="0">
                          <a:solidFill>
                            <a:srgbClr val="1A1A1A"/>
                          </a:solidFill>
                        </a:rPr>
                        <a:t>BRSET — where we trained</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6.6% of eyes  (1 in 15)</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0.61   be strict</a:t>
                      </a:r>
                    </a:p>
                  </a:txBody>
                  <a:tcPr marL="73152" marR="73152" marT="27432" marB="27432">
                    <a:solidFill>
                      <a:srgbClr val="FFFFFF"/>
                    </a:solidFill>
                  </a:tcPr>
                </a:tc>
              </a:tr>
              <a:tr h="457200">
                <a:tc>
                  <a:txBody>
                    <a:bodyPr/>
                    <a:lstStyle/>
                    <a:p>
                      <a:pPr algn="l">
                        <a:defRPr sz="1500" b="0">
                          <a:solidFill>
                            <a:srgbClr val="1A1A1A"/>
                          </a:solidFill>
                        </a:defRPr>
                      </a:pPr>
                      <a:r>
                        <a:rPr sz="1500" b="0">
                          <a:solidFill>
                            <a:srgbClr val="1A1A1A"/>
                          </a:solidFill>
                        </a:rPr>
                        <a:t>mBRSET — where we tested</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23.3% of eyes  (1 in 4)</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0.19   be lenient</a:t>
                      </a:r>
                    </a:p>
                  </a:txBody>
                  <a:tcPr marL="73152" marR="73152" marT="27432" marB="27432">
                    <a:solidFill>
                      <a:srgbClr val="F2F4F7"/>
                    </a:solidFill>
                  </a:tcPr>
                </a:tc>
              </a:tr>
            </a:tbl>
          </a:graphicData>
        </a:graphic>
      </p:graphicFrame>
      <p:sp>
        <p:nvSpPr>
          <p:cNvPr id="4" name="TextBox 3"/>
          <p:cNvSpPr txBox="1"/>
          <p:nvPr/>
        </p:nvSpPr>
        <p:spPr>
          <a:xfrm>
            <a:off x="685800" y="3886200"/>
            <a:ext cx="10881360" cy="1783080"/>
          </a:xfrm>
          <a:prstGeom prst="rect">
            <a:avLst/>
          </a:prstGeom>
          <a:noFill/>
        </p:spPr>
        <p:txBody>
          <a:bodyPr wrap="square">
            <a:spAutoFit/>
          </a:bodyPr>
          <a:lstStyle/>
          <a:p>
            <a:pPr>
              <a:spcAft>
                <a:spcPts val="1000"/>
              </a:spcAft>
              <a:defRPr sz="1600">
                <a:solidFill>
                  <a:srgbClr val="1A1A1A"/>
                </a:solidFill>
              </a:defRPr>
            </a:pPr>
            <a:r>
              <a:t>• We applied BRSET's strict 0.61 cutoff to mBRSET, where nearly 1 in 4 patients is diseased. The model stayed quiet and missed half the cases.</a:t>
            </a:r>
          </a:p>
          <a:p>
            <a:pPr>
              <a:spcAft>
                <a:spcPts val="1000"/>
              </a:spcAft>
              <a:defRPr sz="1600">
                <a:solidFill>
                  <a:srgbClr val="1A1A1A"/>
                </a:solidFill>
              </a:defRPr>
            </a:pPr>
            <a:r>
              <a:t>• Of the move needed from 0.61 down to 0.19:  77% is explained by the higher disease rate alone, and only 23% by the model being less certain on blurrier images.</a:t>
            </a:r>
          </a:p>
          <a:p>
            <a:pPr>
              <a:spcAft>
                <a:spcPts val="1000"/>
              </a:spcAft>
              <a:defRPr sz="1600">
                <a:solidFill>
                  <a:srgbClr val="1A1A1A"/>
                </a:solidFill>
              </a:defRPr>
            </a:pPr>
            <a:r>
              <a:t>• The disease-rate part can be estimated from unlabelled images — no answer key required.</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Moving the cutoff alone — no retraining — lifted F1 from 0.661 to 0.717, and recall from 0.503 to 0.780.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Diagnosis 2 — how much is the cutoff, how much is the model</a:t>
            </a:r>
          </a:p>
          <a:p>
            <a:pPr>
              <a:defRPr sz="1500">
                <a:solidFill>
                  <a:srgbClr val="5A5A5A"/>
                </a:solidFill>
              </a:defRPr>
            </a:pPr>
            <a:r>
              <a:t>Measured directly: we swept every possible cutoff on the mBRSET test set to find the best F1 any cutoff could reach.</a:t>
            </a:r>
          </a:p>
        </p:txBody>
      </p:sp>
      <p:graphicFrame>
        <p:nvGraphicFramePr>
          <p:cNvPr id="3" name="Table 2"/>
          <p:cNvGraphicFramePr>
            <a:graphicFrameLocks noGrp="1"/>
          </p:cNvGraphicFramePr>
          <p:nvPr/>
        </p:nvGraphicFramePr>
        <p:xfrm>
          <a:off x="685800" y="2011680"/>
          <a:ext cx="10515600" cy="1737360"/>
        </p:xfrm>
        <a:graphic>
          <a:graphicData uri="http://schemas.openxmlformats.org/drawingml/2006/table">
            <a:tbl>
              <a:tblPr firstRow="1" bandRow="1">
                <a:tableStyleId>{5C22544A-7EE6-4342-B048-85BDC9FD1C3A}</a:tableStyleId>
              </a:tblPr>
              <a:tblGrid>
                <a:gridCol w="2468880"/>
                <a:gridCol w="1645920"/>
                <a:gridCol w="1645920"/>
                <a:gridCol w="1645920"/>
                <a:gridCol w="1554480"/>
                <a:gridCol w="1554480"/>
              </a:tblGrid>
              <a:tr h="579120">
                <a:tc>
                  <a:txBody>
                    <a:bodyPr/>
                    <a:lstStyle/>
                    <a:p>
                      <a:pPr algn="l">
                        <a:defRPr sz="1300" b="1">
                          <a:solidFill>
                            <a:srgbClr val="FFFFFF"/>
                          </a:solidFill>
                        </a:defRPr>
                      </a:pPr>
                    </a:p>
                  </a:txBody>
                  <a:tcPr marL="73152" marR="73152" marT="27432" marB="27432">
                    <a:solidFill>
                      <a:srgbClr val="1F4E79"/>
                    </a:solidFill>
                  </a:tcPr>
                </a:tc>
                <a:tc>
                  <a:txBody>
                    <a:bodyPr/>
                    <a:lstStyle/>
                    <a:p>
                      <a:pPr algn="ctr">
                        <a:defRPr sz="1300" b="1">
                          <a:solidFill>
                            <a:srgbClr val="FFFFFF"/>
                          </a:solidFill>
                        </a:defRPr>
                      </a:pPr>
                      <a:r>
                        <a:rPr sz="1300" b="1">
                          <a:solidFill>
                            <a:srgbClr val="FFFFFF"/>
                          </a:solidFill>
                        </a:rPr>
                        <a:t>Ours</a:t>
                      </a:r>
                    </a:p>
                    <a:p>
                      <a:pPr algn="ctr">
                        <a:defRPr sz="1300" b="1">
                          <a:solidFill>
                            <a:srgbClr val="FFFFFF"/>
                          </a:solidFill>
                        </a:defRPr>
                      </a:pPr>
                      <a:r>
                        <a:rPr sz="1300" b="1">
                          <a:solidFill>
                            <a:srgbClr val="FFFFFF"/>
                          </a:solidFill>
                        </a:rPr>
                        <a:t>(cutoff set on</a:t>
                      </a:r>
                    </a:p>
                    <a:p>
                      <a:pPr algn="ctr">
                        <a:defRPr sz="1300" b="1">
                          <a:solidFill>
                            <a:srgbClr val="FFFFFF"/>
                          </a:solidFill>
                        </a:defRPr>
                      </a:pPr>
                      <a:r>
                        <a:rPr sz="1300" b="1">
                          <a:solidFill>
                            <a:srgbClr val="FFFFFF"/>
                          </a:solidFill>
                        </a:rPr>
                        <a:t>validation)</a:t>
                      </a:r>
                    </a:p>
                  </a:txBody>
                  <a:tcPr marL="73152" marR="73152" marT="27432" marB="27432">
                    <a:solidFill>
                      <a:srgbClr val="1F4E79"/>
                    </a:solidFill>
                  </a:tcPr>
                </a:tc>
                <a:tc>
                  <a:txBody>
                    <a:bodyPr/>
                    <a:lstStyle/>
                    <a:p>
                      <a:pPr algn="ctr">
                        <a:defRPr sz="1300" b="1">
                          <a:solidFill>
                            <a:srgbClr val="FFFFFF"/>
                          </a:solidFill>
                        </a:defRPr>
                      </a:pPr>
                      <a:r>
                        <a:rPr sz="1300" b="1">
                          <a:solidFill>
                            <a:srgbClr val="FFFFFF"/>
                          </a:solidFill>
                        </a:rPr>
                        <a:t>Best any cutoff</a:t>
                      </a:r>
                    </a:p>
                    <a:p>
                      <a:pPr algn="ctr">
                        <a:defRPr sz="1300" b="1">
                          <a:solidFill>
                            <a:srgbClr val="FFFFFF"/>
                          </a:solidFill>
                        </a:defRPr>
                      </a:pPr>
                      <a:r>
                        <a:rPr sz="1300" b="1">
                          <a:solidFill>
                            <a:srgbClr val="FFFFFF"/>
                          </a:solidFill>
                        </a:rPr>
                        <a:t>could reach</a:t>
                      </a:r>
                    </a:p>
                  </a:txBody>
                  <a:tcPr marL="73152" marR="73152" marT="27432" marB="27432">
                    <a:solidFill>
                      <a:srgbClr val="1F4E79"/>
                    </a:solidFill>
                  </a:tcPr>
                </a:tc>
                <a:tc>
                  <a:txBody>
                    <a:bodyPr/>
                    <a:lstStyle/>
                    <a:p>
                      <a:pPr algn="ctr">
                        <a:defRPr sz="1300" b="1">
                          <a:solidFill>
                            <a:srgbClr val="FFFFFF"/>
                          </a:solidFill>
                        </a:defRPr>
                      </a:pPr>
                      <a:r>
                        <a:rPr sz="1300" b="1">
                          <a:solidFill>
                            <a:srgbClr val="FFFFFF"/>
                          </a:solidFill>
                        </a:rPr>
                        <a:t>A model trained</a:t>
                      </a:r>
                    </a:p>
                    <a:p>
                      <a:pPr algn="ctr">
                        <a:defRPr sz="1300" b="1">
                          <a:solidFill>
                            <a:srgbClr val="FFFFFF"/>
                          </a:solidFill>
                        </a:defRPr>
                      </a:pPr>
                      <a:r>
                        <a:rPr sz="1300" b="1">
                          <a:solidFill>
                            <a:srgbClr val="FFFFFF"/>
                          </a:solidFill>
                        </a:rPr>
                        <a:t>on mBRSET</a:t>
                      </a:r>
                    </a:p>
                  </a:txBody>
                  <a:tcPr marL="73152" marR="73152" marT="27432" marB="27432">
                    <a:solidFill>
                      <a:srgbClr val="1F4E79"/>
                    </a:solidFill>
                  </a:tcPr>
                </a:tc>
                <a:tc>
                  <a:txBody>
                    <a:bodyPr/>
                    <a:lstStyle/>
                    <a:p>
                      <a:pPr algn="ctr">
                        <a:defRPr sz="1300" b="1">
                          <a:solidFill>
                            <a:srgbClr val="FFFFFF"/>
                          </a:solidFill>
                        </a:defRPr>
                      </a:pPr>
                      <a:r>
                        <a:rPr sz="1300" b="1">
                          <a:solidFill>
                            <a:srgbClr val="FFFFFF"/>
                          </a:solidFill>
                        </a:rPr>
                        <a:t>Still reachable</a:t>
                      </a:r>
                    </a:p>
                    <a:p>
                      <a:pPr algn="ctr">
                        <a:defRPr sz="1300" b="1">
                          <a:solidFill>
                            <a:srgbClr val="FFFFFF"/>
                          </a:solidFill>
                        </a:defRPr>
                      </a:pPr>
                      <a:r>
                        <a:rPr sz="1300" b="1">
                          <a:solidFill>
                            <a:srgbClr val="FFFFFF"/>
                          </a:solidFill>
                        </a:rPr>
                        <a:t>by cutoff</a:t>
                      </a:r>
                    </a:p>
                  </a:txBody>
                  <a:tcPr marL="73152" marR="73152" marT="27432" marB="27432">
                    <a:solidFill>
                      <a:srgbClr val="1F4E79"/>
                    </a:solidFill>
                  </a:tcPr>
                </a:tc>
                <a:tc>
                  <a:txBody>
                    <a:bodyPr/>
                    <a:lstStyle/>
                    <a:p>
                      <a:pPr algn="ctr">
                        <a:defRPr sz="1300" b="1">
                          <a:solidFill>
                            <a:srgbClr val="FFFFFF"/>
                          </a:solidFill>
                        </a:defRPr>
                      </a:pPr>
                      <a:r>
                        <a:rPr sz="1300" b="1">
                          <a:solidFill>
                            <a:srgbClr val="FFFFFF"/>
                          </a:solidFill>
                        </a:rPr>
                        <a:t>Needs better</a:t>
                      </a:r>
                    </a:p>
                    <a:p>
                      <a:pPr algn="ctr">
                        <a:defRPr sz="1300" b="1">
                          <a:solidFill>
                            <a:srgbClr val="FFFFFF"/>
                          </a:solidFill>
                        </a:defRPr>
                      </a:pPr>
                      <a:r>
                        <a:rPr sz="1300" b="1">
                          <a:solidFill>
                            <a:srgbClr val="FFFFFF"/>
                          </a:solidFill>
                        </a:rPr>
                        <a:t>ranking</a:t>
                      </a:r>
                    </a:p>
                  </a:txBody>
                  <a:tcPr marL="73152" marR="73152" marT="27432" marB="27432">
                    <a:solidFill>
                      <a:srgbClr val="1F4E79"/>
                    </a:solidFill>
                  </a:tcPr>
                </a:tc>
              </a:tr>
              <a:tr h="579120">
                <a:tc>
                  <a:txBody>
                    <a:bodyPr/>
                    <a:lstStyle/>
                    <a:p>
                      <a:pPr algn="l">
                        <a:defRPr sz="1300" b="0">
                          <a:solidFill>
                            <a:srgbClr val="1A1A1A"/>
                          </a:solidFill>
                        </a:defRPr>
                      </a:pPr>
                      <a:r>
                        <a:rPr sz="1300" b="0">
                          <a:solidFill>
                            <a:srgbClr val="1A1A1A"/>
                          </a:solidFill>
                        </a:rPr>
                        <a:t>Diabetic retinopathy</a:t>
                      </a:r>
                    </a:p>
                  </a:txBody>
                  <a:tcPr marL="73152" marR="73152" marT="27432" marB="27432">
                    <a:solidFill>
                      <a:srgbClr val="FFFFFF"/>
                    </a:solidFill>
                  </a:tcPr>
                </a:tc>
                <a:tc>
                  <a:txBody>
                    <a:bodyPr/>
                    <a:lstStyle/>
                    <a:p>
                      <a:pPr algn="ctr">
                        <a:defRPr sz="1300" b="0">
                          <a:solidFill>
                            <a:srgbClr val="1A1A1A"/>
                          </a:solidFill>
                        </a:defRPr>
                      </a:pPr>
                      <a:r>
                        <a:rPr sz="1300" b="0">
                          <a:solidFill>
                            <a:srgbClr val="1A1A1A"/>
                          </a:solidFill>
                        </a:rPr>
                        <a:t>0.717</a:t>
                      </a:r>
                    </a:p>
                  </a:txBody>
                  <a:tcPr marL="73152" marR="73152" marT="27432" marB="27432">
                    <a:solidFill>
                      <a:srgbClr val="FFFFFF"/>
                    </a:solidFill>
                  </a:tcPr>
                </a:tc>
                <a:tc>
                  <a:txBody>
                    <a:bodyPr/>
                    <a:lstStyle/>
                    <a:p>
                      <a:pPr algn="ctr">
                        <a:defRPr sz="1300" b="0">
                          <a:solidFill>
                            <a:srgbClr val="1A1A1A"/>
                          </a:solidFill>
                        </a:defRPr>
                      </a:pPr>
                      <a:r>
                        <a:rPr sz="1300" b="0">
                          <a:solidFill>
                            <a:srgbClr val="1A1A1A"/>
                          </a:solidFill>
                        </a:rPr>
                        <a:t>0.765</a:t>
                      </a:r>
                    </a:p>
                  </a:txBody>
                  <a:tcPr marL="73152" marR="73152" marT="27432" marB="27432">
                    <a:solidFill>
                      <a:srgbClr val="FFFFFF"/>
                    </a:solidFill>
                  </a:tcPr>
                </a:tc>
                <a:tc>
                  <a:txBody>
                    <a:bodyPr/>
                    <a:lstStyle/>
                    <a:p>
                      <a:pPr algn="ctr">
                        <a:defRPr sz="1300" b="0">
                          <a:solidFill>
                            <a:srgbClr val="1A1A1A"/>
                          </a:solidFill>
                        </a:defRPr>
                      </a:pPr>
                      <a:r>
                        <a:rPr sz="1300" b="0">
                          <a:solidFill>
                            <a:srgbClr val="1A1A1A"/>
                          </a:solidFill>
                        </a:rPr>
                        <a:t>0.815</a:t>
                      </a:r>
                    </a:p>
                  </a:txBody>
                  <a:tcPr marL="73152" marR="73152" marT="27432" marB="27432">
                    <a:solidFill>
                      <a:srgbClr val="FFFFFF"/>
                    </a:solidFill>
                  </a:tcPr>
                </a:tc>
                <a:tc>
                  <a:txBody>
                    <a:bodyPr/>
                    <a:lstStyle/>
                    <a:p>
                      <a:pPr algn="ctr">
                        <a:defRPr sz="1300" b="0">
                          <a:solidFill>
                            <a:srgbClr val="1A1A1A"/>
                          </a:solidFill>
                        </a:defRPr>
                      </a:pPr>
                      <a:r>
                        <a:rPr sz="1300" b="0">
                          <a:solidFill>
                            <a:srgbClr val="1A1A1A"/>
                          </a:solidFill>
                        </a:rPr>
                        <a:t>0.048</a:t>
                      </a:r>
                    </a:p>
                  </a:txBody>
                  <a:tcPr marL="73152" marR="73152" marT="27432" marB="27432">
                    <a:solidFill>
                      <a:srgbClr val="FFFFFF"/>
                    </a:solidFill>
                  </a:tcPr>
                </a:tc>
                <a:tc>
                  <a:txBody>
                    <a:bodyPr/>
                    <a:lstStyle/>
                    <a:p>
                      <a:pPr algn="ctr">
                        <a:defRPr sz="1300" b="0">
                          <a:solidFill>
                            <a:srgbClr val="1A1A1A"/>
                          </a:solidFill>
                        </a:defRPr>
                      </a:pPr>
                      <a:r>
                        <a:rPr sz="1300" b="0">
                          <a:solidFill>
                            <a:srgbClr val="1A1A1A"/>
                          </a:solidFill>
                        </a:rPr>
                        <a:t>0.050</a:t>
                      </a:r>
                    </a:p>
                  </a:txBody>
                  <a:tcPr marL="73152" marR="73152" marT="27432" marB="27432">
                    <a:solidFill>
                      <a:srgbClr val="FFFFFF"/>
                    </a:solidFill>
                  </a:tcPr>
                </a:tc>
              </a:tr>
              <a:tr h="579120">
                <a:tc>
                  <a:txBody>
                    <a:bodyPr/>
                    <a:lstStyle/>
                    <a:p>
                      <a:pPr algn="l">
                        <a:defRPr sz="1300" b="0">
                          <a:solidFill>
                            <a:srgbClr val="1A1A1A"/>
                          </a:solidFill>
                        </a:defRPr>
                      </a:pPr>
                      <a:r>
                        <a:rPr sz="1300" b="0">
                          <a:solidFill>
                            <a:srgbClr val="1A1A1A"/>
                          </a:solidFill>
                        </a:rPr>
                        <a:t>Macular edema</a:t>
                      </a:r>
                    </a:p>
                  </a:txBody>
                  <a:tcPr marL="73152" marR="73152" marT="27432" marB="27432">
                    <a:solidFill>
                      <a:srgbClr val="F2F4F7"/>
                    </a:solidFill>
                  </a:tcPr>
                </a:tc>
                <a:tc>
                  <a:txBody>
                    <a:bodyPr/>
                    <a:lstStyle/>
                    <a:p>
                      <a:pPr algn="ctr">
                        <a:defRPr sz="1300" b="0">
                          <a:solidFill>
                            <a:srgbClr val="1A1A1A"/>
                          </a:solidFill>
                        </a:defRPr>
                      </a:pPr>
                      <a:r>
                        <a:rPr sz="1300" b="0">
                          <a:solidFill>
                            <a:srgbClr val="1A1A1A"/>
                          </a:solidFill>
                        </a:rPr>
                        <a:t>0.628</a:t>
                      </a:r>
                    </a:p>
                  </a:txBody>
                  <a:tcPr marL="73152" marR="73152" marT="27432" marB="27432">
                    <a:solidFill>
                      <a:srgbClr val="F2F4F7"/>
                    </a:solidFill>
                  </a:tcPr>
                </a:tc>
                <a:tc>
                  <a:txBody>
                    <a:bodyPr/>
                    <a:lstStyle/>
                    <a:p>
                      <a:pPr algn="ctr">
                        <a:defRPr sz="1300" b="0">
                          <a:solidFill>
                            <a:srgbClr val="1A1A1A"/>
                          </a:solidFill>
                        </a:defRPr>
                      </a:pPr>
                      <a:r>
                        <a:rPr sz="1300" b="0">
                          <a:solidFill>
                            <a:srgbClr val="1A1A1A"/>
                          </a:solidFill>
                        </a:rPr>
                        <a:t>0.671</a:t>
                      </a:r>
                    </a:p>
                  </a:txBody>
                  <a:tcPr marL="73152" marR="73152" marT="27432" marB="27432">
                    <a:solidFill>
                      <a:srgbClr val="F2F4F7"/>
                    </a:solidFill>
                  </a:tcPr>
                </a:tc>
                <a:tc>
                  <a:txBody>
                    <a:bodyPr/>
                    <a:lstStyle/>
                    <a:p>
                      <a:pPr algn="ctr">
                        <a:defRPr sz="1300" b="0">
                          <a:solidFill>
                            <a:srgbClr val="1A1A1A"/>
                          </a:solidFill>
                        </a:defRPr>
                      </a:pPr>
                      <a:r>
                        <a:rPr sz="1300" b="0">
                          <a:solidFill>
                            <a:srgbClr val="1A1A1A"/>
                          </a:solidFill>
                        </a:rPr>
                        <a:t>0.807</a:t>
                      </a:r>
                    </a:p>
                  </a:txBody>
                  <a:tcPr marL="73152" marR="73152" marT="27432" marB="27432">
                    <a:solidFill>
                      <a:srgbClr val="F2F4F7"/>
                    </a:solidFill>
                  </a:tcPr>
                </a:tc>
                <a:tc>
                  <a:txBody>
                    <a:bodyPr/>
                    <a:lstStyle/>
                    <a:p>
                      <a:pPr algn="ctr">
                        <a:defRPr sz="1300" b="0">
                          <a:solidFill>
                            <a:srgbClr val="1A1A1A"/>
                          </a:solidFill>
                        </a:defRPr>
                      </a:pPr>
                      <a:r>
                        <a:rPr sz="1300" b="0">
                          <a:solidFill>
                            <a:srgbClr val="1A1A1A"/>
                          </a:solidFill>
                        </a:rPr>
                        <a:t>0.043</a:t>
                      </a:r>
                    </a:p>
                  </a:txBody>
                  <a:tcPr marL="73152" marR="73152" marT="27432" marB="27432">
                    <a:solidFill>
                      <a:srgbClr val="F2F4F7"/>
                    </a:solidFill>
                  </a:tcPr>
                </a:tc>
                <a:tc>
                  <a:txBody>
                    <a:bodyPr/>
                    <a:lstStyle/>
                    <a:p>
                      <a:pPr algn="ctr">
                        <a:defRPr sz="1300" b="0">
                          <a:solidFill>
                            <a:srgbClr val="1A1A1A"/>
                          </a:solidFill>
                        </a:defRPr>
                      </a:pPr>
                      <a:r>
                        <a:rPr sz="1300" b="0">
                          <a:solidFill>
                            <a:srgbClr val="1A1A1A"/>
                          </a:solidFill>
                        </a:rPr>
                        <a:t>0.136</a:t>
                      </a:r>
                    </a:p>
                  </a:txBody>
                  <a:tcPr marL="73152" marR="73152" marT="27432" marB="27432">
                    <a:solidFill>
                      <a:srgbClr val="F2F4F7"/>
                    </a:solidFill>
                  </a:tcPr>
                </a:tc>
              </a:tr>
            </a:tbl>
          </a:graphicData>
        </a:graphic>
      </p:graphicFrame>
      <p:sp>
        <p:nvSpPr>
          <p:cNvPr id="4" name="TextBox 3"/>
          <p:cNvSpPr txBox="1"/>
          <p:nvPr/>
        </p:nvSpPr>
        <p:spPr>
          <a:xfrm>
            <a:off x="685800" y="4023360"/>
            <a:ext cx="10881360" cy="1737359"/>
          </a:xfrm>
          <a:prstGeom prst="rect">
            <a:avLst/>
          </a:prstGeom>
          <a:noFill/>
        </p:spPr>
        <p:txBody>
          <a:bodyPr wrap="square">
            <a:spAutoFit/>
          </a:bodyPr>
          <a:lstStyle/>
          <a:p>
            <a:pPr>
              <a:spcAft>
                <a:spcPts val="1000"/>
              </a:spcAft>
              <a:defRPr sz="1500">
                <a:solidFill>
                  <a:srgbClr val="1A1A1A"/>
                </a:solidFill>
              </a:defRPr>
            </a:pPr>
            <a:r>
              <a:t>• The "best any cutoff could reach" column comes from tuning the cutoff on the test set itself. We cannot do that honestly, but it bounds what any cutoff or calibration method could ever achieve.</a:t>
            </a:r>
          </a:p>
          <a:p>
            <a:pPr>
              <a:spcAft>
                <a:spcPts val="1000"/>
              </a:spcAft>
              <a:defRPr sz="1500">
                <a:solidFill>
                  <a:srgbClr val="1A1A1A"/>
                </a:solidFill>
              </a:defRPr>
            </a:pPr>
            <a:r>
              <a:t>• For diabetic retinopathy the remaining gap splits about evenly — half is still reachable by choosing the cutoff better, half is beyond any cutoff and needs the model to rank patients better.</a:t>
            </a:r>
          </a:p>
          <a:p>
            <a:pPr>
              <a:spcAft>
                <a:spcPts val="1000"/>
              </a:spcAft>
              <a:defRPr sz="1500">
                <a:solidFill>
                  <a:srgbClr val="1A1A1A"/>
                </a:solidFill>
              </a:defRPr>
            </a:pPr>
            <a:r>
              <a:t>• For macular edema it is lopsided: only 0.043 of the 0.179 gap is cutoff. The rest needs better ranking.</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Both levers matter: better cutoff selection for DR, and better ranking — higher AUC — especially for macular edema.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2 — Plan to make the BRSET model work on mBRSET</a:t>
            </a:r>
          </a:p>
          <a:p>
            <a:pPr>
              <a:defRPr sz="1500">
                <a:solidFill>
                  <a:srgbClr val="5A5A5A"/>
                </a:solidFill>
              </a:defRPr>
            </a:pPr>
            <a:r>
              <a:t>Two methods proposed, one parked for your input. Ordered by expected gain per unit of effort.</a:t>
            </a:r>
          </a:p>
        </p:txBody>
      </p:sp>
      <p:graphicFrame>
        <p:nvGraphicFramePr>
          <p:cNvPr id="3" name="Table 2"/>
          <p:cNvGraphicFramePr>
            <a:graphicFrameLocks noGrp="1"/>
          </p:cNvGraphicFramePr>
          <p:nvPr/>
        </p:nvGraphicFramePr>
        <p:xfrm>
          <a:off x="685800" y="1691640"/>
          <a:ext cx="10789918" cy="4160520"/>
        </p:xfrm>
        <a:graphic>
          <a:graphicData uri="http://schemas.openxmlformats.org/drawingml/2006/table">
            <a:tbl>
              <a:tblPr firstRow="1" bandRow="1">
                <a:tableStyleId>{5C22544A-7EE6-4342-B048-85BDC9FD1C3A}</a:tableStyleId>
              </a:tblPr>
              <a:tblGrid>
                <a:gridCol w="372066"/>
                <a:gridCol w="2232397"/>
                <a:gridCol w="6139092"/>
                <a:gridCol w="744132"/>
                <a:gridCol w="1302231"/>
              </a:tblGrid>
              <a:tr h="1040130">
                <a:tc>
                  <a:txBody>
                    <a:bodyPr/>
                    <a:lstStyle/>
                    <a:p>
                      <a:pPr algn="l">
                        <a:defRPr sz="1150" b="1">
                          <a:solidFill>
                            <a:srgbClr val="FFFFFF"/>
                          </a:solidFill>
                        </a:defRPr>
                      </a:pPr>
                      <a:r>
                        <a:rPr sz="1150" b="1">
                          <a:solidFill>
                            <a:srgbClr val="FFFFFF"/>
                          </a:solidFill>
                        </a:rPr>
                        <a:t>#</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Method</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What it does</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Effort</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Status</a:t>
                      </a:r>
                    </a:p>
                  </a:txBody>
                  <a:tcPr marL="73152" marR="73152" marT="27432" marB="27432">
                    <a:solidFill>
                      <a:srgbClr val="1F4E79"/>
                    </a:solidFill>
                  </a:tcPr>
                </a:tc>
              </a:tr>
              <a:tr h="1040130">
                <a:tc>
                  <a:txBody>
                    <a:bodyPr/>
                    <a:lstStyle/>
                    <a:p>
                      <a:pPr algn="l">
                        <a:defRPr sz="1150" b="0">
                          <a:solidFill>
                            <a:srgbClr val="1A1A1A"/>
                          </a:solidFill>
                        </a:defRPr>
                      </a:pPr>
                      <a:r>
                        <a:rPr sz="1150" b="0">
                          <a:solidFill>
                            <a:srgbClr val="1A1A1A"/>
                          </a:solidFill>
                        </a:rPr>
                        <a:t>1</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Use all of a patient's</a:t>
                      </a:r>
                    </a:p>
                    <a:p>
                      <a:pPr algn="ctr">
                        <a:defRPr sz="1150" b="0">
                          <a:solidFill>
                            <a:srgbClr val="1A1A1A"/>
                          </a:solidFill>
                        </a:defRPr>
                      </a:pPr>
                      <a:r>
                        <a:rPr sz="1150" b="0">
                          <a:solidFill>
                            <a:srgbClr val="1A1A1A"/>
                          </a:solidFill>
                        </a:rPr>
                        <a:t>images together</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mBRSET has about 4 images per patient. 85% of the time they share</a:t>
                      </a:r>
                    </a:p>
                    <a:p>
                      <a:pPr algn="ctr">
                        <a:defRPr sz="1150" b="0">
                          <a:solidFill>
                            <a:srgbClr val="1A1A1A"/>
                          </a:solidFill>
                        </a:defRPr>
                      </a:pPr>
                      <a:r>
                        <a:rPr sz="1150" b="0">
                          <a:solidFill>
                            <a:srgbClr val="1A1A1A"/>
                          </a:solidFill>
                        </a:rPr>
                        <a:t>the same diagnosis, but we currently judge each image alone.</a:t>
                      </a:r>
                    </a:p>
                    <a:p>
                      <a:pPr algn="ctr">
                        <a:defRPr sz="1150" b="0">
                          <a:solidFill>
                            <a:srgbClr val="1A1A1A"/>
                          </a:solidFill>
                        </a:defRPr>
                      </a:pPr>
                      <a:r>
                        <a:rPr sz="1150" b="0">
                          <a:solidFill>
                            <a:srgbClr val="1A1A1A"/>
                          </a:solidFill>
                        </a:rPr>
                        <a:t>Blur differs per image, so combining them cancels it out.</a:t>
                      </a:r>
                    </a:p>
                    <a:p>
                      <a:pPr algn="ctr">
                        <a:defRPr sz="1150" b="0">
                          <a:solidFill>
                            <a:srgbClr val="1A1A1A"/>
                          </a:solidFill>
                        </a:defRPr>
                      </a:pPr>
                      <a:r>
                        <a:rPr sz="1150" b="0">
                          <a:solidFill>
                            <a:srgbClr val="1A1A1A"/>
                          </a:solidFill>
                        </a:rPr>
                        <a:t>RetiGen (Chen et al., arXiv 2403.15647) does this on fundus images and</a:t>
                      </a:r>
                    </a:p>
                    <a:p>
                      <a:pPr algn="ctr">
                        <a:defRPr sz="1150" b="0">
                          <a:solidFill>
                            <a:srgbClr val="1A1A1A"/>
                          </a:solidFill>
                        </a:defRPr>
                      </a:pPr>
                      <a:r>
                        <a:rPr sz="1150" b="0">
                          <a:solidFill>
                            <a:srgbClr val="1A1A1A"/>
                          </a:solidFill>
                        </a:rPr>
                        <a:t>reports +0.002 to +0.086 AUC across seven baselines, median ≈ +0.044.</a:t>
                      </a:r>
                    </a:p>
                    <a:p>
                      <a:pPr algn="ctr">
                        <a:defRPr sz="1150" b="0">
                          <a:solidFill>
                            <a:srgbClr val="1A1A1A"/>
                          </a:solidFill>
                        </a:defRPr>
                      </a:pPr>
                      <a:r>
                        <a:rPr sz="1150" b="0">
                          <a:solidFill>
                            <a:srgbClr val="1A1A1A"/>
                          </a:solidFill>
                        </a:rPr>
                        <a:t>We need +0.04 — achievable, but not guaranteed.</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3–5 d</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Proposed</a:t>
                      </a:r>
                    </a:p>
                  </a:txBody>
                  <a:tcPr marL="73152" marR="73152" marT="27432" marB="27432">
                    <a:solidFill>
                      <a:srgbClr val="FFFFFF"/>
                    </a:solidFill>
                  </a:tcPr>
                </a:tc>
              </a:tr>
              <a:tr h="1040130">
                <a:tc>
                  <a:txBody>
                    <a:bodyPr/>
                    <a:lstStyle/>
                    <a:p>
                      <a:pPr algn="l">
                        <a:defRPr sz="1150" b="0">
                          <a:solidFill>
                            <a:srgbClr val="1A1A1A"/>
                          </a:solidFill>
                        </a:defRPr>
                      </a:pPr>
                      <a:r>
                        <a:rPr sz="1150" b="0">
                          <a:solidFill>
                            <a:srgbClr val="1A1A1A"/>
                          </a:solidFill>
                        </a:rPr>
                        <a:t>2</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Set the cutoff without</a:t>
                      </a:r>
                    </a:p>
                    <a:p>
                      <a:pPr algn="ctr">
                        <a:defRPr sz="1150" b="0">
                          <a:solidFill>
                            <a:srgbClr val="1A1A1A"/>
                          </a:solidFill>
                        </a:defRPr>
                      </a:pPr>
                      <a:r>
                        <a:rPr sz="1150" b="0">
                          <a:solidFill>
                            <a:srgbClr val="1A1A1A"/>
                          </a:solidFill>
                        </a:rPr>
                        <a:t>needing an answer key</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Estimates the disease rate from unlabelled images, so the cutoff fix</a:t>
                      </a:r>
                    </a:p>
                    <a:p>
                      <a:pPr algn="ctr">
                        <a:defRPr sz="1150" b="0">
                          <a:solidFill>
                            <a:srgbClr val="1A1A1A"/>
                          </a:solidFill>
                        </a:defRPr>
                      </a:pPr>
                      <a:r>
                        <a:rPr sz="1150" b="0">
                          <a:solidFill>
                            <a:srgbClr val="1A1A1A"/>
                          </a:solidFill>
                        </a:rPr>
                        <a:t>works on a new camera with no annotations at all.</a:t>
                      </a:r>
                    </a:p>
                    <a:p>
                      <a:pPr algn="ctr">
                        <a:defRPr sz="1150" b="0">
                          <a:solidFill>
                            <a:srgbClr val="1A1A1A"/>
                          </a:solidFill>
                        </a:defRPr>
                      </a:pPr>
                      <a:r>
                        <a:rPr sz="1150" b="0">
                          <a:solidFill>
                            <a:srgbClr val="1A1A1A"/>
                          </a:solidFill>
                        </a:rPr>
                        <a:t>Does not raise AUC — it makes the gain we already have deployable,</a:t>
                      </a:r>
                    </a:p>
                    <a:p>
                      <a:pPr algn="ctr">
                        <a:defRPr sz="1150" b="0">
                          <a:solidFill>
                            <a:srgbClr val="1A1A1A"/>
                          </a:solidFill>
                        </a:defRPr>
                      </a:pPr>
                      <a:r>
                        <a:rPr sz="1150" b="0">
                          <a:solidFill>
                            <a:srgbClr val="1A1A1A"/>
                          </a:solidFill>
                        </a:rPr>
                        <a:t>and is the honest baseline the other methods are measured against.</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0.5 d</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Proposed</a:t>
                      </a:r>
                    </a:p>
                  </a:txBody>
                  <a:tcPr marL="73152" marR="73152" marT="27432" marB="27432">
                    <a:solidFill>
                      <a:srgbClr val="F2F4F7"/>
                    </a:solidFill>
                  </a:tcPr>
                </a:tc>
              </a:tr>
              <a:tr h="1040130">
                <a:tc>
                  <a:txBody>
                    <a:bodyPr/>
                    <a:lstStyle/>
                    <a:p>
                      <a:pPr algn="l">
                        <a:defRPr sz="1150" b="0">
                          <a:solidFill>
                            <a:srgbClr val="1A1A1A"/>
                          </a:solidFill>
                        </a:defRPr>
                      </a:pPr>
                      <a:r>
                        <a:rPr sz="1150" b="0">
                          <a:solidFill>
                            <a:srgbClr val="1A1A1A"/>
                          </a:solidFill>
                        </a:rPr>
                        <a:t>3</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Train on deliberately</a:t>
                      </a:r>
                    </a:p>
                    <a:p>
                      <a:pPr algn="ctr">
                        <a:defRPr sz="1150" b="0">
                          <a:solidFill>
                            <a:srgbClr val="1A1A1A"/>
                          </a:solidFill>
                        </a:defRPr>
                      </a:pPr>
                      <a:r>
                        <a:rPr sz="1150" b="0">
                          <a:solidFill>
                            <a:srgbClr val="1A1A1A"/>
                          </a:solidFill>
                        </a:rPr>
                        <a:t>degraded BRSET images</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Blur and darken real BRSET images to imitate handheld capture, so</a:t>
                      </a:r>
                    </a:p>
                    <a:p>
                      <a:pPr algn="ctr">
                        <a:defRPr sz="1150" b="0">
                          <a:solidFill>
                            <a:srgbClr val="1A1A1A"/>
                          </a:solidFill>
                        </a:defRPr>
                      </a:pPr>
                      <a:r>
                        <a:rPr sz="1150" b="0">
                          <a:solidFill>
                            <a:srgbClr val="1A1A1A"/>
                          </a:solidFill>
                        </a:rPr>
                        <a:t>the model learns to find lesions despite poor quality.</a:t>
                      </a:r>
                    </a:p>
                    <a:p>
                      <a:pPr algn="ctr">
                        <a:defRPr sz="1150" b="0">
                          <a:solidFill>
                            <a:srgbClr val="1A1A1A"/>
                          </a:solidFill>
                        </a:defRPr>
                      </a:pPr>
                      <a:r>
                        <a:rPr sz="1150" b="0">
                          <a:solidFill>
                            <a:srgbClr val="1A1A1A"/>
                          </a:solidFill>
                        </a:rPr>
                        <a:t>Aimed at macular edema specifically, where blur destroys the sharp</a:t>
                      </a:r>
                    </a:p>
                    <a:p>
                      <a:pPr algn="ctr">
                        <a:defRPr sz="1150" b="0">
                          <a:solidFill>
                            <a:srgbClr val="1A1A1A"/>
                          </a:solidFill>
                        </a:defRPr>
                      </a:pPr>
                      <a:r>
                        <a:rPr sz="1150" b="0">
                          <a:solidFill>
                            <a:srgbClr val="1A1A1A"/>
                          </a:solidFill>
                        </a:rPr>
                        <a:t>edge that separates an exudate from a harmless drusen.</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3–5 d</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Parked —</a:t>
                      </a:r>
                    </a:p>
                    <a:p>
                      <a:pPr algn="ctr">
                        <a:defRPr sz="1150" b="0">
                          <a:solidFill>
                            <a:srgbClr val="1A1A1A"/>
                          </a:solidFill>
                        </a:defRPr>
                      </a:pPr>
                      <a:r>
                        <a:rPr sz="1150" b="0">
                          <a:solidFill>
                            <a:srgbClr val="1A1A1A"/>
                          </a:solidFill>
                        </a:rPr>
                        <a:t>for discussion</a:t>
                      </a:r>
                    </a:p>
                  </a:txBody>
                  <a:tcPr marL="73152" marR="73152" marT="27432" marB="27432">
                    <a:solidFill>
                      <a:srgbClr val="FFFFFF"/>
                    </a:solidFill>
                  </a:tcPr>
                </a:tc>
              </a:tr>
            </a:tbl>
          </a:graphicData>
        </a:graphic>
      </p:graphicFrame>
      <p:sp>
        <p:nvSpPr>
          <p:cNvPr id="4" name="TextBox 3"/>
          <p:cNvSpPr txBox="1"/>
          <p:nvPr/>
        </p:nvSpPr>
        <p:spPr>
          <a:xfrm>
            <a:off x="685800" y="6035040"/>
            <a:ext cx="10881360" cy="685800"/>
          </a:xfrm>
          <a:prstGeom prst="rect">
            <a:avLst/>
          </a:prstGeom>
          <a:noFill/>
        </p:spPr>
        <p:txBody>
          <a:bodyPr wrap="square">
            <a:spAutoFit/>
          </a:bodyPr>
          <a:lstStyle/>
          <a:p>
            <a:pPr>
              <a:defRPr sz="1600" b="1">
                <a:solidFill>
                  <a:srgbClr val="1F4E79"/>
                </a:solidFill>
              </a:defRPr>
            </a:pPr>
            <a:r>
              <a:t>Method 3 is the one I would like your view on before starting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Novelty — what is open, and who else is nearby</a:t>
            </a:r>
          </a:p>
          <a:p>
            <a:pPr>
              <a:defRPr sz="1500">
                <a:solidFill>
                  <a:srgbClr val="5A5A5A"/>
                </a:solidFill>
              </a:defRPr>
            </a:pPr>
            <a:r>
              <a:t>Checked every paper citing either dataset, plus GitHub, arXiv and preprint servers.</a:t>
            </a:r>
          </a:p>
        </p:txBody>
      </p:sp>
      <p:graphicFrame>
        <p:nvGraphicFramePr>
          <p:cNvPr id="3" name="Table 2"/>
          <p:cNvGraphicFramePr>
            <a:graphicFrameLocks noGrp="1"/>
          </p:cNvGraphicFramePr>
          <p:nvPr/>
        </p:nvGraphicFramePr>
        <p:xfrm>
          <a:off x="685800" y="1920240"/>
          <a:ext cx="10424160" cy="2286000"/>
        </p:xfrm>
        <a:graphic>
          <a:graphicData uri="http://schemas.openxmlformats.org/drawingml/2006/table">
            <a:tbl>
              <a:tblPr firstRow="1" bandRow="1">
                <a:tableStyleId>{5C22544A-7EE6-4342-B048-85BDC9FD1C3A}</a:tableStyleId>
              </a:tblPr>
              <a:tblGrid>
                <a:gridCol w="6254496"/>
                <a:gridCol w="4169664"/>
              </a:tblGrid>
              <a:tr h="457200">
                <a:tc>
                  <a:txBody>
                    <a:bodyPr/>
                    <a:lstStyle/>
                    <a:p>
                      <a:pPr algn="l">
                        <a:defRPr sz="1300" b="1">
                          <a:solidFill>
                            <a:srgbClr val="FFFFFF"/>
                          </a:solidFill>
                        </a:defRPr>
                      </a:pPr>
                      <a:r>
                        <a:rPr sz="1300" b="1">
                          <a:solidFill>
                            <a:srgbClr val="FFFFFF"/>
                          </a:solidFill>
                        </a:rPr>
                        <a:t>What we found</a:t>
                      </a:r>
                    </a:p>
                  </a:txBody>
                  <a:tcPr marL="73152" marR="73152" marT="27432" marB="27432">
                    <a:solidFill>
                      <a:srgbClr val="1F4E79"/>
                    </a:solidFill>
                  </a:tcPr>
                </a:tc>
                <a:tc>
                  <a:txBody>
                    <a:bodyPr/>
                    <a:lstStyle/>
                    <a:p>
                      <a:pPr algn="ctr">
                        <a:defRPr sz="1300" b="1">
                          <a:solidFill>
                            <a:srgbClr val="FFFFFF"/>
                          </a:solidFill>
                        </a:defRPr>
                      </a:pPr>
                      <a:r>
                        <a:rPr sz="1300" b="1">
                          <a:solidFill>
                            <a:srgbClr val="FFFFFF"/>
                          </a:solidFill>
                        </a:rPr>
                        <a:t>How certain</a:t>
                      </a:r>
                    </a:p>
                  </a:txBody>
                  <a:tcPr marL="73152" marR="73152" marT="27432" marB="27432">
                    <a:solidFill>
                      <a:srgbClr val="1F4E79"/>
                    </a:solidFill>
                  </a:tcPr>
                </a:tc>
              </a:tr>
              <a:tr h="457200">
                <a:tc>
                  <a:txBody>
                    <a:bodyPr/>
                    <a:lstStyle/>
                    <a:p>
                      <a:pPr algn="l">
                        <a:defRPr sz="1300" b="0">
                          <a:solidFill>
                            <a:srgbClr val="1A1A1A"/>
                          </a:solidFill>
                        </a:defRPr>
                      </a:pPr>
                      <a:r>
                        <a:rPr sz="1300" b="0">
                          <a:solidFill>
                            <a:srgbClr val="1A1A1A"/>
                          </a:solidFill>
                        </a:rPr>
                        <a:t>No published BRSET → mBRSET transfer study</a:t>
                      </a:r>
                    </a:p>
                  </a:txBody>
                  <a:tcPr marL="73152" marR="73152" marT="27432" marB="27432">
                    <a:solidFill>
                      <a:srgbClr val="FFFFFF"/>
                    </a:solidFill>
                  </a:tcPr>
                </a:tc>
                <a:tc>
                  <a:txBody>
                    <a:bodyPr/>
                    <a:lstStyle/>
                    <a:p>
                      <a:pPr algn="ctr">
                        <a:defRPr sz="1300" b="0">
                          <a:solidFill>
                            <a:srgbClr val="1A1A1A"/>
                          </a:solidFill>
                        </a:defRPr>
                      </a:pPr>
                      <a:r>
                        <a:rPr sz="1300" b="0">
                          <a:solidFill>
                            <a:srgbClr val="1A1A1A"/>
                          </a:solidFill>
                        </a:rPr>
                        <a:t>Searched exhaustively and found none —</a:t>
                      </a:r>
                    </a:p>
                    <a:p>
                      <a:pPr algn="ctr">
                        <a:defRPr sz="1300" b="0">
                          <a:solidFill>
                            <a:srgbClr val="1A1A1A"/>
                          </a:solidFill>
                        </a:defRPr>
                      </a:pPr>
                      <a:r>
                        <a:rPr sz="1300" b="0">
                          <a:solidFill>
                            <a:srgbClr val="1A1A1A"/>
                          </a:solidFill>
                        </a:rPr>
                        <a:t>though that is not proof none exists</a:t>
                      </a:r>
                    </a:p>
                  </a:txBody>
                  <a:tcPr marL="73152" marR="73152" marT="27432" marB="27432">
                    <a:solidFill>
                      <a:srgbClr val="FFFFFF"/>
                    </a:solidFill>
                  </a:tcPr>
                </a:tc>
              </a:tr>
              <a:tr h="457200">
                <a:tc>
                  <a:txBody>
                    <a:bodyPr/>
                    <a:lstStyle/>
                    <a:p>
                      <a:pPr algn="l">
                        <a:defRPr sz="1300" b="0">
                          <a:solidFill>
                            <a:srgbClr val="1A1A1A"/>
                          </a:solidFill>
                        </a:defRPr>
                      </a:pPr>
                      <a:r>
                        <a:rPr sz="1300" b="0">
                          <a:solidFill>
                            <a:srgbClr val="1A1A1A"/>
                          </a:solidFill>
                        </a:rPr>
                        <a:t>The dataset creators name device adaptation as an</a:t>
                      </a:r>
                    </a:p>
                    <a:p>
                      <a:pPr algn="l">
                        <a:defRPr sz="1300" b="0">
                          <a:solidFill>
                            <a:srgbClr val="1A1A1A"/>
                          </a:solidFill>
                        </a:defRPr>
                      </a:pPr>
                      <a:r>
                        <a:rPr sz="1300" b="0">
                          <a:solidFill>
                            <a:srgbClr val="1A1A1A"/>
                          </a:solidFill>
                        </a:rPr>
                        <a:t>application but have not done it</a:t>
                      </a:r>
                    </a:p>
                  </a:txBody>
                  <a:tcPr marL="73152" marR="73152" marT="27432" marB="27432">
                    <a:solidFill>
                      <a:srgbClr val="F2F4F7"/>
                    </a:solidFill>
                  </a:tcPr>
                </a:tc>
                <a:tc>
                  <a:txBody>
                    <a:bodyPr/>
                    <a:lstStyle/>
                    <a:p>
                      <a:pPr algn="ctr">
                        <a:defRPr sz="1300" b="0">
                          <a:solidFill>
                            <a:srgbClr val="1A1A1A"/>
                          </a:solidFill>
                        </a:defRPr>
                      </a:pPr>
                      <a:r>
                        <a:rPr sz="1300" b="0">
                          <a:solidFill>
                            <a:srgbClr val="1A1A1A"/>
                          </a:solidFill>
                        </a:rPr>
                        <a:t>Verified on their March 2026 release</a:t>
                      </a:r>
                    </a:p>
                  </a:txBody>
                  <a:tcPr marL="73152" marR="73152" marT="27432" marB="27432">
                    <a:solidFill>
                      <a:srgbClr val="F2F4F7"/>
                    </a:solidFill>
                  </a:tcPr>
                </a:tc>
              </a:tr>
              <a:tr h="457200">
                <a:tc>
                  <a:txBody>
                    <a:bodyPr/>
                    <a:lstStyle/>
                    <a:p>
                      <a:pPr algn="l">
                        <a:defRPr sz="1300" b="0">
                          <a:solidFill>
                            <a:srgbClr val="1A1A1A"/>
                          </a:solidFill>
                        </a:defRPr>
                      </a:pPr>
                      <a:r>
                        <a:rPr sz="1300" b="0">
                          <a:solidFill>
                            <a:srgbClr val="1A1A1A"/>
                          </a:solidFill>
                        </a:rPr>
                        <a:t>Nobody uses BRSET's per-image quality labels for transfer</a:t>
                      </a:r>
                    </a:p>
                  </a:txBody>
                  <a:tcPr marL="73152" marR="73152" marT="27432" marB="27432">
                    <a:solidFill>
                      <a:srgbClr val="FFFFFF"/>
                    </a:solidFill>
                  </a:tcPr>
                </a:tc>
                <a:tc>
                  <a:txBody>
                    <a:bodyPr/>
                    <a:lstStyle/>
                    <a:p>
                      <a:pPr algn="ctr">
                        <a:defRPr sz="1300" b="0">
                          <a:solidFill>
                            <a:srgbClr val="1A1A1A"/>
                          </a:solidFill>
                        </a:defRPr>
                      </a:pPr>
                      <a:r>
                        <a:rPr sz="1300" b="0">
                          <a:solidFill>
                            <a:srgbClr val="1A1A1A"/>
                          </a:solidFill>
                        </a:rPr>
                        <a:t>Verified — the labels exist and sit unused</a:t>
                      </a:r>
                    </a:p>
                  </a:txBody>
                  <a:tcPr marL="73152" marR="73152" marT="27432" marB="27432">
                    <a:solidFill>
                      <a:srgbClr val="FFFFFF"/>
                    </a:solidFill>
                  </a:tcPr>
                </a:tc>
              </a:tr>
              <a:tr h="457200">
                <a:tc>
                  <a:txBody>
                    <a:bodyPr/>
                    <a:lstStyle/>
                    <a:p>
                      <a:pPr algn="l">
                        <a:defRPr sz="1300" b="0">
                          <a:solidFill>
                            <a:srgbClr val="1A1A1A"/>
                          </a:solidFill>
                        </a:defRPr>
                      </a:pPr>
                      <a:r>
                        <a:rPr sz="1300" b="0">
                          <a:solidFill>
                            <a:srgbClr val="1A1A1A"/>
                          </a:solidFill>
                        </a:rPr>
                        <a:t>Nobody reports cross-device macular edema loss</a:t>
                      </a:r>
                    </a:p>
                  </a:txBody>
                  <a:tcPr marL="73152" marR="73152" marT="27432" marB="27432">
                    <a:solidFill>
                      <a:srgbClr val="F2F4F7"/>
                    </a:solidFill>
                  </a:tcPr>
                </a:tc>
                <a:tc>
                  <a:txBody>
                    <a:bodyPr/>
                    <a:lstStyle/>
                    <a:p>
                      <a:pPr algn="ctr">
                        <a:defRPr sz="1300" b="0">
                          <a:solidFill>
                            <a:srgbClr val="1A1A1A"/>
                          </a:solidFill>
                        </a:defRPr>
                      </a:pPr>
                      <a:r>
                        <a:rPr sz="1300" b="0">
                          <a:solidFill>
                            <a:srgbClr val="1A1A1A"/>
                          </a:solidFill>
                        </a:rPr>
                        <a:t>Verified — and ours is the larger gap</a:t>
                      </a:r>
                    </a:p>
                  </a:txBody>
                  <a:tcPr marL="73152" marR="73152" marT="27432" marB="27432">
                    <a:solidFill>
                      <a:srgbClr val="F2F4F7"/>
                    </a:solidFill>
                  </a:tcPr>
                </a:tc>
              </a:tr>
            </a:tbl>
          </a:graphicData>
        </a:graphic>
      </p:graphicFrame>
      <p:sp>
        <p:nvSpPr>
          <p:cNvPr id="4" name="TextBox 3"/>
          <p:cNvSpPr txBox="1"/>
          <p:nvPr/>
        </p:nvSpPr>
        <p:spPr>
          <a:xfrm>
            <a:off x="685800" y="4572000"/>
            <a:ext cx="10881360" cy="2057400"/>
          </a:xfrm>
          <a:prstGeom prst="rect">
            <a:avLst/>
          </a:prstGeom>
          <a:noFill/>
        </p:spPr>
        <p:txBody>
          <a:bodyPr wrap="square">
            <a:spAutoFit/>
          </a:bodyPr>
          <a:lstStyle/>
          <a:p>
            <a:pPr>
              <a:spcAft>
                <a:spcPts val="700"/>
              </a:spcAft>
              <a:defRPr sz="1400">
                <a:solidFill>
                  <a:srgbClr val="1A1A1A"/>
                </a:solidFill>
              </a:defRPr>
            </a:pPr>
            <a:r>
              <a:t>• Two groups are working nearby, and neither is doing what we propose:</a:t>
            </a:r>
          </a:p>
          <a:p>
            <a:pPr lvl="1">
              <a:spcAft>
                <a:spcPts val="700"/>
              </a:spcAft>
              <a:defRPr sz="1200">
                <a:solidFill>
                  <a:srgbClr val="5A5A5A"/>
                </a:solidFill>
              </a:defRPr>
            </a:pPr>
            <a:r>
              <a:t>– RetSyn (J Biomed Inform 2025, same senior author as both datasets) generates synthetic images for tabletop → portable. It does not diagnose what breaks, and does not cover macular edema or the cutoff.</a:t>
            </a:r>
          </a:p>
          <a:p>
            <a:pPr lvl="1">
              <a:spcAft>
                <a:spcPts val="700"/>
              </a:spcAft>
              <a:defRPr sz="1200">
                <a:solidFill>
                  <a:srgbClr val="5A5A5A"/>
                </a:solidFill>
              </a:defRPr>
            </a:pPr>
            <a:r>
              <a:t>– A GitHub project is starting a descriptive version of BRSET → mBRSET — a single commit so far, no results. It uses frozen features; we fine-tune the whole model.</a:t>
            </a:r>
          </a:p>
          <a:p>
            <a:pPr>
              <a:spcAft>
                <a:spcPts val="700"/>
              </a:spcAft>
              <a:defRPr sz="1400">
                <a:solidFill>
                  <a:srgbClr val="1A1A1A"/>
                </a:solidFill>
              </a:defRPr>
            </a:pPr>
            <a:r>
              <a:t>• Our comparison is unusually clean: country, ethnicity, dilation, field of view and grading protocol are all held constant, so only the camera changes. A study that also crossed country collapsed to AUC 0.54; ours holds 0.91.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What would be new here</a:t>
            </a:r>
          </a:p>
          <a:p>
            <a:pPr>
              <a:defRPr sz="1500">
                <a:solidFill>
                  <a:srgbClr val="5A5A5A"/>
                </a:solidFill>
              </a:defRPr>
            </a:pPr>
            <a:r>
              <a:t>Three things nobody has done. The first is the strongest, and it holds whatever the methods turn out to do.</a:t>
            </a:r>
          </a:p>
        </p:txBody>
      </p:sp>
      <p:graphicFrame>
        <p:nvGraphicFramePr>
          <p:cNvPr id="3" name="Table 2"/>
          <p:cNvGraphicFramePr>
            <a:graphicFrameLocks noGrp="1"/>
          </p:cNvGraphicFramePr>
          <p:nvPr/>
        </p:nvGraphicFramePr>
        <p:xfrm>
          <a:off x="685800" y="1737360"/>
          <a:ext cx="10789919" cy="3840480"/>
        </p:xfrm>
        <a:graphic>
          <a:graphicData uri="http://schemas.openxmlformats.org/drawingml/2006/table">
            <a:tbl>
              <a:tblPr firstRow="1" bandRow="1">
                <a:tableStyleId>{5C22544A-7EE6-4342-B048-85BDC9FD1C3A}</a:tableStyleId>
              </a:tblPr>
              <a:tblGrid>
                <a:gridCol w="337185"/>
                <a:gridCol w="3757204"/>
                <a:gridCol w="5394960"/>
                <a:gridCol w="1300570"/>
              </a:tblGrid>
              <a:tr h="960120">
                <a:tc>
                  <a:txBody>
                    <a:bodyPr/>
                    <a:lstStyle/>
                    <a:p>
                      <a:pPr algn="l">
                        <a:defRPr sz="1150" b="1">
                          <a:solidFill>
                            <a:srgbClr val="FFFFFF"/>
                          </a:solidFill>
                        </a:defRPr>
                      </a:pP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What we would contribute</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Why nobody has done it</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Status</a:t>
                      </a:r>
                    </a:p>
                  </a:txBody>
                  <a:tcPr marL="73152" marR="73152" marT="27432" marB="27432">
                    <a:solidFill>
                      <a:srgbClr val="1F4E79"/>
                    </a:solidFill>
                  </a:tcPr>
                </a:tc>
              </a:tr>
              <a:tr h="960120">
                <a:tc>
                  <a:txBody>
                    <a:bodyPr/>
                    <a:lstStyle/>
                    <a:p>
                      <a:pPr algn="l">
                        <a:defRPr sz="1150" b="0">
                          <a:solidFill>
                            <a:srgbClr val="1A1A1A"/>
                          </a:solidFill>
                        </a:defRPr>
                      </a:pPr>
                      <a:r>
                        <a:rPr sz="1150" b="0">
                          <a:solidFill>
                            <a:srgbClr val="1A1A1A"/>
                          </a:solidFill>
                        </a:rPr>
                        <a:t>1</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Show what a cross-device drop is</a:t>
                      </a:r>
                    </a:p>
                    <a:p>
                      <a:pPr algn="ctr">
                        <a:defRPr sz="1150" b="0">
                          <a:solidFill>
                            <a:srgbClr val="1A1A1A"/>
                          </a:solidFill>
                        </a:defRPr>
                      </a:pPr>
                      <a:r>
                        <a:rPr sz="1150" b="0">
                          <a:solidFill>
                            <a:srgbClr val="1A1A1A"/>
                          </a:solidFill>
                        </a:rPr>
                        <a:t>actually made of: how much comes</a:t>
                      </a:r>
                    </a:p>
                    <a:p>
                      <a:pPr algn="ctr">
                        <a:defRPr sz="1150" b="0">
                          <a:solidFill>
                            <a:srgbClr val="1A1A1A"/>
                          </a:solidFill>
                        </a:defRPr>
                      </a:pPr>
                      <a:r>
                        <a:rPr sz="1150" b="0">
                          <a:solidFill>
                            <a:srgbClr val="1A1A1A"/>
                          </a:solidFill>
                        </a:rPr>
                        <a:t>from the sicker population, how much</a:t>
                      </a:r>
                    </a:p>
                    <a:p>
                      <a:pPr algn="ctr">
                        <a:defRPr sz="1150" b="0">
                          <a:solidFill>
                            <a:srgbClr val="1A1A1A"/>
                          </a:solidFill>
                        </a:defRPr>
                      </a:pPr>
                      <a:r>
                        <a:rPr sz="1150" b="0">
                          <a:solidFill>
                            <a:srgbClr val="1A1A1A"/>
                          </a:solidFill>
                        </a:rPr>
                        <a:t>from a badly-set cutoff, and how much</a:t>
                      </a:r>
                    </a:p>
                    <a:p>
                      <a:pPr algn="ctr">
                        <a:defRPr sz="1150" b="0">
                          <a:solidFill>
                            <a:srgbClr val="1A1A1A"/>
                          </a:solidFill>
                        </a:defRPr>
                      </a:pPr>
                      <a:r>
                        <a:rPr sz="1150" b="0">
                          <a:solidFill>
                            <a:srgbClr val="1A1A1A"/>
                          </a:solidFill>
                        </a:rPr>
                        <a:t>from the model genuinely doing worse</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Papers report one number for the drop and</a:t>
                      </a:r>
                    </a:p>
                    <a:p>
                      <a:pPr algn="ctr">
                        <a:defRPr sz="1150" b="0">
                          <a:solidFill>
                            <a:srgbClr val="1A1A1A"/>
                          </a:solidFill>
                        </a:defRPr>
                      </a:pPr>
                      <a:r>
                        <a:rPr sz="1150" b="0">
                          <a:solidFill>
                            <a:srgbClr val="1A1A1A"/>
                          </a:solidFill>
                        </a:rPr>
                        <a:t>blame the model. We show the three causes</a:t>
                      </a:r>
                    </a:p>
                    <a:p>
                      <a:pPr algn="ctr">
                        <a:defRPr sz="1150" b="0">
                          <a:solidFill>
                            <a:srgbClr val="1A1A1A"/>
                          </a:solidFill>
                        </a:defRPr>
                      </a:pPr>
                      <a:r>
                        <a:rPr sz="1150" b="0">
                          <a:solidFill>
                            <a:srgbClr val="1A1A1A"/>
                          </a:solidFill>
                        </a:rPr>
                        <a:t>can be separated with arithmetic — and that</a:t>
                      </a:r>
                    </a:p>
                    <a:p>
                      <a:pPr algn="ctr">
                        <a:defRPr sz="1150" b="0">
                          <a:solidFill>
                            <a:srgbClr val="1A1A1A"/>
                          </a:solidFill>
                        </a:defRPr>
                      </a:pPr>
                      <a:r>
                        <a:rPr sz="1150" b="0">
                          <a:solidFill>
                            <a:srgbClr val="1A1A1A"/>
                          </a:solidFill>
                        </a:rPr>
                        <a:t>in our case only the last one is left.</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Core</a:t>
                      </a:r>
                    </a:p>
                  </a:txBody>
                  <a:tcPr marL="73152" marR="73152" marT="27432" marB="27432">
                    <a:solidFill>
                      <a:srgbClr val="FFFFFF"/>
                    </a:solidFill>
                  </a:tcPr>
                </a:tc>
              </a:tr>
              <a:tr h="960120">
                <a:tc>
                  <a:txBody>
                    <a:bodyPr/>
                    <a:lstStyle/>
                    <a:p>
                      <a:pPr algn="l">
                        <a:defRPr sz="1150" b="0">
                          <a:solidFill>
                            <a:srgbClr val="1A1A1A"/>
                          </a:solidFill>
                        </a:defRPr>
                      </a:pPr>
                      <a:r>
                        <a:rPr sz="1150" b="0">
                          <a:solidFill>
                            <a:srgbClr val="1A1A1A"/>
                          </a:solidFill>
                        </a:rPr>
                        <a:t>2</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Judge a patient using all four of their</a:t>
                      </a:r>
                    </a:p>
                    <a:p>
                      <a:pPr algn="ctr">
                        <a:defRPr sz="1150" b="0">
                          <a:solidFill>
                            <a:srgbClr val="1A1A1A"/>
                          </a:solidFill>
                        </a:defRPr>
                      </a:pPr>
                      <a:r>
                        <a:rPr sz="1150" b="0">
                          <a:solidFill>
                            <a:srgbClr val="1A1A1A"/>
                          </a:solidFill>
                        </a:rPr>
                        <a:t>images together, instead of one</a:t>
                      </a:r>
                    </a:p>
                    <a:p>
                      <a:pPr algn="ctr">
                        <a:defRPr sz="1150" b="0">
                          <a:solidFill>
                            <a:srgbClr val="1A1A1A"/>
                          </a:solidFill>
                        </a:defRPr>
                      </a:pPr>
                      <a:r>
                        <a:rPr sz="1150" b="0">
                          <a:solidFill>
                            <a:srgbClr val="1A1A1A"/>
                          </a:solidFill>
                        </a:rPr>
                        <a:t>image at a time</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A free signal sitting unused in the data.</a:t>
                      </a:r>
                    </a:p>
                    <a:p>
                      <a:pPr algn="ctr">
                        <a:defRPr sz="1150" b="0">
                          <a:solidFill>
                            <a:srgbClr val="1A1A1A"/>
                          </a:solidFill>
                        </a:defRPr>
                      </a:pPr>
                      <a:r>
                        <a:rPr sz="1150" b="0">
                          <a:solidFill>
                            <a:srgbClr val="1A1A1A"/>
                          </a:solidFill>
                        </a:rPr>
                        <a:t>No cross-device retinal study has used it.</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Core</a:t>
                      </a:r>
                    </a:p>
                  </a:txBody>
                  <a:tcPr marL="73152" marR="73152" marT="27432" marB="27432">
                    <a:solidFill>
                      <a:srgbClr val="F2F4F7"/>
                    </a:solidFill>
                  </a:tcPr>
                </a:tc>
              </a:tr>
              <a:tr h="960120">
                <a:tc>
                  <a:txBody>
                    <a:bodyPr/>
                    <a:lstStyle/>
                    <a:p>
                      <a:pPr algn="l">
                        <a:defRPr sz="1150" b="0">
                          <a:solidFill>
                            <a:srgbClr val="1A1A1A"/>
                          </a:solidFill>
                        </a:defRPr>
                      </a:pPr>
                      <a:r>
                        <a:rPr sz="1150" b="0">
                          <a:solidFill>
                            <a:srgbClr val="1A1A1A"/>
                          </a:solidFill>
                        </a:rPr>
                        <a:t>3</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Adapt the part of ConvNeXt V2 that the</a:t>
                      </a:r>
                    </a:p>
                    <a:p>
                      <a:pPr algn="ctr">
                        <a:defRPr sz="1150" b="0">
                          <a:solidFill>
                            <a:srgbClr val="1A1A1A"/>
                          </a:solidFill>
                        </a:defRPr>
                      </a:pPr>
                      <a:r>
                        <a:rPr sz="1150" b="0">
                          <a:solidFill>
                            <a:srgbClr val="1A1A1A"/>
                          </a:solidFill>
                        </a:rPr>
                        <a:t>standard method cannot reach</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The usual adaptation trick needs a component</a:t>
                      </a:r>
                    </a:p>
                    <a:p>
                      <a:pPr algn="ctr">
                        <a:defRPr sz="1150" b="0">
                          <a:solidFill>
                            <a:srgbClr val="1A1A1A"/>
                          </a:solidFill>
                        </a:defRPr>
                      </a:pPr>
                      <a:r>
                        <a:rPr sz="1150" b="0">
                          <a:solidFill>
                            <a:srgbClr val="1A1A1A"/>
                          </a:solidFill>
                        </a:rPr>
                        <a:t>this model does not have. Nobody has adapted</a:t>
                      </a:r>
                    </a:p>
                    <a:p>
                      <a:pPr algn="ctr">
                        <a:defRPr sz="1150" b="0">
                          <a:solidFill>
                            <a:srgbClr val="1A1A1A"/>
                          </a:solidFill>
                        </a:defRPr>
                      </a:pPr>
                      <a:r>
                        <a:rPr sz="1150" b="0">
                          <a:solidFill>
                            <a:srgbClr val="1A1A1A"/>
                          </a:solidFill>
                        </a:rPr>
                        <a:t>the one it does have.</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Exploratory —</a:t>
                      </a:r>
                    </a:p>
                    <a:p>
                      <a:pPr algn="ctr">
                        <a:defRPr sz="1150" b="0">
                          <a:solidFill>
                            <a:srgbClr val="1A1A1A"/>
                          </a:solidFill>
                        </a:defRPr>
                      </a:pPr>
                      <a:r>
                        <a:rPr sz="1150" b="0">
                          <a:solidFill>
                            <a:srgbClr val="1A1A1A"/>
                          </a:solidFill>
                        </a:rPr>
                        <a:t>may not work</a:t>
                      </a:r>
                    </a:p>
                  </a:txBody>
                  <a:tcPr marL="73152" marR="73152" marT="27432" marB="27432">
                    <a:solidFill>
                      <a:srgbClr val="FFFFFF"/>
                    </a:solidFill>
                  </a:tcPr>
                </a:tc>
              </a:tr>
            </a:tbl>
          </a:graphicData>
        </a:graphic>
      </p:graphicFrame>
      <p:sp>
        <p:nvSpPr>
          <p:cNvPr id="4" name="TextBox 3"/>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Contribution 1 holds even if both methods underperform — showing what the gap is made of is itself the result.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