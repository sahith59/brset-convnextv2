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ConvNeXt V2 on BRSET</a:t>
            </a:r>
          </a:p>
          <a:p>
            <a:pPr>
              <a:spcBef>
                <a:spcPts val="800"/>
              </a:spcBef>
              <a:defRPr sz="2100">
                <a:solidFill>
                  <a:srgbClr val="1A1A1A"/>
                </a:solidFill>
              </a:defRPr>
            </a:pPr>
            <a:r>
              <a:t>A strong baseline, and closing the BRSET → mBRSET device gap</a:t>
            </a:r>
          </a:p>
          <a:p>
            <a:pPr>
              <a:spcBef>
                <a:spcPts val="2200"/>
              </a:spcBef>
              <a:defRPr sz="1400">
                <a:solidFill>
                  <a:srgbClr val="5A5A5A"/>
                </a:solidFill>
              </a:defRPr>
            </a:pPr>
            <a:r>
              <a:t>Sahith Reddy Thummala   |   For: Dr. Dong Hye Ye   |   cc: Nagur Shareef Shaik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What was assigned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828800"/>
          <a:ext cx="1078991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362"/>
                <a:gridCol w="7230358"/>
                <a:gridCol w="2447198"/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Part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A strong ConvNeXt V2 baseline on BRSET;</a:t>
                      </a:r>
                    </a:p>
                    <a:p>
                      <a:r>
                        <a:t>address the class imbalance holding F1 down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Part 2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Improve BRSET → mBRSET transfer.</a:t>
                      </a:r>
                    </a:p>
                    <a:p>
                      <a:r>
                        <a:t>Find relevant literature, implement, and find novelty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Diagnosed;</a:t>
                      </a:r>
                    </a:p>
                    <a:p>
                      <a:r>
                        <a:t>plan ready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572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Part 1 is answered. Part 2 is where the contribution is — and the lane is open.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Part 1 — Baseline vs. the original BRSET paper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ConvNeXt V2 Large @ 512px, all 16,258 images, patient-level split. 95% CI from 2,000 bootstrap resamples.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920240"/>
          <a:ext cx="10789917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126"/>
                <a:gridCol w="2420168"/>
                <a:gridCol w="1310924"/>
                <a:gridCol w="2218488"/>
                <a:gridCol w="3025211"/>
              </a:tblGrid>
              <a:tr h="329183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Paper (Nakayama 2024)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DR — AUC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0.988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[0.975, 0.996]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Beats paper (significant)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DR — F1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0.869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[0.827, 0.905]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Statistically tied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ME — AUC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not reported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0.993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[0.988, 0.997]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No benchmark exists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ME — F1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not reported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0.790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[0.703, 0.867]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No benchmark exists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93192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The paper's AUC (0.97) falls below our confidence interval — our AUC win is statistically real.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The paper's F1 (0.89) falls inside our interval — we match it within noise, we are not below it.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The nominal F1 gap is ~6 images out of 2,435; the test set resolves ~±10 images. Smaller than measurable.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7A3C"/>
                </a:solidFill>
              </a:defRPr>
            </a:pPr>
            <a:r>
              <a:t>We beat the paper on AUC and match it on F1. Chasing the last 0.02 would be fitting to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Part 1 — The imbalance we had to handle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Almost every image in BRSET is healthy. That is why F1 lags behind AUC.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920240"/>
          <a:ext cx="9601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3200400"/>
                <a:gridCol w="298704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With diabetic retinopathy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With macular edema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11,372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748  (6.6%)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274  (2.4%)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2,451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159  (6.5%)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65  (2.7%)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2,435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162  (6.7%)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61  (2.5%)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749039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Roughly 15 healthy images for every 1 with disease — and 40 to 1 for macular edema.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A model can score 93% accuracy by calling everything healthy, and be useless. So we never report accuracy alone.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AUC stays high because ranking sick above healthy is easy. F1 suffers because the model,</a:t>
            </a:r>
          </a:p>
          <a:p>
            <a:pPr lvl="1">
              <a:spcAft>
                <a:spcPts val="1000"/>
              </a:spcAft>
              <a:defRPr sz="1400">
                <a:solidFill>
                  <a:srgbClr val="5A5A5A"/>
                </a:solidFill>
              </a:defRPr>
            </a:pPr>
            <a:r>
              <a:t>– seeing mostly healthy eyes, becomes reluctant to call anything diseased.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The imbalance is the reason F1 is the hard metric here — not AUC.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Part 1 — How the imbalance was addressed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Four techniques, all aimed at stopping the healthy majority from drowning out the rare disease cases.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Focal loss — makes the model stop spending effort on the easy healthy images and concentrate on the hard ones. Strength set by one dial (γ = 2.0).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Oversampling — during training, the rare diseased images are shown more often than they naturally occur.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Tuned decision cutoff — the referral threshold is chosen on validation data per finding, instead of a blind 0.5.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Now testing: Asymmetric Loss — the same idea, but with separate dials for healthy and diseased images, so rare positives are never discounted the way the abundant negatives are.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Also added: averaging the model over training, averaging predictions across flipped copies of each image, and choosing the cutoff robustly rather than from a single lucky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0"/>
            <a:ext cx="10881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Why we cannot simply tune our way past 0.89:</a:t>
            </a:r>
          </a:p>
          <a:p>
            <a:pPr lvl="1"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– 162 positive test cases ⇒ bootstrap noise ±0.04 F1; the gap to the paper is 0.021.</a:t>
            </a:r>
          </a:p>
          <a:p>
            <a:pPr lvl="1"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– Selecting a configuration on test would be test-set overfitting. We select on validation only.</a:t>
            </a:r>
          </a:p>
          <a:p>
            <a:pPr lvl="1"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– The rigorous fix is k-fold cross-validation — shrinks the interval ~2.2×, making 0.02 measurable.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Part 2 — The BRSET → mBRSET problem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BRSET: tabletop hospital cameras. mBRSET: handheld smartphone camera, community screening, 83% with artifacts.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2011680"/>
          <a:ext cx="10789918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4628"/>
                <a:gridCol w="2418430"/>
                <a:gridCol w="2418430"/>
                <a:gridCol w="2418430"/>
              </a:tblGrid>
              <a:tr h="329183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Trained → Tested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AUC (DR / ME)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 (DR / ME)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Recall (DR / ME)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BRSET → BRSET (in-domain)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0.988 / 0.994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0.869 / 0.790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0.877 / 0.770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mBRSET → mBRSET (in-domain)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0.939 / 0.988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0.815 / 0.807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0.774 / 0.730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BRSET → mBRSET, BRSET threshold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0.909 / 0.933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0.661 / 0.566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0.503 / 0.444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BRSET → mBRSET, threshold retuned</a:t>
                      </a:r>
                    </a:p>
                  </a:txBody>
                  <a:tcPr marL="73152" marR="73152" marT="27432" marB="27432"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0.909 / 0.933</a:t>
                      </a:r>
                    </a:p>
                  </a:txBody>
                  <a:tcPr marL="73152" marR="73152" marT="27432" marB="27432"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0.717 / 0.628</a:t>
                      </a:r>
                    </a:p>
                  </a:txBody>
                  <a:tcPr marL="73152" marR="73152" marT="27432" marB="27432"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0.780 / 0.603</a:t>
                      </a:r>
                    </a:p>
                  </a:txBody>
                  <a:tcPr marL="73152" marR="73152" marT="27432" marB="27432">
                    <a:solidFill>
                      <a:srgbClr val="FDF0E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2062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• Retuning only the decision threshold — no retraining — lifted DR recall from 0.503 to 0.780.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• Remaining gap to a model trained directly on mBRSET: 0.098 F1 (DR), 0.179 F1 (ME).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Question: what is that remaining gap actually made of, and what can close 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Diagnosis 1 — the referral cutoff was wrong, not the model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The model scores each image from 0 (healthy) to 1 (diseased). A cutoff decides who gets referred.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2057400"/>
          <a:ext cx="987551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564"/>
                <a:gridCol w="4066390"/>
                <a:gridCol w="2904564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How many patients have the disease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Best cutoff for that group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BRSET — where we trained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6.6% of eyes  (1 in 15)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0.61   be strict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mBRSET — where we tested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23.3% of eyes  (1 in 4)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0.19   be lenient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886200"/>
            <a:ext cx="10881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We applied BRSET's strict 0.61 cutoff to mBRSET, where nearly 1 in 4 patients is diseased. The model stayed quiet and missed half the cases.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Of the move needed from 0.61 down to 0.19:  77% is explained by the higher disease rate alone, and only 23% by the model being less certain on blurrier images.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The disease-rate part can be estimated from unlabelled images — no answer key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Moving the cutoff alone — no retraining — lifted F1 from 0.661 to 0.717, and recall from 0.503 to 0.780.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Diagnosis 2 — Threshold tuning is already exhausted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For a given AUC and prevalence there is a hard maximum F1, over all possible thresholds.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920240"/>
          <a:ext cx="10789918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2705"/>
                <a:gridCol w="1471352"/>
                <a:gridCol w="2354164"/>
                <a:gridCol w="2354164"/>
                <a:gridCol w="1667533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BRSET → mBRSET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Target prevalence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Max possible F1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Our F1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Diabetic retinopathy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0.909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21.7%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0.697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0.717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Macular edema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8.6%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0.623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0.628</a:t>
                      </a:r>
                    </a:p>
                  </a:txBody>
                  <a:tcPr marL="73152" marR="73152" marT="27432" marB="27432">
                    <a:solidFill>
                      <a:srgbClr val="E3EFE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6576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• We are already at that ceiling. Moving the cutoff further cannot help — any cutoff method only slides the</a:t>
            </a:r>
          </a:p>
          <a:p>
            <a:pPr lvl="1">
              <a:spcAft>
                <a:spcPts val="1000"/>
              </a:spcAft>
              <a:defRPr sz="1500">
                <a:solidFill>
                  <a:srgbClr val="5A5A5A"/>
                </a:solidFill>
              </a:defRPr>
            </a:pPr>
            <a:r>
              <a:t>– referral line along a fixed ordering of patients. It never changes how well the model orders them.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• To reach what an mBRSET-trained model achieves (F1 0.815 / 0.807), the ordering itself must improve:</a:t>
            </a:r>
          </a:p>
          <a:p>
            <a:pPr lvl="1">
              <a:spcAft>
                <a:spcPts val="1000"/>
              </a:spcAft>
              <a:defRPr sz="1500">
                <a:solidFill>
                  <a:srgbClr val="5A5A5A"/>
                </a:solidFill>
              </a:defRPr>
            </a:pPr>
            <a:r>
              <a:t>– AUC 0.909 → about 0.95 for DR, and 0.933 → about 0.985 for macular edema.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53A1A"/>
                </a:solidFill>
              </a:defRPr>
            </a:pPr>
            <a:r>
              <a:t>The remaining gap is entirely ranking quality. Everything from here must improve AUC.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What the diagnosis rules out — and what it leaves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Knowing this before implementing saves weeks of work on methods that provably cannot help.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828800"/>
          <a:ext cx="1078991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6695"/>
                <a:gridCol w="6883224"/>
              </a:tblGrid>
              <a:tr h="4724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Ruled out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Any further cutoff / calibration tuning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These only slide the referral line along a fixed patient ordering.</a:t>
                      </a:r>
                    </a:p>
                    <a:p>
                      <a:r>
                        <a:t>They cannot improve the ordering, so they cannot raise AUC.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Adapting batch-normalisation statistics</a:t>
                      </a:r>
                    </a:p>
                    <a:p>
                      <a:r>
                        <a:t>(a standard trick)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ConvNeXt V2 contains no batch-normalisation layers at all.</a:t>
                      </a:r>
                    </a:p>
                    <a:p>
                      <a:r>
                        <a:t>The trick has nothing to attach to.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MixStyle style-mixing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Needs several source datasets. With only one it collapses</a:t>
                      </a:r>
                    </a:p>
                    <a:p>
                      <a:r>
                        <a:t>(published: F1 15.0 vs. 27.3 for doing nothing).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Adversarial feature alignment</a:t>
                      </a:r>
                    </a:p>
                    <a:p>
                      <a:r>
                        <a:t>(DANN, CORAL, MMD)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Proven to make things worse when the two datasets have very</a:t>
                      </a:r>
                    </a:p>
                    <a:p>
                      <a:r>
                        <a:t>different disease rates — ours differ 4.3×.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CycleGAN image translation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Documented to invent and erase lesions. Since the lesions are</a:t>
                      </a:r>
                    </a:p>
                    <a:p>
                      <a:r>
                        <a:t>the label, it would silently corrupt our data.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937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Remaining viable levers: use more of the target's structure, and train for the degradation.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Part 2 — Plan to close the gap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Ordered by expected gain per unit of effort.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83080"/>
          <a:ext cx="1078991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082"/>
                <a:gridCol w="2325413"/>
                <a:gridCol w="7069257"/>
                <a:gridCol w="930165"/>
              </a:tblGrid>
              <a:tr h="9601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Mechanism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Effort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Per-patient multi-view</a:t>
                      </a:r>
                    </a:p>
                    <a:p>
                      <a:r>
                        <a:t>aggregation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mBRSET has ~3.8 images per patient (both eyes × 2 fields), 85.5% share a</a:t>
                      </a:r>
                    </a:p>
                    <a:p>
                      <a:r>
                        <a:t>diagnosis. Blur is random per image; averaging cancels it and sharpens ranking.</a:t>
                      </a:r>
                    </a:p>
                    <a:p>
                      <a:r>
                        <a:t>Published gains on fundus data: +0.085 to +0.121 AUC. We need +0.04.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3–5 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Handheld-degradation</a:t>
                      </a:r>
                    </a:p>
                    <a:p>
                      <a:r>
                        <a:t>augmentation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Degrade real BRSET images (defocus, illumination gradient, vignetting, noise,</a:t>
                      </a:r>
                    </a:p>
                    <a:p>
                      <a:r>
                        <a:t>JPEG) so the model learns to find lesions despite them. Labels stay true —</a:t>
                      </a:r>
                    </a:p>
                    <a:p>
                      <a:r>
                        <a:t>unlike generative translation, degradation cannot invent or erase a lesion.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3–5 d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Label-free threshold</a:t>
                      </a:r>
                    </a:p>
                    <a:p>
                      <a:r>
                        <a:t>placement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Estimates target prevalence from unlabeled images, so the threshold fix works</a:t>
                      </a:r>
                    </a:p>
                    <a:p>
                      <a:r>
                        <a:t>on a new camera with zero annotations. Does not raise AUC — makes the existing</a:t>
                      </a:r>
                    </a:p>
                    <a:p>
                      <a:r>
                        <a:t>gain deployable, and is the honest baseline for everything above.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0.5 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852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Method 1 attacks the ME gap least; Method 2 attacks it most — blur destroys the exudate edge cue.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Novelty — what is unclaimed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Verified against all 33 papers citing both dataset papers, plus GitHub, arXiv and preprint servers.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No published BRSET → mBRSET transfer study exists.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The dataset creators' own March 2026 release lists “domain adaptation across imaging devices” as an application — and reports no such experiment.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No work uses BRSET's typed degradation labels (focus / illumination / field / artifact) for transfer.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No work reports cross-device macular edema degradation — our ME gap (0.179) exceeds our DR gap (0.098).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• Closest prior work: RetSyn (J Biomed Inform 2025, same senior author) — synthetic data for tabletop → portable. It does not diagnose what breaks, separate quality from device, or address ME or thresholds.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Our shift is unusually clean, and that is the asset:</a:t>
            </a:r>
          </a:p>
          <a:p>
            <a:pPr lvl="1"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– BRSET → mBRSET holds country, ethnicity, dilation, 45° field of view and grading protocol constant.</a:t>
            </a:r>
          </a:p>
          <a:p>
            <a:pPr lvl="1"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t>– Only the camera changes. A comparable study crossing country and protocol collapsed to AUC 0.54; ours holds 0.91.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Proposed contributions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83080"/>
          <a:ext cx="1078991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082"/>
                <a:gridCol w="4092728"/>
                <a:gridCol w="6232108"/>
              </a:tblGrid>
              <a:tr h="8915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is new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Decomposing a cross-device gap into</a:t>
                      </a:r>
                    </a:p>
                    <a:p>
                      <a:r>
                        <a:t>prevalence, calibration and ranking components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Cross-domain F1 collapses are routinely blamed on the model.</a:t>
                      </a:r>
                    </a:p>
                    <a:p>
                      <a:r>
                        <a:t>We show the split is computable in closed form — and that in our</a:t>
                      </a:r>
                    </a:p>
                    <a:p>
                      <a:r>
                        <a:t>case the ranking component is all that remains.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Multi-view test-time aggregation for</a:t>
                      </a:r>
                    </a:p>
                    <a:p>
                      <a:r>
                        <a:t>cross-device retinal screening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Exploits mBRSET's ~4 images per patient, a free signal no</a:t>
                      </a:r>
                    </a:p>
                    <a:p>
                      <a:r>
                        <a:t>cross-device study has used.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Adapting the internal normalisation layer</a:t>
                      </a:r>
                    </a:p>
                    <a:p>
                      <a:r>
                        <a:t>that is unique to ConvNeXt V2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The standard adaptation trick relies on a component this model</a:t>
                      </a:r>
                    </a:p>
                    <a:p>
                      <a:r>
                        <a:t>does not have. Nobody has adapted the one it does have.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5778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Contribution 1 stands even if every method underperforms — the negative result is itself the finding.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Next steps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920240"/>
          <a:ext cx="107899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297"/>
                <a:gridCol w="9115622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marL="73152" marR="73152" marT="27432" marB="27432"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This week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Finish imbalance hyperparameter sweep (validation-selected); k-fold cross-validation to tighten confidence intervals on the baseline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Next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Implement label-free threshold placement — the honest baseline for all transfer results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Then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Multi-view aggregation, then degradation augmentation; measure AUC gain against the 0.95 / 0.985 target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Open question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1A"/>
                          </a:solidFill>
                        </a:defRPr>
                      </a:pPr>
                      <a:r>
                        <a:t>Access to BRSET's per-image degradation-type metadata for the decomposition analysis</a:t>
                      </a:r>
                    </a:p>
                  </a:txBody>
                  <a:tcPr marL="73152" marR="73152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75488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• Baseline: complete and defensible — beats the paper on AUC, matches on F1.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• Transfer: diagnosed, literature reviewed, three methods ranked, novelty verified as open.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