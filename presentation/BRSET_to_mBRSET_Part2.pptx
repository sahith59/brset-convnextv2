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16/j.media.2019.101544" TargetMode="External"/><Relationship Id="rId3" Type="http://schemas.openxmlformats.org/officeDocument/2006/relationships/hyperlink" Target="https://doi.org/10.1007/978-3-031-43904-9_42" TargetMode="External"/><Relationship Id="rId4" Type="http://schemas.openxmlformats.org/officeDocument/2006/relationships/hyperlink" Target="https://doi.org/10.1007/978-3-031-16434-7_57" TargetMode="External"/><Relationship Id="rId5" Type="http://schemas.openxmlformats.org/officeDocument/2006/relationships/hyperlink" Target="https://openreview.net/forum?id=lQdXeXDoWtI" TargetMode="External"/><Relationship Id="rId6" Type="http://schemas.openxmlformats.org/officeDocument/2006/relationships/hyperlink" Target="https://doi.org/10.1109/CVPR52688.2022.00816" TargetMode="External"/><Relationship Id="rId7" Type="http://schemas.openxmlformats.org/officeDocument/2006/relationships/hyperlink" Target="https://doi.org/10.1136/bmjophth-2025-002238" TargetMode="External"/><Relationship Id="rId8" Type="http://schemas.openxmlformats.org/officeDocument/2006/relationships/hyperlink" Target="https://arxiv.org/abs/2005.05594"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155680" cy="822960"/>
          </a:xfrm>
          <a:prstGeom prst="rect">
            <a:avLst/>
          </a:prstGeom>
          <a:noFill/>
        </p:spPr>
        <p:txBody>
          <a:bodyPr wrap="square">
            <a:spAutoFit/>
          </a:bodyPr>
          <a:lstStyle/>
          <a:p>
            <a:pPr>
              <a:defRPr sz="2600" b="1">
                <a:solidFill>
                  <a:srgbClr val="1F4E79"/>
                </a:solidFill>
                <a:latin typeface="Times New Roman"/>
              </a:defRPr>
            </a:pPr>
            <a:r>
              <a:rPr sz="2600" b="1">
                <a:solidFill>
                  <a:srgbClr val="1F4E79"/>
                </a:solidFill>
                <a:latin typeface="Times New Roman"/>
              </a:rPr>
              <a:t>Part 2: a tabletop-trained model must work on a phone camera</a:t>
            </a:r>
          </a:p>
          <a:p>
            <a:pPr>
              <a:defRPr sz="1250" b="0">
                <a:solidFill>
                  <a:srgbClr val="5F5F5F"/>
                </a:solidFill>
                <a:latin typeface="Times New Roman"/>
              </a:defRPr>
            </a:pPr>
            <a:r>
              <a:rPr sz="1250" b="0">
                <a:solidFill>
                  <a:srgbClr val="5F5F5F"/>
                </a:solidFill>
                <a:latin typeface="Times New Roman"/>
              </a:rPr>
              <a:t>The model is trained only on BRSET. No mBRSET image is ever seen during training, so this is a genuine test of whether it learned the disease or the camera.</a:t>
            </a:r>
          </a:p>
        </p:txBody>
      </p:sp>
      <p:sp>
        <p:nvSpPr>
          <p:cNvPr id="3" name="Rectangle 2"/>
          <p:cNvSpPr/>
          <p:nvPr/>
        </p:nvSpPr>
        <p:spPr>
          <a:xfrm>
            <a:off x="566928" y="1152144"/>
            <a:ext cx="11064240" cy="16459"/>
          </a:xfrm>
          <a:prstGeom prst="rect">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94360" y="1463040"/>
          <a:ext cx="11064238" cy="2103120"/>
        </p:xfrm>
        <a:graphic>
          <a:graphicData uri="http://schemas.openxmlformats.org/drawingml/2006/table">
            <a:tbl>
              <a:tblPr firstRow="1" bandRow="1">
                <a:tableStyleId>{5C22544A-7EE6-4342-B048-85BDC9FD1C3A}</a:tableStyleId>
              </a:tblPr>
              <a:tblGrid>
                <a:gridCol w="2173332"/>
                <a:gridCol w="3951514"/>
                <a:gridCol w="4939392"/>
              </a:tblGrid>
              <a:tr h="350520">
                <a:tc>
                  <a:txBody>
                    <a:bodyPr/>
                    <a:lstStyle/>
                    <a:p>
                      <a:pPr algn="l">
                        <a:defRPr sz="1150" b="1">
                          <a:solidFill>
                            <a:srgbClr val="FFFFFF"/>
                          </a:solidFill>
                          <a:latin typeface="Times New Roman"/>
                        </a:defRPr>
                      </a:pPr>
                    </a:p>
                  </a:txBody>
                  <a:tcPr marL="73152" marR="73152" marT="27432" marB="27432" anchor="ctr">
                    <a:solidFill>
                      <a:srgbClr val="1F4E79"/>
                    </a:solidFill>
                  </a:tcPr>
                </a:tc>
                <a:tc>
                  <a:txBody>
                    <a:bodyPr/>
                    <a:lstStyle/>
                    <a:p>
                      <a:pPr algn="ctr">
                        <a:defRPr sz="1150" b="1">
                          <a:solidFill>
                            <a:srgbClr val="FFFFFF"/>
                          </a:solidFill>
                          <a:latin typeface="Times New Roman"/>
                        </a:defRPr>
                      </a:pPr>
                      <a:r>
                        <a:rPr sz="1150" b="1">
                          <a:solidFill>
                            <a:srgbClr val="FFFFFF"/>
                          </a:solidFill>
                          <a:latin typeface="Times New Roman"/>
                        </a:rPr>
                        <a:t>BRSET, trained on</a:t>
                      </a:r>
                    </a:p>
                  </a:txBody>
                  <a:tcPr marL="73152" marR="73152" marT="27432" marB="27432" anchor="ctr">
                    <a:solidFill>
                      <a:srgbClr val="1F4E79"/>
                    </a:solidFill>
                  </a:tcPr>
                </a:tc>
                <a:tc>
                  <a:txBody>
                    <a:bodyPr/>
                    <a:lstStyle/>
                    <a:p>
                      <a:pPr algn="ctr">
                        <a:defRPr sz="1150" b="1">
                          <a:solidFill>
                            <a:srgbClr val="FFFFFF"/>
                          </a:solidFill>
                          <a:latin typeface="Times New Roman"/>
                        </a:defRPr>
                      </a:pPr>
                      <a:r>
                        <a:rPr sz="1150" b="1">
                          <a:solidFill>
                            <a:srgbClr val="FFFFFF"/>
                          </a:solidFill>
                          <a:latin typeface="Times New Roman"/>
                        </a:rPr>
                        <a:t>mBRSET, tested on</a:t>
                      </a:r>
                    </a:p>
                  </a:txBody>
                  <a:tcPr marL="73152" marR="73152" marT="27432" marB="27432" anchor="ctr">
                    <a:solidFill>
                      <a:srgbClr val="1F4E79"/>
                    </a:solidFill>
                  </a:tcPr>
                </a:tc>
              </a:tr>
              <a:tr h="350520">
                <a:tc>
                  <a:txBody>
                    <a:bodyPr/>
                    <a:lstStyle/>
                    <a:p>
                      <a:pPr algn="l">
                        <a:defRPr sz="1150" b="0">
                          <a:solidFill>
                            <a:srgbClr val="1A1A1A"/>
                          </a:solidFill>
                          <a:latin typeface="Times New Roman"/>
                        </a:defRPr>
                      </a:pPr>
                      <a:r>
                        <a:rPr sz="1150" b="0">
                          <a:solidFill>
                            <a:srgbClr val="1A1A1A"/>
                          </a:solidFill>
                          <a:latin typeface="Times New Roman"/>
                        </a:rPr>
                        <a:t>Camera</a:t>
                      </a:r>
                    </a:p>
                  </a:txBody>
                  <a:tcPr marL="73152" marR="73152" marT="27432" marB="27432" anchor="ctr">
                    <a:solidFill>
                      <a:srgbClr val="FFFFFF"/>
                    </a:solidFill>
                  </a:tcPr>
                </a:tc>
                <a:tc>
                  <a:txBody>
                    <a:bodyPr/>
                    <a:lstStyle/>
                    <a:p>
                      <a:pPr algn="ctr">
                        <a:defRPr sz="1150" b="0">
                          <a:solidFill>
                            <a:srgbClr val="1A1A1A"/>
                          </a:solidFill>
                          <a:latin typeface="Times New Roman"/>
                        </a:defRPr>
                      </a:pPr>
                      <a:r>
                        <a:rPr sz="1150" b="0">
                          <a:solidFill>
                            <a:srgbClr val="1A1A1A"/>
                          </a:solidFill>
                          <a:latin typeface="Times New Roman"/>
                        </a:rPr>
                        <a:t>Tabletop fundus camera</a:t>
                      </a:r>
                    </a:p>
                  </a:txBody>
                  <a:tcPr marL="73152" marR="73152" marT="27432" marB="27432" anchor="ctr">
                    <a:solidFill>
                      <a:srgbClr val="FFFFFF"/>
                    </a:solidFill>
                  </a:tcPr>
                </a:tc>
                <a:tc>
                  <a:txBody>
                    <a:bodyPr/>
                    <a:lstStyle/>
                    <a:p>
                      <a:pPr algn="ctr">
                        <a:defRPr sz="1150" b="0">
                          <a:solidFill>
                            <a:srgbClr val="1A1A1A"/>
                          </a:solidFill>
                          <a:latin typeface="Times New Roman"/>
                        </a:defRPr>
                      </a:pPr>
                      <a:r>
                        <a:rPr sz="1150" b="0">
                          <a:solidFill>
                            <a:srgbClr val="1A1A1A"/>
                          </a:solidFill>
                          <a:latin typeface="Times New Roman"/>
                        </a:rPr>
                        <a:t>Handheld phone camera (Phelcom Eyer)</a:t>
                      </a:r>
                    </a:p>
                  </a:txBody>
                  <a:tcPr marL="73152" marR="73152" marT="27432" marB="27432" anchor="ctr">
                    <a:solidFill>
                      <a:srgbClr val="FFFFFF"/>
                    </a:solidFill>
                  </a:tcPr>
                </a:tc>
              </a:tr>
              <a:tr h="350520">
                <a:tc>
                  <a:txBody>
                    <a:bodyPr/>
                    <a:lstStyle/>
                    <a:p>
                      <a:pPr algn="l">
                        <a:defRPr sz="1150" b="0">
                          <a:solidFill>
                            <a:srgbClr val="1A1A1A"/>
                          </a:solidFill>
                          <a:latin typeface="Times New Roman"/>
                        </a:defRPr>
                      </a:pPr>
                      <a:r>
                        <a:rPr sz="1150" b="0">
                          <a:solidFill>
                            <a:srgbClr val="1A1A1A"/>
                          </a:solidFill>
                          <a:latin typeface="Times New Roman"/>
                        </a:rPr>
                        <a:t>Setting</a:t>
                      </a:r>
                    </a:p>
                  </a:txBody>
                  <a:tcPr marL="73152" marR="73152" marT="27432" marB="27432" anchor="ctr">
                    <a:solidFill>
                      <a:srgbClr val="F2F4F7"/>
                    </a:solidFill>
                  </a:tcPr>
                </a:tc>
                <a:tc>
                  <a:txBody>
                    <a:bodyPr/>
                    <a:lstStyle/>
                    <a:p>
                      <a:pPr algn="ctr">
                        <a:defRPr sz="1150" b="0">
                          <a:solidFill>
                            <a:srgbClr val="1A1A1A"/>
                          </a:solidFill>
                          <a:latin typeface="Times New Roman"/>
                        </a:defRPr>
                      </a:pPr>
                      <a:r>
                        <a:rPr sz="1150" b="0">
                          <a:solidFill>
                            <a:srgbClr val="1A1A1A"/>
                          </a:solidFill>
                          <a:latin typeface="Times New Roman"/>
                        </a:rPr>
                        <a:t>Hospital eye clinic</a:t>
                      </a:r>
                    </a:p>
                  </a:txBody>
                  <a:tcPr marL="73152" marR="73152" marT="27432" marB="27432" anchor="ctr">
                    <a:solidFill>
                      <a:srgbClr val="F2F4F7"/>
                    </a:solidFill>
                  </a:tcPr>
                </a:tc>
                <a:tc>
                  <a:txBody>
                    <a:bodyPr/>
                    <a:lstStyle/>
                    <a:p>
                      <a:pPr algn="ctr">
                        <a:defRPr sz="1150" b="0">
                          <a:solidFill>
                            <a:srgbClr val="1A1A1A"/>
                          </a:solidFill>
                          <a:latin typeface="Times New Roman"/>
                        </a:defRPr>
                      </a:pPr>
                      <a:r>
                        <a:rPr sz="1150" b="0">
                          <a:solidFill>
                            <a:srgbClr val="1A1A1A"/>
                          </a:solidFill>
                          <a:latin typeface="Times New Roman"/>
                        </a:rPr>
                        <a:t>Community diabetes screening</a:t>
                      </a:r>
                    </a:p>
                  </a:txBody>
                  <a:tcPr marL="73152" marR="73152" marT="27432" marB="27432" anchor="ctr">
                    <a:solidFill>
                      <a:srgbClr val="F2F4F7"/>
                    </a:solidFill>
                  </a:tcPr>
                </a:tc>
              </a:tr>
              <a:tr h="350520">
                <a:tc>
                  <a:txBody>
                    <a:bodyPr/>
                    <a:lstStyle/>
                    <a:p>
                      <a:pPr algn="l">
                        <a:defRPr sz="1150" b="0">
                          <a:solidFill>
                            <a:srgbClr val="1A1A1A"/>
                          </a:solidFill>
                          <a:latin typeface="Times New Roman"/>
                        </a:defRPr>
                      </a:pPr>
                      <a:r>
                        <a:rPr sz="1150" b="0">
                          <a:solidFill>
                            <a:srgbClr val="1A1A1A"/>
                          </a:solidFill>
                          <a:latin typeface="Times New Roman"/>
                        </a:rPr>
                        <a:t>Images</a:t>
                      </a:r>
                    </a:p>
                  </a:txBody>
                  <a:tcPr marL="73152" marR="73152" marT="27432" marB="27432" anchor="ctr">
                    <a:solidFill>
                      <a:srgbClr val="FFFFFF"/>
                    </a:solidFill>
                  </a:tcPr>
                </a:tc>
                <a:tc>
                  <a:txBody>
                    <a:bodyPr/>
                    <a:lstStyle/>
                    <a:p>
                      <a:pPr algn="ctr">
                        <a:defRPr sz="1150" b="0">
                          <a:solidFill>
                            <a:srgbClr val="1A1A1A"/>
                          </a:solidFill>
                          <a:latin typeface="Times New Roman"/>
                        </a:defRPr>
                      </a:pPr>
                      <a:r>
                        <a:rPr sz="1150" b="0">
                          <a:solidFill>
                            <a:srgbClr val="1A1A1A"/>
                          </a:solidFill>
                          <a:latin typeface="Times New Roman"/>
                        </a:rPr>
                        <a:t>16,258   (test 2,435)</a:t>
                      </a:r>
                    </a:p>
                  </a:txBody>
                  <a:tcPr marL="73152" marR="73152" marT="27432" marB="27432" anchor="ctr">
                    <a:solidFill>
                      <a:srgbClr val="FFFFFF"/>
                    </a:solidFill>
                  </a:tcPr>
                </a:tc>
                <a:tc>
                  <a:txBody>
                    <a:bodyPr/>
                    <a:lstStyle/>
                    <a:p>
                      <a:pPr algn="ctr">
                        <a:defRPr sz="1150" b="0">
                          <a:solidFill>
                            <a:srgbClr val="1A1A1A"/>
                          </a:solidFill>
                          <a:latin typeface="Times New Roman"/>
                        </a:defRPr>
                      </a:pPr>
                      <a:r>
                        <a:rPr sz="1150" b="0">
                          <a:solidFill>
                            <a:srgbClr val="1A1A1A"/>
                          </a:solidFill>
                          <a:latin typeface="Times New Roman"/>
                        </a:rPr>
                        <a:t>4,859   (test 732)</a:t>
                      </a:r>
                    </a:p>
                  </a:txBody>
                  <a:tcPr marL="73152" marR="73152" marT="27432" marB="27432" anchor="ctr">
                    <a:solidFill>
                      <a:srgbClr val="FFFFFF"/>
                    </a:solidFill>
                  </a:tcPr>
                </a:tc>
              </a:tr>
              <a:tr h="350520">
                <a:tc>
                  <a:txBody>
                    <a:bodyPr/>
                    <a:lstStyle/>
                    <a:p>
                      <a:pPr algn="l">
                        <a:defRPr sz="1150" b="0">
                          <a:solidFill>
                            <a:srgbClr val="1A1A1A"/>
                          </a:solidFill>
                          <a:latin typeface="Times New Roman"/>
                        </a:defRPr>
                      </a:pPr>
                      <a:r>
                        <a:rPr sz="1150" b="0">
                          <a:solidFill>
                            <a:srgbClr val="1A1A1A"/>
                          </a:solidFill>
                          <a:latin typeface="Times New Roman"/>
                        </a:rPr>
                        <a:t>Patients with DR</a:t>
                      </a:r>
                    </a:p>
                  </a:txBody>
                  <a:tcPr marL="73152" marR="73152" marT="27432" marB="27432" anchor="ctr">
                    <a:solidFill>
                      <a:srgbClr val="F2F4F7"/>
                    </a:solidFill>
                  </a:tcPr>
                </a:tc>
                <a:tc>
                  <a:txBody>
                    <a:bodyPr/>
                    <a:lstStyle/>
                    <a:p>
                      <a:pPr algn="ctr">
                        <a:defRPr sz="1150" b="0">
                          <a:solidFill>
                            <a:srgbClr val="1A1A1A"/>
                          </a:solidFill>
                          <a:latin typeface="Times New Roman"/>
                        </a:defRPr>
                      </a:pPr>
                      <a:r>
                        <a:rPr sz="1150" b="0">
                          <a:solidFill>
                            <a:srgbClr val="1A1A1A"/>
                          </a:solidFill>
                          <a:latin typeface="Times New Roman"/>
                        </a:rPr>
                        <a:t>6.6%,  about 1 in 15</a:t>
                      </a:r>
                    </a:p>
                  </a:txBody>
                  <a:tcPr marL="73152" marR="73152" marT="27432" marB="27432" anchor="ctr">
                    <a:solidFill>
                      <a:srgbClr val="F2F4F7"/>
                    </a:solidFill>
                  </a:tcPr>
                </a:tc>
                <a:tc>
                  <a:txBody>
                    <a:bodyPr/>
                    <a:lstStyle/>
                    <a:p>
                      <a:pPr algn="ctr">
                        <a:defRPr sz="1150" b="0">
                          <a:solidFill>
                            <a:srgbClr val="1A1A1A"/>
                          </a:solidFill>
                          <a:latin typeface="Times New Roman"/>
                        </a:defRPr>
                      </a:pPr>
                      <a:r>
                        <a:rPr sz="1150" b="0">
                          <a:solidFill>
                            <a:srgbClr val="1A1A1A"/>
                          </a:solidFill>
                          <a:latin typeface="Times New Roman"/>
                        </a:rPr>
                        <a:t>23.3%,  about 1 in 4</a:t>
                      </a:r>
                    </a:p>
                  </a:txBody>
                  <a:tcPr marL="73152" marR="73152" marT="27432" marB="27432" anchor="ctr">
                    <a:solidFill>
                      <a:srgbClr val="F2F4F7"/>
                    </a:solidFill>
                  </a:tcPr>
                </a:tc>
              </a:tr>
              <a:tr h="350520">
                <a:tc>
                  <a:txBody>
                    <a:bodyPr/>
                    <a:lstStyle/>
                    <a:p>
                      <a:pPr algn="l">
                        <a:defRPr sz="1150" b="0">
                          <a:solidFill>
                            <a:srgbClr val="1A1A1A"/>
                          </a:solidFill>
                          <a:latin typeface="Times New Roman"/>
                        </a:defRPr>
                      </a:pPr>
                      <a:r>
                        <a:rPr sz="1150" b="0">
                          <a:solidFill>
                            <a:srgbClr val="1A1A1A"/>
                          </a:solidFill>
                          <a:latin typeface="Times New Roman"/>
                        </a:rPr>
                        <a:t>Images with an artifact</a:t>
                      </a:r>
                    </a:p>
                  </a:txBody>
                  <a:tcPr marL="73152" marR="73152" marT="27432" marB="27432" anchor="ctr">
                    <a:solidFill>
                      <a:srgbClr val="FFFFFF"/>
                    </a:solidFill>
                  </a:tcPr>
                </a:tc>
                <a:tc>
                  <a:txBody>
                    <a:bodyPr/>
                    <a:lstStyle/>
                    <a:p>
                      <a:pPr algn="ctr">
                        <a:defRPr sz="1150" b="0">
                          <a:solidFill>
                            <a:srgbClr val="1A1A1A"/>
                          </a:solidFill>
                          <a:latin typeface="Times New Roman"/>
                        </a:defRPr>
                      </a:pPr>
                      <a:r>
                        <a:rPr sz="1150" b="0">
                          <a:solidFill>
                            <a:srgbClr val="1A1A1A"/>
                          </a:solidFill>
                          <a:latin typeface="Times New Roman"/>
                        </a:rPr>
                        <a:t>not recorded</a:t>
                      </a:r>
                    </a:p>
                  </a:txBody>
                  <a:tcPr marL="73152" marR="73152" marT="27432" marB="27432" anchor="ctr">
                    <a:solidFill>
                      <a:srgbClr val="FFFFFF"/>
                    </a:solidFill>
                  </a:tcPr>
                </a:tc>
                <a:tc>
                  <a:txBody>
                    <a:bodyPr/>
                    <a:lstStyle/>
                    <a:p>
                      <a:pPr algn="ctr">
                        <a:defRPr sz="1150" b="0">
                          <a:solidFill>
                            <a:srgbClr val="1A1A1A"/>
                          </a:solidFill>
                          <a:latin typeface="Times New Roman"/>
                        </a:defRPr>
                      </a:pPr>
                      <a:r>
                        <a:rPr sz="1150" b="0">
                          <a:solidFill>
                            <a:srgbClr val="1A1A1A"/>
                          </a:solidFill>
                          <a:latin typeface="Times New Roman"/>
                        </a:rPr>
                        <a:t>83%   (4,272 of 5,164)</a:t>
                      </a:r>
                    </a:p>
                  </a:txBody>
                  <a:tcPr marL="73152" marR="73152" marT="27432" marB="27432" anchor="ctr">
                    <a:solidFill>
                      <a:srgbClr val="FFFFFF"/>
                    </a:solidFill>
                  </a:tcPr>
                </a:tc>
              </a:tr>
            </a:tbl>
          </a:graphicData>
        </a:graphic>
      </p:graphicFrame>
      <p:sp>
        <p:nvSpPr>
          <p:cNvPr id="5" name="TextBox 4"/>
          <p:cNvSpPr txBox="1"/>
          <p:nvPr/>
        </p:nvSpPr>
        <p:spPr>
          <a:xfrm>
            <a:off x="594360" y="3794760"/>
            <a:ext cx="11064240" cy="310896"/>
          </a:xfrm>
          <a:prstGeom prst="rect">
            <a:avLst/>
          </a:prstGeom>
          <a:noFill/>
        </p:spPr>
        <p:txBody>
          <a:bodyPr wrap="square">
            <a:spAutoFit/>
          </a:bodyPr>
          <a:lstStyle/>
          <a:p>
            <a:pPr algn="l">
              <a:defRPr sz="1250" b="1">
                <a:solidFill>
                  <a:srgbClr val="1F4E79"/>
                </a:solidFill>
                <a:latin typeface="Times New Roman"/>
              </a:defRPr>
            </a:pPr>
            <a:r>
              <a:rPr sz="1250" b="1">
                <a:solidFill>
                  <a:srgbClr val="1F4E79"/>
                </a:solidFill>
                <a:latin typeface="Times New Roman"/>
              </a:rPr>
              <a:t>Two things change at the same time</a:t>
            </a:r>
          </a:p>
        </p:txBody>
      </p:sp>
      <p:sp>
        <p:nvSpPr>
          <p:cNvPr id="6" name="Rectangle 5"/>
          <p:cNvSpPr/>
          <p:nvPr/>
        </p:nvSpPr>
        <p:spPr>
          <a:xfrm>
            <a:off x="594360" y="4133087"/>
            <a:ext cx="5349240" cy="868680"/>
          </a:xfrm>
          <a:prstGeom prst="rect">
            <a:avLst/>
          </a:prstGeom>
          <a:solidFill>
            <a:srgbClr val="ECEFF4"/>
          </a:solidFill>
          <a:ln w="9525">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0">
                <a:solidFill>
                  <a:srgbClr val="1A1A1A"/>
                </a:solidFill>
                <a:latin typeface="Times New Roman"/>
              </a:defRPr>
            </a:pPr>
            <a:r>
              <a:rPr sz="1250" b="0">
                <a:solidFill>
                  <a:srgbClr val="1A1A1A"/>
                </a:solidFill>
                <a:latin typeface="Times New Roman"/>
              </a:rPr>
              <a:t>The camera gets worse.</a:t>
            </a:r>
            <a:br/>
            <a:r>
              <a:rPr sz="1250" b="0">
                <a:solidFill>
                  <a:srgbClr val="1A1A1A"/>
                </a:solidFill>
                <a:latin typeface="Times New Roman"/>
              </a:rPr>
              <a:t>Blur, glare and artifacts the model never saw in training.</a:t>
            </a:r>
          </a:p>
        </p:txBody>
      </p:sp>
      <p:sp>
        <p:nvSpPr>
          <p:cNvPr id="7" name="Rectangle 6"/>
          <p:cNvSpPr/>
          <p:nvPr/>
        </p:nvSpPr>
        <p:spPr>
          <a:xfrm>
            <a:off x="6309360" y="4133087"/>
            <a:ext cx="5349240" cy="868680"/>
          </a:xfrm>
          <a:prstGeom prst="rect">
            <a:avLst/>
          </a:prstGeom>
          <a:solidFill>
            <a:srgbClr val="ECEFF4"/>
          </a:solidFill>
          <a:ln w="9525">
            <a:solidFill>
              <a:srgbClr val="B8C2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50" b="0">
                <a:solidFill>
                  <a:srgbClr val="1A1A1A"/>
                </a:solidFill>
                <a:latin typeface="Times New Roman"/>
              </a:defRPr>
            </a:pPr>
            <a:r>
              <a:rPr sz="1250" b="0">
                <a:solidFill>
                  <a:srgbClr val="1A1A1A"/>
                </a:solidFill>
                <a:latin typeface="Times New Roman"/>
              </a:rPr>
              <a:t>The patients get sicker.</a:t>
            </a:r>
            <a:br/>
            <a:r>
              <a:rPr sz="1250" b="0">
                <a:solidFill>
                  <a:srgbClr val="1A1A1A"/>
                </a:solidFill>
                <a:latin typeface="Times New Roman"/>
              </a:rPr>
              <a:t>A screening campaign, not a general clinic. 6.6 percent becomes 23.3.</a:t>
            </a:r>
          </a:p>
        </p:txBody>
      </p:sp>
      <p:sp>
        <p:nvSpPr>
          <p:cNvPr id="8" name="TextBox 7"/>
          <p:cNvSpPr txBox="1"/>
          <p:nvPr/>
        </p:nvSpPr>
        <p:spPr>
          <a:xfrm>
            <a:off x="594360" y="5166360"/>
            <a:ext cx="11064240" cy="640079"/>
          </a:xfrm>
          <a:prstGeom prst="rect">
            <a:avLst/>
          </a:prstGeom>
          <a:noFill/>
        </p:spPr>
        <p:txBody>
          <a:bodyPr wrap="square">
            <a:spAutoFit/>
          </a:bodyPr>
          <a:lstStyle/>
          <a:p>
            <a:pPr>
              <a:spcAft>
                <a:spcPts val="800"/>
              </a:spcAft>
              <a:defRPr sz="1250" b="0">
                <a:solidFill>
                  <a:srgbClr val="1A1A1A"/>
                </a:solidFill>
                <a:latin typeface="Times New Roman"/>
              </a:defRPr>
            </a:pPr>
            <a:r>
              <a:rPr sz="1250" b="0">
                <a:solidFill>
                  <a:srgbClr val="1A1A1A"/>
                </a:solidFill>
                <a:latin typeface="Times New Roman"/>
              </a:rPr>
              <a:t>Almost every published cross-device study changes only one of these. Changing both at once is what makes this setting hard, and what makes it worth a paper.</a:t>
            </a:r>
          </a:p>
        </p:txBody>
      </p:sp>
      <p:sp>
        <p:nvSpPr>
          <p:cNvPr id="9" name="TextBox 8"/>
          <p:cNvSpPr txBox="1"/>
          <p:nvPr/>
        </p:nvSpPr>
        <p:spPr>
          <a:xfrm>
            <a:off x="594360" y="5897880"/>
            <a:ext cx="11064240" cy="640080"/>
          </a:xfrm>
          <a:prstGeom prst="rect">
            <a:avLst/>
          </a:prstGeom>
          <a:noFill/>
        </p:spPr>
        <p:txBody>
          <a:bodyPr wrap="square">
            <a:spAutoFit/>
          </a:bodyPr>
          <a:lstStyle/>
          <a:p>
            <a:pPr>
              <a:defRPr sz="1350" b="1">
                <a:solidFill>
                  <a:srgbClr val="1E6B3C"/>
                </a:solidFill>
                <a:latin typeface="Times New Roman"/>
              </a:defRPr>
            </a:pPr>
            <a:r>
              <a:rPr sz="1350" b="1">
                <a:solidFill>
                  <a:srgbClr val="1E6B3C"/>
                </a:solidFill>
                <a:latin typeface="Times New Roman"/>
              </a:rPr>
              <a:t>Goal: make the BRSET-trained model work on handheld images without collecting labels for the handheld device.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155680" cy="822960"/>
          </a:xfrm>
          <a:prstGeom prst="rect">
            <a:avLst/>
          </a:prstGeom>
          <a:noFill/>
        </p:spPr>
        <p:txBody>
          <a:bodyPr wrap="square">
            <a:spAutoFit/>
          </a:bodyPr>
          <a:lstStyle/>
          <a:p>
            <a:pPr>
              <a:defRPr sz="2600" b="1">
                <a:solidFill>
                  <a:srgbClr val="1F4E79"/>
                </a:solidFill>
                <a:latin typeface="Times New Roman"/>
              </a:defRPr>
            </a:pPr>
            <a:r>
              <a:rPr sz="2600" b="1">
                <a:solidFill>
                  <a:srgbClr val="1F4E79"/>
                </a:solidFill>
                <a:latin typeface="Times New Roman"/>
              </a:rPr>
              <a:t>Starting line: one model, two cameras</a:t>
            </a:r>
          </a:p>
          <a:p>
            <a:pPr>
              <a:defRPr sz="1250" b="0">
                <a:solidFill>
                  <a:srgbClr val="5F5F5F"/>
                </a:solidFill>
                <a:latin typeface="Times New Roman"/>
              </a:defRPr>
            </a:pPr>
            <a:r>
              <a:rPr sz="1250" b="0">
                <a:solidFill>
                  <a:srgbClr val="5F5F5F"/>
                </a:solidFill>
                <a:latin typeface="Times New Roman"/>
              </a:rPr>
              <a:t>The selected Part-1 baseline (focal loss, oversampling off), evaluated with its own BRSET-chosen cutoff applied unchanged. Measured 21 August 2026.</a:t>
            </a:r>
          </a:p>
        </p:txBody>
      </p:sp>
      <p:sp>
        <p:nvSpPr>
          <p:cNvPr id="3" name="Rectangle 2"/>
          <p:cNvSpPr/>
          <p:nvPr/>
        </p:nvSpPr>
        <p:spPr>
          <a:xfrm>
            <a:off x="566928" y="1152144"/>
            <a:ext cx="11064240" cy="16459"/>
          </a:xfrm>
          <a:prstGeom prst="rect">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94360" y="1481328"/>
          <a:ext cx="5669280" cy="1828800"/>
        </p:xfrm>
        <a:graphic>
          <a:graphicData uri="http://schemas.openxmlformats.org/drawingml/2006/table">
            <a:tbl>
              <a:tblPr firstRow="1" bandRow="1">
                <a:tableStyleId>{5C22544A-7EE6-4342-B048-85BDC9FD1C3A}</a:tableStyleId>
              </a:tblPr>
              <a:tblGrid>
                <a:gridCol w="2651760"/>
                <a:gridCol w="1005840"/>
                <a:gridCol w="1005840"/>
                <a:gridCol w="1005840"/>
              </a:tblGrid>
              <a:tr h="304800">
                <a:tc>
                  <a:txBody>
                    <a:bodyPr/>
                    <a:lstStyle/>
                    <a:p>
                      <a:pPr algn="l">
                        <a:defRPr sz="1050" b="1">
                          <a:solidFill>
                            <a:srgbClr val="FFFFFF"/>
                          </a:solidFill>
                          <a:latin typeface="Times New Roman"/>
                        </a:defRPr>
                      </a:pPr>
                      <a:r>
                        <a:rPr sz="1050" b="1">
                          <a:solidFill>
                            <a:srgbClr val="FFFFFF"/>
                          </a:solidFill>
                          <a:latin typeface="Times New Roman"/>
                        </a:rPr>
                        <a:t>Diabetic retinopathy</a:t>
                      </a:r>
                    </a:p>
                  </a:txBody>
                  <a:tcPr marL="73152" marR="73152" marT="27432" marB="27432" anchor="ctr">
                    <a:solidFill>
                      <a:srgbClr val="1F4E79"/>
                    </a:solidFill>
                  </a:tcPr>
                </a:tc>
                <a:tc>
                  <a:txBody>
                    <a:bodyPr/>
                    <a:lstStyle/>
                    <a:p>
                      <a:pPr algn="ctr">
                        <a:defRPr sz="1050" b="1">
                          <a:solidFill>
                            <a:srgbClr val="FFFFFF"/>
                          </a:solidFill>
                          <a:latin typeface="Times New Roman"/>
                        </a:defRPr>
                      </a:pPr>
                      <a:r>
                        <a:rPr sz="1050" b="1">
                          <a:solidFill>
                            <a:srgbClr val="FFFFFF"/>
                          </a:solidFill>
                          <a:latin typeface="Times New Roman"/>
                        </a:rPr>
                        <a:t>On BRSET</a:t>
                      </a:r>
                    </a:p>
                  </a:txBody>
                  <a:tcPr marL="73152" marR="73152" marT="27432" marB="27432" anchor="ctr">
                    <a:solidFill>
                      <a:srgbClr val="1F4E79"/>
                    </a:solidFill>
                  </a:tcPr>
                </a:tc>
                <a:tc>
                  <a:txBody>
                    <a:bodyPr/>
                    <a:lstStyle/>
                    <a:p>
                      <a:pPr algn="ctr">
                        <a:defRPr sz="1050" b="1">
                          <a:solidFill>
                            <a:srgbClr val="FFFFFF"/>
                          </a:solidFill>
                          <a:latin typeface="Times New Roman"/>
                        </a:defRPr>
                      </a:pPr>
                      <a:r>
                        <a:rPr sz="1050" b="1">
                          <a:solidFill>
                            <a:srgbClr val="FFFFFF"/>
                          </a:solidFill>
                          <a:latin typeface="Times New Roman"/>
                        </a:rPr>
                        <a:t>On mBRSET</a:t>
                      </a:r>
                    </a:p>
                  </a:txBody>
                  <a:tcPr marL="73152" marR="73152" marT="27432" marB="27432" anchor="ctr">
                    <a:solidFill>
                      <a:srgbClr val="1F4E79"/>
                    </a:solidFill>
                  </a:tcPr>
                </a:tc>
                <a:tc>
                  <a:txBody>
                    <a:bodyPr/>
                    <a:lstStyle/>
                    <a:p>
                      <a:pPr algn="ctr">
                        <a:defRPr sz="1050" b="1">
                          <a:solidFill>
                            <a:srgbClr val="FFFFFF"/>
                          </a:solidFill>
                          <a:latin typeface="Times New Roman"/>
                        </a:defRPr>
                      </a:pPr>
                      <a:r>
                        <a:rPr sz="1050" b="1">
                          <a:solidFill>
                            <a:srgbClr val="FFFFFF"/>
                          </a:solidFill>
                          <a:latin typeface="Times New Roman"/>
                        </a:rPr>
                        <a:t>Change</a:t>
                      </a:r>
                    </a:p>
                  </a:txBody>
                  <a:tcPr marL="73152" marR="73152" marT="27432" marB="27432" anchor="ctr">
                    <a:solidFill>
                      <a:srgbClr val="1F4E79"/>
                    </a:solidFill>
                  </a:tcPr>
                </a:tc>
              </a:tr>
              <a:tr h="304800">
                <a:tc>
                  <a:txBody>
                    <a:bodyPr/>
                    <a:lstStyle/>
                    <a:p>
                      <a:pPr algn="l">
                        <a:defRPr sz="1050" b="0">
                          <a:solidFill>
                            <a:srgbClr val="1A1A1A"/>
                          </a:solidFill>
                          <a:latin typeface="Times New Roman"/>
                        </a:defRPr>
                      </a:pPr>
                      <a:r>
                        <a:rPr sz="1050" b="0">
                          <a:solidFill>
                            <a:srgbClr val="1A1A1A"/>
                          </a:solidFill>
                          <a:latin typeface="Times New Roman"/>
                        </a:rPr>
                        <a:t>AUC  (ranking ability)</a:t>
                      </a:r>
                    </a:p>
                  </a:txBody>
                  <a:tcPr marL="73152" marR="73152" marT="27432" marB="27432" anchor="ctr">
                    <a:solidFill>
                      <a:srgbClr val="FFFFFF"/>
                    </a:solidFill>
                  </a:tcPr>
                </a:tc>
                <a:tc>
                  <a:txBody>
                    <a:bodyPr/>
                    <a:lstStyle/>
                    <a:p>
                      <a:pPr algn="ctr">
                        <a:defRPr sz="1050" b="0">
                          <a:solidFill>
                            <a:srgbClr val="1A1A1A"/>
                          </a:solidFill>
                          <a:latin typeface="Times New Roman"/>
                        </a:defRPr>
                      </a:pPr>
                      <a:r>
                        <a:rPr sz="1050" b="0">
                          <a:solidFill>
                            <a:srgbClr val="1A1A1A"/>
                          </a:solidFill>
                          <a:latin typeface="Times New Roman"/>
                        </a:rPr>
                        <a:t>0.9906</a:t>
                      </a:r>
                    </a:p>
                  </a:txBody>
                  <a:tcPr marL="73152" marR="73152" marT="27432" marB="27432" anchor="ctr">
                    <a:solidFill>
                      <a:srgbClr val="FFFFFF"/>
                    </a:solidFill>
                  </a:tcPr>
                </a:tc>
                <a:tc>
                  <a:txBody>
                    <a:bodyPr/>
                    <a:lstStyle/>
                    <a:p>
                      <a:pPr algn="ctr">
                        <a:defRPr sz="1050" b="0">
                          <a:solidFill>
                            <a:srgbClr val="1A1A1A"/>
                          </a:solidFill>
                          <a:latin typeface="Times New Roman"/>
                        </a:defRPr>
                      </a:pPr>
                      <a:r>
                        <a:rPr sz="1050" b="0">
                          <a:solidFill>
                            <a:srgbClr val="1A1A1A"/>
                          </a:solidFill>
                          <a:latin typeface="Times New Roman"/>
                        </a:rPr>
                        <a:t>0.9060</a:t>
                      </a:r>
                    </a:p>
                  </a:txBody>
                  <a:tcPr marL="73152" marR="73152" marT="27432" marB="27432" anchor="ctr">
                    <a:solidFill>
                      <a:srgbClr val="FFFFFF"/>
                    </a:solidFill>
                  </a:tcPr>
                </a:tc>
                <a:tc>
                  <a:txBody>
                    <a:bodyPr/>
                    <a:lstStyle/>
                    <a:p>
                      <a:pPr algn="ctr">
                        <a:defRPr sz="1050" b="0">
                          <a:solidFill>
                            <a:srgbClr val="1A1A1A"/>
                          </a:solidFill>
                          <a:latin typeface="Times New Roman"/>
                        </a:defRPr>
                      </a:pPr>
                      <a:r>
                        <a:rPr sz="1050" b="0">
                          <a:solidFill>
                            <a:srgbClr val="1A1A1A"/>
                          </a:solidFill>
                          <a:latin typeface="Times New Roman"/>
                        </a:rPr>
                        <a:t>−0.085</a:t>
                      </a:r>
                    </a:p>
                  </a:txBody>
                  <a:tcPr marL="73152" marR="73152" marT="27432" marB="27432" anchor="ctr">
                    <a:solidFill>
                      <a:srgbClr val="FFFFFF"/>
                    </a:solidFill>
                  </a:tcPr>
                </a:tc>
              </a:tr>
              <a:tr h="304800">
                <a:tc>
                  <a:txBody>
                    <a:bodyPr/>
                    <a:lstStyle/>
                    <a:p>
                      <a:pPr algn="l">
                        <a:defRPr sz="1050" b="0">
                          <a:solidFill>
                            <a:srgbClr val="1A1A1A"/>
                          </a:solidFill>
                          <a:latin typeface="Times New Roman"/>
                        </a:defRPr>
                      </a:pPr>
                      <a:r>
                        <a:rPr sz="1050" b="0">
                          <a:solidFill>
                            <a:srgbClr val="1A1A1A"/>
                          </a:solidFill>
                          <a:latin typeface="Times New Roman"/>
                        </a:rPr>
                        <a:t>F1, class-macro  (headline)</a:t>
                      </a:r>
                    </a:p>
                  </a:txBody>
                  <a:tcPr marL="73152" marR="73152" marT="27432" marB="27432" anchor="ctr">
                    <a:solidFill>
                      <a:srgbClr val="F2F4F7"/>
                    </a:solidFill>
                  </a:tcPr>
                </a:tc>
                <a:tc>
                  <a:txBody>
                    <a:bodyPr/>
                    <a:lstStyle/>
                    <a:p>
                      <a:pPr algn="ctr">
                        <a:defRPr sz="1050" b="0">
                          <a:solidFill>
                            <a:srgbClr val="1A1A1A"/>
                          </a:solidFill>
                          <a:latin typeface="Times New Roman"/>
                        </a:defRPr>
                      </a:pPr>
                      <a:r>
                        <a:rPr sz="1050" b="0">
                          <a:solidFill>
                            <a:srgbClr val="1A1A1A"/>
                          </a:solidFill>
                          <a:latin typeface="Times New Roman"/>
                        </a:rPr>
                        <a:t>0.9374</a:t>
                      </a:r>
                    </a:p>
                  </a:txBody>
                  <a:tcPr marL="73152" marR="73152" marT="27432" marB="27432" anchor="ctr">
                    <a:solidFill>
                      <a:srgbClr val="F2F4F7"/>
                    </a:solidFill>
                  </a:tcPr>
                </a:tc>
                <a:tc>
                  <a:txBody>
                    <a:bodyPr/>
                    <a:lstStyle/>
                    <a:p>
                      <a:pPr algn="ctr">
                        <a:defRPr sz="1050" b="0">
                          <a:solidFill>
                            <a:srgbClr val="1A1A1A"/>
                          </a:solidFill>
                          <a:latin typeface="Times New Roman"/>
                        </a:defRPr>
                      </a:pPr>
                      <a:r>
                        <a:rPr sz="1050" b="0">
                          <a:solidFill>
                            <a:srgbClr val="1A1A1A"/>
                          </a:solidFill>
                          <a:latin typeface="Times New Roman"/>
                        </a:rPr>
                        <a:t>0.8668</a:t>
                      </a:r>
                    </a:p>
                  </a:txBody>
                  <a:tcPr marL="73152" marR="73152" marT="27432" marB="27432" anchor="ctr">
                    <a:solidFill>
                      <a:srgbClr val="F2F4F7"/>
                    </a:solidFill>
                  </a:tcPr>
                </a:tc>
                <a:tc>
                  <a:txBody>
                    <a:bodyPr/>
                    <a:lstStyle/>
                    <a:p>
                      <a:pPr algn="ctr">
                        <a:defRPr sz="1050" b="0">
                          <a:solidFill>
                            <a:srgbClr val="1A1A1A"/>
                          </a:solidFill>
                          <a:latin typeface="Times New Roman"/>
                        </a:defRPr>
                      </a:pPr>
                      <a:r>
                        <a:rPr sz="1050" b="0">
                          <a:solidFill>
                            <a:srgbClr val="1A1A1A"/>
                          </a:solidFill>
                          <a:latin typeface="Times New Roman"/>
                        </a:rPr>
                        <a:t>−0.071</a:t>
                      </a:r>
                    </a:p>
                  </a:txBody>
                  <a:tcPr marL="73152" marR="73152" marT="27432" marB="27432" anchor="ctr">
                    <a:solidFill>
                      <a:srgbClr val="F2F4F7"/>
                    </a:solidFill>
                  </a:tcPr>
                </a:tc>
              </a:tr>
              <a:tr h="304800">
                <a:tc>
                  <a:txBody>
                    <a:bodyPr/>
                    <a:lstStyle/>
                    <a:p>
                      <a:pPr algn="l">
                        <a:defRPr sz="1050" b="0">
                          <a:solidFill>
                            <a:srgbClr val="1A1A1A"/>
                          </a:solidFill>
                          <a:latin typeface="Times New Roman"/>
                        </a:defRPr>
                      </a:pPr>
                      <a:r>
                        <a:rPr sz="1050" b="0">
                          <a:solidFill>
                            <a:srgbClr val="1A1A1A"/>
                          </a:solidFill>
                          <a:latin typeface="Times New Roman"/>
                        </a:rPr>
                        <a:t>F1, diseased class only</a:t>
                      </a:r>
                    </a:p>
                  </a:txBody>
                  <a:tcPr marL="73152" marR="73152" marT="27432" marB="27432" anchor="ctr">
                    <a:solidFill>
                      <a:srgbClr val="FFFFFF"/>
                    </a:solidFill>
                  </a:tcPr>
                </a:tc>
                <a:tc>
                  <a:txBody>
                    <a:bodyPr/>
                    <a:lstStyle/>
                    <a:p>
                      <a:pPr algn="ctr">
                        <a:defRPr sz="1050" b="0">
                          <a:solidFill>
                            <a:srgbClr val="1A1A1A"/>
                          </a:solidFill>
                          <a:latin typeface="Times New Roman"/>
                        </a:defRPr>
                      </a:pPr>
                      <a:r>
                        <a:rPr sz="1050" b="0">
                          <a:solidFill>
                            <a:srgbClr val="1A1A1A"/>
                          </a:solidFill>
                          <a:latin typeface="Times New Roman"/>
                        </a:rPr>
                        <a:t>0.8837</a:t>
                      </a:r>
                    </a:p>
                  </a:txBody>
                  <a:tcPr marL="73152" marR="73152" marT="27432" marB="27432" anchor="ctr">
                    <a:solidFill>
                      <a:srgbClr val="FFFFFF"/>
                    </a:solidFill>
                  </a:tcPr>
                </a:tc>
                <a:tc>
                  <a:txBody>
                    <a:bodyPr/>
                    <a:lstStyle/>
                    <a:p>
                      <a:pPr algn="ctr">
                        <a:defRPr sz="1050" b="0">
                          <a:solidFill>
                            <a:srgbClr val="1A1A1A"/>
                          </a:solidFill>
                          <a:latin typeface="Times New Roman"/>
                        </a:defRPr>
                      </a:pPr>
                      <a:r>
                        <a:rPr sz="1050" b="0">
                          <a:solidFill>
                            <a:srgbClr val="1A1A1A"/>
                          </a:solidFill>
                          <a:latin typeface="Times New Roman"/>
                        </a:rPr>
                        <a:t>0.7842</a:t>
                      </a:r>
                    </a:p>
                  </a:txBody>
                  <a:tcPr marL="73152" marR="73152" marT="27432" marB="27432" anchor="ctr">
                    <a:solidFill>
                      <a:srgbClr val="FFFFFF"/>
                    </a:solidFill>
                  </a:tcPr>
                </a:tc>
                <a:tc>
                  <a:txBody>
                    <a:bodyPr/>
                    <a:lstStyle/>
                    <a:p>
                      <a:pPr algn="ctr">
                        <a:defRPr sz="1050" b="0">
                          <a:solidFill>
                            <a:srgbClr val="1A1A1A"/>
                          </a:solidFill>
                          <a:latin typeface="Times New Roman"/>
                        </a:defRPr>
                      </a:pPr>
                      <a:r>
                        <a:rPr sz="1050" b="0">
                          <a:solidFill>
                            <a:srgbClr val="1A1A1A"/>
                          </a:solidFill>
                          <a:latin typeface="Times New Roman"/>
                        </a:rPr>
                        <a:t>−0.100</a:t>
                      </a:r>
                    </a:p>
                  </a:txBody>
                  <a:tcPr marL="73152" marR="73152" marT="27432" marB="27432" anchor="ctr">
                    <a:solidFill>
                      <a:srgbClr val="FFFFFF"/>
                    </a:solidFill>
                  </a:tcPr>
                </a:tc>
              </a:tr>
              <a:tr h="304800">
                <a:tc>
                  <a:txBody>
                    <a:bodyPr/>
                    <a:lstStyle/>
                    <a:p>
                      <a:pPr algn="l">
                        <a:defRPr sz="1050" b="0">
                          <a:solidFill>
                            <a:srgbClr val="1A1A1A"/>
                          </a:solidFill>
                          <a:latin typeface="Times New Roman"/>
                        </a:defRPr>
                      </a:pPr>
                      <a:r>
                        <a:rPr sz="1050" b="0">
                          <a:solidFill>
                            <a:srgbClr val="1A1A1A"/>
                          </a:solidFill>
                          <a:latin typeface="Times New Roman"/>
                        </a:rPr>
                        <a:t>Recall, diseased class</a:t>
                      </a:r>
                    </a:p>
                  </a:txBody>
                  <a:tcPr marL="73152" marR="73152" marT="27432" marB="27432" anchor="ctr">
                    <a:solidFill>
                      <a:srgbClr val="F2F4F7"/>
                    </a:solidFill>
                  </a:tcPr>
                </a:tc>
                <a:tc>
                  <a:txBody>
                    <a:bodyPr/>
                    <a:lstStyle/>
                    <a:p>
                      <a:pPr algn="ctr">
                        <a:defRPr sz="1050" b="0">
                          <a:solidFill>
                            <a:srgbClr val="1A1A1A"/>
                          </a:solidFill>
                          <a:latin typeface="Times New Roman"/>
                        </a:defRPr>
                      </a:pPr>
                      <a:r>
                        <a:rPr sz="1050" b="0">
                          <a:solidFill>
                            <a:srgbClr val="1A1A1A"/>
                          </a:solidFill>
                          <a:latin typeface="Times New Roman"/>
                        </a:rPr>
                        <a:t>0.9383</a:t>
                      </a:r>
                    </a:p>
                  </a:txBody>
                  <a:tcPr marL="73152" marR="73152" marT="27432" marB="27432" anchor="ctr">
                    <a:solidFill>
                      <a:srgbClr val="F2F4F7"/>
                    </a:solidFill>
                  </a:tcPr>
                </a:tc>
                <a:tc>
                  <a:txBody>
                    <a:bodyPr/>
                    <a:lstStyle/>
                    <a:p>
                      <a:pPr algn="ctr">
                        <a:defRPr sz="1050" b="0">
                          <a:solidFill>
                            <a:srgbClr val="1A1A1A"/>
                          </a:solidFill>
                          <a:latin typeface="Times New Roman"/>
                        </a:defRPr>
                      </a:pPr>
                      <a:r>
                        <a:rPr sz="1050" b="0">
                          <a:solidFill>
                            <a:srgbClr val="1A1A1A"/>
                          </a:solidFill>
                          <a:latin typeface="Times New Roman"/>
                        </a:rPr>
                        <a:t>0.6855</a:t>
                      </a:r>
                    </a:p>
                  </a:txBody>
                  <a:tcPr marL="73152" marR="73152" marT="27432" marB="27432" anchor="ctr">
                    <a:solidFill>
                      <a:srgbClr val="F2F4F7"/>
                    </a:solidFill>
                  </a:tcPr>
                </a:tc>
                <a:tc>
                  <a:txBody>
                    <a:bodyPr/>
                    <a:lstStyle/>
                    <a:p>
                      <a:pPr algn="ctr">
                        <a:defRPr sz="1050" b="0">
                          <a:solidFill>
                            <a:srgbClr val="1A1A1A"/>
                          </a:solidFill>
                          <a:latin typeface="Times New Roman"/>
                        </a:defRPr>
                      </a:pPr>
                      <a:r>
                        <a:rPr sz="1050" b="0">
                          <a:solidFill>
                            <a:srgbClr val="1A1A1A"/>
                          </a:solidFill>
                          <a:latin typeface="Times New Roman"/>
                        </a:rPr>
                        <a:t>−0.253</a:t>
                      </a:r>
                    </a:p>
                  </a:txBody>
                  <a:tcPr marL="73152" marR="73152" marT="27432" marB="27432" anchor="ctr">
                    <a:solidFill>
                      <a:srgbClr val="F2F4F7"/>
                    </a:solidFill>
                  </a:tcPr>
                </a:tc>
              </a:tr>
              <a:tr h="304800">
                <a:tc>
                  <a:txBody>
                    <a:bodyPr/>
                    <a:lstStyle/>
                    <a:p>
                      <a:pPr algn="l">
                        <a:defRPr sz="1050" b="1">
                          <a:solidFill>
                            <a:srgbClr val="1A1A1A"/>
                          </a:solidFill>
                          <a:latin typeface="Times New Roman"/>
                        </a:defRPr>
                      </a:pPr>
                      <a:r>
                        <a:rPr sz="1050" b="1">
                          <a:solidFill>
                            <a:srgbClr val="1A1A1A"/>
                          </a:solidFill>
                          <a:latin typeface="Times New Roman"/>
                        </a:rPr>
                        <a:t>Diseased cases missed</a:t>
                      </a:r>
                    </a:p>
                  </a:txBody>
                  <a:tcPr marL="73152" marR="73152" marT="27432" marB="27432" anchor="ctr">
                    <a:solidFill>
                      <a:srgbClr val="F7E2DD"/>
                    </a:solidFill>
                  </a:tcPr>
                </a:tc>
                <a:tc>
                  <a:txBody>
                    <a:bodyPr/>
                    <a:lstStyle/>
                    <a:p>
                      <a:pPr algn="ctr">
                        <a:defRPr sz="1050" b="1">
                          <a:solidFill>
                            <a:srgbClr val="1A1A1A"/>
                          </a:solidFill>
                          <a:latin typeface="Times New Roman"/>
                        </a:defRPr>
                      </a:pPr>
                      <a:r>
                        <a:rPr sz="1050" b="1">
                          <a:solidFill>
                            <a:srgbClr val="1A1A1A"/>
                          </a:solidFill>
                          <a:latin typeface="Times New Roman"/>
                        </a:rPr>
                        <a:t>10 / 162</a:t>
                      </a:r>
                    </a:p>
                  </a:txBody>
                  <a:tcPr marL="73152" marR="73152" marT="27432" marB="27432" anchor="ctr">
                    <a:solidFill>
                      <a:srgbClr val="F7E2DD"/>
                    </a:solidFill>
                  </a:tcPr>
                </a:tc>
                <a:tc>
                  <a:txBody>
                    <a:bodyPr/>
                    <a:lstStyle/>
                    <a:p>
                      <a:pPr algn="ctr">
                        <a:defRPr sz="1050" b="1">
                          <a:solidFill>
                            <a:srgbClr val="1A1A1A"/>
                          </a:solidFill>
                          <a:latin typeface="Times New Roman"/>
                        </a:defRPr>
                      </a:pPr>
                      <a:r>
                        <a:rPr sz="1050" b="1">
                          <a:solidFill>
                            <a:srgbClr val="1A1A1A"/>
                          </a:solidFill>
                          <a:latin typeface="Times New Roman"/>
                        </a:rPr>
                        <a:t>50 / 159</a:t>
                      </a:r>
                    </a:p>
                  </a:txBody>
                  <a:tcPr marL="73152" marR="73152" marT="27432" marB="27432" anchor="ctr">
                    <a:solidFill>
                      <a:srgbClr val="F7E2DD"/>
                    </a:solidFill>
                  </a:tcPr>
                </a:tc>
                <a:tc>
                  <a:txBody>
                    <a:bodyPr/>
                    <a:lstStyle/>
                    <a:p>
                      <a:pPr algn="ctr">
                        <a:defRPr sz="1050" b="1">
                          <a:solidFill>
                            <a:srgbClr val="1A1A1A"/>
                          </a:solidFill>
                          <a:latin typeface="Times New Roman"/>
                        </a:defRPr>
                      </a:pPr>
                      <a:r>
                        <a:rPr sz="1050" b="1">
                          <a:solidFill>
                            <a:srgbClr val="1A1A1A"/>
                          </a:solidFill>
                          <a:latin typeface="Times New Roman"/>
                        </a:rPr>
                        <a:t>5x worse</a:t>
                      </a:r>
                    </a:p>
                  </a:txBody>
                  <a:tcPr marL="73152" marR="73152" marT="27432" marB="27432" anchor="ctr">
                    <a:solidFill>
                      <a:srgbClr val="F7E2DD"/>
                    </a:solidFill>
                  </a:tcPr>
                </a:tc>
              </a:tr>
            </a:tbl>
          </a:graphicData>
        </a:graphic>
      </p:graphicFrame>
      <p:graphicFrame>
        <p:nvGraphicFramePr>
          <p:cNvPr id="5" name="Table 4"/>
          <p:cNvGraphicFramePr>
            <a:graphicFrameLocks noGrp="1"/>
          </p:cNvGraphicFramePr>
          <p:nvPr/>
        </p:nvGraphicFramePr>
        <p:xfrm>
          <a:off x="6537960" y="1481328"/>
          <a:ext cx="5120637" cy="1828800"/>
        </p:xfrm>
        <a:graphic>
          <a:graphicData uri="http://schemas.openxmlformats.org/drawingml/2006/table">
            <a:tbl>
              <a:tblPr firstRow="1" bandRow="1">
                <a:tableStyleId>{5C22544A-7EE6-4342-B048-85BDC9FD1C3A}</a:tableStyleId>
              </a:tblPr>
              <a:tblGrid>
                <a:gridCol w="2425566"/>
                <a:gridCol w="898357"/>
                <a:gridCol w="898357"/>
                <a:gridCol w="898357"/>
              </a:tblGrid>
              <a:tr h="304800">
                <a:tc>
                  <a:txBody>
                    <a:bodyPr/>
                    <a:lstStyle/>
                    <a:p>
                      <a:pPr algn="l">
                        <a:defRPr sz="1050" b="1">
                          <a:solidFill>
                            <a:srgbClr val="FFFFFF"/>
                          </a:solidFill>
                          <a:latin typeface="Times New Roman"/>
                        </a:defRPr>
                      </a:pPr>
                      <a:r>
                        <a:rPr sz="1050" b="1">
                          <a:solidFill>
                            <a:srgbClr val="FFFFFF"/>
                          </a:solidFill>
                          <a:latin typeface="Times New Roman"/>
                        </a:rPr>
                        <a:t>Macular edema</a:t>
                      </a:r>
                    </a:p>
                  </a:txBody>
                  <a:tcPr marL="73152" marR="73152" marT="27432" marB="27432" anchor="ctr">
                    <a:solidFill>
                      <a:srgbClr val="1F4E79"/>
                    </a:solidFill>
                  </a:tcPr>
                </a:tc>
                <a:tc>
                  <a:txBody>
                    <a:bodyPr/>
                    <a:lstStyle/>
                    <a:p>
                      <a:pPr algn="ctr">
                        <a:defRPr sz="1050" b="1">
                          <a:solidFill>
                            <a:srgbClr val="FFFFFF"/>
                          </a:solidFill>
                          <a:latin typeface="Times New Roman"/>
                        </a:defRPr>
                      </a:pPr>
                      <a:r>
                        <a:rPr sz="1050" b="1">
                          <a:solidFill>
                            <a:srgbClr val="FFFFFF"/>
                          </a:solidFill>
                          <a:latin typeface="Times New Roman"/>
                        </a:rPr>
                        <a:t>On BRSET</a:t>
                      </a:r>
                    </a:p>
                  </a:txBody>
                  <a:tcPr marL="73152" marR="73152" marT="27432" marB="27432" anchor="ctr">
                    <a:solidFill>
                      <a:srgbClr val="1F4E79"/>
                    </a:solidFill>
                  </a:tcPr>
                </a:tc>
                <a:tc>
                  <a:txBody>
                    <a:bodyPr/>
                    <a:lstStyle/>
                    <a:p>
                      <a:pPr algn="ctr">
                        <a:defRPr sz="1050" b="1">
                          <a:solidFill>
                            <a:srgbClr val="FFFFFF"/>
                          </a:solidFill>
                          <a:latin typeface="Times New Roman"/>
                        </a:defRPr>
                      </a:pPr>
                      <a:r>
                        <a:rPr sz="1050" b="1">
                          <a:solidFill>
                            <a:srgbClr val="FFFFFF"/>
                          </a:solidFill>
                          <a:latin typeface="Times New Roman"/>
                        </a:rPr>
                        <a:t>On mBRSET</a:t>
                      </a:r>
                    </a:p>
                  </a:txBody>
                  <a:tcPr marL="73152" marR="73152" marT="27432" marB="27432" anchor="ctr">
                    <a:solidFill>
                      <a:srgbClr val="1F4E79"/>
                    </a:solidFill>
                  </a:tcPr>
                </a:tc>
                <a:tc>
                  <a:txBody>
                    <a:bodyPr/>
                    <a:lstStyle/>
                    <a:p>
                      <a:pPr algn="ctr">
                        <a:defRPr sz="1050" b="1">
                          <a:solidFill>
                            <a:srgbClr val="FFFFFF"/>
                          </a:solidFill>
                          <a:latin typeface="Times New Roman"/>
                        </a:defRPr>
                      </a:pPr>
                      <a:r>
                        <a:rPr sz="1050" b="1">
                          <a:solidFill>
                            <a:srgbClr val="FFFFFF"/>
                          </a:solidFill>
                          <a:latin typeface="Times New Roman"/>
                        </a:rPr>
                        <a:t>Change</a:t>
                      </a:r>
                    </a:p>
                  </a:txBody>
                  <a:tcPr marL="73152" marR="73152" marT="27432" marB="27432" anchor="ctr">
                    <a:solidFill>
                      <a:srgbClr val="1F4E79"/>
                    </a:solidFill>
                  </a:tcPr>
                </a:tc>
              </a:tr>
              <a:tr h="304800">
                <a:tc>
                  <a:txBody>
                    <a:bodyPr/>
                    <a:lstStyle/>
                    <a:p>
                      <a:pPr algn="l">
                        <a:defRPr sz="1050" b="0">
                          <a:solidFill>
                            <a:srgbClr val="1A1A1A"/>
                          </a:solidFill>
                          <a:latin typeface="Times New Roman"/>
                        </a:defRPr>
                      </a:pPr>
                      <a:r>
                        <a:rPr sz="1050" b="0">
                          <a:solidFill>
                            <a:srgbClr val="1A1A1A"/>
                          </a:solidFill>
                          <a:latin typeface="Times New Roman"/>
                        </a:rPr>
                        <a:t>AUC  (ranking ability)</a:t>
                      </a:r>
                    </a:p>
                  </a:txBody>
                  <a:tcPr marL="73152" marR="73152" marT="27432" marB="27432" anchor="ctr">
                    <a:solidFill>
                      <a:srgbClr val="FFFFFF"/>
                    </a:solidFill>
                  </a:tcPr>
                </a:tc>
                <a:tc>
                  <a:txBody>
                    <a:bodyPr/>
                    <a:lstStyle/>
                    <a:p>
                      <a:pPr algn="ctr">
                        <a:defRPr sz="1050" b="0">
                          <a:solidFill>
                            <a:srgbClr val="1A1A1A"/>
                          </a:solidFill>
                          <a:latin typeface="Times New Roman"/>
                        </a:defRPr>
                      </a:pPr>
                      <a:r>
                        <a:rPr sz="1050" b="0">
                          <a:solidFill>
                            <a:srgbClr val="1A1A1A"/>
                          </a:solidFill>
                          <a:latin typeface="Times New Roman"/>
                        </a:rPr>
                        <a:t>0.9957</a:t>
                      </a:r>
                    </a:p>
                  </a:txBody>
                  <a:tcPr marL="73152" marR="73152" marT="27432" marB="27432" anchor="ctr">
                    <a:solidFill>
                      <a:srgbClr val="FFFFFF"/>
                    </a:solidFill>
                  </a:tcPr>
                </a:tc>
                <a:tc>
                  <a:txBody>
                    <a:bodyPr/>
                    <a:lstStyle/>
                    <a:p>
                      <a:pPr algn="ctr">
                        <a:defRPr sz="1050" b="0">
                          <a:solidFill>
                            <a:srgbClr val="1A1A1A"/>
                          </a:solidFill>
                          <a:latin typeface="Times New Roman"/>
                        </a:defRPr>
                      </a:pPr>
                      <a:r>
                        <a:rPr sz="1050" b="0">
                          <a:solidFill>
                            <a:srgbClr val="1A1A1A"/>
                          </a:solidFill>
                          <a:latin typeface="Times New Roman"/>
                        </a:rPr>
                        <a:t>0.9705</a:t>
                      </a:r>
                    </a:p>
                  </a:txBody>
                  <a:tcPr marL="73152" marR="73152" marT="27432" marB="27432" anchor="ctr">
                    <a:solidFill>
                      <a:srgbClr val="FFFFFF"/>
                    </a:solidFill>
                  </a:tcPr>
                </a:tc>
                <a:tc>
                  <a:txBody>
                    <a:bodyPr/>
                    <a:lstStyle/>
                    <a:p>
                      <a:pPr algn="ctr">
                        <a:defRPr sz="1050" b="0">
                          <a:solidFill>
                            <a:srgbClr val="1A1A1A"/>
                          </a:solidFill>
                          <a:latin typeface="Times New Roman"/>
                        </a:defRPr>
                      </a:pPr>
                      <a:r>
                        <a:rPr sz="1050" b="0">
                          <a:solidFill>
                            <a:srgbClr val="1A1A1A"/>
                          </a:solidFill>
                          <a:latin typeface="Times New Roman"/>
                        </a:rPr>
                        <a:t>−0.025</a:t>
                      </a:r>
                    </a:p>
                  </a:txBody>
                  <a:tcPr marL="73152" marR="73152" marT="27432" marB="27432" anchor="ctr">
                    <a:solidFill>
                      <a:srgbClr val="FFFFFF"/>
                    </a:solidFill>
                  </a:tcPr>
                </a:tc>
              </a:tr>
              <a:tr h="304800">
                <a:tc>
                  <a:txBody>
                    <a:bodyPr/>
                    <a:lstStyle/>
                    <a:p>
                      <a:pPr algn="l">
                        <a:defRPr sz="1050" b="0">
                          <a:solidFill>
                            <a:srgbClr val="1A1A1A"/>
                          </a:solidFill>
                          <a:latin typeface="Times New Roman"/>
                        </a:defRPr>
                      </a:pPr>
                      <a:r>
                        <a:rPr sz="1050" b="0">
                          <a:solidFill>
                            <a:srgbClr val="1A1A1A"/>
                          </a:solidFill>
                          <a:latin typeface="Times New Roman"/>
                        </a:rPr>
                        <a:t>F1, class-macro  (headline)</a:t>
                      </a:r>
                    </a:p>
                  </a:txBody>
                  <a:tcPr marL="73152" marR="73152" marT="27432" marB="27432" anchor="ctr">
                    <a:solidFill>
                      <a:srgbClr val="F2F4F7"/>
                    </a:solidFill>
                  </a:tcPr>
                </a:tc>
                <a:tc>
                  <a:txBody>
                    <a:bodyPr/>
                    <a:lstStyle/>
                    <a:p>
                      <a:pPr algn="ctr">
                        <a:defRPr sz="1050" b="0">
                          <a:solidFill>
                            <a:srgbClr val="1A1A1A"/>
                          </a:solidFill>
                          <a:latin typeface="Times New Roman"/>
                        </a:defRPr>
                      </a:pPr>
                      <a:r>
                        <a:rPr sz="1050" b="0">
                          <a:solidFill>
                            <a:srgbClr val="1A1A1A"/>
                          </a:solidFill>
                          <a:latin typeface="Times New Roman"/>
                        </a:rPr>
                        <a:t>0.8852</a:t>
                      </a:r>
                    </a:p>
                  </a:txBody>
                  <a:tcPr marL="73152" marR="73152" marT="27432" marB="27432" anchor="ctr">
                    <a:solidFill>
                      <a:srgbClr val="F2F4F7"/>
                    </a:solidFill>
                  </a:tcPr>
                </a:tc>
                <a:tc>
                  <a:txBody>
                    <a:bodyPr/>
                    <a:lstStyle/>
                    <a:p>
                      <a:pPr algn="ctr">
                        <a:defRPr sz="1050" b="0">
                          <a:solidFill>
                            <a:srgbClr val="1A1A1A"/>
                          </a:solidFill>
                          <a:latin typeface="Times New Roman"/>
                        </a:defRPr>
                      </a:pPr>
                      <a:r>
                        <a:rPr sz="1050" b="0">
                          <a:solidFill>
                            <a:srgbClr val="1A1A1A"/>
                          </a:solidFill>
                          <a:latin typeface="Times New Roman"/>
                        </a:rPr>
                        <a:t>0.8392</a:t>
                      </a:r>
                    </a:p>
                  </a:txBody>
                  <a:tcPr marL="73152" marR="73152" marT="27432" marB="27432" anchor="ctr">
                    <a:solidFill>
                      <a:srgbClr val="F2F4F7"/>
                    </a:solidFill>
                  </a:tcPr>
                </a:tc>
                <a:tc>
                  <a:txBody>
                    <a:bodyPr/>
                    <a:lstStyle/>
                    <a:p>
                      <a:pPr algn="ctr">
                        <a:defRPr sz="1050" b="0">
                          <a:solidFill>
                            <a:srgbClr val="1A1A1A"/>
                          </a:solidFill>
                          <a:latin typeface="Times New Roman"/>
                        </a:defRPr>
                      </a:pPr>
                      <a:r>
                        <a:rPr sz="1050" b="0">
                          <a:solidFill>
                            <a:srgbClr val="1A1A1A"/>
                          </a:solidFill>
                          <a:latin typeface="Times New Roman"/>
                        </a:rPr>
                        <a:t>−0.046</a:t>
                      </a:r>
                    </a:p>
                  </a:txBody>
                  <a:tcPr marL="73152" marR="73152" marT="27432" marB="27432" anchor="ctr">
                    <a:solidFill>
                      <a:srgbClr val="F2F4F7"/>
                    </a:solidFill>
                  </a:tcPr>
                </a:tc>
              </a:tr>
              <a:tr h="304800">
                <a:tc>
                  <a:txBody>
                    <a:bodyPr/>
                    <a:lstStyle/>
                    <a:p>
                      <a:pPr algn="l">
                        <a:defRPr sz="1050" b="0">
                          <a:solidFill>
                            <a:srgbClr val="1A1A1A"/>
                          </a:solidFill>
                          <a:latin typeface="Times New Roman"/>
                        </a:defRPr>
                      </a:pPr>
                      <a:r>
                        <a:rPr sz="1050" b="0">
                          <a:solidFill>
                            <a:srgbClr val="1A1A1A"/>
                          </a:solidFill>
                          <a:latin typeface="Times New Roman"/>
                        </a:rPr>
                        <a:t>F1, diseased class only</a:t>
                      </a:r>
                    </a:p>
                  </a:txBody>
                  <a:tcPr marL="73152" marR="73152" marT="27432" marB="27432" anchor="ctr">
                    <a:solidFill>
                      <a:srgbClr val="FFFFFF"/>
                    </a:solidFill>
                  </a:tcPr>
                </a:tc>
                <a:tc>
                  <a:txBody>
                    <a:bodyPr/>
                    <a:lstStyle/>
                    <a:p>
                      <a:pPr algn="ctr">
                        <a:defRPr sz="1050" b="0">
                          <a:solidFill>
                            <a:srgbClr val="1A1A1A"/>
                          </a:solidFill>
                          <a:latin typeface="Times New Roman"/>
                        </a:defRPr>
                      </a:pPr>
                      <a:r>
                        <a:rPr sz="1050" b="0">
                          <a:solidFill>
                            <a:srgbClr val="1A1A1A"/>
                          </a:solidFill>
                          <a:latin typeface="Times New Roman"/>
                        </a:rPr>
                        <a:t>0.7759</a:t>
                      </a:r>
                    </a:p>
                  </a:txBody>
                  <a:tcPr marL="73152" marR="73152" marT="27432" marB="27432" anchor="ctr">
                    <a:solidFill>
                      <a:srgbClr val="FFFFFF"/>
                    </a:solidFill>
                  </a:tcPr>
                </a:tc>
                <a:tc>
                  <a:txBody>
                    <a:bodyPr/>
                    <a:lstStyle/>
                    <a:p>
                      <a:pPr algn="ctr">
                        <a:defRPr sz="1050" b="0">
                          <a:solidFill>
                            <a:srgbClr val="1A1A1A"/>
                          </a:solidFill>
                          <a:latin typeface="Times New Roman"/>
                        </a:defRPr>
                      </a:pPr>
                      <a:r>
                        <a:rPr sz="1050" b="0">
                          <a:solidFill>
                            <a:srgbClr val="1A1A1A"/>
                          </a:solidFill>
                          <a:latin typeface="Times New Roman"/>
                        </a:rPr>
                        <a:t>0.7027</a:t>
                      </a:r>
                    </a:p>
                  </a:txBody>
                  <a:tcPr marL="73152" marR="73152" marT="27432" marB="27432" anchor="ctr">
                    <a:solidFill>
                      <a:srgbClr val="FFFFFF"/>
                    </a:solidFill>
                  </a:tcPr>
                </a:tc>
                <a:tc>
                  <a:txBody>
                    <a:bodyPr/>
                    <a:lstStyle/>
                    <a:p>
                      <a:pPr algn="ctr">
                        <a:defRPr sz="1050" b="0">
                          <a:solidFill>
                            <a:srgbClr val="1A1A1A"/>
                          </a:solidFill>
                          <a:latin typeface="Times New Roman"/>
                        </a:defRPr>
                      </a:pPr>
                      <a:r>
                        <a:rPr sz="1050" b="0">
                          <a:solidFill>
                            <a:srgbClr val="1A1A1A"/>
                          </a:solidFill>
                          <a:latin typeface="Times New Roman"/>
                        </a:rPr>
                        <a:t>−0.073</a:t>
                      </a:r>
                    </a:p>
                  </a:txBody>
                  <a:tcPr marL="73152" marR="73152" marT="27432" marB="27432" anchor="ctr">
                    <a:solidFill>
                      <a:srgbClr val="FFFFFF"/>
                    </a:solidFill>
                  </a:tcPr>
                </a:tc>
              </a:tr>
              <a:tr h="304800">
                <a:tc>
                  <a:txBody>
                    <a:bodyPr/>
                    <a:lstStyle/>
                    <a:p>
                      <a:pPr algn="l">
                        <a:defRPr sz="1050" b="0">
                          <a:solidFill>
                            <a:srgbClr val="1A1A1A"/>
                          </a:solidFill>
                          <a:latin typeface="Times New Roman"/>
                        </a:defRPr>
                      </a:pPr>
                      <a:r>
                        <a:rPr sz="1050" b="0">
                          <a:solidFill>
                            <a:srgbClr val="1A1A1A"/>
                          </a:solidFill>
                          <a:latin typeface="Times New Roman"/>
                        </a:rPr>
                        <a:t>Recall, diseased class</a:t>
                      </a:r>
                    </a:p>
                  </a:txBody>
                  <a:tcPr marL="73152" marR="73152" marT="27432" marB="27432" anchor="ctr">
                    <a:solidFill>
                      <a:srgbClr val="F2F4F7"/>
                    </a:solidFill>
                  </a:tcPr>
                </a:tc>
                <a:tc>
                  <a:txBody>
                    <a:bodyPr/>
                    <a:lstStyle/>
                    <a:p>
                      <a:pPr algn="ctr">
                        <a:defRPr sz="1050" b="0">
                          <a:solidFill>
                            <a:srgbClr val="1A1A1A"/>
                          </a:solidFill>
                          <a:latin typeface="Times New Roman"/>
                        </a:defRPr>
                      </a:pPr>
                      <a:r>
                        <a:rPr sz="1050" b="0">
                          <a:solidFill>
                            <a:srgbClr val="1A1A1A"/>
                          </a:solidFill>
                          <a:latin typeface="Times New Roman"/>
                        </a:rPr>
                        <a:t>0.7377</a:t>
                      </a:r>
                    </a:p>
                  </a:txBody>
                  <a:tcPr marL="73152" marR="73152" marT="27432" marB="27432" anchor="ctr">
                    <a:solidFill>
                      <a:srgbClr val="F2F4F7"/>
                    </a:solidFill>
                  </a:tcPr>
                </a:tc>
                <a:tc>
                  <a:txBody>
                    <a:bodyPr/>
                    <a:lstStyle/>
                    <a:p>
                      <a:pPr algn="ctr">
                        <a:defRPr sz="1050" b="0">
                          <a:solidFill>
                            <a:srgbClr val="1A1A1A"/>
                          </a:solidFill>
                          <a:latin typeface="Times New Roman"/>
                        </a:defRPr>
                      </a:pPr>
                      <a:r>
                        <a:rPr sz="1050" b="0">
                          <a:solidFill>
                            <a:srgbClr val="1A1A1A"/>
                          </a:solidFill>
                          <a:latin typeface="Times New Roman"/>
                        </a:rPr>
                        <a:t>0.6190</a:t>
                      </a:r>
                    </a:p>
                  </a:txBody>
                  <a:tcPr marL="73152" marR="73152" marT="27432" marB="27432" anchor="ctr">
                    <a:solidFill>
                      <a:srgbClr val="F2F4F7"/>
                    </a:solidFill>
                  </a:tcPr>
                </a:tc>
                <a:tc>
                  <a:txBody>
                    <a:bodyPr/>
                    <a:lstStyle/>
                    <a:p>
                      <a:pPr algn="ctr">
                        <a:defRPr sz="1050" b="0">
                          <a:solidFill>
                            <a:srgbClr val="1A1A1A"/>
                          </a:solidFill>
                          <a:latin typeface="Times New Roman"/>
                        </a:defRPr>
                      </a:pPr>
                      <a:r>
                        <a:rPr sz="1050" b="0">
                          <a:solidFill>
                            <a:srgbClr val="1A1A1A"/>
                          </a:solidFill>
                          <a:latin typeface="Times New Roman"/>
                        </a:rPr>
                        <a:t>−0.119</a:t>
                      </a:r>
                    </a:p>
                  </a:txBody>
                  <a:tcPr marL="73152" marR="73152" marT="27432" marB="27432" anchor="ctr">
                    <a:solidFill>
                      <a:srgbClr val="F2F4F7"/>
                    </a:solidFill>
                  </a:tcPr>
                </a:tc>
              </a:tr>
              <a:tr h="304800">
                <a:tc>
                  <a:txBody>
                    <a:bodyPr/>
                    <a:lstStyle/>
                    <a:p>
                      <a:pPr algn="l">
                        <a:defRPr sz="1050" b="0">
                          <a:solidFill>
                            <a:srgbClr val="1A1A1A"/>
                          </a:solidFill>
                          <a:latin typeface="Times New Roman"/>
                        </a:defRPr>
                      </a:pPr>
                      <a:r>
                        <a:rPr sz="1050" b="0">
                          <a:solidFill>
                            <a:srgbClr val="1A1A1A"/>
                          </a:solidFill>
                          <a:latin typeface="Times New Roman"/>
                        </a:rPr>
                        <a:t>Diseased cases missed</a:t>
                      </a:r>
                    </a:p>
                  </a:txBody>
                  <a:tcPr marL="73152" marR="73152" marT="27432" marB="27432" anchor="ctr">
                    <a:solidFill>
                      <a:srgbClr val="FFFFFF"/>
                    </a:solidFill>
                  </a:tcPr>
                </a:tc>
                <a:tc>
                  <a:txBody>
                    <a:bodyPr/>
                    <a:lstStyle/>
                    <a:p>
                      <a:pPr algn="ctr">
                        <a:defRPr sz="1050" b="0">
                          <a:solidFill>
                            <a:srgbClr val="1A1A1A"/>
                          </a:solidFill>
                          <a:latin typeface="Times New Roman"/>
                        </a:defRPr>
                      </a:pPr>
                      <a:r>
                        <a:rPr sz="1050" b="0">
                          <a:solidFill>
                            <a:srgbClr val="1A1A1A"/>
                          </a:solidFill>
                          <a:latin typeface="Times New Roman"/>
                        </a:rPr>
                        <a:t>16 / 61</a:t>
                      </a:r>
                    </a:p>
                  </a:txBody>
                  <a:tcPr marL="73152" marR="73152" marT="27432" marB="27432" anchor="ctr">
                    <a:solidFill>
                      <a:srgbClr val="FFFFFF"/>
                    </a:solidFill>
                  </a:tcPr>
                </a:tc>
                <a:tc>
                  <a:txBody>
                    <a:bodyPr/>
                    <a:lstStyle/>
                    <a:p>
                      <a:pPr algn="ctr">
                        <a:defRPr sz="1050" b="0">
                          <a:solidFill>
                            <a:srgbClr val="1A1A1A"/>
                          </a:solidFill>
                          <a:latin typeface="Times New Roman"/>
                        </a:defRPr>
                      </a:pPr>
                      <a:r>
                        <a:rPr sz="1050" b="0">
                          <a:solidFill>
                            <a:srgbClr val="1A1A1A"/>
                          </a:solidFill>
                          <a:latin typeface="Times New Roman"/>
                        </a:rPr>
                        <a:t>24 / 63</a:t>
                      </a:r>
                    </a:p>
                  </a:txBody>
                  <a:tcPr marL="73152" marR="73152" marT="27432" marB="27432" anchor="ctr">
                    <a:solidFill>
                      <a:srgbClr val="FFFFFF"/>
                    </a:solidFill>
                  </a:tcPr>
                </a:tc>
                <a:tc>
                  <a:txBody>
                    <a:bodyPr/>
                    <a:lstStyle/>
                    <a:p>
                      <a:pPr algn="ctr">
                        <a:defRPr sz="1050" b="0">
                          <a:solidFill>
                            <a:srgbClr val="1A1A1A"/>
                          </a:solidFill>
                          <a:latin typeface="Times New Roman"/>
                        </a:defRPr>
                      </a:pPr>
                      <a:r>
                        <a:rPr sz="1050" b="0">
                          <a:solidFill>
                            <a:srgbClr val="1A1A1A"/>
                          </a:solidFill>
                          <a:latin typeface="Times New Roman"/>
                        </a:rPr>
                        <a:t>1.5x worse</a:t>
                      </a:r>
                    </a:p>
                  </a:txBody>
                  <a:tcPr marL="73152" marR="73152" marT="27432" marB="27432" anchor="ctr">
                    <a:solidFill>
                      <a:srgbClr val="FFFFFF"/>
                    </a:solidFill>
                  </a:tcPr>
                </a:tc>
              </a:tr>
            </a:tbl>
          </a:graphicData>
        </a:graphic>
      </p:graphicFrame>
      <p:sp>
        <p:nvSpPr>
          <p:cNvPr id="6" name="TextBox 5"/>
          <p:cNvSpPr txBox="1"/>
          <p:nvPr/>
        </p:nvSpPr>
        <p:spPr>
          <a:xfrm>
            <a:off x="594360" y="3474720"/>
            <a:ext cx="11064240" cy="310896"/>
          </a:xfrm>
          <a:prstGeom prst="rect">
            <a:avLst/>
          </a:prstGeom>
          <a:noFill/>
        </p:spPr>
        <p:txBody>
          <a:bodyPr wrap="square">
            <a:spAutoFit/>
          </a:bodyPr>
          <a:lstStyle/>
          <a:p>
            <a:pPr algn="l">
              <a:defRPr sz="1250" b="1">
                <a:solidFill>
                  <a:srgbClr val="1F4E79"/>
                </a:solidFill>
                <a:latin typeface="Times New Roman"/>
              </a:defRPr>
            </a:pPr>
            <a:r>
              <a:rPr sz="1250" b="1">
                <a:solidFill>
                  <a:srgbClr val="1F4E79"/>
                </a:solidFill>
                <a:latin typeface="Times New Roman"/>
              </a:rPr>
              <a:t>How to read this</a:t>
            </a:r>
          </a:p>
        </p:txBody>
      </p:sp>
      <p:sp>
        <p:nvSpPr>
          <p:cNvPr id="7" name="TextBox 6"/>
          <p:cNvSpPr txBox="1"/>
          <p:nvPr/>
        </p:nvSpPr>
        <p:spPr>
          <a:xfrm>
            <a:off x="594360" y="3785615"/>
            <a:ext cx="11064240" cy="2020824"/>
          </a:xfrm>
          <a:prstGeom prst="rect">
            <a:avLst/>
          </a:prstGeom>
          <a:noFill/>
        </p:spPr>
        <p:txBody>
          <a:bodyPr wrap="square">
            <a:spAutoFit/>
          </a:bodyPr>
          <a:lstStyle/>
          <a:p>
            <a:pPr>
              <a:spcAft>
                <a:spcPts val="800"/>
              </a:spcAft>
              <a:defRPr sz="1200" b="0">
                <a:solidFill>
                  <a:srgbClr val="1A1A1A"/>
                </a:solidFill>
                <a:latin typeface="Times New Roman"/>
              </a:defRPr>
            </a:pPr>
            <a:r>
              <a:rPr sz="1200" b="0">
                <a:solidFill>
                  <a:srgbClr val="1A1A1A"/>
                </a:solidFill>
                <a:latin typeface="Times New Roman"/>
              </a:rPr>
              <a:t>Ranking barely suffers. AUC falls only 0.085 on DR, so the model can still tell a diseased eye from a healthy one on handheld images.</a:t>
            </a:r>
          </a:p>
          <a:p>
            <a:pPr>
              <a:spcAft>
                <a:spcPts val="800"/>
              </a:spcAft>
              <a:defRPr sz="1200" b="0">
                <a:solidFill>
                  <a:srgbClr val="1A1A1A"/>
                </a:solidFill>
                <a:latin typeface="Times New Roman"/>
              </a:defRPr>
            </a:pPr>
            <a:r>
              <a:rPr sz="1200" b="0">
                <a:solidFill>
                  <a:srgbClr val="1A1A1A"/>
                </a:solidFill>
                <a:latin typeface="Times New Roman"/>
              </a:rPr>
              <a:t>The decision collapses. Recall falls from 0.938 to 0.686, so 50 of 159 diseased patients are missed instead of 10 of 162.</a:t>
            </a:r>
          </a:p>
          <a:p>
            <a:pPr>
              <a:spcAft>
                <a:spcPts val="800"/>
              </a:spcAft>
              <a:defRPr sz="1200" b="0">
                <a:solidFill>
                  <a:srgbClr val="1A1A1A"/>
                </a:solidFill>
                <a:latin typeface="Times New Roman"/>
              </a:defRPr>
            </a:pPr>
            <a:r>
              <a:rPr sz="1200" b="0">
                <a:solidFill>
                  <a:srgbClr val="1A1A1A"/>
                </a:solidFill>
                <a:latin typeface="Times New Roman"/>
              </a:rPr>
              <a:t>The three F1 rows are the same result measured three ways. Class-macro averages the diseased and healthy classes and is the number quoted in the Part-1 deck. Diseased-only is stricter. Both are shown so nothing is hidden.</a:t>
            </a:r>
          </a:p>
        </p:txBody>
      </p:sp>
      <p:sp>
        <p:nvSpPr>
          <p:cNvPr id="8" name="TextBox 7"/>
          <p:cNvSpPr txBox="1"/>
          <p:nvPr/>
        </p:nvSpPr>
        <p:spPr>
          <a:xfrm>
            <a:off x="594360" y="5897880"/>
            <a:ext cx="11064240" cy="640080"/>
          </a:xfrm>
          <a:prstGeom prst="rect">
            <a:avLst/>
          </a:prstGeom>
          <a:noFill/>
        </p:spPr>
        <p:txBody>
          <a:bodyPr wrap="square">
            <a:spAutoFit/>
          </a:bodyPr>
          <a:lstStyle/>
          <a:p>
            <a:pPr>
              <a:defRPr sz="1350" b="1">
                <a:solidFill>
                  <a:srgbClr val="9B3525"/>
                </a:solidFill>
                <a:latin typeface="Times New Roman"/>
              </a:defRPr>
            </a:pPr>
            <a:r>
              <a:rPr sz="1350" b="1">
                <a:solidFill>
                  <a:srgbClr val="9B3525"/>
                </a:solidFill>
                <a:latin typeface="Times New Roman"/>
              </a:rPr>
              <a:t>This right-hand column is the number to beat. Everything from here is about raising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155680" cy="822960"/>
          </a:xfrm>
          <a:prstGeom prst="rect">
            <a:avLst/>
          </a:prstGeom>
          <a:noFill/>
        </p:spPr>
        <p:txBody>
          <a:bodyPr wrap="square">
            <a:spAutoFit/>
          </a:bodyPr>
          <a:lstStyle/>
          <a:p>
            <a:pPr>
              <a:defRPr sz="2600" b="1">
                <a:solidFill>
                  <a:srgbClr val="1F4E79"/>
                </a:solidFill>
                <a:latin typeface="Times New Roman"/>
              </a:defRPr>
            </a:pPr>
            <a:r>
              <a:rPr sz="2600" b="1">
                <a:solidFill>
                  <a:srgbClr val="1F4E79"/>
                </a:solidFill>
                <a:latin typeface="Times New Roman"/>
              </a:rPr>
              <a:t>What the gap is made of, and what it is not</a:t>
            </a:r>
          </a:p>
          <a:p>
            <a:pPr>
              <a:defRPr sz="1250" b="0">
                <a:solidFill>
                  <a:srgbClr val="5F5F5F"/>
                </a:solidFill>
                <a:latin typeface="Times New Roman"/>
              </a:defRPr>
            </a:pPr>
            <a:r>
              <a:rPr sz="1250" b="0">
                <a:solidFill>
                  <a:srgbClr val="5F5F5F"/>
                </a:solidFill>
                <a:latin typeface="Times New Roman"/>
              </a:rPr>
              <a:t>Diabetic retinopathy, diseased-class F1 on mBRSET. Every value measured, none assumed.</a:t>
            </a:r>
          </a:p>
        </p:txBody>
      </p:sp>
      <p:sp>
        <p:nvSpPr>
          <p:cNvPr id="3" name="Rectangle 2"/>
          <p:cNvSpPr/>
          <p:nvPr/>
        </p:nvSpPr>
        <p:spPr>
          <a:xfrm>
            <a:off x="566928" y="1152144"/>
            <a:ext cx="11064240" cy="16459"/>
          </a:xfrm>
          <a:prstGeom prst="rect">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8720" y="2697480"/>
            <a:ext cx="1734472" cy="566928"/>
          </a:xfrm>
          <a:prstGeom prst="rect">
            <a:avLst/>
          </a:prstGeom>
          <a:solidFill>
            <a:srgbClr val="A8C0D8"/>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A1A1A"/>
                </a:solidFill>
                <a:latin typeface="Times New Roman"/>
              </a:defRPr>
            </a:pPr>
            <a:r>
              <a:rPr sz="1500" b="1">
                <a:solidFill>
                  <a:srgbClr val="1A1A1A"/>
                </a:solidFill>
                <a:latin typeface="Times New Roman"/>
              </a:rPr>
              <a:t>+0.009</a:t>
            </a:r>
          </a:p>
        </p:txBody>
      </p:sp>
      <p:sp>
        <p:nvSpPr>
          <p:cNvPr id="5" name="TextBox 4"/>
          <p:cNvSpPr txBox="1"/>
          <p:nvPr/>
        </p:nvSpPr>
        <p:spPr>
          <a:xfrm>
            <a:off x="1188720" y="3374136"/>
            <a:ext cx="1734472" cy="566928"/>
          </a:xfrm>
          <a:prstGeom prst="rect">
            <a:avLst/>
          </a:prstGeom>
          <a:noFill/>
        </p:spPr>
        <p:txBody>
          <a:bodyPr wrap="square">
            <a:spAutoFit/>
          </a:bodyPr>
          <a:lstStyle/>
          <a:p>
            <a:pPr algn="ctr">
              <a:defRPr sz="1100" b="0">
                <a:solidFill>
                  <a:srgbClr val="1A1A1A"/>
                </a:solidFill>
                <a:latin typeface="Times New Roman"/>
              </a:defRPr>
            </a:pPr>
            <a:r>
              <a:rPr sz="1100" b="0">
                <a:solidFill>
                  <a:srgbClr val="1A1A1A"/>
                </a:solidFill>
                <a:latin typeface="Times New Roman"/>
              </a:rPr>
              <a:t>all that a better</a:t>
            </a:r>
            <a:br/>
            <a:r>
              <a:rPr sz="1100" b="0">
                <a:solidFill>
                  <a:srgbClr val="1A1A1A"/>
                </a:solidFill>
                <a:latin typeface="Times New Roman"/>
              </a:rPr>
              <a:t>cutoff can give</a:t>
            </a:r>
          </a:p>
        </p:txBody>
      </p:sp>
      <p:sp>
        <p:nvSpPr>
          <p:cNvPr id="6" name="Rectangle 5"/>
          <p:cNvSpPr/>
          <p:nvPr/>
        </p:nvSpPr>
        <p:spPr>
          <a:xfrm>
            <a:off x="2923192" y="2697480"/>
            <a:ext cx="7958167" cy="566928"/>
          </a:xfrm>
          <a:prstGeom prst="rect">
            <a:avLst/>
          </a:prstGeom>
          <a:solidFill>
            <a:srgbClr val="9B4535"/>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Times New Roman"/>
              </a:defRPr>
            </a:pPr>
            <a:r>
              <a:rPr sz="1500" b="1">
                <a:solidFill>
                  <a:srgbClr val="FFFFFF"/>
                </a:solidFill>
                <a:latin typeface="Times New Roman"/>
              </a:rPr>
              <a:t>+0.039</a:t>
            </a:r>
          </a:p>
        </p:txBody>
      </p:sp>
      <p:sp>
        <p:nvSpPr>
          <p:cNvPr id="7" name="TextBox 6"/>
          <p:cNvSpPr txBox="1"/>
          <p:nvPr/>
        </p:nvSpPr>
        <p:spPr>
          <a:xfrm>
            <a:off x="2923192" y="3374136"/>
            <a:ext cx="7958167" cy="566928"/>
          </a:xfrm>
          <a:prstGeom prst="rect">
            <a:avLst/>
          </a:prstGeom>
          <a:noFill/>
        </p:spPr>
        <p:txBody>
          <a:bodyPr wrap="square">
            <a:spAutoFit/>
          </a:bodyPr>
          <a:lstStyle/>
          <a:p>
            <a:pPr algn="ctr">
              <a:defRPr sz="1100" b="0">
                <a:solidFill>
                  <a:srgbClr val="1A1A1A"/>
                </a:solidFill>
                <a:latin typeface="Times New Roman"/>
              </a:defRPr>
            </a:pPr>
            <a:r>
              <a:rPr sz="1100" b="0">
                <a:solidFill>
                  <a:srgbClr val="1A1A1A"/>
                </a:solidFill>
                <a:latin typeface="Times New Roman"/>
              </a:rPr>
              <a:t>needs a better model.</a:t>
            </a:r>
            <a:br/>
            <a:r>
              <a:rPr sz="1100" b="0">
                <a:solidFill>
                  <a:srgbClr val="1A1A1A"/>
                </a:solidFill>
                <a:latin typeface="Times New Roman"/>
              </a:rPr>
              <a:t>No cutoff reaches it</a:t>
            </a:r>
          </a:p>
        </p:txBody>
      </p:sp>
      <p:sp>
        <p:nvSpPr>
          <p:cNvPr id="8" name="TextBox 7"/>
          <p:cNvSpPr txBox="1"/>
          <p:nvPr/>
        </p:nvSpPr>
        <p:spPr>
          <a:xfrm>
            <a:off x="365760" y="1554480"/>
            <a:ext cx="1645920" cy="548640"/>
          </a:xfrm>
          <a:prstGeom prst="rect">
            <a:avLst/>
          </a:prstGeom>
          <a:noFill/>
        </p:spPr>
        <p:txBody>
          <a:bodyPr wrap="square">
            <a:spAutoFit/>
          </a:bodyPr>
          <a:lstStyle/>
          <a:p>
            <a:pPr algn="ctr">
              <a:defRPr sz="1150" b="1">
                <a:solidFill>
                  <a:srgbClr val="1F4E79"/>
                </a:solidFill>
                <a:latin typeface="Times New Roman"/>
              </a:defRPr>
            </a:pPr>
            <a:r>
              <a:rPr sz="1150" b="1">
                <a:solidFill>
                  <a:srgbClr val="1F4E79"/>
                </a:solidFill>
                <a:latin typeface="Times New Roman"/>
              </a:rPr>
              <a:t>0.7842</a:t>
            </a:r>
            <a:br/>
            <a:r>
              <a:rPr sz="1150" b="1">
                <a:solidFill>
                  <a:srgbClr val="1F4E79"/>
                </a:solidFill>
                <a:latin typeface="Times New Roman"/>
              </a:rPr>
              <a:t>transferred</a:t>
            </a:r>
          </a:p>
        </p:txBody>
      </p:sp>
      <p:sp>
        <p:nvSpPr>
          <p:cNvPr id="9" name="Rectangle 8"/>
          <p:cNvSpPr/>
          <p:nvPr/>
        </p:nvSpPr>
        <p:spPr>
          <a:xfrm>
            <a:off x="1183233" y="2121408"/>
            <a:ext cx="10972" cy="576072"/>
          </a:xfrm>
          <a:prstGeom prst="rect">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1A"/>
                </a:solidFill>
                <a:latin typeface="Times New Roman"/>
              </a:defRPr>
            </a:pPr>
          </a:p>
        </p:txBody>
      </p:sp>
      <p:sp>
        <p:nvSpPr>
          <p:cNvPr id="10" name="TextBox 9"/>
          <p:cNvSpPr txBox="1"/>
          <p:nvPr/>
        </p:nvSpPr>
        <p:spPr>
          <a:xfrm>
            <a:off x="2100232" y="1554480"/>
            <a:ext cx="1645920" cy="548640"/>
          </a:xfrm>
          <a:prstGeom prst="rect">
            <a:avLst/>
          </a:prstGeom>
          <a:noFill/>
        </p:spPr>
        <p:txBody>
          <a:bodyPr wrap="square">
            <a:spAutoFit/>
          </a:bodyPr>
          <a:lstStyle/>
          <a:p>
            <a:pPr algn="ctr">
              <a:defRPr sz="1150" b="1">
                <a:solidFill>
                  <a:srgbClr val="1F4E79"/>
                </a:solidFill>
                <a:latin typeface="Times New Roman"/>
              </a:defRPr>
            </a:pPr>
            <a:r>
              <a:rPr sz="1150" b="1">
                <a:solidFill>
                  <a:srgbClr val="1F4E79"/>
                </a:solidFill>
                <a:latin typeface="Times New Roman"/>
              </a:rPr>
              <a:t>0.7927</a:t>
            </a:r>
            <a:br/>
            <a:r>
              <a:rPr sz="1150" b="1">
                <a:solidFill>
                  <a:srgbClr val="1F4E79"/>
                </a:solidFill>
                <a:latin typeface="Times New Roman"/>
              </a:rPr>
              <a:t>best cutoff</a:t>
            </a:r>
          </a:p>
        </p:txBody>
      </p:sp>
      <p:sp>
        <p:nvSpPr>
          <p:cNvPr id="11" name="Rectangle 10"/>
          <p:cNvSpPr/>
          <p:nvPr/>
        </p:nvSpPr>
        <p:spPr>
          <a:xfrm>
            <a:off x="2917706" y="2121408"/>
            <a:ext cx="10972" cy="576072"/>
          </a:xfrm>
          <a:prstGeom prst="rect">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1A"/>
                </a:solidFill>
                <a:latin typeface="Times New Roman"/>
              </a:defRPr>
            </a:pPr>
          </a:p>
        </p:txBody>
      </p:sp>
      <p:sp>
        <p:nvSpPr>
          <p:cNvPr id="12" name="TextBox 11"/>
          <p:cNvSpPr txBox="1"/>
          <p:nvPr/>
        </p:nvSpPr>
        <p:spPr>
          <a:xfrm>
            <a:off x="10058400" y="1554480"/>
            <a:ext cx="1645920" cy="548640"/>
          </a:xfrm>
          <a:prstGeom prst="rect">
            <a:avLst/>
          </a:prstGeom>
          <a:noFill/>
        </p:spPr>
        <p:txBody>
          <a:bodyPr wrap="square">
            <a:spAutoFit/>
          </a:bodyPr>
          <a:lstStyle/>
          <a:p>
            <a:pPr algn="ctr">
              <a:defRPr sz="1150" b="1">
                <a:solidFill>
                  <a:srgbClr val="1F4E79"/>
                </a:solidFill>
                <a:latin typeface="Times New Roman"/>
              </a:defRPr>
            </a:pPr>
            <a:r>
              <a:rPr sz="1150" b="1">
                <a:solidFill>
                  <a:srgbClr val="1F4E79"/>
                </a:solidFill>
                <a:latin typeface="Times New Roman"/>
              </a:rPr>
              <a:t>0.8317</a:t>
            </a:r>
            <a:br/>
            <a:r>
              <a:rPr sz="1150" b="1">
                <a:solidFill>
                  <a:srgbClr val="1F4E79"/>
                </a:solidFill>
                <a:latin typeface="Times New Roman"/>
              </a:rPr>
              <a:t>with labels</a:t>
            </a:r>
          </a:p>
        </p:txBody>
      </p:sp>
      <p:sp>
        <p:nvSpPr>
          <p:cNvPr id="13" name="Rectangle 12"/>
          <p:cNvSpPr/>
          <p:nvPr/>
        </p:nvSpPr>
        <p:spPr>
          <a:xfrm>
            <a:off x="10875873" y="2121408"/>
            <a:ext cx="10972" cy="576072"/>
          </a:xfrm>
          <a:prstGeom prst="rect">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800" b="0">
                <a:solidFill>
                  <a:srgbClr val="1A1A1A"/>
                </a:solidFill>
                <a:latin typeface="Times New Roman"/>
              </a:defRPr>
            </a:pPr>
          </a:p>
        </p:txBody>
      </p:sp>
      <p:sp>
        <p:nvSpPr>
          <p:cNvPr id="14" name="TextBox 13"/>
          <p:cNvSpPr txBox="1"/>
          <p:nvPr/>
        </p:nvSpPr>
        <p:spPr>
          <a:xfrm>
            <a:off x="594360" y="3931920"/>
            <a:ext cx="11064240" cy="310896"/>
          </a:xfrm>
          <a:prstGeom prst="rect">
            <a:avLst/>
          </a:prstGeom>
          <a:noFill/>
        </p:spPr>
        <p:txBody>
          <a:bodyPr wrap="square">
            <a:spAutoFit/>
          </a:bodyPr>
          <a:lstStyle/>
          <a:p>
            <a:pPr algn="l">
              <a:defRPr sz="1300" b="1">
                <a:solidFill>
                  <a:srgbClr val="1F4E79"/>
                </a:solidFill>
                <a:latin typeface="Times New Roman"/>
              </a:defRPr>
            </a:pPr>
            <a:r>
              <a:rPr sz="1300" b="1">
                <a:solidFill>
                  <a:srgbClr val="1F4E79"/>
                </a:solidFill>
                <a:latin typeface="Times New Roman"/>
              </a:rPr>
              <a:t>Only 18 percent of the remaining gap is the cutoff. 82 percent needs a better model.</a:t>
            </a:r>
          </a:p>
        </p:txBody>
      </p:sp>
      <p:sp>
        <p:nvSpPr>
          <p:cNvPr id="15" name="TextBox 14"/>
          <p:cNvSpPr txBox="1"/>
          <p:nvPr/>
        </p:nvSpPr>
        <p:spPr>
          <a:xfrm>
            <a:off x="594360" y="4261104"/>
            <a:ext cx="11064240" cy="1636776"/>
          </a:xfrm>
          <a:prstGeom prst="rect">
            <a:avLst/>
          </a:prstGeom>
          <a:noFill/>
        </p:spPr>
        <p:txBody>
          <a:bodyPr wrap="square">
            <a:spAutoFit/>
          </a:bodyPr>
          <a:lstStyle/>
          <a:p>
            <a:pPr>
              <a:spcAft>
                <a:spcPts val="800"/>
              </a:spcAft>
              <a:defRPr sz="1200" b="0">
                <a:solidFill>
                  <a:srgbClr val="1A1A1A"/>
                </a:solidFill>
                <a:latin typeface="Times New Roman"/>
              </a:defRPr>
            </a:pPr>
            <a:r>
              <a:rPr sz="1200" b="0">
                <a:solidFill>
                  <a:srgbClr val="1A1A1A"/>
                </a:solidFill>
                <a:latin typeface="Times New Roman"/>
              </a:rPr>
              <a:t>The 0.7927 ceiling was found by sweeping every cutoff from 0.005 to 0.995. Calibration, temperature scaling and label-shift correction only rescale scores, so all of them land on this same curve and none can pass it. That family is exhausted.</a:t>
            </a:r>
          </a:p>
          <a:p>
            <a:pPr>
              <a:spcAft>
                <a:spcPts val="800"/>
              </a:spcAft>
              <a:defRPr sz="1200" b="0">
                <a:solidFill>
                  <a:srgbClr val="1A1A1A"/>
                </a:solidFill>
                <a:latin typeface="Times New Roman"/>
              </a:defRPr>
            </a:pPr>
            <a:r>
              <a:rPr sz="1200" b="0">
                <a:solidFill>
                  <a:srgbClr val="1A1A1A"/>
                </a:solidFill>
                <a:latin typeface="Times New Roman"/>
              </a:rPr>
              <a:t>The shift is not only that patients are sicker. AUC is mathematically unaffected by how many patients are diseased (Fawcett 2006), so if prevalence alone had changed, AUC would have held. It fell from 0.9906 to 0.9060, which means the images themselves are different.</a:t>
            </a:r>
          </a:p>
          <a:p>
            <a:pPr>
              <a:spcAft>
                <a:spcPts val="800"/>
              </a:spcAft>
              <a:defRPr sz="1200" b="0">
                <a:solidFill>
                  <a:srgbClr val="1A1A1A"/>
                </a:solidFill>
                <a:latin typeface="Times New Roman"/>
              </a:defRPr>
            </a:pPr>
            <a:r>
              <a:rPr sz="1200" b="0">
                <a:solidFill>
                  <a:srgbClr val="1A1A1A"/>
                </a:solidFill>
                <a:latin typeface="Times New Roman"/>
              </a:rPr>
              <a:t>0.8317 is what fine-tuning on labelled mBRSET achieves, so it is the value of target labels, not a hard limit. The research question is how close a method with no target labels can get to it.</a:t>
            </a:r>
          </a:p>
        </p:txBody>
      </p:sp>
      <p:sp>
        <p:nvSpPr>
          <p:cNvPr id="16" name="TextBox 15"/>
          <p:cNvSpPr txBox="1"/>
          <p:nvPr/>
        </p:nvSpPr>
        <p:spPr>
          <a:xfrm>
            <a:off x="594360" y="5961888"/>
            <a:ext cx="11064240" cy="640080"/>
          </a:xfrm>
          <a:prstGeom prst="rect">
            <a:avLst/>
          </a:prstGeom>
          <a:noFill/>
        </p:spPr>
        <p:txBody>
          <a:bodyPr wrap="square">
            <a:spAutoFit/>
          </a:bodyPr>
          <a:lstStyle/>
          <a:p>
            <a:pPr>
              <a:defRPr sz="1350" b="1">
                <a:solidFill>
                  <a:srgbClr val="1F4E79"/>
                </a:solidFill>
                <a:latin typeface="Times New Roman"/>
              </a:defRPr>
            </a:pPr>
            <a:r>
              <a:rPr sz="1350" b="1">
                <a:solidFill>
                  <a:srgbClr val="1F4E79"/>
                </a:solidFill>
                <a:latin typeface="Times New Roman"/>
              </a:rPr>
              <a:t>The cutoff route is nearly exhausted. The remaining work is representation, which is where the literature points.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155680" cy="822960"/>
          </a:xfrm>
          <a:prstGeom prst="rect">
            <a:avLst/>
          </a:prstGeom>
          <a:noFill/>
        </p:spPr>
        <p:txBody>
          <a:bodyPr wrap="square">
            <a:spAutoFit/>
          </a:bodyPr>
          <a:lstStyle/>
          <a:p>
            <a:pPr>
              <a:defRPr sz="2600" b="1">
                <a:solidFill>
                  <a:srgbClr val="1F4E79"/>
                </a:solidFill>
                <a:latin typeface="Times New Roman"/>
              </a:defRPr>
            </a:pPr>
            <a:r>
              <a:rPr sz="2600" b="1">
                <a:solidFill>
                  <a:srgbClr val="1F4E79"/>
                </a:solidFill>
                <a:latin typeface="Times New Roman"/>
              </a:rPr>
              <a:t>What the published literature establishes</a:t>
            </a:r>
          </a:p>
          <a:p>
            <a:pPr>
              <a:defRPr sz="1250" b="0">
                <a:solidFill>
                  <a:srgbClr val="5F5F5F"/>
                </a:solidFill>
                <a:latin typeface="Times New Roman"/>
              </a:defRPr>
            </a:pPr>
            <a:r>
              <a:rPr sz="1250" b="0">
                <a:solidFill>
                  <a:srgbClr val="5F5F5F"/>
                </a:solidFill>
                <a:latin typeface="Times New Roman"/>
              </a:rPr>
              <a:t>Peer-reviewed versions only. Citation counts from Semantic Scholar. Paper names are live links.</a:t>
            </a:r>
          </a:p>
        </p:txBody>
      </p:sp>
      <p:sp>
        <p:nvSpPr>
          <p:cNvPr id="3" name="Rectangle 2"/>
          <p:cNvSpPr/>
          <p:nvPr/>
        </p:nvSpPr>
        <p:spPr>
          <a:xfrm>
            <a:off x="566928" y="1152144"/>
            <a:ext cx="11064240" cy="16459"/>
          </a:xfrm>
          <a:prstGeom prst="rect">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94360" y="1481328"/>
          <a:ext cx="11064237" cy="3566160"/>
        </p:xfrm>
        <a:graphic>
          <a:graphicData uri="http://schemas.openxmlformats.org/drawingml/2006/table">
            <a:tbl>
              <a:tblPr firstRow="1" bandRow="1">
                <a:tableStyleId>{5C22544A-7EE6-4342-B048-85BDC9FD1C3A}</a:tableStyleId>
              </a:tblPr>
              <a:tblGrid>
                <a:gridCol w="862807"/>
                <a:gridCol w="5379859"/>
                <a:gridCol w="2131642"/>
                <a:gridCol w="2080889"/>
                <a:gridCol w="609040"/>
              </a:tblGrid>
              <a:tr h="445770">
                <a:tc>
                  <a:txBody>
                    <a:bodyPr/>
                    <a:lstStyle/>
                    <a:p>
                      <a:pPr algn="l">
                        <a:defRPr sz="1000" b="1">
                          <a:solidFill>
                            <a:srgbClr val="FFFFFF"/>
                          </a:solidFill>
                          <a:latin typeface="Times New Roman"/>
                        </a:defRPr>
                      </a:pPr>
                      <a:r>
                        <a:rPr sz="1000" b="1">
                          <a:solidFill>
                            <a:srgbClr val="FFFFFF"/>
                          </a:solidFill>
                          <a:latin typeface="Times New Roman"/>
                        </a:rPr>
                        <a:t>Evidence</a:t>
                      </a:r>
                    </a:p>
                  </a:txBody>
                  <a:tcPr marL="73152" marR="73152" marT="27432" marB="27432" anchor="ctr">
                    <a:solidFill>
                      <a:srgbClr val="1F4E79"/>
                    </a:solidFill>
                  </a:tcPr>
                </a:tc>
                <a:tc>
                  <a:txBody>
                    <a:bodyPr/>
                    <a:lstStyle/>
                    <a:p>
                      <a:pPr algn="ctr">
                        <a:defRPr sz="1000" b="1">
                          <a:solidFill>
                            <a:srgbClr val="FFFFFF"/>
                          </a:solidFill>
                          <a:latin typeface="Times New Roman"/>
                        </a:defRPr>
                      </a:pPr>
                      <a:r>
                        <a:rPr sz="1000" b="1">
                          <a:solidFill>
                            <a:srgbClr val="FFFFFF"/>
                          </a:solidFill>
                          <a:latin typeface="Times New Roman"/>
                        </a:rPr>
                        <a:t>Finding</a:t>
                      </a:r>
                    </a:p>
                  </a:txBody>
                  <a:tcPr marL="73152" marR="73152" marT="27432" marB="27432" anchor="ctr">
                    <a:solidFill>
                      <a:srgbClr val="1F4E79"/>
                    </a:solidFill>
                  </a:tcPr>
                </a:tc>
                <a:tc>
                  <a:txBody>
                    <a:bodyPr/>
                    <a:lstStyle/>
                    <a:p>
                      <a:pPr algn="ctr">
                        <a:defRPr sz="1000" b="1">
                          <a:solidFill>
                            <a:srgbClr val="FFFFFF"/>
                          </a:solidFill>
                          <a:latin typeface="Times New Roman"/>
                        </a:defRPr>
                      </a:pPr>
                      <a:r>
                        <a:rPr sz="1000" b="1">
                          <a:solidFill>
                            <a:srgbClr val="FFFFFF"/>
                          </a:solidFill>
                          <a:latin typeface="Times New Roman"/>
                        </a:rPr>
                        <a:t>Paper</a:t>
                      </a:r>
                    </a:p>
                  </a:txBody>
                  <a:tcPr marL="73152" marR="73152" marT="27432" marB="27432" anchor="ctr">
                    <a:solidFill>
                      <a:srgbClr val="1F4E79"/>
                    </a:solidFill>
                  </a:tcPr>
                </a:tc>
                <a:tc>
                  <a:txBody>
                    <a:bodyPr/>
                    <a:lstStyle/>
                    <a:p>
                      <a:pPr algn="ctr">
                        <a:defRPr sz="1000" b="1">
                          <a:solidFill>
                            <a:srgbClr val="FFFFFF"/>
                          </a:solidFill>
                          <a:latin typeface="Times New Roman"/>
                        </a:defRPr>
                      </a:pPr>
                      <a:r>
                        <a:rPr sz="1000" b="1">
                          <a:solidFill>
                            <a:srgbClr val="FFFFFF"/>
                          </a:solidFill>
                          <a:latin typeface="Times New Roman"/>
                        </a:rPr>
                        <a:t>Venue</a:t>
                      </a:r>
                    </a:p>
                  </a:txBody>
                  <a:tcPr marL="73152" marR="73152" marT="27432" marB="27432" anchor="ctr">
                    <a:solidFill>
                      <a:srgbClr val="1F4E79"/>
                    </a:solidFill>
                  </a:tcPr>
                </a:tc>
                <a:tc>
                  <a:txBody>
                    <a:bodyPr/>
                    <a:lstStyle/>
                    <a:p>
                      <a:pPr algn="ctr">
                        <a:defRPr sz="1000" b="1">
                          <a:solidFill>
                            <a:srgbClr val="FFFFFF"/>
                          </a:solidFill>
                          <a:latin typeface="Times New Roman"/>
                        </a:defRPr>
                      </a:pPr>
                      <a:r>
                        <a:rPr sz="1000" b="1">
                          <a:solidFill>
                            <a:srgbClr val="FFFFFF"/>
                          </a:solidFill>
                          <a:latin typeface="Times New Roman"/>
                        </a:rPr>
                        <a:t>Cites</a:t>
                      </a:r>
                    </a:p>
                  </a:txBody>
                  <a:tcPr marL="73152" marR="73152" marT="27432" marB="27432" anchor="ctr">
                    <a:solidFill>
                      <a:srgbClr val="1F4E79"/>
                    </a:solidFill>
                  </a:tcPr>
                </a:tc>
              </a:tr>
              <a:tr h="445770">
                <a:tc>
                  <a:txBody>
                    <a:bodyPr/>
                    <a:lstStyle/>
                    <a:p>
                      <a:pPr algn="l">
                        <a:defRPr sz="1000" b="1">
                          <a:solidFill>
                            <a:srgbClr val="1E6B3C"/>
                          </a:solidFill>
                          <a:latin typeface="Times New Roman"/>
                        </a:defRPr>
                      </a:pPr>
                      <a:r>
                        <a:rPr sz="1000" b="1">
                          <a:solidFill>
                            <a:srgbClr val="1E6B3C"/>
                          </a:solidFill>
                          <a:latin typeface="Times New Roman"/>
                        </a:rPr>
                        <a:t>Works</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Appearance and degradation augmentation beat every</a:t>
                      </a:r>
                    </a:p>
                    <a:p>
                      <a:pPr algn="ctr">
                        <a:defRPr sz="1000" b="0">
                          <a:solidFill>
                            <a:srgbClr val="1A1A1A"/>
                          </a:solidFill>
                          <a:latin typeface="Times New Roman"/>
                        </a:defRPr>
                      </a:pPr>
                      <a:r>
                        <a:rPr sz="1000" b="0">
                          <a:solidFill>
                            <a:srgbClr val="1A1A1A"/>
                          </a:solidFill>
                          <a:latin typeface="Times New Roman"/>
                        </a:rPr>
                        <a:t>adaptation method tested for cross-scanner shift</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hlinkClick r:id="rId2"/>
                        </a:rPr>
                        <a:t>Tellez et al.</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Medical Image</a:t>
                      </a:r>
                    </a:p>
                    <a:p>
                      <a:pPr algn="ctr">
                        <a:defRPr sz="1000" b="0">
                          <a:solidFill>
                            <a:srgbClr val="1A1A1A"/>
                          </a:solidFill>
                          <a:latin typeface="Times New Roman"/>
                        </a:defRPr>
                      </a:pPr>
                      <a:r>
                        <a:rPr sz="1000" b="0">
                          <a:solidFill>
                            <a:srgbClr val="1A1A1A"/>
                          </a:solidFill>
                          <a:latin typeface="Times New Roman"/>
                        </a:rPr>
                        <a:t>Analysis 2019</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665</a:t>
                      </a:r>
                    </a:p>
                  </a:txBody>
                  <a:tcPr marL="73152" marR="73152" marT="27432" marB="27432" anchor="ctr">
                    <a:solidFill>
                      <a:srgbClr val="FFFFFF"/>
                    </a:solidFill>
                  </a:tcPr>
                </a:tc>
              </a:tr>
              <a:tr h="445770">
                <a:tc>
                  <a:txBody>
                    <a:bodyPr/>
                    <a:lstStyle/>
                    <a:p>
                      <a:pPr algn="l">
                        <a:defRPr sz="1000" b="1">
                          <a:solidFill>
                            <a:srgbClr val="1E6B3C"/>
                          </a:solidFill>
                          <a:latin typeface="Times New Roman"/>
                        </a:defRPr>
                      </a:pPr>
                      <a:r>
                        <a:rPr sz="1000" b="1">
                          <a:solidFill>
                            <a:srgbClr val="1E6B3C"/>
                          </a:solidFill>
                          <a:latin typeface="Times New Roman"/>
                        </a:rPr>
                        <a:t>Works</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Fundus DR over 8 datasets, AUC 78.4 to 82.6, using nine</a:t>
                      </a:r>
                    </a:p>
                    <a:p>
                      <a:pPr algn="ctr">
                        <a:defRPr sz="1000" b="0">
                          <a:solidFill>
                            <a:srgbClr val="1A1A1A"/>
                          </a:solidFill>
                          <a:latin typeface="Times New Roman"/>
                        </a:defRPr>
                      </a:pPr>
                      <a:r>
                        <a:rPr sz="1000" b="0">
                          <a:solidFill>
                            <a:srgbClr val="1A1A1A"/>
                          </a:solidFill>
                          <a:latin typeface="Times New Roman"/>
                        </a:rPr>
                        <a:t>degradation and colour operations (FundusAug)</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hlinkClick r:id="rId3"/>
                        </a:rPr>
                        <a:t>Che et al. (GDRNet)</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MICCAI 2023</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46</a:t>
                      </a:r>
                    </a:p>
                  </a:txBody>
                  <a:tcPr marL="73152" marR="73152" marT="27432" marB="27432" anchor="ctr">
                    <a:solidFill>
                      <a:srgbClr val="F2F4F7"/>
                    </a:solidFill>
                  </a:tcPr>
                </a:tc>
              </a:tr>
              <a:tr h="445770">
                <a:tc>
                  <a:txBody>
                    <a:bodyPr/>
                    <a:lstStyle/>
                    <a:p>
                      <a:pPr algn="l">
                        <a:defRPr sz="1000" b="1">
                          <a:solidFill>
                            <a:srgbClr val="9B3525"/>
                          </a:solidFill>
                          <a:latin typeface="Times New Roman"/>
                        </a:defRPr>
                      </a:pPr>
                      <a:r>
                        <a:rPr sz="1000" b="1">
                          <a:solidFill>
                            <a:srgbClr val="9B3525"/>
                          </a:solidFill>
                          <a:latin typeface="Times New Roman"/>
                        </a:rPr>
                        <a:t>Fails</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DANN, MDD and CycleGAN all collapse on real tabletop</a:t>
                      </a:r>
                    </a:p>
                    <a:p>
                      <a:pPr algn="ctr">
                        <a:defRPr sz="1000" b="0">
                          <a:solidFill>
                            <a:srgbClr val="1A1A1A"/>
                          </a:solidFill>
                          <a:latin typeface="Times New Roman"/>
                        </a:defRPr>
                      </a:pPr>
                      <a:r>
                        <a:rPr sz="1000" b="0">
                          <a:solidFill>
                            <a:srgbClr val="1A1A1A"/>
                          </a:solidFill>
                          <a:latin typeface="Times New Roman"/>
                        </a:rPr>
                        <a:t>to portable fundus data</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hlinkClick r:id="rId4"/>
                        </a:rPr>
                        <a:t>Lin et al.</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MICCAI 2022</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5</a:t>
                      </a:r>
                    </a:p>
                  </a:txBody>
                  <a:tcPr marL="73152" marR="73152" marT="27432" marB="27432" anchor="ctr">
                    <a:solidFill>
                      <a:srgbClr val="FFFFFF"/>
                    </a:solidFill>
                  </a:tcPr>
                </a:tc>
              </a:tr>
              <a:tr h="445770">
                <a:tc>
                  <a:txBody>
                    <a:bodyPr/>
                    <a:lstStyle/>
                    <a:p>
                      <a:pPr algn="l">
                        <a:defRPr sz="1000" b="1">
                          <a:solidFill>
                            <a:srgbClr val="9B3525"/>
                          </a:solidFill>
                          <a:latin typeface="Times New Roman"/>
                        </a:defRPr>
                      </a:pPr>
                      <a:r>
                        <a:rPr sz="1000" b="1">
                          <a:solidFill>
                            <a:srgbClr val="9B3525"/>
                          </a:solidFill>
                          <a:latin typeface="Times New Roman"/>
                        </a:rPr>
                        <a:t>Fails</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No domain-generalization method reliably beats plain</a:t>
                      </a:r>
                    </a:p>
                    <a:p>
                      <a:pPr algn="ctr">
                        <a:defRPr sz="1000" b="0">
                          <a:solidFill>
                            <a:srgbClr val="1A1A1A"/>
                          </a:solidFill>
                          <a:latin typeface="Times New Roman"/>
                        </a:defRPr>
                      </a:pPr>
                      <a:r>
                        <a:rPr sz="1000" b="0">
                          <a:solidFill>
                            <a:srgbClr val="1A1A1A"/>
                          </a:solidFill>
                          <a:latin typeface="Times New Roman"/>
                        </a:rPr>
                        <a:t>training under fair evaluation</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hlinkClick r:id="rId5"/>
                        </a:rPr>
                        <a:t>Gulrajani and Lopez-Paz</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ICLR 2021</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1,504</a:t>
                      </a:r>
                    </a:p>
                  </a:txBody>
                  <a:tcPr marL="73152" marR="73152" marT="27432" marB="27432" anchor="ctr">
                    <a:solidFill>
                      <a:srgbClr val="F2F4F7"/>
                    </a:solidFill>
                  </a:tcPr>
                </a:tc>
              </a:tr>
              <a:tr h="445770">
                <a:tc>
                  <a:txBody>
                    <a:bodyPr/>
                    <a:lstStyle/>
                    <a:p>
                      <a:pPr algn="l">
                        <a:defRPr sz="1000" b="1">
                          <a:solidFill>
                            <a:srgbClr val="9B3525"/>
                          </a:solidFill>
                          <a:latin typeface="Times New Roman"/>
                        </a:defRPr>
                      </a:pPr>
                      <a:r>
                        <a:rPr sz="1000" b="1">
                          <a:solidFill>
                            <a:srgbClr val="9B3525"/>
                          </a:solidFill>
                          <a:latin typeface="Times New Roman"/>
                        </a:rPr>
                        <a:t>Fails</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Test-time adaptation loses up to 66 points under prior</a:t>
                      </a:r>
                    </a:p>
                    <a:p>
                      <a:pPr algn="ctr">
                        <a:defRPr sz="1000" b="0">
                          <a:solidFill>
                            <a:srgbClr val="1A1A1A"/>
                          </a:solidFill>
                          <a:latin typeface="Times New Roman"/>
                        </a:defRPr>
                      </a:pPr>
                      <a:r>
                        <a:rPr sz="1000" b="0">
                          <a:solidFill>
                            <a:srgbClr val="1A1A1A"/>
                          </a:solidFill>
                          <a:latin typeface="Times New Roman"/>
                        </a:rPr>
                        <a:t>shift, the exact regime here</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hlinkClick r:id="rId6"/>
                        </a:rPr>
                        <a:t>Boudiaf et al. (LAME)</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CVPR 2022</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257</a:t>
                      </a:r>
                    </a:p>
                  </a:txBody>
                  <a:tcPr marL="73152" marR="73152" marT="27432" marB="27432" anchor="ctr">
                    <a:solidFill>
                      <a:srgbClr val="FFFFFF"/>
                    </a:solidFill>
                  </a:tcPr>
                </a:tc>
              </a:tr>
              <a:tr h="445770">
                <a:tc>
                  <a:txBody>
                    <a:bodyPr/>
                    <a:lstStyle/>
                    <a:p>
                      <a:pPr algn="l">
                        <a:defRPr sz="1000" b="1">
                          <a:solidFill>
                            <a:srgbClr val="A36E0A"/>
                          </a:solidFill>
                          <a:latin typeface="Times New Roman"/>
                        </a:defRPr>
                      </a:pPr>
                      <a:r>
                        <a:rPr sz="1000" b="1">
                          <a:solidFill>
                            <a:srgbClr val="A36E0A"/>
                          </a:solidFill>
                          <a:latin typeface="Times New Roman"/>
                        </a:rPr>
                        <a:t>Partial</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Cross-camera image translation for portable DR screening,</a:t>
                      </a:r>
                    </a:p>
                    <a:p>
                      <a:pPr algn="ctr">
                        <a:defRPr sz="1000" b="0">
                          <a:solidFill>
                            <a:srgbClr val="1A1A1A"/>
                          </a:solidFill>
                          <a:latin typeface="Times New Roman"/>
                        </a:defRPr>
                      </a:pPr>
                      <a:r>
                        <a:rPr sz="1000" b="0">
                          <a:solidFill>
                            <a:srgbClr val="1A1A1A"/>
                          </a:solidFill>
                          <a:latin typeface="Times New Roman"/>
                        </a:rPr>
                        <a:t>but never treats the decision cutoff</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hlinkClick r:id="rId7"/>
                        </a:rPr>
                        <a:t>Joseph et al. (SCR-Net)</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BMJ Open</a:t>
                      </a:r>
                    </a:p>
                    <a:p>
                      <a:pPr algn="ctr">
                        <a:defRPr sz="1000" b="0">
                          <a:solidFill>
                            <a:srgbClr val="1A1A1A"/>
                          </a:solidFill>
                          <a:latin typeface="Times New Roman"/>
                        </a:defRPr>
                      </a:pPr>
                      <a:r>
                        <a:rPr sz="1000" b="0">
                          <a:solidFill>
                            <a:srgbClr val="1A1A1A"/>
                          </a:solidFill>
                          <a:latin typeface="Times New Roman"/>
                        </a:rPr>
                        <a:t>Ophthalmology 2025</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n/r</a:t>
                      </a:r>
                    </a:p>
                  </a:txBody>
                  <a:tcPr marL="73152" marR="73152" marT="27432" marB="27432" anchor="ctr">
                    <a:solidFill>
                      <a:srgbClr val="F2F4F7"/>
                    </a:solidFill>
                  </a:tcPr>
                </a:tc>
              </a:tr>
              <a:tr h="445770">
                <a:tc>
                  <a:txBody>
                    <a:bodyPr/>
                    <a:lstStyle/>
                    <a:p>
                      <a:pPr algn="l">
                        <a:defRPr sz="1000" b="1">
                          <a:solidFill>
                            <a:srgbClr val="1F4E79"/>
                          </a:solidFill>
                          <a:latin typeface="Times New Roman"/>
                        </a:defRPr>
                      </a:pPr>
                      <a:r>
                        <a:rPr sz="1000" b="1">
                          <a:solidFill>
                            <a:srgbClr val="1F4E79"/>
                          </a:solidFill>
                          <a:latin typeface="Times New Roman"/>
                        </a:rPr>
                        <a:t>Tool</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Physically grounded fundus degradation model: light</a:t>
                      </a:r>
                    </a:p>
                    <a:p>
                      <a:pPr algn="ctr">
                        <a:defRPr sz="1000" b="0">
                          <a:solidFill>
                            <a:srgbClr val="1A1A1A"/>
                          </a:solidFill>
                          <a:latin typeface="Times New Roman"/>
                        </a:defRPr>
                      </a:pPr>
                      <a:r>
                        <a:rPr sz="1000" b="0">
                          <a:solidFill>
                            <a:srgbClr val="1A1A1A"/>
                          </a:solidFill>
                          <a:latin typeface="Times New Roman"/>
                        </a:rPr>
                        <a:t>transmission, blur, retinal artifacts</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hlinkClick r:id="rId8"/>
                        </a:rPr>
                        <a:t>Shen et al. (cofe-Net)</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IEEE Trans. Medical</a:t>
                      </a:r>
                    </a:p>
                    <a:p>
                      <a:pPr algn="ctr">
                        <a:defRPr sz="1000" b="0">
                          <a:solidFill>
                            <a:srgbClr val="1A1A1A"/>
                          </a:solidFill>
                          <a:latin typeface="Times New Roman"/>
                        </a:defRPr>
                      </a:pPr>
                      <a:r>
                        <a:rPr sz="1000" b="0">
                          <a:solidFill>
                            <a:srgbClr val="1A1A1A"/>
                          </a:solidFill>
                          <a:latin typeface="Times New Roman"/>
                        </a:rPr>
                        <a:t>Imaging 2021</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n/r</a:t>
                      </a:r>
                    </a:p>
                  </a:txBody>
                  <a:tcPr marL="73152" marR="73152" marT="27432" marB="27432" anchor="ctr">
                    <a:solidFill>
                      <a:srgbClr val="FFFFFF"/>
                    </a:solidFill>
                  </a:tcPr>
                </a:tc>
              </a:tr>
            </a:tbl>
          </a:graphicData>
        </a:graphic>
      </p:graphicFrame>
      <p:sp>
        <p:nvSpPr>
          <p:cNvPr id="5" name="TextBox 4"/>
          <p:cNvSpPr txBox="1"/>
          <p:nvPr/>
        </p:nvSpPr>
        <p:spPr>
          <a:xfrm>
            <a:off x="594360" y="5138928"/>
            <a:ext cx="11064240" cy="758952"/>
          </a:xfrm>
          <a:prstGeom prst="rect">
            <a:avLst/>
          </a:prstGeom>
          <a:noFill/>
        </p:spPr>
        <p:txBody>
          <a:bodyPr wrap="square">
            <a:spAutoFit/>
          </a:bodyPr>
          <a:lstStyle/>
          <a:p>
            <a:pPr>
              <a:spcAft>
                <a:spcPts val="800"/>
              </a:spcAft>
              <a:defRPr sz="1150" b="0">
                <a:solidFill>
                  <a:srgbClr val="1A1A1A"/>
                </a:solidFill>
                <a:latin typeface="Times New Roman"/>
              </a:defRPr>
            </a:pPr>
            <a:r>
              <a:rPr sz="1150" b="0">
                <a:solidFill>
                  <a:srgbClr val="1A1A1A"/>
                </a:solidFill>
                <a:latin typeface="Times New Roman"/>
              </a:rPr>
              <a:t>Three of the four methods a reader would reach for first are published failures in this exact setting. Augmentation is the one intervention with peer-reviewed evidence of raising AUC under real fundus device shift, which is why it is the direction I propose.</a:t>
            </a:r>
          </a:p>
          <a:p>
            <a:pPr>
              <a:spcAft>
                <a:spcPts val="800"/>
              </a:spcAft>
              <a:defRPr sz="1150" b="0">
                <a:solidFill>
                  <a:srgbClr val="1A1A1A"/>
                </a:solidFill>
                <a:latin typeface="Times New Roman"/>
              </a:defRPr>
            </a:pPr>
            <a:r>
              <a:rPr sz="1150" b="0">
                <a:solidFill>
                  <a:srgbClr val="1A1A1A"/>
                </a:solidFill>
                <a:latin typeface="Times New Roman"/>
              </a:rPr>
              <a:t>n/r means the citation count could not be retrieved because the Semantic Scholar API rate-limited the lookup. Venue and year were verified individually for every row.</a:t>
            </a:r>
          </a:p>
        </p:txBody>
      </p:sp>
      <p:sp>
        <p:nvSpPr>
          <p:cNvPr id="6" name="TextBox 5"/>
          <p:cNvSpPr txBox="1"/>
          <p:nvPr/>
        </p:nvSpPr>
        <p:spPr>
          <a:xfrm>
            <a:off x="594360" y="5943600"/>
            <a:ext cx="11064240" cy="640080"/>
          </a:xfrm>
          <a:prstGeom prst="rect">
            <a:avLst/>
          </a:prstGeom>
          <a:noFill/>
        </p:spPr>
        <p:txBody>
          <a:bodyPr wrap="square">
            <a:spAutoFit/>
          </a:bodyPr>
          <a:lstStyle/>
          <a:p>
            <a:pPr>
              <a:defRPr sz="1350" b="1">
                <a:solidFill>
                  <a:srgbClr val="1F4E79"/>
                </a:solidFill>
                <a:latin typeface="Times New Roman"/>
              </a:defRPr>
            </a:pPr>
            <a:r>
              <a:rPr sz="1350" b="1">
                <a:solidFill>
                  <a:srgbClr val="1F4E79"/>
                </a:solidFill>
                <a:latin typeface="Times New Roman"/>
              </a:rPr>
              <a:t>The review did not just fill a section. It removed three candidate methods and left 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10896"/>
            <a:ext cx="11155680" cy="822960"/>
          </a:xfrm>
          <a:prstGeom prst="rect">
            <a:avLst/>
          </a:prstGeom>
          <a:noFill/>
        </p:spPr>
        <p:txBody>
          <a:bodyPr wrap="square">
            <a:spAutoFit/>
          </a:bodyPr>
          <a:lstStyle/>
          <a:p>
            <a:pPr>
              <a:defRPr sz="2600" b="1">
                <a:solidFill>
                  <a:srgbClr val="1F4E79"/>
                </a:solidFill>
                <a:latin typeface="Times New Roman"/>
              </a:defRPr>
            </a:pPr>
            <a:r>
              <a:rPr sz="2600" b="1">
                <a:solidFill>
                  <a:srgbClr val="1F4E79"/>
                </a:solidFill>
                <a:latin typeface="Times New Roman"/>
              </a:rPr>
              <a:t>The plan, and where I am in it</a:t>
            </a:r>
          </a:p>
          <a:p>
            <a:pPr>
              <a:defRPr sz="1250" b="0">
                <a:solidFill>
                  <a:srgbClr val="5F5F5F"/>
                </a:solidFill>
                <a:latin typeface="Times New Roman"/>
              </a:defRPr>
            </a:pPr>
            <a:r>
              <a:rPr sz="1250" b="0">
                <a:solidFill>
                  <a:srgbClr val="5F5F5F"/>
                </a:solidFill>
                <a:latin typeface="Times New Roman"/>
              </a:rPr>
              <a:t>Each step produces a number, so progress is visible rather than asserted.</a:t>
            </a:r>
          </a:p>
        </p:txBody>
      </p:sp>
      <p:sp>
        <p:nvSpPr>
          <p:cNvPr id="3" name="Rectangle 2"/>
          <p:cNvSpPr/>
          <p:nvPr/>
        </p:nvSpPr>
        <p:spPr>
          <a:xfrm>
            <a:off x="566928" y="1152144"/>
            <a:ext cx="11064240" cy="16459"/>
          </a:xfrm>
          <a:prstGeom prst="rect">
            <a:avLst/>
          </a:prstGeom>
          <a:solidFill>
            <a:srgbClr val="B8C2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94360" y="1463040"/>
          <a:ext cx="11064238" cy="3017520"/>
        </p:xfrm>
        <a:graphic>
          <a:graphicData uri="http://schemas.openxmlformats.org/drawingml/2006/table">
            <a:tbl>
              <a:tblPr firstRow="1" bandRow="1">
                <a:tableStyleId>{5C22544A-7EE6-4342-B048-85BDC9FD1C3A}</a:tableStyleId>
              </a:tblPr>
              <a:tblGrid>
                <a:gridCol w="409786"/>
                <a:gridCol w="3073399"/>
                <a:gridCol w="6659033"/>
                <a:gridCol w="922020"/>
              </a:tblGrid>
              <a:tr h="377190">
                <a:tc>
                  <a:txBody>
                    <a:bodyPr/>
                    <a:lstStyle/>
                    <a:p>
                      <a:pPr algn="l">
                        <a:defRPr sz="1000" b="1">
                          <a:solidFill>
                            <a:srgbClr val="FFFFFF"/>
                          </a:solidFill>
                          <a:latin typeface="Times New Roman"/>
                        </a:defRPr>
                      </a:pPr>
                    </a:p>
                  </a:txBody>
                  <a:tcPr marL="73152" marR="73152" marT="27432" marB="27432" anchor="ctr">
                    <a:solidFill>
                      <a:srgbClr val="1F4E79"/>
                    </a:solidFill>
                  </a:tcPr>
                </a:tc>
                <a:tc>
                  <a:txBody>
                    <a:bodyPr/>
                    <a:lstStyle/>
                    <a:p>
                      <a:pPr algn="ctr">
                        <a:defRPr sz="1000" b="1">
                          <a:solidFill>
                            <a:srgbClr val="FFFFFF"/>
                          </a:solidFill>
                          <a:latin typeface="Times New Roman"/>
                        </a:defRPr>
                      </a:pPr>
                      <a:r>
                        <a:rPr sz="1000" b="1">
                          <a:solidFill>
                            <a:srgbClr val="FFFFFF"/>
                          </a:solidFill>
                          <a:latin typeface="Times New Roman"/>
                        </a:rPr>
                        <a:t>Step</a:t>
                      </a:r>
                    </a:p>
                  </a:txBody>
                  <a:tcPr marL="73152" marR="73152" marT="27432" marB="27432" anchor="ctr">
                    <a:solidFill>
                      <a:srgbClr val="1F4E79"/>
                    </a:solidFill>
                  </a:tcPr>
                </a:tc>
                <a:tc>
                  <a:txBody>
                    <a:bodyPr/>
                    <a:lstStyle/>
                    <a:p>
                      <a:pPr algn="ctr">
                        <a:defRPr sz="1000" b="1">
                          <a:solidFill>
                            <a:srgbClr val="FFFFFF"/>
                          </a:solidFill>
                          <a:latin typeface="Times New Roman"/>
                        </a:defRPr>
                      </a:pPr>
                      <a:r>
                        <a:rPr sz="1000" b="1">
                          <a:solidFill>
                            <a:srgbClr val="FFFFFF"/>
                          </a:solidFill>
                          <a:latin typeface="Times New Roman"/>
                        </a:rPr>
                        <a:t>What it establishes</a:t>
                      </a:r>
                    </a:p>
                  </a:txBody>
                  <a:tcPr marL="73152" marR="73152" marT="27432" marB="27432" anchor="ctr">
                    <a:solidFill>
                      <a:srgbClr val="1F4E79"/>
                    </a:solidFill>
                  </a:tcPr>
                </a:tc>
                <a:tc>
                  <a:txBody>
                    <a:bodyPr/>
                    <a:lstStyle/>
                    <a:p>
                      <a:pPr algn="ctr">
                        <a:defRPr sz="1000" b="1">
                          <a:solidFill>
                            <a:srgbClr val="FFFFFF"/>
                          </a:solidFill>
                          <a:latin typeface="Times New Roman"/>
                        </a:defRPr>
                      </a:pPr>
                      <a:r>
                        <a:rPr sz="1000" b="1">
                          <a:solidFill>
                            <a:srgbClr val="FFFFFF"/>
                          </a:solidFill>
                          <a:latin typeface="Times New Roman"/>
                        </a:rPr>
                        <a:t>Status</a:t>
                      </a:r>
                    </a:p>
                  </a:txBody>
                  <a:tcPr marL="73152" marR="73152" marT="27432" marB="27432" anchor="ctr">
                    <a:solidFill>
                      <a:srgbClr val="1F4E79"/>
                    </a:solidFill>
                  </a:tcPr>
                </a:tc>
              </a:tr>
              <a:tr h="377190">
                <a:tc>
                  <a:txBody>
                    <a:bodyPr/>
                    <a:lstStyle/>
                    <a:p>
                      <a:pPr algn="l">
                        <a:defRPr sz="1000" b="0">
                          <a:solidFill>
                            <a:srgbClr val="1A1A1A"/>
                          </a:solidFill>
                          <a:latin typeface="Times New Roman"/>
                        </a:defRPr>
                      </a:pPr>
                      <a:r>
                        <a:rPr sz="1000" b="0">
                          <a:solidFill>
                            <a:srgbClr val="1A1A1A"/>
                          </a:solidFill>
                          <a:latin typeface="Times New Roman"/>
                        </a:rPr>
                        <a:t>1</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Measure the starting line</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BRSET model on mBRSET: DR class-macro F1 0.8668, 50 of 159 missed</a:t>
                      </a:r>
                    </a:p>
                  </a:txBody>
                  <a:tcPr marL="73152" marR="73152" marT="27432" marB="27432" anchor="ctr">
                    <a:solidFill>
                      <a:srgbClr val="FFFFFF"/>
                    </a:solidFill>
                  </a:tcPr>
                </a:tc>
                <a:tc>
                  <a:txBody>
                    <a:bodyPr/>
                    <a:lstStyle/>
                    <a:p>
                      <a:pPr algn="ctr">
                        <a:defRPr sz="1000" b="1">
                          <a:solidFill>
                            <a:srgbClr val="1E6B3C"/>
                          </a:solidFill>
                          <a:latin typeface="Times New Roman"/>
                        </a:defRPr>
                      </a:pPr>
                      <a:r>
                        <a:rPr sz="1000" b="1">
                          <a:solidFill>
                            <a:srgbClr val="1E6B3C"/>
                          </a:solidFill>
                          <a:latin typeface="Times New Roman"/>
                        </a:rPr>
                        <a:t>Done</a:t>
                      </a:r>
                    </a:p>
                  </a:txBody>
                  <a:tcPr marL="73152" marR="73152" marT="27432" marB="27432" anchor="ctr">
                    <a:solidFill>
                      <a:srgbClr val="FFFFFF"/>
                    </a:solidFill>
                  </a:tcPr>
                </a:tc>
              </a:tr>
              <a:tr h="377190">
                <a:tc>
                  <a:txBody>
                    <a:bodyPr/>
                    <a:lstStyle/>
                    <a:p>
                      <a:pPr algn="l">
                        <a:defRPr sz="1000" b="0">
                          <a:solidFill>
                            <a:srgbClr val="1A1A1A"/>
                          </a:solidFill>
                          <a:latin typeface="Times New Roman"/>
                        </a:defRPr>
                      </a:pPr>
                      <a:r>
                        <a:rPr sz="1000" b="0">
                          <a:solidFill>
                            <a:srgbClr val="1A1A1A"/>
                          </a:solidFill>
                          <a:latin typeface="Times New Roman"/>
                        </a:rPr>
                        <a:t>2</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Measure what target labels buy</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BRSET pretrain then mBRSET fine-tune: diseased F1 0.8317, 28 of 159 missed</a:t>
                      </a:r>
                    </a:p>
                  </a:txBody>
                  <a:tcPr marL="73152" marR="73152" marT="27432" marB="27432" anchor="ctr">
                    <a:solidFill>
                      <a:srgbClr val="F2F4F7"/>
                    </a:solidFill>
                  </a:tcPr>
                </a:tc>
                <a:tc>
                  <a:txBody>
                    <a:bodyPr/>
                    <a:lstStyle/>
                    <a:p>
                      <a:pPr algn="ctr">
                        <a:defRPr sz="1000" b="1">
                          <a:solidFill>
                            <a:srgbClr val="1E6B3C"/>
                          </a:solidFill>
                          <a:latin typeface="Times New Roman"/>
                        </a:defRPr>
                      </a:pPr>
                      <a:r>
                        <a:rPr sz="1000" b="1">
                          <a:solidFill>
                            <a:srgbClr val="1E6B3C"/>
                          </a:solidFill>
                          <a:latin typeface="Times New Roman"/>
                        </a:rPr>
                        <a:t>Done</a:t>
                      </a:r>
                    </a:p>
                  </a:txBody>
                  <a:tcPr marL="73152" marR="73152" marT="27432" marB="27432" anchor="ctr">
                    <a:solidFill>
                      <a:srgbClr val="F2F4F7"/>
                    </a:solidFill>
                  </a:tcPr>
                </a:tc>
              </a:tr>
              <a:tr h="377190">
                <a:tc>
                  <a:txBody>
                    <a:bodyPr/>
                    <a:lstStyle/>
                    <a:p>
                      <a:pPr algn="l">
                        <a:defRPr sz="1000" b="0">
                          <a:solidFill>
                            <a:srgbClr val="1A1A1A"/>
                          </a:solidFill>
                          <a:latin typeface="Times New Roman"/>
                        </a:defRPr>
                      </a:pPr>
                      <a:r>
                        <a:rPr sz="1000" b="0">
                          <a:solidFill>
                            <a:srgbClr val="1A1A1A"/>
                          </a:solidFill>
                          <a:latin typeface="Times New Roman"/>
                        </a:rPr>
                        <a:t>3</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Split the gap by measurement</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18 percent cutoff, 82 percent representation. Calibration family ruled out</a:t>
                      </a:r>
                    </a:p>
                  </a:txBody>
                  <a:tcPr marL="73152" marR="73152" marT="27432" marB="27432" anchor="ctr">
                    <a:solidFill>
                      <a:srgbClr val="FFFFFF"/>
                    </a:solidFill>
                  </a:tcPr>
                </a:tc>
                <a:tc>
                  <a:txBody>
                    <a:bodyPr/>
                    <a:lstStyle/>
                    <a:p>
                      <a:pPr algn="ctr">
                        <a:defRPr sz="1000" b="1">
                          <a:solidFill>
                            <a:srgbClr val="1E6B3C"/>
                          </a:solidFill>
                          <a:latin typeface="Times New Roman"/>
                        </a:defRPr>
                      </a:pPr>
                      <a:r>
                        <a:rPr sz="1000" b="1">
                          <a:solidFill>
                            <a:srgbClr val="1E6B3C"/>
                          </a:solidFill>
                          <a:latin typeface="Times New Roman"/>
                        </a:rPr>
                        <a:t>Done</a:t>
                      </a:r>
                    </a:p>
                  </a:txBody>
                  <a:tcPr marL="73152" marR="73152" marT="27432" marB="27432" anchor="ctr">
                    <a:solidFill>
                      <a:srgbClr val="FFFFFF"/>
                    </a:solidFill>
                  </a:tcPr>
                </a:tc>
              </a:tr>
              <a:tr h="377190">
                <a:tc>
                  <a:txBody>
                    <a:bodyPr/>
                    <a:lstStyle/>
                    <a:p>
                      <a:pPr algn="l">
                        <a:defRPr sz="1000" b="0">
                          <a:solidFill>
                            <a:srgbClr val="1A1A1A"/>
                          </a:solidFill>
                          <a:latin typeface="Times New Roman"/>
                        </a:defRPr>
                      </a:pPr>
                      <a:r>
                        <a:rPr sz="1000" b="0">
                          <a:solidFill>
                            <a:srgbClr val="1A1A1A"/>
                          </a:solidFill>
                          <a:latin typeface="Times New Roman"/>
                        </a:rPr>
                        <a:t>4</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Literature review</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Three method families eliminated, augmentation identified as the one with evidence</a:t>
                      </a:r>
                    </a:p>
                  </a:txBody>
                  <a:tcPr marL="73152" marR="73152" marT="27432" marB="27432" anchor="ctr">
                    <a:solidFill>
                      <a:srgbClr val="F2F4F7"/>
                    </a:solidFill>
                  </a:tcPr>
                </a:tc>
                <a:tc>
                  <a:txBody>
                    <a:bodyPr/>
                    <a:lstStyle/>
                    <a:p>
                      <a:pPr algn="ctr">
                        <a:defRPr sz="1000" b="1">
                          <a:solidFill>
                            <a:srgbClr val="1E6B3C"/>
                          </a:solidFill>
                          <a:latin typeface="Times New Roman"/>
                        </a:defRPr>
                      </a:pPr>
                      <a:r>
                        <a:rPr sz="1000" b="1">
                          <a:solidFill>
                            <a:srgbClr val="1E6B3C"/>
                          </a:solidFill>
                          <a:latin typeface="Times New Roman"/>
                        </a:rPr>
                        <a:t>Done</a:t>
                      </a:r>
                    </a:p>
                  </a:txBody>
                  <a:tcPr marL="73152" marR="73152" marT="27432" marB="27432" anchor="ctr">
                    <a:solidFill>
                      <a:srgbClr val="F2F4F7"/>
                    </a:solidFill>
                  </a:tcPr>
                </a:tc>
              </a:tr>
              <a:tr h="377190">
                <a:tc>
                  <a:txBody>
                    <a:bodyPr/>
                    <a:lstStyle/>
                    <a:p>
                      <a:pPr algn="l">
                        <a:defRPr sz="1000" b="0">
                          <a:solidFill>
                            <a:srgbClr val="1A1A1A"/>
                          </a:solidFill>
                          <a:latin typeface="Times New Roman"/>
                        </a:defRPr>
                      </a:pPr>
                      <a:r>
                        <a:rPr sz="1000" b="0">
                          <a:solidFill>
                            <a:srgbClr val="1A1A1A"/>
                          </a:solidFill>
                          <a:latin typeface="Times New Roman"/>
                        </a:rPr>
                        <a:t>5</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Stabilise the Part-1 baseline</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bf16 rerun completed 40 clean epochs. Both runs peak at the identical validation</a:t>
                      </a:r>
                    </a:p>
                    <a:p>
                      <a:pPr algn="ctr">
                        <a:defRPr sz="1000" b="0">
                          <a:solidFill>
                            <a:srgbClr val="1A1A1A"/>
                          </a:solidFill>
                          <a:latin typeface="Times New Roman"/>
                        </a:defRPr>
                      </a:pPr>
                      <a:r>
                        <a:rPr sz="1000" b="0">
                          <a:solidFill>
                            <a:srgbClr val="1A1A1A"/>
                          </a:solidFill>
                          <a:latin typeface="Times New Roman"/>
                        </a:rPr>
                        <a:t>score of 0.9218, so the divergence cost nothing and the baseline is confirmed</a:t>
                      </a:r>
                    </a:p>
                  </a:txBody>
                  <a:tcPr marL="73152" marR="73152" marT="27432" marB="27432" anchor="ctr">
                    <a:solidFill>
                      <a:srgbClr val="FFFFFF"/>
                    </a:solidFill>
                  </a:tcPr>
                </a:tc>
                <a:tc>
                  <a:txBody>
                    <a:bodyPr/>
                    <a:lstStyle/>
                    <a:p>
                      <a:pPr algn="ctr">
                        <a:defRPr sz="1000" b="1">
                          <a:solidFill>
                            <a:srgbClr val="1E6B3C"/>
                          </a:solidFill>
                          <a:latin typeface="Times New Roman"/>
                        </a:defRPr>
                      </a:pPr>
                      <a:r>
                        <a:rPr sz="1000" b="1">
                          <a:solidFill>
                            <a:srgbClr val="1E6B3C"/>
                          </a:solidFill>
                          <a:latin typeface="Times New Roman"/>
                        </a:rPr>
                        <a:t>Done</a:t>
                      </a:r>
                    </a:p>
                  </a:txBody>
                  <a:tcPr marL="73152" marR="73152" marT="27432" marB="27432" anchor="ctr">
                    <a:solidFill>
                      <a:srgbClr val="FFFFFF"/>
                    </a:solidFill>
                  </a:tcPr>
                </a:tc>
              </a:tr>
              <a:tr h="377190">
                <a:tc>
                  <a:txBody>
                    <a:bodyPr/>
                    <a:lstStyle/>
                    <a:p>
                      <a:pPr algn="l">
                        <a:defRPr sz="1000" b="0">
                          <a:solidFill>
                            <a:srgbClr val="1A1A1A"/>
                          </a:solidFill>
                          <a:latin typeface="Times New Roman"/>
                        </a:defRPr>
                      </a:pPr>
                      <a:r>
                        <a:rPr sz="1000" b="0">
                          <a:solidFill>
                            <a:srgbClr val="1A1A1A"/>
                          </a:solidFill>
                          <a:latin typeface="Times New Roman"/>
                        </a:rPr>
                        <a:t>6</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Device-calibrated degradation augmentation</a:t>
                      </a:r>
                    </a:p>
                  </a:txBody>
                  <a:tcPr marL="73152" marR="73152" marT="27432" marB="27432" anchor="ctr">
                    <a:solidFill>
                      <a:srgbClr val="F2F4F7"/>
                    </a:solidFill>
                  </a:tcPr>
                </a:tc>
                <a:tc>
                  <a:txBody>
                    <a:bodyPr/>
                    <a:lstStyle/>
                    <a:p>
                      <a:pPr algn="ctr">
                        <a:defRPr sz="1000" b="0">
                          <a:solidFill>
                            <a:srgbClr val="1A1A1A"/>
                          </a:solidFill>
                          <a:latin typeface="Times New Roman"/>
                        </a:defRPr>
                      </a:pPr>
                      <a:r>
                        <a:rPr sz="1000" b="0">
                          <a:solidFill>
                            <a:srgbClr val="1A1A1A"/>
                          </a:solidFill>
                          <a:latin typeface="Times New Roman"/>
                        </a:rPr>
                        <a:t>Fit degradation parameters to measured mBRSET statistics, using no target labels</a:t>
                      </a:r>
                    </a:p>
                  </a:txBody>
                  <a:tcPr marL="73152" marR="73152" marT="27432" marB="27432" anchor="ctr">
                    <a:solidFill>
                      <a:srgbClr val="F2F4F7"/>
                    </a:solidFill>
                  </a:tcPr>
                </a:tc>
                <a:tc>
                  <a:txBody>
                    <a:bodyPr/>
                    <a:lstStyle/>
                    <a:p>
                      <a:pPr algn="ctr">
                        <a:defRPr sz="1000" b="1">
                          <a:solidFill>
                            <a:srgbClr val="A36E0A"/>
                          </a:solidFill>
                          <a:latin typeface="Times New Roman"/>
                        </a:defRPr>
                      </a:pPr>
                      <a:r>
                        <a:rPr sz="1000" b="1">
                          <a:solidFill>
                            <a:srgbClr val="A36E0A"/>
                          </a:solidFill>
                          <a:latin typeface="Times New Roman"/>
                        </a:rPr>
                        <a:t>Next</a:t>
                      </a:r>
                    </a:p>
                  </a:txBody>
                  <a:tcPr marL="73152" marR="73152" marT="27432" marB="27432" anchor="ctr">
                    <a:solidFill>
                      <a:srgbClr val="F2F4F7"/>
                    </a:solidFill>
                  </a:tcPr>
                </a:tc>
              </a:tr>
              <a:tr h="377190">
                <a:tc>
                  <a:txBody>
                    <a:bodyPr/>
                    <a:lstStyle/>
                    <a:p>
                      <a:pPr algn="l">
                        <a:defRPr sz="1000" b="0">
                          <a:solidFill>
                            <a:srgbClr val="1A1A1A"/>
                          </a:solidFill>
                          <a:latin typeface="Times New Roman"/>
                        </a:defRPr>
                      </a:pPr>
                      <a:r>
                        <a:rPr sz="1000" b="0">
                          <a:solidFill>
                            <a:srgbClr val="1A1A1A"/>
                          </a:solidFill>
                          <a:latin typeface="Times New Roman"/>
                        </a:rPr>
                        <a:t>7</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Control experiment</a:t>
                      </a:r>
                    </a:p>
                  </a:txBody>
                  <a:tcPr marL="73152" marR="73152" marT="27432" marB="27432" anchor="ctr">
                    <a:solidFill>
                      <a:srgbClr val="FFFFFF"/>
                    </a:solidFill>
                  </a:tcPr>
                </a:tc>
                <a:tc>
                  <a:txBody>
                    <a:bodyPr/>
                    <a:lstStyle/>
                    <a:p>
                      <a:pPr algn="ctr">
                        <a:defRPr sz="1000" b="0">
                          <a:solidFill>
                            <a:srgbClr val="1A1A1A"/>
                          </a:solidFill>
                          <a:latin typeface="Times New Roman"/>
                        </a:defRPr>
                      </a:pPr>
                      <a:r>
                        <a:rPr sz="1000" b="0">
                          <a:solidFill>
                            <a:srgbClr val="1A1A1A"/>
                          </a:solidFill>
                          <a:latin typeface="Times New Roman"/>
                        </a:rPr>
                        <a:t>Compare against generic FundusAug at published settings, as Gulrajani requires</a:t>
                      </a:r>
                    </a:p>
                  </a:txBody>
                  <a:tcPr marL="73152" marR="73152" marT="27432" marB="27432" anchor="ctr">
                    <a:solidFill>
                      <a:srgbClr val="FFFFFF"/>
                    </a:solidFill>
                  </a:tcPr>
                </a:tc>
                <a:tc>
                  <a:txBody>
                    <a:bodyPr/>
                    <a:lstStyle/>
                    <a:p>
                      <a:pPr algn="ctr">
                        <a:defRPr sz="1000" b="1">
                          <a:solidFill>
                            <a:srgbClr val="5F5F5F"/>
                          </a:solidFill>
                          <a:latin typeface="Times New Roman"/>
                        </a:defRPr>
                      </a:pPr>
                      <a:r>
                        <a:rPr sz="1000" b="1">
                          <a:solidFill>
                            <a:srgbClr val="5F5F5F"/>
                          </a:solidFill>
                          <a:latin typeface="Times New Roman"/>
                        </a:rPr>
                        <a:t>Planned</a:t>
                      </a:r>
                    </a:p>
                  </a:txBody>
                  <a:tcPr marL="73152" marR="73152" marT="27432" marB="27432" anchor="ctr">
                    <a:solidFill>
                      <a:srgbClr val="FFFFFF"/>
                    </a:solidFill>
                  </a:tcPr>
                </a:tc>
              </a:tr>
            </a:tbl>
          </a:graphicData>
        </a:graphic>
      </p:graphicFrame>
      <p:sp>
        <p:nvSpPr>
          <p:cNvPr id="5" name="TextBox 4"/>
          <p:cNvSpPr txBox="1"/>
          <p:nvPr/>
        </p:nvSpPr>
        <p:spPr>
          <a:xfrm>
            <a:off x="594360" y="4663440"/>
            <a:ext cx="11064240" cy="310896"/>
          </a:xfrm>
          <a:prstGeom prst="rect">
            <a:avLst/>
          </a:prstGeom>
          <a:noFill/>
        </p:spPr>
        <p:txBody>
          <a:bodyPr wrap="square">
            <a:spAutoFit/>
          </a:bodyPr>
          <a:lstStyle/>
          <a:p>
            <a:pPr algn="l">
              <a:defRPr sz="1250" b="1">
                <a:solidFill>
                  <a:srgbClr val="1F4E79"/>
                </a:solidFill>
                <a:latin typeface="Times New Roman"/>
              </a:defRPr>
            </a:pPr>
            <a:r>
              <a:rPr sz="1250" b="1">
                <a:solidFill>
                  <a:srgbClr val="1F4E79"/>
                </a:solidFill>
                <a:latin typeface="Times New Roman"/>
              </a:rPr>
              <a:t>The idea behind step 6</a:t>
            </a:r>
          </a:p>
        </p:txBody>
      </p:sp>
      <p:sp>
        <p:nvSpPr>
          <p:cNvPr id="6" name="TextBox 5"/>
          <p:cNvSpPr txBox="1"/>
          <p:nvPr/>
        </p:nvSpPr>
        <p:spPr>
          <a:xfrm>
            <a:off x="594360" y="4974336"/>
            <a:ext cx="11064240" cy="969263"/>
          </a:xfrm>
          <a:prstGeom prst="rect">
            <a:avLst/>
          </a:prstGeom>
          <a:noFill/>
        </p:spPr>
        <p:txBody>
          <a:bodyPr wrap="square">
            <a:spAutoFit/>
          </a:bodyPr>
          <a:lstStyle/>
          <a:p>
            <a:pPr>
              <a:spcAft>
                <a:spcPts val="800"/>
              </a:spcAft>
              <a:defRPr sz="1200" b="0">
                <a:solidFill>
                  <a:srgbClr val="1A1A1A"/>
                </a:solidFill>
                <a:latin typeface="Times New Roman"/>
              </a:defRPr>
            </a:pPr>
            <a:r>
              <a:rPr sz="1200" b="0">
                <a:solidFill>
                  <a:srgbClr val="1A1A1A"/>
                </a:solidFill>
                <a:latin typeface="Times New Roman"/>
              </a:rPr>
              <a:t>FundusAug applies its nine operations with a fixed probability of 0.5 and hand-chosen magnitudes. It is generic damage for generic robustness, tuned for no particular camera.</a:t>
            </a:r>
          </a:p>
          <a:p>
            <a:pPr>
              <a:spcAft>
                <a:spcPts val="800"/>
              </a:spcAft>
              <a:defRPr sz="1200" b="0">
                <a:solidFill>
                  <a:srgbClr val="1A1A1A"/>
                </a:solidFill>
                <a:latin typeface="Times New Roman"/>
              </a:defRPr>
            </a:pPr>
            <a:r>
              <a:rPr sz="1200" b="0">
                <a:solidFill>
                  <a:srgbClr val="1A1A1A"/>
                </a:solidFill>
                <a:latin typeface="Times New Roman"/>
              </a:rPr>
              <a:t>4,272 mBRSET images already carry artifact annotations, so the handheld camera's actual degradation statistics are measurable without using a single diagnostic label. Fitting the augmentation to those measured statistics, rather than guessing them, is the novel step.</a:t>
            </a:r>
          </a:p>
        </p:txBody>
      </p:sp>
      <p:sp>
        <p:nvSpPr>
          <p:cNvPr id="7" name="TextBox 6"/>
          <p:cNvSpPr txBox="1"/>
          <p:nvPr/>
        </p:nvSpPr>
        <p:spPr>
          <a:xfrm>
            <a:off x="594360" y="5989320"/>
            <a:ext cx="11064240" cy="640080"/>
          </a:xfrm>
          <a:prstGeom prst="rect">
            <a:avLst/>
          </a:prstGeom>
          <a:noFill/>
        </p:spPr>
        <p:txBody>
          <a:bodyPr wrap="square">
            <a:spAutoFit/>
          </a:bodyPr>
          <a:lstStyle/>
          <a:p>
            <a:pPr>
              <a:defRPr sz="1350" b="1">
                <a:solidFill>
                  <a:srgbClr val="1E6B3C"/>
                </a:solidFill>
                <a:latin typeface="Times New Roman"/>
              </a:defRPr>
            </a:pPr>
            <a:r>
              <a:rPr sz="1350" b="1">
                <a:solidFill>
                  <a:srgbClr val="1E6B3C"/>
                </a:solidFill>
                <a:latin typeface="Times New Roman"/>
              </a:rPr>
              <a:t>Steps 1 to 5 are complete and measured. Step 6 is the novel contribution.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