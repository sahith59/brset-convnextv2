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16/j.media.2019.101544" TargetMode="External"/><Relationship Id="rId3" Type="http://schemas.openxmlformats.org/officeDocument/2006/relationships/hyperlink" Target="https://doi.org/10.1007/978-3-031-43904-9_42" TargetMode="External"/><Relationship Id="rId4" Type="http://schemas.openxmlformats.org/officeDocument/2006/relationships/hyperlink" Target="https://doi.org/10.1007/978-3-031-16434-7_57" TargetMode="External"/><Relationship Id="rId5" Type="http://schemas.openxmlformats.org/officeDocument/2006/relationships/hyperlink" Target="https://openreview.net/forum?id=lQdXeXDoWtI" TargetMode="External"/><Relationship Id="rId6" Type="http://schemas.openxmlformats.org/officeDocument/2006/relationships/hyperlink" Target="https://doi.org/10.1109/CVPR52688.2022.00816" TargetMode="External"/><Relationship Id="rId7" Type="http://schemas.openxmlformats.org/officeDocument/2006/relationships/hyperlink" Target="https://doi.org/10.1136/bmjophth-2025-002238" TargetMode="External"/><Relationship Id="rId8" Type="http://schemas.openxmlformats.org/officeDocument/2006/relationships/hyperlink" Target="https://arxiv.org/abs/2005.0559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4E79"/>
                </a:solidFill>
                <a:latin typeface="Times New Roman"/>
              </a:defRPr>
            </a:pPr>
            <a:r>
              <a:rPr sz="2600" b="1">
                <a:solidFill>
                  <a:srgbClr val="1F4E79"/>
                </a:solidFill>
                <a:latin typeface="Times New Roman"/>
              </a:rPr>
              <a:t>Part 2: a tabletop-trained model must work on a phone camera</a:t>
            </a:r>
          </a:p>
          <a:p>
            <a:pPr>
              <a:defRPr sz="1250" b="0">
                <a:solidFill>
                  <a:srgbClr val="5F5F5F"/>
                </a:solidFill>
                <a:latin typeface="Times New Roman"/>
              </a:defRPr>
            </a:pPr>
            <a:r>
              <a:rPr sz="1250" b="0">
                <a:solidFill>
                  <a:srgbClr val="5F5F5F"/>
                </a:solidFill>
                <a:latin typeface="Times New Roman"/>
              </a:rPr>
              <a:t>The model is trained only on BRSET. No mBRSET image is ever seen during training, so this is a genuine test of whether it learned the disease or the camera.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1064240" cy="16459"/>
          </a:xfrm>
          <a:prstGeom prst="rect">
            <a:avLst/>
          </a:prstGeom>
          <a:solidFill>
            <a:srgbClr val="B8C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63040"/>
          <a:ext cx="1106423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3332"/>
                <a:gridCol w="3951514"/>
                <a:gridCol w="4939392"/>
              </a:tblGrid>
              <a:tr h="35052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Times New Roman"/>
                        </a:rPr>
                        <a:t>BRSET, trained on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Times New Roman"/>
                        </a:rPr>
                        <a:t>mBRSET, tested on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Camera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Tabletop fundus camera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Handheld phone camera (Phelcom Eyer)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Hospital eye clinic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Community diabetes screening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16,258   (test 2,435)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4,859   (test 732)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Patients with DR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6.6%,  about 1 in 15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23.3%,  about 1 in 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Images with an artifact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not recorded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Times New Roman"/>
                        </a:rPr>
                        <a:t>83%   (4,272 of 5,164)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9476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F4E79"/>
                </a:solidFill>
                <a:latin typeface="Times New Roman"/>
              </a:defRPr>
            </a:pPr>
            <a:r>
              <a:rPr sz="1250" b="1">
                <a:solidFill>
                  <a:srgbClr val="1F4E79"/>
                </a:solidFill>
                <a:latin typeface="Times New Roman"/>
              </a:rPr>
              <a:t>Two things change at the same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4133087"/>
            <a:ext cx="5349240" cy="868680"/>
          </a:xfrm>
          <a:prstGeom prst="rect">
            <a:avLst/>
          </a:prstGeom>
          <a:solidFill>
            <a:srgbClr val="ECEFF4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0">
                <a:solidFill>
                  <a:srgbClr val="1A1A1A"/>
                </a:solidFill>
                <a:latin typeface="Times New Roman"/>
              </a:defRPr>
            </a:pPr>
            <a:r>
              <a:rPr sz="1250" b="0">
                <a:solidFill>
                  <a:srgbClr val="1A1A1A"/>
                </a:solidFill>
                <a:latin typeface="Times New Roman"/>
              </a:rPr>
              <a:t>The camera gets worse.</a:t>
            </a:r>
            <a:br/>
            <a:r>
              <a:rPr sz="1250" b="0">
                <a:solidFill>
                  <a:srgbClr val="1A1A1A"/>
                </a:solidFill>
                <a:latin typeface="Times New Roman"/>
              </a:rPr>
              <a:t>Blur, glare and artifacts the model never saw in training.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4133087"/>
            <a:ext cx="5349240" cy="868680"/>
          </a:xfrm>
          <a:prstGeom prst="rect">
            <a:avLst/>
          </a:prstGeom>
          <a:solidFill>
            <a:srgbClr val="ECEFF4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0">
                <a:solidFill>
                  <a:srgbClr val="1A1A1A"/>
                </a:solidFill>
                <a:latin typeface="Times New Roman"/>
              </a:defRPr>
            </a:pPr>
            <a:r>
              <a:rPr sz="1250" b="0">
                <a:solidFill>
                  <a:srgbClr val="1A1A1A"/>
                </a:solidFill>
                <a:latin typeface="Times New Roman"/>
              </a:rPr>
              <a:t>The patients get sicker.</a:t>
            </a:r>
            <a:br/>
            <a:r>
              <a:rPr sz="1250" b="0">
                <a:solidFill>
                  <a:srgbClr val="1A1A1A"/>
                </a:solidFill>
                <a:latin typeface="Times New Roman"/>
              </a:rPr>
              <a:t>A screening campaign, not a general clinic. 6.6 percent becomes 23.3.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166360"/>
            <a:ext cx="11064240" cy="640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0">
                <a:solidFill>
                  <a:srgbClr val="1A1A1A"/>
                </a:solidFill>
                <a:latin typeface="Times New Roman"/>
              </a:defRPr>
            </a:pPr>
            <a:r>
              <a:rPr sz="1250" b="0">
                <a:solidFill>
                  <a:srgbClr val="1A1A1A"/>
                </a:solidFill>
                <a:latin typeface="Times New Roman"/>
              </a:rPr>
              <a:t>Almost every published cross-device study changes only one of these. Changing both at once is what makes this setting hard, and what makes it worth a paper.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897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6B3C"/>
                </a:solidFill>
                <a:latin typeface="Times New Roman"/>
              </a:defRPr>
            </a:pPr>
            <a:r>
              <a:rPr sz="1350" b="1">
                <a:solidFill>
                  <a:srgbClr val="1E6B3C"/>
                </a:solidFill>
                <a:latin typeface="Times New Roman"/>
              </a:rPr>
              <a:t>Goal: make the BRSET-trained model work on handheld images without collecting labels for the handheld device.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4E79"/>
                </a:solidFill>
                <a:latin typeface="Times New Roman"/>
              </a:defRPr>
            </a:pPr>
            <a:r>
              <a:rPr sz="2600" b="1">
                <a:solidFill>
                  <a:srgbClr val="1F4E79"/>
                </a:solidFill>
                <a:latin typeface="Times New Roman"/>
              </a:rPr>
              <a:t>Starting line: one model, two cameras</a:t>
            </a:r>
          </a:p>
          <a:p>
            <a:pPr>
              <a:defRPr sz="1250" b="0">
                <a:solidFill>
                  <a:srgbClr val="5F5F5F"/>
                </a:solidFill>
                <a:latin typeface="Times New Roman"/>
              </a:defRPr>
            </a:pPr>
            <a:r>
              <a:rPr sz="1250" b="0">
                <a:solidFill>
                  <a:srgbClr val="5F5F5F"/>
                </a:solidFill>
                <a:latin typeface="Times New Roman"/>
              </a:rPr>
              <a:t>The selected Part-1 baseline (focal loss, oversampling off), evaluated with its own BRSET-chosen cutoff applied unchanged. Measured 21 August 2026.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1064240" cy="16459"/>
          </a:xfrm>
          <a:prstGeom prst="rect">
            <a:avLst/>
          </a:prstGeom>
          <a:solidFill>
            <a:srgbClr val="B8C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81328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005840"/>
                <a:gridCol w="1005840"/>
              </a:tblGrid>
              <a:tr h="30480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Diabetic retinopathy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On BRSET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On mBRSET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Change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AUC  (ranking ability)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0.9906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0.9060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−0.085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F1, class-macro  (headline)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0.9374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0.8668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−0.071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F1, diseased class only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0.8837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0.7842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−0.100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Recall, diseased class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0.9383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0.6855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−0.253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Times New Roman"/>
                        </a:rPr>
                        <a:t>Diseased cases missed</a:t>
                      </a:r>
                    </a:p>
                  </a:txBody>
                  <a:tcPr marL="73152" marR="73152" marT="27432" marB="27432" anchor="ctr">
                    <a:solidFill>
                      <a:srgbClr val="F7E2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Times New Roman"/>
                        </a:rPr>
                        <a:t>10 / 162</a:t>
                      </a:r>
                    </a:p>
                  </a:txBody>
                  <a:tcPr marL="73152" marR="73152" marT="27432" marB="27432" anchor="ctr">
                    <a:solidFill>
                      <a:srgbClr val="F7E2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Times New Roman"/>
                        </a:rPr>
                        <a:t>50 / 159</a:t>
                      </a:r>
                    </a:p>
                  </a:txBody>
                  <a:tcPr marL="73152" marR="73152" marT="27432" marB="27432" anchor="ctr">
                    <a:solidFill>
                      <a:srgbClr val="F7E2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Times New Roman"/>
                        </a:rPr>
                        <a:t>5x worse</a:t>
                      </a:r>
                    </a:p>
                  </a:txBody>
                  <a:tcPr marL="73152" marR="73152" marT="27432" marB="27432" anchor="ctr">
                    <a:solidFill>
                      <a:srgbClr val="F7E2D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37960" y="1481328"/>
          <a:ext cx="51206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566"/>
                <a:gridCol w="898357"/>
                <a:gridCol w="898357"/>
                <a:gridCol w="898357"/>
              </a:tblGrid>
              <a:tr h="30480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Macular edema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On BRSET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On mBRSET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Change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AUC  (ranking ability)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0.9957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0.9705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−0.025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F1, class-macro  (headline)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0.8852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0.8392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−0.046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F1, diseased class only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0.7759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0.7027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−0.073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Recall, diseased class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0.7377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0.6190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−0.119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Diseased cases missed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16 / 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24 / 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Times New Roman"/>
                        </a:rPr>
                        <a:t>1.5x worse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4747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F4E79"/>
                </a:solidFill>
                <a:latin typeface="Times New Roman"/>
              </a:defRPr>
            </a:pPr>
            <a:r>
              <a:rPr sz="1250" b="1">
                <a:solidFill>
                  <a:srgbClr val="1F4E79"/>
                </a:solidFill>
                <a:latin typeface="Times New Roman"/>
              </a:rPr>
              <a:t>How to read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85615"/>
            <a:ext cx="1106424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A1A1A"/>
                </a:solidFill>
                <a:latin typeface="Times New Roman"/>
              </a:defRPr>
            </a:pPr>
            <a:r>
              <a:rPr sz="1200" b="0">
                <a:solidFill>
                  <a:srgbClr val="1A1A1A"/>
                </a:solidFill>
                <a:latin typeface="Times New Roman"/>
              </a:rPr>
              <a:t>Ranking barely suffers. AUC falls only 0.085 on DR, so the model can still tell a diseased eye from a healthy one on handheld images.</a:t>
            </a:r>
          </a:p>
          <a:p>
            <a:pPr>
              <a:spcAft>
                <a:spcPts val="800"/>
              </a:spcAft>
              <a:defRPr sz="1200" b="0">
                <a:solidFill>
                  <a:srgbClr val="1A1A1A"/>
                </a:solidFill>
                <a:latin typeface="Times New Roman"/>
              </a:defRPr>
            </a:pPr>
            <a:r>
              <a:rPr sz="1200" b="0">
                <a:solidFill>
                  <a:srgbClr val="1A1A1A"/>
                </a:solidFill>
                <a:latin typeface="Times New Roman"/>
              </a:rPr>
              <a:t>The decision collapses. Recall falls from 0.938 to 0.686, so 50 of 159 diseased patients are missed instead of 10 of 162.</a:t>
            </a:r>
          </a:p>
          <a:p>
            <a:pPr>
              <a:spcAft>
                <a:spcPts val="800"/>
              </a:spcAft>
              <a:defRPr sz="1200" b="0">
                <a:solidFill>
                  <a:srgbClr val="1A1A1A"/>
                </a:solidFill>
                <a:latin typeface="Times New Roman"/>
              </a:defRPr>
            </a:pPr>
            <a:r>
              <a:rPr sz="1200" b="0">
                <a:solidFill>
                  <a:srgbClr val="1A1A1A"/>
                </a:solidFill>
                <a:latin typeface="Times New Roman"/>
              </a:rPr>
              <a:t>The three F1 rows are the same result measured three ways. Class-macro averages the diseased and healthy classes and is the number quoted in the Part-1 deck. Diseased-only is stricter. Both are shown so nothing is hidden.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897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9B3525"/>
                </a:solidFill>
                <a:latin typeface="Times New Roman"/>
              </a:defRPr>
            </a:pPr>
            <a:r>
              <a:rPr sz="1350" b="1">
                <a:solidFill>
                  <a:srgbClr val="9B3525"/>
                </a:solidFill>
                <a:latin typeface="Times New Roman"/>
              </a:rPr>
              <a:t>This right-hand column is the number to beat. Everything from here is about raising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4E79"/>
                </a:solidFill>
                <a:latin typeface="Times New Roman"/>
              </a:defRPr>
            </a:pPr>
            <a:r>
              <a:rPr sz="2600" b="1">
                <a:solidFill>
                  <a:srgbClr val="1F4E79"/>
                </a:solidFill>
                <a:latin typeface="Times New Roman"/>
              </a:rPr>
              <a:t>What the gap is made of, and what it is not</a:t>
            </a:r>
          </a:p>
          <a:p>
            <a:pPr>
              <a:defRPr sz="1250" b="0">
                <a:solidFill>
                  <a:srgbClr val="5F5F5F"/>
                </a:solidFill>
                <a:latin typeface="Times New Roman"/>
              </a:defRPr>
            </a:pPr>
            <a:r>
              <a:rPr sz="1250" b="0">
                <a:solidFill>
                  <a:srgbClr val="5F5F5F"/>
                </a:solidFill>
                <a:latin typeface="Times New Roman"/>
              </a:rPr>
              <a:t>Diabetic retinopathy, diseased-class F1 on mBRSET. Seven models measured, none assumed.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1064240" cy="16459"/>
          </a:xfrm>
          <a:prstGeom prst="rect">
            <a:avLst/>
          </a:prstGeom>
          <a:solidFill>
            <a:srgbClr val="B8C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" y="2606040"/>
            <a:ext cx="1605992" cy="548640"/>
          </a:xfrm>
          <a:prstGeom prst="rect">
            <a:avLst/>
          </a:prstGeom>
          <a:solidFill>
            <a:srgbClr val="A8C0D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  <a:latin typeface="Times New Roman"/>
              </a:defRPr>
            </a:pPr>
            <a:r>
              <a:rPr sz="1400" b="1">
                <a:solidFill>
                  <a:srgbClr val="1A1A1A"/>
                </a:solidFill>
                <a:latin typeface="Times New Roman"/>
              </a:rPr>
              <a:t>+0.009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1605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1A"/>
                </a:solidFill>
                <a:latin typeface="Times New Roman"/>
              </a:defRPr>
            </a:pPr>
            <a:r>
              <a:rPr sz="1100" b="0">
                <a:solidFill>
                  <a:srgbClr val="1A1A1A"/>
                </a:solidFill>
                <a:latin typeface="Times New Roman"/>
              </a:rPr>
              <a:t>all a better cutoff can give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94712" y="2606040"/>
            <a:ext cx="8086647" cy="548640"/>
          </a:xfrm>
          <a:prstGeom prst="rect">
            <a:avLst/>
          </a:prstGeom>
          <a:solidFill>
            <a:srgbClr val="9B453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Times New Roman"/>
              </a:defRPr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+0.043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712" y="3246120"/>
            <a:ext cx="808664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1A"/>
                </a:solidFill>
                <a:latin typeface="Times New Roman"/>
              </a:defRPr>
            </a:pPr>
            <a:r>
              <a:rPr sz="1100" b="0">
                <a:solidFill>
                  <a:srgbClr val="1A1A1A"/>
                </a:solidFill>
                <a:latin typeface="Times New Roman"/>
              </a:rPr>
              <a:t>needs a better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17904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1F4E79"/>
                </a:solidFill>
                <a:latin typeface="Times New Roman"/>
              </a:defRPr>
            </a:pPr>
            <a:r>
              <a:rPr sz="1150" b="1">
                <a:solidFill>
                  <a:srgbClr val="1F4E79"/>
                </a:solidFill>
                <a:latin typeface="Times New Roman"/>
              </a:rPr>
              <a:t>0.7842</a:t>
            </a:r>
            <a:br/>
            <a:r>
              <a:rPr sz="1150" b="1">
                <a:solidFill>
                  <a:srgbClr val="1F4E79"/>
                </a:solidFill>
                <a:latin typeface="Times New Roman"/>
              </a:rPr>
              <a:t>transferred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3233" y="2066543"/>
            <a:ext cx="10972" cy="539496"/>
          </a:xfrm>
          <a:prstGeom prst="rect">
            <a:avLst/>
          </a:prstGeom>
          <a:solidFill>
            <a:srgbClr val="B8C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Times New Roman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971752" y="1517904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1F4E79"/>
                </a:solidFill>
                <a:latin typeface="Times New Roman"/>
              </a:defRPr>
            </a:pPr>
            <a:r>
              <a:rPr sz="1150" b="1">
                <a:solidFill>
                  <a:srgbClr val="1F4E79"/>
                </a:solidFill>
                <a:latin typeface="Times New Roman"/>
              </a:rPr>
              <a:t>0.7927</a:t>
            </a:r>
            <a:br/>
            <a:r>
              <a:rPr sz="1150" b="1">
                <a:solidFill>
                  <a:srgbClr val="1F4E79"/>
                </a:solidFill>
                <a:latin typeface="Times New Roman"/>
              </a:rPr>
              <a:t>best cutoff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9226" y="2066543"/>
            <a:ext cx="10972" cy="539496"/>
          </a:xfrm>
          <a:prstGeom prst="rect">
            <a:avLst/>
          </a:prstGeom>
          <a:solidFill>
            <a:srgbClr val="B8C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Times New Roman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058400" y="1517904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1F4E79"/>
                </a:solidFill>
                <a:latin typeface="Times New Roman"/>
              </a:defRPr>
            </a:pPr>
            <a:r>
              <a:rPr sz="1150" b="1">
                <a:solidFill>
                  <a:srgbClr val="1F4E79"/>
                </a:solidFill>
                <a:latin typeface="Times New Roman"/>
              </a:rPr>
              <a:t>0.8355</a:t>
            </a:r>
            <a:br/>
            <a:r>
              <a:rPr sz="1150" b="1">
                <a:solidFill>
                  <a:srgbClr val="1F4E79"/>
                </a:solidFill>
                <a:latin typeface="Times New Roman"/>
              </a:rPr>
              <a:t>with labels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75873" y="2066543"/>
            <a:ext cx="10972" cy="539496"/>
          </a:xfrm>
          <a:prstGeom prst="rect">
            <a:avLst/>
          </a:prstGeom>
          <a:solidFill>
            <a:srgbClr val="B8C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Times New Roman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94360" y="356616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F4E79"/>
                </a:solidFill>
                <a:latin typeface="Times New Roman"/>
              </a:defRPr>
            </a:pPr>
            <a:r>
              <a:rPr sz="1250" b="1">
                <a:solidFill>
                  <a:srgbClr val="1F4E79"/>
                </a:solidFill>
                <a:latin typeface="Times New Roman"/>
              </a:rPr>
              <a:t>The split does not depend on which target-trained model is used as the endpoint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94360" y="3877056"/>
          <a:ext cx="1106423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79"/>
                <a:gridCol w="1463039"/>
                <a:gridCol w="1828799"/>
                <a:gridCol w="2103119"/>
              </a:tblGrid>
              <a:tr h="24688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Endpoint (model trained with mBRSET labels)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F1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Cutoff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Representation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mBRSET from scratch, old recipe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0.8146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28%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72%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mBRSET from scratch, stable schedule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0.8239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22%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78%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BRSET and mBRSET trained jointly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0.8250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21%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79%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BRSET pretrain, mBRSET finetune (best)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0.8355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83%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94360" y="5212080"/>
            <a:ext cx="11064240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0">
                <a:solidFill>
                  <a:srgbClr val="1A1A1A"/>
                </a:solidFill>
                <a:latin typeface="Times New Roman"/>
              </a:defRPr>
            </a:pPr>
            <a:r>
              <a:rPr sz="1150" b="0">
                <a:solidFill>
                  <a:srgbClr val="1A1A1A"/>
                </a:solidFill>
                <a:latin typeface="Times New Roman"/>
              </a:rPr>
              <a:t>Across six target-trained models the cutoff never accounts for more than 28 percent. At least 72 percent is the representation, whichever endpoint is chosen.</a:t>
            </a:r>
          </a:p>
          <a:p>
            <a:pPr>
              <a:spcAft>
                <a:spcPts val="800"/>
              </a:spcAft>
              <a:defRPr sz="1150" b="0">
                <a:solidFill>
                  <a:srgbClr val="1A1A1A"/>
                </a:solidFill>
                <a:latin typeface="Times New Roman"/>
              </a:defRPr>
            </a:pPr>
            <a:r>
              <a:rPr sz="1150" b="0">
                <a:solidFill>
                  <a:srgbClr val="1A1A1A"/>
                </a:solidFill>
                <a:latin typeface="Times New Roman"/>
              </a:rPr>
              <a:t>The 0.7927 ceiling was found by sweeping every cutoff from 0.005 to 0.995. Calibration, temperature scaling and label-shift correction only rescale scores, so none can pass it. That family is exhausted.</a:t>
            </a:r>
          </a:p>
          <a:p>
            <a:pPr>
              <a:spcAft>
                <a:spcPts val="800"/>
              </a:spcAft>
              <a:defRPr sz="1150" b="0">
                <a:solidFill>
                  <a:srgbClr val="1A1A1A"/>
                </a:solidFill>
                <a:latin typeface="Times New Roman"/>
              </a:defRPr>
            </a:pPr>
            <a:r>
              <a:rPr sz="1150" b="0">
                <a:solidFill>
                  <a:srgbClr val="1A1A1A"/>
                </a:solidFill>
                <a:latin typeface="Times New Roman"/>
              </a:rPr>
              <a:t>Even the best model trained on labelled mBRSET still misses 27 of 159 diseased patients, so target labels alone do not solve this.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089904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E79"/>
                </a:solidFill>
                <a:latin typeface="Times New Roman"/>
              </a:defRPr>
            </a:pPr>
            <a:r>
              <a:rPr sz="1350" b="1">
                <a:solidFill>
                  <a:srgbClr val="1F4E79"/>
                </a:solidFill>
                <a:latin typeface="Times New Roman"/>
              </a:rPr>
              <a:t>The cutoff route is exhausted. The remaining work is representation.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4E79"/>
                </a:solidFill>
                <a:latin typeface="Times New Roman"/>
              </a:defRPr>
            </a:pPr>
            <a:r>
              <a:rPr sz="2600" b="1">
                <a:solidFill>
                  <a:srgbClr val="1F4E79"/>
                </a:solidFill>
                <a:latin typeface="Times New Roman"/>
              </a:rPr>
              <a:t>What the published literature establishes</a:t>
            </a:r>
          </a:p>
          <a:p>
            <a:pPr>
              <a:defRPr sz="1250" b="0">
                <a:solidFill>
                  <a:srgbClr val="5F5F5F"/>
                </a:solidFill>
                <a:latin typeface="Times New Roman"/>
              </a:defRPr>
            </a:pPr>
            <a:r>
              <a:rPr sz="1250" b="0">
                <a:solidFill>
                  <a:srgbClr val="5F5F5F"/>
                </a:solidFill>
                <a:latin typeface="Times New Roman"/>
              </a:rPr>
              <a:t>Peer-reviewed versions only. Citation counts from Semantic Scholar. Paper names are live links.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1064240" cy="16459"/>
          </a:xfrm>
          <a:prstGeom prst="rect">
            <a:avLst/>
          </a:prstGeom>
          <a:solidFill>
            <a:srgbClr val="B8C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81328"/>
          <a:ext cx="11064237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2807"/>
                <a:gridCol w="5379859"/>
                <a:gridCol w="2131642"/>
                <a:gridCol w="2080889"/>
                <a:gridCol w="609040"/>
              </a:tblGrid>
              <a:tr h="4457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Finding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Paper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Venue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Cites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6B3C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E6B3C"/>
                          </a:solidFill>
                          <a:latin typeface="Times New Roman"/>
                        </a:rPr>
                        <a:t>Works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Appearance and degradation augmentation beat every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adaptation method tested for cross-scanner shift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  <a:hlinkClick r:id="rId2"/>
                        </a:rPr>
                        <a:t>Tellez et al.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Medical Image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Analysis 2019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665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6B3C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E6B3C"/>
                          </a:solidFill>
                          <a:latin typeface="Times New Roman"/>
                        </a:rPr>
                        <a:t>Works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Fundus DR over 8 datasets, AUC 78.4 to 82.6, using nine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degradation and colour operations (FundusAug)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  <a:hlinkClick r:id="rId3"/>
                        </a:rPr>
                        <a:t>Che et al. (GDRNet)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MICCAI 2023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9B3525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9B3525"/>
                          </a:solidFill>
                          <a:latin typeface="Times New Roman"/>
                        </a:rPr>
                        <a:t>Fails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DANN, MDD and CycleGAN all collapse on real tabletop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to portable fundus 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  <a:hlinkClick r:id="rId4"/>
                        </a:rPr>
                        <a:t>Lin et al.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MICCAI 2022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9B3525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9B3525"/>
                          </a:solidFill>
                          <a:latin typeface="Times New Roman"/>
                        </a:rPr>
                        <a:t>Fails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No domain-generalization method reliably beats plain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training under fair evaluation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  <a:hlinkClick r:id="rId5"/>
                        </a:rPr>
                        <a:t>Gulrajani and Lopez-Paz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ICLR 2021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1,504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9B3525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9B3525"/>
                          </a:solidFill>
                          <a:latin typeface="Times New Roman"/>
                        </a:rPr>
                        <a:t>Fails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Test-time adaptation loses up to 66 points under prior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shift, the exact regime here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  <a:hlinkClick r:id="rId6"/>
                        </a:rPr>
                        <a:t>Boudiaf et al. (LAME)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CVPR 2022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257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A36E0A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A36E0A"/>
                          </a:solidFill>
                          <a:latin typeface="Times New Roman"/>
                        </a:rPr>
                        <a:t>Partial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Cross-camera image translation for portable DR screening,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but never treats the decision cutoff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  <a:hlinkClick r:id="rId7"/>
                        </a:rPr>
                        <a:t>Joseph et al. (SCR-Net)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BMJ Open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Ophthalmology 2025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n/r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4E79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F4E79"/>
                          </a:solidFill>
                          <a:latin typeface="Times New Roman"/>
                        </a:rPr>
                        <a:t>Tool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Physically grounded fundus degradation model: light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transmission, blur, retinal artifacts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  <a:hlinkClick r:id="rId8"/>
                        </a:rPr>
                        <a:t>Shen et al. (cofe-Net)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IEEE Trans. Medical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Imaging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n/r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5138928"/>
            <a:ext cx="110642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0">
                <a:solidFill>
                  <a:srgbClr val="1A1A1A"/>
                </a:solidFill>
                <a:latin typeface="Times New Roman"/>
              </a:defRPr>
            </a:pPr>
            <a:r>
              <a:rPr sz="1150" b="0">
                <a:solidFill>
                  <a:srgbClr val="1A1A1A"/>
                </a:solidFill>
                <a:latin typeface="Times New Roman"/>
              </a:rPr>
              <a:t>Three of the four methods a reader would reach for first are published failures in this exact setting. Augmentation is the one intervention with peer-reviewed evidence of raising AUC under real fundus device shift, which is why it is the direction I propose.</a:t>
            </a:r>
          </a:p>
          <a:p>
            <a:pPr>
              <a:spcAft>
                <a:spcPts val="800"/>
              </a:spcAft>
              <a:defRPr sz="1150" b="0">
                <a:solidFill>
                  <a:srgbClr val="1A1A1A"/>
                </a:solidFill>
                <a:latin typeface="Times New Roman"/>
              </a:defRPr>
            </a:pPr>
            <a:r>
              <a:rPr sz="1150" b="0">
                <a:solidFill>
                  <a:srgbClr val="1A1A1A"/>
                </a:solidFill>
                <a:latin typeface="Times New Roman"/>
              </a:rPr>
              <a:t>n/r means the citation count could not be retrieved because the Semantic Scholar API rate-limited the lookup. Venue and year were verified individually for every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E79"/>
                </a:solidFill>
                <a:latin typeface="Times New Roman"/>
              </a:defRPr>
            </a:pPr>
            <a:r>
              <a:rPr sz="1350" b="1">
                <a:solidFill>
                  <a:srgbClr val="1F4E79"/>
                </a:solidFill>
                <a:latin typeface="Times New Roman"/>
              </a:rPr>
              <a:t>The review did not just fill a section. It removed three candidate methods and left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4E79"/>
                </a:solidFill>
                <a:latin typeface="Times New Roman"/>
              </a:defRPr>
            </a:pPr>
            <a:r>
              <a:rPr sz="2600" b="1">
                <a:solidFill>
                  <a:srgbClr val="1F4E79"/>
                </a:solidFill>
                <a:latin typeface="Times New Roman"/>
              </a:rPr>
              <a:t>The plan, and where I am in it</a:t>
            </a:r>
          </a:p>
          <a:p>
            <a:pPr>
              <a:defRPr sz="1250" b="0">
                <a:solidFill>
                  <a:srgbClr val="5F5F5F"/>
                </a:solidFill>
                <a:latin typeface="Times New Roman"/>
              </a:defRPr>
            </a:pPr>
            <a:r>
              <a:rPr sz="1250" b="0">
                <a:solidFill>
                  <a:srgbClr val="5F5F5F"/>
                </a:solidFill>
                <a:latin typeface="Times New Roman"/>
              </a:rPr>
              <a:t>Each step produces a number, so progress is visible rather than asserted.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1064240" cy="16459"/>
          </a:xfrm>
          <a:prstGeom prst="rect">
            <a:avLst/>
          </a:prstGeom>
          <a:solidFill>
            <a:srgbClr val="B8C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63040"/>
          <a:ext cx="110642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786"/>
                <a:gridCol w="3073399"/>
                <a:gridCol w="6659033"/>
                <a:gridCol w="922020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What it establishes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Measure the starting line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BRSET model on mBRSET: DR class-macro F1 0.8668, 50 of 159 missed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6B3C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E6B3C"/>
                          </a:solidFill>
                          <a:latin typeface="Times New Roman"/>
                        </a:rPr>
                        <a:t>Done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Measure what target labels buy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BRSET pretrain then mBRSET fine-tune: diseased F1 0.8317, 28 of 159 missed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6B3C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E6B3C"/>
                          </a:solidFill>
                          <a:latin typeface="Times New Roman"/>
                        </a:rPr>
                        <a:t>Done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Split the gap by measurement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18 percent cutoff, 82 percent representation. Calibration family ruled out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6B3C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E6B3C"/>
                          </a:solidFill>
                          <a:latin typeface="Times New Roman"/>
                        </a:rPr>
                        <a:t>Done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Literature review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Three method families eliminated, augmentation identified as the one with evidence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6B3C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E6B3C"/>
                          </a:solidFill>
                          <a:latin typeface="Times New Roman"/>
                        </a:rPr>
                        <a:t>Done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Stabilise the Part-1 baseline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bf16 rerun completed 40 clean epochs. Both runs peak at the identical validation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score of 0.9218, so the divergence cost nothing and the baseline is confirmed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6B3C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E6B3C"/>
                          </a:solidFill>
                          <a:latin typeface="Times New Roman"/>
                        </a:rPr>
                        <a:t>Done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Establish the target-trained endpoint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Six configurations measured. Best is 0.8355 (BRSET pretrain, mBRSET finetune).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Even with labels, 27 of 159 diseased patients are still missed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6B3C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1E6B3C"/>
                          </a:solidFill>
                          <a:latin typeface="Times New Roman"/>
                        </a:rPr>
                        <a:t>Done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Device-calibrated degradation augmentation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Fit degradation to measured mBRSET statistics using cofe-Net's physical model,</a:t>
                      </a:r>
                    </a:p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with no target labels. This is the novel contribution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A36E0A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A36E0A"/>
                          </a:solidFill>
                          <a:latin typeface="Times New Roman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Control experiment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A1A1A"/>
                          </a:solidFill>
                          <a:latin typeface="Times New Roman"/>
                        </a:defRPr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Times New Roman"/>
                        </a:rPr>
                        <a:t>Compare against generic FundusAug at published settings, as Gulrajani requires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F5F5F"/>
                          </a:solidFill>
                          <a:latin typeface="Times New Roman"/>
                        </a:defRPr>
                      </a:pPr>
                      <a:r>
                        <a:rPr sz="1000" b="1">
                          <a:solidFill>
                            <a:srgbClr val="5F5F5F"/>
                          </a:solidFill>
                          <a:latin typeface="Times New Roman"/>
                        </a:rPr>
                        <a:t>Planned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901184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F4E79"/>
                </a:solidFill>
                <a:latin typeface="Times New Roman"/>
              </a:defRPr>
            </a:pPr>
            <a:r>
              <a:rPr sz="1250" b="1">
                <a:solidFill>
                  <a:srgbClr val="1F4E79"/>
                </a:solidFill>
                <a:latin typeface="Times New Roman"/>
              </a:rPr>
              <a:t>The idea behind step 7, the novel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212080"/>
            <a:ext cx="11064240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0">
                <a:solidFill>
                  <a:srgbClr val="1A1A1A"/>
                </a:solidFill>
                <a:latin typeface="Times New Roman"/>
              </a:defRPr>
            </a:pPr>
            <a:r>
              <a:rPr sz="1150" b="0">
                <a:solidFill>
                  <a:srgbClr val="1A1A1A"/>
                </a:solidFill>
                <a:latin typeface="Times New Roman"/>
              </a:rPr>
              <a:t>FundusAug applies its nine operations with a fixed probability of 0.5 and hand-chosen magnitudes. It is generic damage for generic robustness, tuned for no particular camera.</a:t>
            </a:r>
          </a:p>
          <a:p>
            <a:pPr>
              <a:spcAft>
                <a:spcPts val="800"/>
              </a:spcAft>
              <a:defRPr sz="1150" b="0">
                <a:solidFill>
                  <a:srgbClr val="1A1A1A"/>
                </a:solidFill>
                <a:latin typeface="Times New Roman"/>
              </a:defRPr>
            </a:pPr>
            <a:r>
              <a:rPr sz="1150" b="0">
                <a:solidFill>
                  <a:srgbClr val="1A1A1A"/>
                </a:solidFill>
                <a:latin typeface="Times New Roman"/>
              </a:rPr>
              <a:t>4,272 mBRSET images already carry artifact annotations, so the handheld camera's actual degradation statistics are measurable without using a single diagnostic label. Fitting the augmentation to those measured statistics, rather than guessing them, is the novel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089904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6B3C"/>
                </a:solidFill>
                <a:latin typeface="Times New Roman"/>
              </a:defRPr>
            </a:pPr>
            <a:r>
              <a:rPr sz="1350" b="1">
                <a:solidFill>
                  <a:srgbClr val="1E6B3C"/>
                </a:solidFill>
                <a:latin typeface="Times New Roman"/>
              </a:rPr>
              <a:t>Steps 1 to 6 are measurement and diagnosis, and they are complete. Step 7 builds.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