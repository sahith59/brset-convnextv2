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cva.net/papers/eccv_2022/papers_ECCV/papers/136840544.pdf" TargetMode="External"/><Relationship Id="rId3" Type="http://schemas.openxmlformats.org/officeDocument/2006/relationships/hyperlink" Target="https://doi.org/10.1016/j.media.2019.101544" TargetMode="External"/><Relationship Id="rId4" Type="http://schemas.openxmlformats.org/officeDocument/2006/relationships/hyperlink" Target="https://arxiv.org/abs/1608.06019" TargetMode="External"/><Relationship Id="rId5" Type="http://schemas.openxmlformats.org/officeDocument/2006/relationships/hyperlink" Target="https://openaccess.thecvf.com/content/CVPR2021/html/Kim_Quality-Agnostic_Image_Recognition_via_Invertible_Decoder_CVPR_2021_paper.html" TargetMode="External"/><Relationship Id="rId6" Type="http://schemas.openxmlformats.org/officeDocument/2006/relationships/hyperlink" Target="https://arxiv.org/abs/1907.00273" TargetMode="External"/><Relationship Id="rId7" Type="http://schemas.openxmlformats.org/officeDocument/2006/relationships/hyperlink" Target="https://openaccess.thecvf.com/content/CVPR2025/html/Yue_CheXWorld_Exploring_Image_World_Modeling_for_Radiograph_Representation_Learning_CVPR_2025_paper.html" TargetMode="External"/><Relationship Id="rId8" Type="http://schemas.openxmlformats.org/officeDocument/2006/relationships/hyperlink" Target="https://doi.org/10.1007/978-3-031-16434-7_57" TargetMode="External"/><Relationship Id="rId9" Type="http://schemas.openxmlformats.org/officeDocument/2006/relationships/hyperlink" Target="https://doi.org/10.1109/CVPR52688.2022.0081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Setup A, the starting point: nothing from the target camera</a:t>
            </a:r>
          </a:p>
          <a:p>
            <a:pPr>
              <a:defRPr sz="1250" b="0">
                <a:solidFill>
                  <a:srgbClr val="5F5F5F"/>
                </a:solidFill>
                <a:latin typeface="Times New Roman"/>
              </a:defRPr>
            </a:pPr>
            <a:r>
              <a:rPr sz="1250" b="0">
                <a:solidFill>
                  <a:srgbClr val="5F5F5F"/>
                </a:solidFill>
                <a:latin typeface="Times New Roman"/>
              </a:rPr>
              <a:t>Trained on BRSET alone. This is the zero-shot transfer test, and it is the number every later experiment has to improve on.</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700784"/>
            <a:ext cx="3291840" cy="868680"/>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0">
                <a:solidFill>
                  <a:srgbClr val="1A1A1A"/>
                </a:solidFill>
                <a:latin typeface="Times New Roman"/>
              </a:defRPr>
            </a:pPr>
            <a:r>
              <a:rPr sz="1150" b="0">
                <a:solidFill>
                  <a:srgbClr val="1A1A1A"/>
                </a:solidFill>
                <a:latin typeface="Times New Roman"/>
              </a:rPr>
              <a:t>BRSET  train</a:t>
            </a:r>
            <a:br/>
            <a:r>
              <a:rPr sz="1150" b="0">
                <a:solidFill>
                  <a:srgbClr val="1A1A1A"/>
                </a:solidFill>
                <a:latin typeface="Times New Roman"/>
              </a:rPr>
              <a:t>11,372 tabletop images</a:t>
            </a:r>
          </a:p>
        </p:txBody>
      </p:sp>
      <p:sp>
        <p:nvSpPr>
          <p:cNvPr id="5" name="Rectangle 4"/>
          <p:cNvSpPr/>
          <p:nvPr/>
        </p:nvSpPr>
        <p:spPr>
          <a:xfrm>
            <a:off x="777240" y="2889504"/>
            <a:ext cx="3291840" cy="868680"/>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0">
                <a:solidFill>
                  <a:srgbClr val="1A1A1A"/>
                </a:solidFill>
                <a:latin typeface="Times New Roman"/>
              </a:defRPr>
            </a:pPr>
            <a:r>
              <a:rPr sz="1150" b="0">
                <a:solidFill>
                  <a:srgbClr val="1A1A1A"/>
                </a:solidFill>
                <a:latin typeface="Times New Roman"/>
              </a:rPr>
              <a:t>mBRSET  test</a:t>
            </a:r>
            <a:br/>
            <a:r>
              <a:rPr sz="1150" b="0">
                <a:solidFill>
                  <a:srgbClr val="1A1A1A"/>
                </a:solidFill>
                <a:latin typeface="Times New Roman"/>
              </a:rPr>
              <a:t>732 handheld images</a:t>
            </a:r>
          </a:p>
        </p:txBody>
      </p:sp>
      <p:sp>
        <p:nvSpPr>
          <p:cNvPr id="6" name="Right Arrow 5"/>
          <p:cNvSpPr/>
          <p:nvPr/>
        </p:nvSpPr>
        <p:spPr>
          <a:xfrm>
            <a:off x="4224528" y="2048256"/>
            <a:ext cx="53035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4224528" y="3236976"/>
            <a:ext cx="53035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19472" y="1700784"/>
            <a:ext cx="2377440" cy="2057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Times New Roman"/>
              </a:defRPr>
            </a:pPr>
            <a:r>
              <a:rPr sz="1150" b="1">
                <a:solidFill>
                  <a:srgbClr val="FFFFFF"/>
                </a:solidFill>
                <a:latin typeface="Times New Roman"/>
              </a:rPr>
              <a:t>ConvNeXt V2 Large</a:t>
            </a:r>
            <a:br/>
            <a:br/>
            <a:r>
              <a:rPr sz="1150" b="1">
                <a:solidFill>
                  <a:srgbClr val="FFFFFF"/>
                </a:solidFill>
                <a:latin typeface="Times New Roman"/>
              </a:rPr>
              <a:t>trained on</a:t>
            </a:r>
            <a:br/>
            <a:r>
              <a:rPr sz="1150" b="1">
                <a:solidFill>
                  <a:srgbClr val="FFFFFF"/>
                </a:solidFill>
                <a:latin typeface="Times New Roman"/>
              </a:rPr>
              <a:t>BRSET only</a:t>
            </a:r>
            <a:br/>
            <a:br/>
            <a:r>
              <a:rPr sz="1150" b="1">
                <a:solidFill>
                  <a:srgbClr val="FFFFFF"/>
                </a:solidFill>
                <a:latin typeface="Times New Roman"/>
              </a:rPr>
              <a:t>same weights</a:t>
            </a:r>
            <a:br/>
            <a:r>
              <a:rPr sz="1150" b="1">
                <a:solidFill>
                  <a:srgbClr val="FFFFFF"/>
                </a:solidFill>
                <a:latin typeface="Times New Roman"/>
              </a:rPr>
              <a:t>same cutoff</a:t>
            </a:r>
          </a:p>
        </p:txBody>
      </p:sp>
      <p:sp>
        <p:nvSpPr>
          <p:cNvPr id="9" name="Right Arrow 8"/>
          <p:cNvSpPr/>
          <p:nvPr/>
        </p:nvSpPr>
        <p:spPr>
          <a:xfrm>
            <a:off x="7461504" y="2048256"/>
            <a:ext cx="53035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7461504" y="3236976"/>
            <a:ext cx="53035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56448" y="1700784"/>
            <a:ext cx="3520440" cy="868680"/>
          </a:xfrm>
          <a:prstGeom prst="rect">
            <a:avLst/>
          </a:prstGeom>
          <a:solidFill>
            <a:srgbClr val="DFEADF"/>
          </a:solidFill>
          <a:ln w="9525">
            <a:solidFill>
              <a:srgbClr val="1E6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A1A1A"/>
                </a:solidFill>
                <a:latin typeface="Times New Roman"/>
              </a:defRPr>
            </a:pPr>
            <a:r>
              <a:rPr sz="1200" b="1">
                <a:solidFill>
                  <a:srgbClr val="1A1A1A"/>
                </a:solidFill>
                <a:latin typeface="Times New Roman"/>
              </a:rPr>
              <a:t>on BRSET, its own data</a:t>
            </a:r>
            <a:br/>
            <a:r>
              <a:rPr sz="1200" b="1">
                <a:solidFill>
                  <a:srgbClr val="1A1A1A"/>
                </a:solidFill>
                <a:latin typeface="Times New Roman"/>
              </a:rPr>
              <a:t>10 of 162 missed</a:t>
            </a:r>
          </a:p>
        </p:txBody>
      </p:sp>
      <p:sp>
        <p:nvSpPr>
          <p:cNvPr id="12" name="Rectangle 11"/>
          <p:cNvSpPr/>
          <p:nvPr/>
        </p:nvSpPr>
        <p:spPr>
          <a:xfrm>
            <a:off x="8156448" y="2889504"/>
            <a:ext cx="3520440" cy="868680"/>
          </a:xfrm>
          <a:prstGeom prst="rect">
            <a:avLst/>
          </a:prstGeom>
          <a:solidFill>
            <a:srgbClr val="F7E2DD"/>
          </a:solidFill>
          <a:ln w="9525">
            <a:solidFill>
              <a:srgbClr val="9B352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A1A1A"/>
                </a:solidFill>
                <a:latin typeface="Times New Roman"/>
              </a:defRPr>
            </a:pPr>
            <a:r>
              <a:rPr sz="1200" b="1">
                <a:solidFill>
                  <a:srgbClr val="1A1A1A"/>
                </a:solidFill>
                <a:latin typeface="Times New Roman"/>
              </a:rPr>
              <a:t>on mBRSET, unseen camera</a:t>
            </a:r>
            <a:br/>
            <a:r>
              <a:rPr sz="1200" b="1">
                <a:solidFill>
                  <a:srgbClr val="1A1A1A"/>
                </a:solidFill>
                <a:latin typeface="Times New Roman"/>
              </a:rPr>
              <a:t>50 of 159 missed</a:t>
            </a:r>
          </a:p>
        </p:txBody>
      </p:sp>
      <p:sp>
        <p:nvSpPr>
          <p:cNvPr id="13" name="TextBox 12"/>
          <p:cNvSpPr txBox="1"/>
          <p:nvPr/>
        </p:nvSpPr>
        <p:spPr>
          <a:xfrm>
            <a:off x="594360" y="3968496"/>
            <a:ext cx="11064240" cy="530352"/>
          </a:xfrm>
          <a:prstGeom prst="rect">
            <a:avLst/>
          </a:prstGeom>
          <a:noFill/>
        </p:spPr>
        <p:txBody>
          <a:bodyPr wrap="square">
            <a:spAutoFit/>
          </a:bodyPr>
          <a:lstStyle/>
          <a:p>
            <a:pPr algn="l">
              <a:defRPr sz="1200" b="0">
                <a:solidFill>
                  <a:srgbClr val="1A1A1A"/>
                </a:solidFill>
                <a:latin typeface="Times New Roman"/>
              </a:defRPr>
            </a:pPr>
            <a:r>
              <a:rPr sz="1200" b="0">
                <a:solidFill>
                  <a:srgbClr val="1A1A1A"/>
                </a:solidFill>
                <a:latin typeface="Times New Roman"/>
              </a:rPr>
              <a:t>Ranking barely suffers: AUC falls 0.9906 to 0.9060, so the model still separates diseased from healthy on phone images. The decision is what collapses, with recall dropping 0.938 to 0.686.</a:t>
            </a:r>
          </a:p>
        </p:txBody>
      </p:sp>
      <p:sp>
        <p:nvSpPr>
          <p:cNvPr id="14" name="TextBox 13"/>
          <p:cNvSpPr txBox="1"/>
          <p:nvPr/>
        </p:nvSpPr>
        <p:spPr>
          <a:xfrm>
            <a:off x="594360" y="4590288"/>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Two things change at the same time, which is what makes this hard</a:t>
            </a:r>
          </a:p>
        </p:txBody>
      </p:sp>
      <p:sp>
        <p:nvSpPr>
          <p:cNvPr id="15" name="Rectangle 14"/>
          <p:cNvSpPr/>
          <p:nvPr/>
        </p:nvSpPr>
        <p:spPr>
          <a:xfrm>
            <a:off x="594360" y="4901184"/>
            <a:ext cx="5394960" cy="530352"/>
          </a:xfrm>
          <a:prstGeom prst="rect">
            <a:avLst/>
          </a:prstGeom>
          <a:solidFill>
            <a:srgbClr val="ECEFF4"/>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0">
                <a:solidFill>
                  <a:srgbClr val="1A1A1A"/>
                </a:solidFill>
                <a:latin typeface="Times New Roman"/>
              </a:defRPr>
            </a:pPr>
            <a:r>
              <a:rPr sz="1150" b="0">
                <a:solidFill>
                  <a:srgbClr val="1A1A1A"/>
                </a:solidFill>
                <a:latin typeface="Times New Roman"/>
              </a:rPr>
              <a:t>The camera degrades.</a:t>
            </a:r>
            <a:br/>
            <a:r>
              <a:rPr sz="1150" b="0">
                <a:solidFill>
                  <a:srgbClr val="1A1A1A"/>
                </a:solidFill>
                <a:latin typeface="Times New Roman"/>
              </a:rPr>
              <a:t>83 percent of mBRSET images carry an artifact.</a:t>
            </a:r>
          </a:p>
        </p:txBody>
      </p:sp>
      <p:sp>
        <p:nvSpPr>
          <p:cNvPr id="16" name="Rectangle 15"/>
          <p:cNvSpPr/>
          <p:nvPr/>
        </p:nvSpPr>
        <p:spPr>
          <a:xfrm>
            <a:off x="6263640" y="4901184"/>
            <a:ext cx="5394960" cy="530352"/>
          </a:xfrm>
          <a:prstGeom prst="rect">
            <a:avLst/>
          </a:prstGeom>
          <a:solidFill>
            <a:srgbClr val="ECEFF4"/>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0">
                <a:solidFill>
                  <a:srgbClr val="1A1A1A"/>
                </a:solidFill>
                <a:latin typeface="Times New Roman"/>
              </a:defRPr>
            </a:pPr>
            <a:r>
              <a:rPr sz="1150" b="0">
                <a:solidFill>
                  <a:srgbClr val="1A1A1A"/>
                </a:solidFill>
                <a:latin typeface="Times New Roman"/>
              </a:rPr>
              <a:t>The population changes.</a:t>
            </a:r>
            <a:br/>
            <a:r>
              <a:rPr sz="1150" b="0">
                <a:solidFill>
                  <a:srgbClr val="1A1A1A"/>
                </a:solidFill>
                <a:latin typeface="Times New Roman"/>
              </a:rPr>
              <a:t>6.6 percent with DR becomes 23.3 percent.</a:t>
            </a:r>
          </a:p>
        </p:txBody>
      </p:sp>
      <p:sp>
        <p:nvSpPr>
          <p:cNvPr id="17" name="Rectangle 16"/>
          <p:cNvSpPr/>
          <p:nvPr/>
        </p:nvSpPr>
        <p:spPr>
          <a:xfrm>
            <a:off x="594360" y="5632704"/>
            <a:ext cx="11064240" cy="603504"/>
          </a:xfrm>
          <a:prstGeom prst="rect">
            <a:avLst/>
          </a:prstGeom>
          <a:solidFill>
            <a:srgbClr val="F8EED8"/>
          </a:solidFill>
          <a:ln w="9525">
            <a:solidFill>
              <a:srgbClr val="A36E0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A1A1A"/>
                </a:solidFill>
                <a:latin typeface="Times New Roman"/>
              </a:defRPr>
            </a:pPr>
            <a:r>
              <a:rPr sz="1200" b="1">
                <a:solidFill>
                  <a:srgbClr val="1A1A1A"/>
                </a:solidFill>
                <a:latin typeface="Times New Roman"/>
              </a:rPr>
              <a:t>Setup A is the reference point, not the current design. The project has since moved to Setup B, which allows mBRSET images in training. That is on the next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Setup A and Setup B, kept separate</a:t>
            </a:r>
          </a:p>
          <a:p>
            <a:pPr>
              <a:defRPr sz="1250" b="0">
                <a:solidFill>
                  <a:srgbClr val="5F5F5F"/>
                </a:solidFill>
                <a:latin typeface="Times New Roman"/>
              </a:defRPr>
            </a:pPr>
            <a:r>
              <a:rPr sz="1250" b="0">
                <a:solidFill>
                  <a:srgbClr val="5F5F5F"/>
                </a:solidFill>
                <a:latin typeface="Times New Roman"/>
              </a:rPr>
              <a:t>Training may draw on any available data. Only the 732-image mBRSET test split is protected, and it is identical across every experiment.</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463040"/>
          <a:ext cx="11064240" cy="2286000"/>
        </p:xfrm>
        <a:graphic>
          <a:graphicData uri="http://schemas.openxmlformats.org/drawingml/2006/table">
            <a:tbl>
              <a:tblPr firstRow="1" bandRow="1">
                <a:tableStyleId>{5C22544A-7EE6-4342-B048-85BDC9FD1C3A}</a:tableStyleId>
              </a:tblPr>
              <a:tblGrid>
                <a:gridCol w="3108960"/>
                <a:gridCol w="3291840"/>
                <a:gridCol w="4663440"/>
              </a:tblGrid>
              <a:tr h="326571">
                <a:tc>
                  <a:txBody>
                    <a:bodyPr/>
                    <a:lstStyle/>
                    <a:p>
                      <a:pPr algn="l">
                        <a:defRPr sz="1100" b="1">
                          <a:solidFill>
                            <a:srgbClr val="FFFFFF"/>
                          </a:solidFill>
                          <a:latin typeface="Times New Roman"/>
                        </a:defRPr>
                      </a:pPr>
                    </a:p>
                  </a:txBody>
                  <a:tcPr marL="73152" marR="73152" marT="27432" marB="27432" anchor="ctr">
                    <a:solidFill>
                      <a:srgbClr val="1F4E79"/>
                    </a:solidFill>
                  </a:tcPr>
                </a:tc>
                <a:tc>
                  <a:txBody>
                    <a:bodyPr/>
                    <a:lstStyle/>
                    <a:p>
                      <a:pPr algn="ctr">
                        <a:defRPr sz="1100" b="1">
                          <a:solidFill>
                            <a:srgbClr val="FFFFFF"/>
                          </a:solidFill>
                          <a:latin typeface="Times New Roman"/>
                        </a:defRPr>
                      </a:pPr>
                      <a:r>
                        <a:rPr sz="1100" b="1">
                          <a:solidFill>
                            <a:srgbClr val="FFFFFF"/>
                          </a:solidFill>
                          <a:latin typeface="Times New Roman"/>
                        </a:rPr>
                        <a:t>Setup A  (zero-shot)</a:t>
                      </a:r>
                    </a:p>
                  </a:txBody>
                  <a:tcPr marL="73152" marR="73152" marT="27432" marB="27432" anchor="ctr">
                    <a:solidFill>
                      <a:srgbClr val="1F4E79"/>
                    </a:solidFill>
                  </a:tcPr>
                </a:tc>
                <a:tc>
                  <a:txBody>
                    <a:bodyPr/>
                    <a:lstStyle/>
                    <a:p>
                      <a:pPr algn="ctr">
                        <a:defRPr sz="1100" b="1">
                          <a:solidFill>
                            <a:srgbClr val="FFFFFF"/>
                          </a:solidFill>
                          <a:latin typeface="Times New Roman"/>
                        </a:defRPr>
                      </a:pPr>
                      <a:r>
                        <a:rPr sz="1100" b="1">
                          <a:solidFill>
                            <a:srgbClr val="FFFFFF"/>
                          </a:solidFill>
                          <a:latin typeface="Times New Roman"/>
                        </a:rPr>
                        <a:t>Setup B  (aggregated training)</a:t>
                      </a:r>
                    </a:p>
                  </a:txBody>
                  <a:tcPr marL="73152" marR="73152" marT="27432" marB="27432" anchor="ctr">
                    <a:solidFill>
                      <a:srgbClr val="1F4E79"/>
                    </a:solidFill>
                  </a:tcPr>
                </a:tc>
              </a:tr>
              <a:tr h="326571">
                <a:tc>
                  <a:txBody>
                    <a:bodyPr/>
                    <a:lstStyle/>
                    <a:p>
                      <a:pPr algn="l">
                        <a:defRPr sz="1100" b="0">
                          <a:solidFill>
                            <a:srgbClr val="1A1A1A"/>
                          </a:solidFill>
                          <a:latin typeface="Times New Roman"/>
                        </a:defRPr>
                      </a:pPr>
                      <a:r>
                        <a:rPr sz="1100" b="0">
                          <a:solidFill>
                            <a:srgbClr val="1A1A1A"/>
                          </a:solidFill>
                          <a:latin typeface="Times New Roman"/>
                        </a:rPr>
                        <a:t>Training images</a:t>
                      </a:r>
                    </a:p>
                  </a:txBody>
                  <a:tcPr marL="73152" marR="73152" marT="27432" marB="27432" anchor="ctr">
                    <a:solidFill>
                      <a:srgbClr val="FFFFFF"/>
                    </a:solidFill>
                  </a:tcPr>
                </a:tc>
                <a:tc>
                  <a:txBody>
                    <a:bodyPr/>
                    <a:lstStyle/>
                    <a:p>
                      <a:pPr algn="ctr">
                        <a:defRPr sz="1100" b="0">
                          <a:solidFill>
                            <a:srgbClr val="1A1A1A"/>
                          </a:solidFill>
                          <a:latin typeface="Times New Roman"/>
                        </a:defRPr>
                      </a:pPr>
                      <a:r>
                        <a:rPr sz="1100" b="0">
                          <a:solidFill>
                            <a:srgbClr val="1A1A1A"/>
                          </a:solidFill>
                          <a:latin typeface="Times New Roman"/>
                        </a:rPr>
                        <a:t>BRSET only, 11,372</a:t>
                      </a:r>
                    </a:p>
                  </a:txBody>
                  <a:tcPr marL="73152" marR="73152" marT="27432" marB="27432" anchor="ctr">
                    <a:solidFill>
                      <a:srgbClr val="FFFFFF"/>
                    </a:solidFill>
                  </a:tcPr>
                </a:tc>
                <a:tc>
                  <a:txBody>
                    <a:bodyPr/>
                    <a:lstStyle/>
                    <a:p>
                      <a:pPr algn="ctr">
                        <a:defRPr sz="1100" b="0">
                          <a:solidFill>
                            <a:srgbClr val="1A1A1A"/>
                          </a:solidFill>
                          <a:latin typeface="Times New Roman"/>
                        </a:defRPr>
                      </a:pPr>
                      <a:r>
                        <a:rPr sz="1100" b="0">
                          <a:solidFill>
                            <a:srgbClr val="1A1A1A"/>
                          </a:solidFill>
                          <a:latin typeface="Times New Roman"/>
                        </a:rPr>
                        <a:t>BRSET 11,372 + mBRSET 3,402 = 14,774</a:t>
                      </a:r>
                    </a:p>
                  </a:txBody>
                  <a:tcPr marL="73152" marR="73152" marT="27432" marB="27432" anchor="ctr">
                    <a:solidFill>
                      <a:srgbClr val="FFFFFF"/>
                    </a:solidFill>
                  </a:tcPr>
                </a:tc>
              </a:tr>
              <a:tr h="326571">
                <a:tc>
                  <a:txBody>
                    <a:bodyPr/>
                    <a:lstStyle/>
                    <a:p>
                      <a:pPr algn="l">
                        <a:defRPr sz="1100" b="0">
                          <a:solidFill>
                            <a:srgbClr val="1A1A1A"/>
                          </a:solidFill>
                          <a:latin typeface="Times New Roman"/>
                        </a:defRPr>
                      </a:pPr>
                      <a:r>
                        <a:rPr sz="1100" b="0">
                          <a:solidFill>
                            <a:srgbClr val="1A1A1A"/>
                          </a:solidFill>
                          <a:latin typeface="Times New Roman"/>
                        </a:rPr>
                        <a:t>mBRSET labels used in training</a:t>
                      </a:r>
                    </a:p>
                  </a:txBody>
                  <a:tcPr marL="73152" marR="73152" marT="27432" marB="27432" anchor="ctr">
                    <a:solidFill>
                      <a:srgbClr val="F2F4F7"/>
                    </a:solidFill>
                  </a:tcPr>
                </a:tc>
                <a:tc>
                  <a:txBody>
                    <a:bodyPr/>
                    <a:lstStyle/>
                    <a:p>
                      <a:pPr algn="ctr">
                        <a:defRPr sz="1100" b="0">
                          <a:solidFill>
                            <a:srgbClr val="1A1A1A"/>
                          </a:solidFill>
                          <a:latin typeface="Times New Roman"/>
                        </a:defRPr>
                      </a:pPr>
                      <a:r>
                        <a:rPr sz="1100" b="0">
                          <a:solidFill>
                            <a:srgbClr val="1A1A1A"/>
                          </a:solidFill>
                          <a:latin typeface="Times New Roman"/>
                        </a:rPr>
                        <a:t>No</a:t>
                      </a:r>
                    </a:p>
                  </a:txBody>
                  <a:tcPr marL="73152" marR="73152" marT="27432" marB="27432" anchor="ctr">
                    <a:solidFill>
                      <a:srgbClr val="F2F4F7"/>
                    </a:solidFill>
                  </a:tcPr>
                </a:tc>
                <a:tc>
                  <a:txBody>
                    <a:bodyPr/>
                    <a:lstStyle/>
                    <a:p>
                      <a:pPr algn="ctr">
                        <a:defRPr sz="1100" b="0">
                          <a:solidFill>
                            <a:srgbClr val="1A1A1A"/>
                          </a:solidFill>
                          <a:latin typeface="Times New Roman"/>
                        </a:defRPr>
                      </a:pPr>
                      <a:r>
                        <a:rPr sz="1100" b="0">
                          <a:solidFill>
                            <a:srgbClr val="1A1A1A"/>
                          </a:solidFill>
                          <a:latin typeface="Times New Roman"/>
                        </a:rPr>
                        <a:t>Yes</a:t>
                      </a:r>
                    </a:p>
                  </a:txBody>
                  <a:tcPr marL="73152" marR="73152" marT="27432" marB="27432" anchor="ctr">
                    <a:solidFill>
                      <a:srgbClr val="F2F4F7"/>
                    </a:solidFill>
                  </a:tcPr>
                </a:tc>
              </a:tr>
              <a:tr h="326571">
                <a:tc>
                  <a:txBody>
                    <a:bodyPr/>
                    <a:lstStyle/>
                    <a:p>
                      <a:pPr algn="l">
                        <a:defRPr sz="1100" b="0">
                          <a:solidFill>
                            <a:srgbClr val="1A1A1A"/>
                          </a:solidFill>
                          <a:latin typeface="Times New Roman"/>
                        </a:defRPr>
                      </a:pPr>
                      <a:r>
                        <a:rPr sz="1100" b="0">
                          <a:solidFill>
                            <a:srgbClr val="1A1A1A"/>
                          </a:solidFill>
                          <a:latin typeface="Times New Roman"/>
                        </a:rPr>
                        <a:t>Test images</a:t>
                      </a:r>
                    </a:p>
                  </a:txBody>
                  <a:tcPr marL="73152" marR="73152" marT="27432" marB="27432" anchor="ctr">
                    <a:solidFill>
                      <a:srgbClr val="FFFFFF"/>
                    </a:solidFill>
                  </a:tcPr>
                </a:tc>
                <a:tc>
                  <a:txBody>
                    <a:bodyPr/>
                    <a:lstStyle/>
                    <a:p>
                      <a:pPr algn="ctr">
                        <a:defRPr sz="1100" b="0">
                          <a:solidFill>
                            <a:srgbClr val="1A1A1A"/>
                          </a:solidFill>
                          <a:latin typeface="Times New Roman"/>
                        </a:defRPr>
                      </a:pPr>
                      <a:r>
                        <a:rPr sz="1100" b="0">
                          <a:solidFill>
                            <a:srgbClr val="1A1A1A"/>
                          </a:solidFill>
                          <a:latin typeface="Times New Roman"/>
                        </a:rPr>
                        <a:t>mBRSET, 732</a:t>
                      </a:r>
                    </a:p>
                  </a:txBody>
                  <a:tcPr marL="73152" marR="73152" marT="27432" marB="27432" anchor="ctr">
                    <a:solidFill>
                      <a:srgbClr val="FFFFFF"/>
                    </a:solidFill>
                  </a:tcPr>
                </a:tc>
                <a:tc>
                  <a:txBody>
                    <a:bodyPr/>
                    <a:lstStyle/>
                    <a:p>
                      <a:pPr algn="ctr">
                        <a:defRPr sz="1100" b="0">
                          <a:solidFill>
                            <a:srgbClr val="1A1A1A"/>
                          </a:solidFill>
                          <a:latin typeface="Times New Roman"/>
                        </a:defRPr>
                      </a:pPr>
                      <a:r>
                        <a:rPr sz="1100" b="0">
                          <a:solidFill>
                            <a:srgbClr val="1A1A1A"/>
                          </a:solidFill>
                          <a:latin typeface="Times New Roman"/>
                        </a:rPr>
                        <a:t>mBRSET, 732  (identical images)</a:t>
                      </a:r>
                    </a:p>
                  </a:txBody>
                  <a:tcPr marL="73152" marR="73152" marT="27432" marB="27432" anchor="ctr">
                    <a:solidFill>
                      <a:srgbClr val="FFFFFF"/>
                    </a:solidFill>
                  </a:tcPr>
                </a:tc>
              </a:tr>
              <a:tr h="326571">
                <a:tc>
                  <a:txBody>
                    <a:bodyPr/>
                    <a:lstStyle/>
                    <a:p>
                      <a:pPr algn="l">
                        <a:defRPr sz="1100" b="0">
                          <a:solidFill>
                            <a:srgbClr val="1A1A1A"/>
                          </a:solidFill>
                          <a:latin typeface="Times New Roman"/>
                        </a:defRPr>
                      </a:pPr>
                      <a:r>
                        <a:rPr sz="1100" b="0">
                          <a:solidFill>
                            <a:srgbClr val="1A1A1A"/>
                          </a:solidFill>
                          <a:latin typeface="Times New Roman"/>
                        </a:rPr>
                        <a:t>DR diseased-class F1</a:t>
                      </a:r>
                    </a:p>
                  </a:txBody>
                  <a:tcPr marL="73152" marR="73152" marT="27432" marB="27432" anchor="ctr">
                    <a:solidFill>
                      <a:srgbClr val="F2F4F7"/>
                    </a:solidFill>
                  </a:tcPr>
                </a:tc>
                <a:tc>
                  <a:txBody>
                    <a:bodyPr/>
                    <a:lstStyle/>
                    <a:p>
                      <a:pPr algn="ctr">
                        <a:defRPr sz="1100" b="0">
                          <a:solidFill>
                            <a:srgbClr val="1A1A1A"/>
                          </a:solidFill>
                          <a:latin typeface="Times New Roman"/>
                        </a:defRPr>
                      </a:pPr>
                      <a:r>
                        <a:rPr sz="1100" b="0">
                          <a:solidFill>
                            <a:srgbClr val="1A1A1A"/>
                          </a:solidFill>
                          <a:latin typeface="Times New Roman"/>
                        </a:rPr>
                        <a:t>0.7842</a:t>
                      </a:r>
                    </a:p>
                  </a:txBody>
                  <a:tcPr marL="73152" marR="73152" marT="27432" marB="27432" anchor="ctr">
                    <a:solidFill>
                      <a:srgbClr val="F2F4F7"/>
                    </a:solidFill>
                  </a:tcPr>
                </a:tc>
                <a:tc>
                  <a:txBody>
                    <a:bodyPr/>
                    <a:lstStyle/>
                    <a:p>
                      <a:pPr algn="ctr">
                        <a:defRPr sz="1100" b="0">
                          <a:solidFill>
                            <a:srgbClr val="1A1A1A"/>
                          </a:solidFill>
                          <a:latin typeface="Times New Roman"/>
                        </a:defRPr>
                      </a:pPr>
                      <a:r>
                        <a:rPr sz="1100" b="0">
                          <a:solidFill>
                            <a:srgbClr val="1A1A1A"/>
                          </a:solidFill>
                          <a:latin typeface="Times New Roman"/>
                        </a:rPr>
                        <a:t>0.8250</a:t>
                      </a:r>
                    </a:p>
                  </a:txBody>
                  <a:tcPr marL="73152" marR="73152" marT="27432" marB="27432" anchor="ctr">
                    <a:solidFill>
                      <a:srgbClr val="F2F4F7"/>
                    </a:solidFill>
                  </a:tcPr>
                </a:tc>
              </a:tr>
              <a:tr h="326571">
                <a:tc>
                  <a:txBody>
                    <a:bodyPr/>
                    <a:lstStyle/>
                    <a:p>
                      <a:pPr algn="l">
                        <a:defRPr sz="1100" b="1">
                          <a:solidFill>
                            <a:srgbClr val="1A1A1A"/>
                          </a:solidFill>
                          <a:latin typeface="Times New Roman"/>
                        </a:defRPr>
                      </a:pPr>
                      <a:r>
                        <a:rPr sz="1100" b="1">
                          <a:solidFill>
                            <a:srgbClr val="1A1A1A"/>
                          </a:solidFill>
                          <a:latin typeface="Times New Roman"/>
                        </a:rPr>
                        <a:t>DR patients missed</a:t>
                      </a:r>
                    </a:p>
                  </a:txBody>
                  <a:tcPr marL="73152" marR="73152" marT="27432" marB="27432" anchor="ctr">
                    <a:solidFill>
                      <a:srgbClr val="DFEADF"/>
                    </a:solidFill>
                  </a:tcPr>
                </a:tc>
                <a:tc>
                  <a:txBody>
                    <a:bodyPr/>
                    <a:lstStyle/>
                    <a:p>
                      <a:pPr algn="ctr">
                        <a:defRPr sz="1100" b="1">
                          <a:solidFill>
                            <a:srgbClr val="1A1A1A"/>
                          </a:solidFill>
                          <a:latin typeface="Times New Roman"/>
                        </a:defRPr>
                      </a:pPr>
                      <a:r>
                        <a:rPr sz="1100" b="1">
                          <a:solidFill>
                            <a:srgbClr val="1A1A1A"/>
                          </a:solidFill>
                          <a:latin typeface="Times New Roman"/>
                        </a:rPr>
                        <a:t>50 of 159</a:t>
                      </a:r>
                    </a:p>
                  </a:txBody>
                  <a:tcPr marL="73152" marR="73152" marT="27432" marB="27432" anchor="ctr">
                    <a:solidFill>
                      <a:srgbClr val="DFEADF"/>
                    </a:solidFill>
                  </a:tcPr>
                </a:tc>
                <a:tc>
                  <a:txBody>
                    <a:bodyPr/>
                    <a:lstStyle/>
                    <a:p>
                      <a:pPr algn="ctr">
                        <a:defRPr sz="1100" b="1">
                          <a:solidFill>
                            <a:srgbClr val="1A1A1A"/>
                          </a:solidFill>
                          <a:latin typeface="Times New Roman"/>
                        </a:defRPr>
                      </a:pPr>
                      <a:r>
                        <a:rPr sz="1100" b="1">
                          <a:solidFill>
                            <a:srgbClr val="1A1A1A"/>
                          </a:solidFill>
                          <a:latin typeface="Times New Roman"/>
                        </a:rPr>
                        <a:t>27 of 159</a:t>
                      </a:r>
                    </a:p>
                  </a:txBody>
                  <a:tcPr marL="73152" marR="73152" marT="27432" marB="27432" anchor="ctr">
                    <a:solidFill>
                      <a:srgbClr val="DFEADF"/>
                    </a:solidFill>
                  </a:tcPr>
                </a:tc>
              </a:tr>
              <a:tr h="326574">
                <a:tc>
                  <a:txBody>
                    <a:bodyPr/>
                    <a:lstStyle/>
                    <a:p>
                      <a:pPr algn="l">
                        <a:defRPr sz="1100" b="0">
                          <a:solidFill>
                            <a:srgbClr val="1A1A1A"/>
                          </a:solidFill>
                          <a:latin typeface="Times New Roman"/>
                        </a:defRPr>
                      </a:pPr>
                      <a:r>
                        <a:rPr sz="1100" b="0">
                          <a:solidFill>
                            <a:srgbClr val="1A1A1A"/>
                          </a:solidFill>
                          <a:latin typeface="Times New Roman"/>
                        </a:rPr>
                        <a:t>ME diseased-class F1</a:t>
                      </a:r>
                    </a:p>
                  </a:txBody>
                  <a:tcPr marL="73152" marR="73152" marT="27432" marB="27432" anchor="ctr">
                    <a:solidFill>
                      <a:srgbClr val="F2F4F7"/>
                    </a:solidFill>
                  </a:tcPr>
                </a:tc>
                <a:tc>
                  <a:txBody>
                    <a:bodyPr/>
                    <a:lstStyle/>
                    <a:p>
                      <a:pPr algn="ctr">
                        <a:defRPr sz="1100" b="0">
                          <a:solidFill>
                            <a:srgbClr val="1A1A1A"/>
                          </a:solidFill>
                          <a:latin typeface="Times New Roman"/>
                        </a:defRPr>
                      </a:pPr>
                      <a:r>
                        <a:rPr sz="1100" b="0">
                          <a:solidFill>
                            <a:srgbClr val="1A1A1A"/>
                          </a:solidFill>
                          <a:latin typeface="Times New Roman"/>
                        </a:rPr>
                        <a:t>0.7027</a:t>
                      </a:r>
                    </a:p>
                  </a:txBody>
                  <a:tcPr marL="73152" marR="73152" marT="27432" marB="27432" anchor="ctr">
                    <a:solidFill>
                      <a:srgbClr val="F2F4F7"/>
                    </a:solidFill>
                  </a:tcPr>
                </a:tc>
                <a:tc>
                  <a:txBody>
                    <a:bodyPr/>
                    <a:lstStyle/>
                    <a:p>
                      <a:pPr algn="ctr">
                        <a:defRPr sz="1100" b="0">
                          <a:solidFill>
                            <a:srgbClr val="1A1A1A"/>
                          </a:solidFill>
                          <a:latin typeface="Times New Roman"/>
                        </a:defRPr>
                      </a:pPr>
                      <a:r>
                        <a:rPr sz="1100" b="0">
                          <a:solidFill>
                            <a:srgbClr val="1A1A1A"/>
                          </a:solidFill>
                          <a:latin typeface="Times New Roman"/>
                        </a:rPr>
                        <a:t>0.8649</a:t>
                      </a:r>
                    </a:p>
                  </a:txBody>
                  <a:tcPr marL="73152" marR="73152" marT="27432" marB="27432" anchor="ctr">
                    <a:solidFill>
                      <a:srgbClr val="F2F4F7"/>
                    </a:solidFill>
                  </a:tcPr>
                </a:tc>
              </a:tr>
            </a:tbl>
          </a:graphicData>
        </a:graphic>
      </p:graphicFrame>
      <p:sp>
        <p:nvSpPr>
          <p:cNvPr id="5" name="TextBox 4"/>
          <p:cNvSpPr txBox="1"/>
          <p:nvPr/>
        </p:nvSpPr>
        <p:spPr>
          <a:xfrm>
            <a:off x="594360" y="3877056"/>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Experiment 0: the aggregated run, in full</a:t>
            </a:r>
          </a:p>
        </p:txBody>
      </p:sp>
      <p:graphicFrame>
        <p:nvGraphicFramePr>
          <p:cNvPr id="6" name="Table 5"/>
          <p:cNvGraphicFramePr>
            <a:graphicFrameLocks noGrp="1"/>
          </p:cNvGraphicFramePr>
          <p:nvPr/>
        </p:nvGraphicFramePr>
        <p:xfrm>
          <a:off x="594360" y="4187952"/>
          <a:ext cx="11064237" cy="1051560"/>
        </p:xfrm>
        <a:graphic>
          <a:graphicData uri="http://schemas.openxmlformats.org/drawingml/2006/table">
            <a:tbl>
              <a:tblPr firstRow="1" bandRow="1">
                <a:tableStyleId>{5C22544A-7EE6-4342-B048-85BDC9FD1C3A}</a:tableStyleId>
              </a:tblPr>
              <a:tblGrid>
                <a:gridCol w="3566159"/>
                <a:gridCol w="3657599"/>
                <a:gridCol w="3840479"/>
              </a:tblGrid>
              <a:tr h="525780">
                <a:tc>
                  <a:txBody>
                    <a:bodyPr/>
                    <a:lstStyle/>
                    <a:p>
                      <a:pPr algn="l">
                        <a:defRPr sz="950" b="1">
                          <a:solidFill>
                            <a:srgbClr val="FFFFFF"/>
                          </a:solidFill>
                          <a:latin typeface="Times New Roman"/>
                        </a:defRPr>
                      </a:pPr>
                      <a:r>
                        <a:rPr sz="950" b="1">
                          <a:solidFill>
                            <a:srgbClr val="FFFFFF"/>
                          </a:solidFill>
                          <a:latin typeface="Times New Roman"/>
                        </a:rPr>
                        <a:t>Data</a:t>
                      </a:r>
                    </a:p>
                  </a:txBody>
                  <a:tcPr marL="73152" marR="73152" marT="27432" marB="27432" anchor="ctr">
                    <a:solidFill>
                      <a:srgbClr val="1F4E79"/>
                    </a:solidFill>
                  </a:tcPr>
                </a:tc>
                <a:tc>
                  <a:txBody>
                    <a:bodyPr/>
                    <a:lstStyle/>
                    <a:p>
                      <a:pPr algn="ctr">
                        <a:defRPr sz="950" b="1">
                          <a:solidFill>
                            <a:srgbClr val="FFFFFF"/>
                          </a:solidFill>
                          <a:latin typeface="Times New Roman"/>
                        </a:defRPr>
                      </a:pPr>
                      <a:r>
                        <a:rPr sz="950" b="1">
                          <a:solidFill>
                            <a:srgbClr val="FFFFFF"/>
                          </a:solidFill>
                          <a:latin typeface="Times New Roman"/>
                        </a:rPr>
                        <a:t>Configuration</a:t>
                      </a:r>
                    </a:p>
                  </a:txBody>
                  <a:tcPr marL="73152" marR="73152" marT="27432" marB="27432" anchor="ctr">
                    <a:solidFill>
                      <a:srgbClr val="1F4E79"/>
                    </a:solidFill>
                  </a:tcPr>
                </a:tc>
                <a:tc>
                  <a:txBody>
                    <a:bodyPr/>
                    <a:lstStyle/>
                    <a:p>
                      <a:pPr algn="ctr">
                        <a:defRPr sz="950" b="1">
                          <a:solidFill>
                            <a:srgbClr val="FFFFFF"/>
                          </a:solidFill>
                          <a:latin typeface="Times New Roman"/>
                        </a:defRPr>
                      </a:pPr>
                      <a:r>
                        <a:rPr sz="950" b="1">
                          <a:solidFill>
                            <a:srgbClr val="FFFFFF"/>
                          </a:solidFill>
                          <a:latin typeface="Times New Roman"/>
                        </a:rPr>
                        <a:t>Health and result</a:t>
                      </a:r>
                    </a:p>
                  </a:txBody>
                  <a:tcPr marL="73152" marR="73152" marT="27432" marB="27432" anchor="ctr">
                    <a:solidFill>
                      <a:srgbClr val="1F4E79"/>
                    </a:solidFill>
                  </a:tcPr>
                </a:tc>
              </a:tr>
              <a:tr h="525780">
                <a:tc>
                  <a:txBody>
                    <a:bodyPr/>
                    <a:lstStyle/>
                    <a:p>
                      <a:pPr algn="l">
                        <a:defRPr sz="950" b="0">
                          <a:solidFill>
                            <a:srgbClr val="1A1A1A"/>
                          </a:solidFill>
                          <a:latin typeface="Times New Roman"/>
                        </a:defRPr>
                      </a:pPr>
                      <a:r>
                        <a:rPr sz="950" b="0">
                          <a:solidFill>
                            <a:srgbClr val="1A1A1A"/>
                          </a:solidFill>
                          <a:latin typeface="Times New Roman"/>
                        </a:rPr>
                        <a:t>Train 14,774 (BRSET 77%, mBRSET 23%)</a:t>
                      </a:r>
                    </a:p>
                    <a:p>
                      <a:pPr algn="l">
                        <a:defRPr sz="950" b="0">
                          <a:solidFill>
                            <a:srgbClr val="1A1A1A"/>
                          </a:solidFill>
                          <a:latin typeface="Times New Roman"/>
                        </a:defRPr>
                      </a:pPr>
                      <a:r>
                        <a:rPr sz="950" b="0">
                          <a:solidFill>
                            <a:srgbClr val="1A1A1A"/>
                          </a:solidFill>
                          <a:latin typeface="Times New Roman"/>
                        </a:rPr>
                        <a:t>Val 725 and test 732 are mBRSET ONLY</a:t>
                      </a:r>
                    </a:p>
                    <a:p>
                      <a:pPr algn="l">
                        <a:defRPr sz="950" b="0">
                          <a:solidFill>
                            <a:srgbClr val="1A1A1A"/>
                          </a:solidFill>
                          <a:latin typeface="Times New Roman"/>
                        </a:defRPr>
                      </a:pPr>
                      <a:r>
                        <a:rPr sz="950" b="0">
                          <a:solidFill>
                            <a:srgbClr val="1A1A1A"/>
                          </a:solidFill>
                          <a:latin typeface="Times New Roman"/>
                        </a:rPr>
                        <a:t>DR positives 10.5% overall</a:t>
                      </a:r>
                    </a:p>
                  </a:txBody>
                  <a:tcPr marL="73152" marR="73152" marT="27432" marB="27432" anchor="ctr">
                    <a:solidFill>
                      <a:srgbClr val="FFFFFF"/>
                    </a:solidFill>
                  </a:tcPr>
                </a:tc>
                <a:tc>
                  <a:txBody>
                    <a:bodyPr/>
                    <a:lstStyle/>
                    <a:p>
                      <a:pPr algn="ctr">
                        <a:defRPr sz="950" b="0">
                          <a:solidFill>
                            <a:srgbClr val="1A1A1A"/>
                          </a:solidFill>
                          <a:latin typeface="Times New Roman"/>
                        </a:defRPr>
                      </a:pPr>
                      <a:r>
                        <a:rPr sz="950" b="0">
                          <a:solidFill>
                            <a:srgbClr val="1A1A1A"/>
                          </a:solidFill>
                          <a:latin typeface="Times New Roman"/>
                        </a:rPr>
                        <a:t>ConvNeXt V2 Large, 512 px</a:t>
                      </a:r>
                    </a:p>
                    <a:p>
                      <a:pPr algn="ctr">
                        <a:defRPr sz="950" b="0">
                          <a:solidFill>
                            <a:srgbClr val="1A1A1A"/>
                          </a:solidFill>
                          <a:latin typeface="Times New Roman"/>
                        </a:defRPr>
                      </a:pPr>
                      <a:r>
                        <a:rPr sz="950" b="0">
                          <a:solidFill>
                            <a:srgbClr val="1A1A1A"/>
                          </a:solidFill>
                          <a:latin typeface="Times New Roman"/>
                        </a:rPr>
                        <a:t>AdamW lr 3e-5, 25 epochs, 3 warmup</a:t>
                      </a:r>
                    </a:p>
                    <a:p>
                      <a:pPr algn="ctr">
                        <a:defRPr sz="950" b="0">
                          <a:solidFill>
                            <a:srgbClr val="1A1A1A"/>
                          </a:solidFill>
                          <a:latin typeface="Times New Roman"/>
                        </a:defRPr>
                      </a:pPr>
                      <a:r>
                        <a:rPr sz="950" b="0">
                          <a:solidFill>
                            <a:srgbClr val="1A1A1A"/>
                          </a:solidFill>
                          <a:latin typeface="Times New Roman"/>
                        </a:rPr>
                        <a:t>focal gamma 2.0, no oversampling</a:t>
                      </a:r>
                    </a:p>
                    <a:p>
                      <a:pPr algn="ctr">
                        <a:defRPr sz="950" b="0">
                          <a:solidFill>
                            <a:srgbClr val="1A1A1A"/>
                          </a:solidFill>
                          <a:latin typeface="Times New Roman"/>
                        </a:defRPr>
                      </a:pPr>
                      <a:r>
                        <a:rPr sz="950" b="0">
                          <a:solidFill>
                            <a:srgbClr val="1A1A1A"/>
                          </a:solidFill>
                          <a:latin typeface="Times New Roman"/>
                        </a:rPr>
                        <a:t>EMA 0.999, 4-way flip TTA, bf16</a:t>
                      </a:r>
                    </a:p>
                  </a:txBody>
                  <a:tcPr marL="73152" marR="73152" marT="27432" marB="27432" anchor="ctr">
                    <a:solidFill>
                      <a:srgbClr val="FFFFFF"/>
                    </a:solidFill>
                  </a:tcPr>
                </a:tc>
                <a:tc>
                  <a:txBody>
                    <a:bodyPr/>
                    <a:lstStyle/>
                    <a:p>
                      <a:pPr algn="ctr">
                        <a:defRPr sz="950" b="0">
                          <a:solidFill>
                            <a:srgbClr val="1A1A1A"/>
                          </a:solidFill>
                          <a:latin typeface="Times New Roman"/>
                        </a:defRPr>
                      </a:pPr>
                      <a:r>
                        <a:rPr sz="950" b="0">
                          <a:solidFill>
                            <a:srgbClr val="1A1A1A"/>
                          </a:solidFill>
                          <a:latin typeface="Times New Roman"/>
                        </a:rPr>
                        <a:t>25 of 25 epochs, zero non-finite batches</a:t>
                      </a:r>
                    </a:p>
                    <a:p>
                      <a:pPr algn="ctr">
                        <a:defRPr sz="950" b="0">
                          <a:solidFill>
                            <a:srgbClr val="1A1A1A"/>
                          </a:solidFill>
                          <a:latin typeface="Times New Roman"/>
                        </a:defRPr>
                      </a:pPr>
                      <a:r>
                        <a:rPr sz="950" b="0">
                          <a:solidFill>
                            <a:srgbClr val="1A1A1A"/>
                          </a:solidFill>
                          <a:latin typeface="Times New Roman"/>
                        </a:rPr>
                        <a:t>best epoch 10, 6.64 hours on one A40</a:t>
                      </a:r>
                    </a:p>
                    <a:p>
                      <a:pPr algn="ctr">
                        <a:defRPr sz="950" b="0">
                          <a:solidFill>
                            <a:srgbClr val="1A1A1A"/>
                          </a:solidFill>
                          <a:latin typeface="Times New Roman"/>
                        </a:defRPr>
                      </a:pPr>
                      <a:r>
                        <a:rPr sz="950" b="0">
                          <a:solidFill>
                            <a:srgbClr val="1A1A1A"/>
                          </a:solidFill>
                          <a:latin typeface="Times New Roman"/>
                        </a:rPr>
                        <a:t>DR AUC 0.9377, ME AUC 0.9936</a:t>
                      </a:r>
                    </a:p>
                    <a:p>
                      <a:pPr algn="ctr">
                        <a:defRPr sz="950" b="0">
                          <a:solidFill>
                            <a:srgbClr val="1A1A1A"/>
                          </a:solidFill>
                          <a:latin typeface="Times New Roman"/>
                        </a:defRPr>
                      </a:pPr>
                      <a:r>
                        <a:rPr sz="950" b="0">
                          <a:solidFill>
                            <a:srgbClr val="1A1A1A"/>
                          </a:solidFill>
                          <a:latin typeface="Times New Roman"/>
                        </a:rPr>
                        <a:t>ME precision 1.0000 (no false positives)</a:t>
                      </a:r>
                    </a:p>
                  </a:txBody>
                  <a:tcPr marL="73152" marR="73152" marT="27432" marB="27432" anchor="ctr">
                    <a:solidFill>
                      <a:srgbClr val="FFFFFF"/>
                    </a:solidFill>
                  </a:tcPr>
                </a:tc>
              </a:tr>
            </a:tbl>
          </a:graphicData>
        </a:graphic>
      </p:graphicFrame>
      <p:sp>
        <p:nvSpPr>
          <p:cNvPr id="7" name="TextBox 6"/>
          <p:cNvSpPr txBox="1"/>
          <p:nvPr/>
        </p:nvSpPr>
        <p:spPr>
          <a:xfrm>
            <a:off x="594360" y="5413248"/>
            <a:ext cx="11064240" cy="621791"/>
          </a:xfrm>
          <a:prstGeom prst="rect">
            <a:avLst/>
          </a:prstGeom>
          <a:noFill/>
        </p:spPr>
        <p:txBody>
          <a:bodyPr wrap="square">
            <a:spAutoFit/>
          </a:bodyPr>
          <a:lstStyle/>
          <a:p>
            <a:pPr>
              <a:spcAft>
                <a:spcPts val="800"/>
              </a:spcAft>
              <a:defRPr sz="1150" b="0">
                <a:solidFill>
                  <a:srgbClr val="1A1A1A"/>
                </a:solidFill>
                <a:latin typeface="Times New Roman"/>
              </a:defRPr>
            </a:pPr>
            <a:r>
              <a:rPr sz="1150" b="0">
                <a:solidFill>
                  <a:srgbClr val="1A1A1A"/>
                </a:solidFill>
                <a:latin typeface="Times New Roman"/>
              </a:rPr>
              <a:t>Honest reading: aggregation misses the fewest DR patients of any model and reaches perfect ME precision, but paired bootstrap puts it in a statistical tie with fine-tuning on DR (p = 0.47). It is a tie that catches more patients, not a win.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Where the remaining gap lives</a:t>
            </a:r>
          </a:p>
          <a:p>
            <a:pPr>
              <a:defRPr sz="1250" b="0">
                <a:solidFill>
                  <a:srgbClr val="5F5F5F"/>
                </a:solidFill>
                <a:latin typeface="Times New Roman"/>
              </a:defRPr>
            </a:pPr>
            <a:r>
              <a:rPr sz="1250" b="0">
                <a:solidFill>
                  <a:srgbClr val="5F5F5F"/>
                </a:solidFill>
                <a:latin typeface="Times New Roman"/>
              </a:rPr>
              <a:t>Diabetic retinopathy, diseased-class F1 on the mBRSET test set. Reading left to right, each step is a different kind of fix.</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63040"/>
            <a:ext cx="1463040" cy="256032"/>
          </a:xfrm>
          <a:prstGeom prst="rect">
            <a:avLst/>
          </a:prstGeom>
          <a:noFill/>
        </p:spPr>
        <p:txBody>
          <a:bodyPr wrap="square">
            <a:spAutoFit/>
          </a:bodyPr>
          <a:lstStyle/>
          <a:p>
            <a:pPr algn="ctr">
              <a:defRPr sz="1250" b="1">
                <a:solidFill>
                  <a:srgbClr val="1F4E79"/>
                </a:solidFill>
                <a:latin typeface="Times New Roman"/>
              </a:defRPr>
            </a:pPr>
            <a:r>
              <a:rPr sz="1250" b="1">
                <a:solidFill>
                  <a:srgbClr val="1F4E79"/>
                </a:solidFill>
                <a:latin typeface="Times New Roman"/>
              </a:rPr>
              <a:t>0.7842</a:t>
            </a:r>
          </a:p>
        </p:txBody>
      </p:sp>
      <p:sp>
        <p:nvSpPr>
          <p:cNvPr id="5" name="TextBox 4"/>
          <p:cNvSpPr txBox="1"/>
          <p:nvPr/>
        </p:nvSpPr>
        <p:spPr>
          <a:xfrm>
            <a:off x="685800" y="1719072"/>
            <a:ext cx="1463040" cy="420624"/>
          </a:xfrm>
          <a:prstGeom prst="rect">
            <a:avLst/>
          </a:prstGeom>
          <a:noFill/>
        </p:spPr>
        <p:txBody>
          <a:bodyPr wrap="square">
            <a:spAutoFit/>
          </a:bodyPr>
          <a:lstStyle/>
          <a:p>
            <a:pPr algn="ctr">
              <a:defRPr sz="950" b="0">
                <a:solidFill>
                  <a:srgbClr val="5F5F5F"/>
                </a:solidFill>
                <a:latin typeface="Times New Roman"/>
              </a:defRPr>
            </a:pPr>
            <a:r>
              <a:rPr sz="950" b="0">
                <a:solidFill>
                  <a:srgbClr val="5F5F5F"/>
                </a:solidFill>
                <a:latin typeface="Times New Roman"/>
              </a:rPr>
              <a:t>Setup A,</a:t>
            </a:r>
            <a:br/>
            <a:r>
              <a:rPr sz="950" b="0">
                <a:solidFill>
                  <a:srgbClr val="5F5F5F"/>
                </a:solidFill>
                <a:latin typeface="Times New Roman"/>
              </a:rPr>
              <a:t>as transferred</a:t>
            </a:r>
          </a:p>
        </p:txBody>
      </p:sp>
      <p:sp>
        <p:nvSpPr>
          <p:cNvPr id="6" name="Rectangle 5"/>
          <p:cNvSpPr/>
          <p:nvPr/>
        </p:nvSpPr>
        <p:spPr>
          <a:xfrm>
            <a:off x="1411833" y="2176272"/>
            <a:ext cx="10972" cy="493776"/>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1A"/>
                </a:solidFill>
                <a:latin typeface="Times New Roman"/>
              </a:defRPr>
            </a:pPr>
          </a:p>
        </p:txBody>
      </p:sp>
      <p:sp>
        <p:nvSpPr>
          <p:cNvPr id="7" name="TextBox 6"/>
          <p:cNvSpPr txBox="1"/>
          <p:nvPr/>
        </p:nvSpPr>
        <p:spPr>
          <a:xfrm>
            <a:off x="2231189" y="1463040"/>
            <a:ext cx="1463040" cy="256032"/>
          </a:xfrm>
          <a:prstGeom prst="rect">
            <a:avLst/>
          </a:prstGeom>
          <a:noFill/>
        </p:spPr>
        <p:txBody>
          <a:bodyPr wrap="square">
            <a:spAutoFit/>
          </a:bodyPr>
          <a:lstStyle/>
          <a:p>
            <a:pPr algn="ctr">
              <a:defRPr sz="1250" b="1">
                <a:solidFill>
                  <a:srgbClr val="1F4E79"/>
                </a:solidFill>
                <a:latin typeface="Times New Roman"/>
              </a:defRPr>
            </a:pPr>
            <a:r>
              <a:rPr sz="1250" b="1">
                <a:solidFill>
                  <a:srgbClr val="1F4E79"/>
                </a:solidFill>
                <a:latin typeface="Times New Roman"/>
              </a:rPr>
              <a:t>0.7927</a:t>
            </a:r>
          </a:p>
        </p:txBody>
      </p:sp>
      <p:sp>
        <p:nvSpPr>
          <p:cNvPr id="8" name="TextBox 7"/>
          <p:cNvSpPr txBox="1"/>
          <p:nvPr/>
        </p:nvSpPr>
        <p:spPr>
          <a:xfrm>
            <a:off x="2231189" y="1719072"/>
            <a:ext cx="1463040" cy="420624"/>
          </a:xfrm>
          <a:prstGeom prst="rect">
            <a:avLst/>
          </a:prstGeom>
          <a:noFill/>
        </p:spPr>
        <p:txBody>
          <a:bodyPr wrap="square">
            <a:spAutoFit/>
          </a:bodyPr>
          <a:lstStyle/>
          <a:p>
            <a:pPr algn="ctr">
              <a:defRPr sz="950" b="0">
                <a:solidFill>
                  <a:srgbClr val="5F5F5F"/>
                </a:solidFill>
                <a:latin typeface="Times New Roman"/>
              </a:defRPr>
            </a:pPr>
            <a:r>
              <a:rPr sz="950" b="0">
                <a:solidFill>
                  <a:srgbClr val="5F5F5F"/>
                </a:solidFill>
                <a:latin typeface="Times New Roman"/>
              </a:rPr>
              <a:t>best possible</a:t>
            </a:r>
            <a:br/>
            <a:r>
              <a:rPr sz="950" b="0">
                <a:solidFill>
                  <a:srgbClr val="5F5F5F"/>
                </a:solidFill>
                <a:latin typeface="Times New Roman"/>
              </a:rPr>
              <a:t>cutoff</a:t>
            </a:r>
          </a:p>
        </p:txBody>
      </p:sp>
      <p:sp>
        <p:nvSpPr>
          <p:cNvPr id="9" name="Rectangle 8"/>
          <p:cNvSpPr/>
          <p:nvPr/>
        </p:nvSpPr>
        <p:spPr>
          <a:xfrm>
            <a:off x="2957223" y="2176272"/>
            <a:ext cx="10972" cy="493776"/>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1A"/>
                </a:solidFill>
                <a:latin typeface="Times New Roman"/>
              </a:defRPr>
            </a:pPr>
          </a:p>
        </p:txBody>
      </p:sp>
      <p:sp>
        <p:nvSpPr>
          <p:cNvPr id="10" name="TextBox 9"/>
          <p:cNvSpPr txBox="1"/>
          <p:nvPr/>
        </p:nvSpPr>
        <p:spPr>
          <a:xfrm>
            <a:off x="10012680" y="1463040"/>
            <a:ext cx="1463040" cy="256032"/>
          </a:xfrm>
          <a:prstGeom prst="rect">
            <a:avLst/>
          </a:prstGeom>
          <a:noFill/>
        </p:spPr>
        <p:txBody>
          <a:bodyPr wrap="square">
            <a:spAutoFit/>
          </a:bodyPr>
          <a:lstStyle/>
          <a:p>
            <a:pPr algn="ctr">
              <a:defRPr sz="1250" b="1">
                <a:solidFill>
                  <a:srgbClr val="1F4E79"/>
                </a:solidFill>
                <a:latin typeface="Times New Roman"/>
              </a:defRPr>
            </a:pPr>
            <a:r>
              <a:rPr sz="1250" b="1">
                <a:solidFill>
                  <a:srgbClr val="1F4E79"/>
                </a:solidFill>
                <a:latin typeface="Times New Roman"/>
              </a:rPr>
              <a:t>0.8355</a:t>
            </a:r>
          </a:p>
        </p:txBody>
      </p:sp>
      <p:sp>
        <p:nvSpPr>
          <p:cNvPr id="11" name="TextBox 10"/>
          <p:cNvSpPr txBox="1"/>
          <p:nvPr/>
        </p:nvSpPr>
        <p:spPr>
          <a:xfrm>
            <a:off x="10012680" y="1719072"/>
            <a:ext cx="1463040" cy="420624"/>
          </a:xfrm>
          <a:prstGeom prst="rect">
            <a:avLst/>
          </a:prstGeom>
          <a:noFill/>
        </p:spPr>
        <p:txBody>
          <a:bodyPr wrap="square">
            <a:spAutoFit/>
          </a:bodyPr>
          <a:lstStyle/>
          <a:p>
            <a:pPr algn="ctr">
              <a:defRPr sz="950" b="0">
                <a:solidFill>
                  <a:srgbClr val="5F5F5F"/>
                </a:solidFill>
                <a:latin typeface="Times New Roman"/>
              </a:defRPr>
            </a:pPr>
            <a:r>
              <a:rPr sz="950" b="0">
                <a:solidFill>
                  <a:srgbClr val="5F5F5F"/>
                </a:solidFill>
                <a:latin typeface="Times New Roman"/>
              </a:rPr>
              <a:t>best model trained</a:t>
            </a:r>
            <a:br/>
            <a:r>
              <a:rPr sz="950" b="0">
                <a:solidFill>
                  <a:srgbClr val="5F5F5F"/>
                </a:solidFill>
                <a:latin typeface="Times New Roman"/>
              </a:rPr>
              <a:t>with mBRSET labels</a:t>
            </a:r>
          </a:p>
        </p:txBody>
      </p:sp>
      <p:sp>
        <p:nvSpPr>
          <p:cNvPr id="12" name="Rectangle 11"/>
          <p:cNvSpPr/>
          <p:nvPr/>
        </p:nvSpPr>
        <p:spPr>
          <a:xfrm>
            <a:off x="10738713" y="2176272"/>
            <a:ext cx="10972" cy="493776"/>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1A"/>
                </a:solidFill>
                <a:latin typeface="Times New Roman"/>
              </a:defRPr>
            </a:pPr>
          </a:p>
        </p:txBody>
      </p:sp>
      <p:sp>
        <p:nvSpPr>
          <p:cNvPr id="13" name="Rectangle 12"/>
          <p:cNvSpPr/>
          <p:nvPr/>
        </p:nvSpPr>
        <p:spPr>
          <a:xfrm>
            <a:off x="1417320" y="2670048"/>
            <a:ext cx="1545389" cy="603504"/>
          </a:xfrm>
          <a:prstGeom prst="rect">
            <a:avLst/>
          </a:prstGeom>
          <a:solidFill>
            <a:srgbClr val="A8C0D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A1A1A"/>
                </a:solidFill>
                <a:latin typeface="Times New Roman"/>
              </a:defRPr>
            </a:pPr>
            <a:r>
              <a:rPr sz="1300" b="1">
                <a:solidFill>
                  <a:srgbClr val="1A1A1A"/>
                </a:solidFill>
                <a:latin typeface="Times New Roman"/>
              </a:rPr>
              <a:t>+0.009</a:t>
            </a:r>
          </a:p>
        </p:txBody>
      </p:sp>
      <p:sp>
        <p:nvSpPr>
          <p:cNvPr id="14" name="Rectangle 13"/>
          <p:cNvSpPr/>
          <p:nvPr/>
        </p:nvSpPr>
        <p:spPr>
          <a:xfrm>
            <a:off x="2962709" y="2670048"/>
            <a:ext cx="7781490" cy="603504"/>
          </a:xfrm>
          <a:prstGeom prst="rect">
            <a:avLst/>
          </a:prstGeom>
          <a:solidFill>
            <a:srgbClr val="9B453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Times New Roman"/>
              </a:defRPr>
            </a:pPr>
            <a:r>
              <a:rPr sz="1300" b="1">
                <a:solidFill>
                  <a:srgbClr val="FFFFFF"/>
                </a:solidFill>
                <a:latin typeface="Times New Roman"/>
              </a:rPr>
              <a:t>+0.043</a:t>
            </a:r>
          </a:p>
        </p:txBody>
      </p:sp>
      <p:sp>
        <p:nvSpPr>
          <p:cNvPr id="15" name="TextBox 14"/>
          <p:cNvSpPr txBox="1"/>
          <p:nvPr/>
        </p:nvSpPr>
        <p:spPr>
          <a:xfrm>
            <a:off x="1417320" y="3346704"/>
            <a:ext cx="1545389" cy="420624"/>
          </a:xfrm>
          <a:prstGeom prst="rect">
            <a:avLst/>
          </a:prstGeom>
          <a:noFill/>
        </p:spPr>
        <p:txBody>
          <a:bodyPr wrap="square">
            <a:spAutoFit/>
          </a:bodyPr>
          <a:lstStyle/>
          <a:p>
            <a:pPr algn="ctr">
              <a:defRPr sz="1000" b="0">
                <a:solidFill>
                  <a:srgbClr val="1A1A1A"/>
                </a:solidFill>
                <a:latin typeface="Times New Roman"/>
              </a:defRPr>
            </a:pPr>
            <a:r>
              <a:rPr sz="1000" b="0">
                <a:solidFill>
                  <a:srgbClr val="1A1A1A"/>
                </a:solidFill>
                <a:latin typeface="Times New Roman"/>
              </a:rPr>
              <a:t>all a better</a:t>
            </a:r>
            <a:br/>
            <a:r>
              <a:rPr sz="1000" b="0">
                <a:solidFill>
                  <a:srgbClr val="1A1A1A"/>
                </a:solidFill>
                <a:latin typeface="Times New Roman"/>
              </a:rPr>
              <a:t>cutoff can give</a:t>
            </a:r>
          </a:p>
        </p:txBody>
      </p:sp>
      <p:sp>
        <p:nvSpPr>
          <p:cNvPr id="16" name="TextBox 15"/>
          <p:cNvSpPr txBox="1"/>
          <p:nvPr/>
        </p:nvSpPr>
        <p:spPr>
          <a:xfrm>
            <a:off x="2962709" y="3346704"/>
            <a:ext cx="7781490" cy="274320"/>
          </a:xfrm>
          <a:prstGeom prst="rect">
            <a:avLst/>
          </a:prstGeom>
          <a:noFill/>
        </p:spPr>
        <p:txBody>
          <a:bodyPr wrap="square">
            <a:spAutoFit/>
          </a:bodyPr>
          <a:lstStyle/>
          <a:p>
            <a:pPr algn="ctr">
              <a:defRPr sz="1050" b="0">
                <a:solidFill>
                  <a:srgbClr val="1A1A1A"/>
                </a:solidFill>
                <a:latin typeface="Times New Roman"/>
              </a:defRPr>
            </a:pPr>
            <a:r>
              <a:rPr sz="1050" b="0">
                <a:solidFill>
                  <a:srgbClr val="1A1A1A"/>
                </a:solidFill>
                <a:latin typeface="Times New Roman"/>
              </a:rPr>
              <a:t>no cutoff reaches this. It needs a better model</a:t>
            </a:r>
          </a:p>
        </p:txBody>
      </p:sp>
      <p:sp>
        <p:nvSpPr>
          <p:cNvPr id="17" name="TextBox 16"/>
          <p:cNvSpPr txBox="1"/>
          <p:nvPr/>
        </p:nvSpPr>
        <p:spPr>
          <a:xfrm>
            <a:off x="594360" y="3822191"/>
            <a:ext cx="11064240" cy="310896"/>
          </a:xfrm>
          <a:prstGeom prst="rect">
            <a:avLst/>
          </a:prstGeom>
          <a:noFill/>
        </p:spPr>
        <p:txBody>
          <a:bodyPr wrap="square">
            <a:spAutoFit/>
          </a:bodyPr>
          <a:lstStyle/>
          <a:p>
            <a:pPr algn="l">
              <a:defRPr sz="1350" b="1">
                <a:solidFill>
                  <a:srgbClr val="1F4E79"/>
                </a:solidFill>
                <a:latin typeface="Times New Roman"/>
              </a:defRPr>
            </a:pPr>
            <a:r>
              <a:rPr sz="1350" b="1">
                <a:solidFill>
                  <a:srgbClr val="1F4E79"/>
                </a:solidFill>
                <a:latin typeface="Times New Roman"/>
              </a:rPr>
              <a:t>At most 28 percent of the gap is the decision cutoff. At least 72 percent is the representation.</a:t>
            </a:r>
          </a:p>
        </p:txBody>
      </p:sp>
      <p:graphicFrame>
        <p:nvGraphicFramePr>
          <p:cNvPr id="18" name="Table 17"/>
          <p:cNvGraphicFramePr>
            <a:graphicFrameLocks noGrp="1"/>
          </p:cNvGraphicFramePr>
          <p:nvPr/>
        </p:nvGraphicFramePr>
        <p:xfrm>
          <a:off x="594360" y="4151376"/>
          <a:ext cx="11064236" cy="1325880"/>
        </p:xfrm>
        <a:graphic>
          <a:graphicData uri="http://schemas.openxmlformats.org/drawingml/2006/table">
            <a:tbl>
              <a:tblPr firstRow="1" bandRow="1">
                <a:tableStyleId>{5C22544A-7EE6-4342-B048-85BDC9FD1C3A}</a:tableStyleId>
              </a:tblPr>
              <a:tblGrid>
                <a:gridCol w="4937759"/>
                <a:gridCol w="1371599"/>
                <a:gridCol w="2285999"/>
                <a:gridCol w="2468879"/>
              </a:tblGrid>
              <a:tr h="265176">
                <a:tc>
                  <a:txBody>
                    <a:bodyPr/>
                    <a:lstStyle/>
                    <a:p>
                      <a:pPr algn="l">
                        <a:defRPr sz="1000" b="1">
                          <a:solidFill>
                            <a:srgbClr val="FFFFFF"/>
                          </a:solidFill>
                          <a:latin typeface="Times New Roman"/>
                        </a:defRPr>
                      </a:pPr>
                      <a:r>
                        <a:rPr sz="1000" b="1">
                          <a:solidFill>
                            <a:srgbClr val="FFFFFF"/>
                          </a:solidFill>
                          <a:latin typeface="Times New Roman"/>
                        </a:rPr>
                        <a:t>Endpoint used as the target</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Its F1</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Share that is cutoff</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Share that is representation</a:t>
                      </a:r>
                    </a:p>
                  </a:txBody>
                  <a:tcPr marL="73152" marR="73152" marT="27432" marB="27432" anchor="ctr">
                    <a:solidFill>
                      <a:srgbClr val="1F4E79"/>
                    </a:solidFill>
                  </a:tcPr>
                </a:tc>
              </a:tr>
              <a:tr h="265176">
                <a:tc>
                  <a:txBody>
                    <a:bodyPr/>
                    <a:lstStyle/>
                    <a:p>
                      <a:pPr algn="l">
                        <a:defRPr sz="1000" b="0">
                          <a:solidFill>
                            <a:srgbClr val="1A1A1A"/>
                          </a:solidFill>
                          <a:latin typeface="Times New Roman"/>
                        </a:defRPr>
                      </a:pPr>
                      <a:r>
                        <a:rPr sz="1000" b="0">
                          <a:solidFill>
                            <a:srgbClr val="1A1A1A"/>
                          </a:solidFill>
                          <a:latin typeface="Times New Roman"/>
                        </a:rPr>
                        <a:t>mBRSET from scratch, old recipe</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0.8146</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28%</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72%</a:t>
                      </a:r>
                    </a:p>
                  </a:txBody>
                  <a:tcPr marL="73152" marR="73152" marT="27432" marB="27432" anchor="ctr">
                    <a:solidFill>
                      <a:srgbClr val="FFFFFF"/>
                    </a:solidFill>
                  </a:tcPr>
                </a:tc>
              </a:tr>
              <a:tr h="265176">
                <a:tc>
                  <a:txBody>
                    <a:bodyPr/>
                    <a:lstStyle/>
                    <a:p>
                      <a:pPr algn="l">
                        <a:defRPr sz="1000" b="0">
                          <a:solidFill>
                            <a:srgbClr val="1A1A1A"/>
                          </a:solidFill>
                          <a:latin typeface="Times New Roman"/>
                        </a:defRPr>
                      </a:pPr>
                      <a:r>
                        <a:rPr sz="1000" b="0">
                          <a:solidFill>
                            <a:srgbClr val="1A1A1A"/>
                          </a:solidFill>
                          <a:latin typeface="Times New Roman"/>
                        </a:rPr>
                        <a:t>mBRSET from scratch, stable schedule</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0.8239</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22%</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78%</a:t>
                      </a:r>
                    </a:p>
                  </a:txBody>
                  <a:tcPr marL="73152" marR="73152" marT="27432" marB="27432" anchor="ctr">
                    <a:solidFill>
                      <a:srgbClr val="F2F4F7"/>
                    </a:solidFill>
                  </a:tcPr>
                </a:tc>
              </a:tr>
              <a:tr h="265176">
                <a:tc>
                  <a:txBody>
                    <a:bodyPr/>
                    <a:lstStyle/>
                    <a:p>
                      <a:pPr algn="l">
                        <a:defRPr sz="1000" b="0">
                          <a:solidFill>
                            <a:srgbClr val="1A1A1A"/>
                          </a:solidFill>
                          <a:latin typeface="Times New Roman"/>
                        </a:defRPr>
                      </a:pPr>
                      <a:r>
                        <a:rPr sz="1000" b="0">
                          <a:solidFill>
                            <a:srgbClr val="1A1A1A"/>
                          </a:solidFill>
                          <a:latin typeface="Times New Roman"/>
                        </a:rPr>
                        <a:t>BRSET and mBRSET trained jointly (Setup B)</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0.8250</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21%</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79%</a:t>
                      </a:r>
                    </a:p>
                  </a:txBody>
                  <a:tcPr marL="73152" marR="73152" marT="27432" marB="27432" anchor="ctr">
                    <a:solidFill>
                      <a:srgbClr val="FFFFFF"/>
                    </a:solidFill>
                  </a:tcPr>
                </a:tc>
              </a:tr>
              <a:tr h="265176">
                <a:tc>
                  <a:txBody>
                    <a:bodyPr/>
                    <a:lstStyle/>
                    <a:p>
                      <a:pPr algn="l">
                        <a:defRPr sz="1000" b="0">
                          <a:solidFill>
                            <a:srgbClr val="1A1A1A"/>
                          </a:solidFill>
                          <a:latin typeface="Times New Roman"/>
                        </a:defRPr>
                      </a:pPr>
                      <a:r>
                        <a:rPr sz="1000" b="0">
                          <a:solidFill>
                            <a:srgbClr val="1A1A1A"/>
                          </a:solidFill>
                          <a:latin typeface="Times New Roman"/>
                        </a:rPr>
                        <a:t>BRSET pretrain then mBRSET finetune</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0.8355</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17%</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83%</a:t>
                      </a:r>
                    </a:p>
                  </a:txBody>
                  <a:tcPr marL="73152" marR="73152" marT="27432" marB="27432" anchor="ctr">
                    <a:solidFill>
                      <a:srgbClr val="F2F4F7"/>
                    </a:solidFill>
                  </a:tcPr>
                </a:tc>
              </a:tr>
            </a:tbl>
          </a:graphicData>
        </a:graphic>
      </p:graphicFrame>
      <p:sp>
        <p:nvSpPr>
          <p:cNvPr id="19" name="TextBox 18"/>
          <p:cNvSpPr txBox="1"/>
          <p:nvPr/>
        </p:nvSpPr>
        <p:spPr>
          <a:xfrm>
            <a:off x="594360" y="5577840"/>
            <a:ext cx="11064240" cy="548640"/>
          </a:xfrm>
          <a:prstGeom prst="rect">
            <a:avLst/>
          </a:prstGeom>
          <a:noFill/>
        </p:spPr>
        <p:txBody>
          <a:bodyPr wrap="square">
            <a:spAutoFit/>
          </a:bodyPr>
          <a:lstStyle/>
          <a:p>
            <a:pPr>
              <a:spcAft>
                <a:spcPts val="800"/>
              </a:spcAft>
              <a:defRPr sz="1150" b="0">
                <a:solidFill>
                  <a:srgbClr val="1A1A1A"/>
                </a:solidFill>
                <a:latin typeface="Times New Roman"/>
              </a:defRPr>
            </a:pPr>
            <a:r>
              <a:rPr sz="1150" b="0">
                <a:solidFill>
                  <a:srgbClr val="1A1A1A"/>
                </a:solidFill>
                <a:latin typeface="Times New Roman"/>
              </a:rPr>
              <a:t>The 0.7927 ceiling came from sweeping every cutoff from 0.005 to 0.995. Calibration, temperature scaling and label-shift correction only rescale scores, so none of them can pass it. That whole family is ruled out by measurement rather than by trial.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The obstacle, and the proposed way around it</a:t>
            </a:r>
          </a:p>
          <a:p>
            <a:pPr>
              <a:defRPr sz="1250" b="0">
                <a:solidFill>
                  <a:srgbClr val="5F5F5F"/>
                </a:solidFill>
                <a:latin typeface="Times New Roman"/>
              </a:defRPr>
            </a:pPr>
            <a:r>
              <a:rPr sz="1250" b="0">
                <a:solidFill>
                  <a:srgbClr val="5F5F5F"/>
                </a:solidFill>
                <a:latin typeface="Times New Roman"/>
              </a:rPr>
              <a:t>The camera-adaptation papers all assume paired data, the same patient on both devices. BRSET and mBRSET share no patients.</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627632"/>
            <a:ext cx="2377440" cy="566928"/>
          </a:xfrm>
          <a:prstGeom prst="rect">
            <a:avLst/>
          </a:prstGeom>
          <a:noFill/>
        </p:spPr>
        <p:txBody>
          <a:bodyPr wrap="square">
            <a:spAutoFit/>
          </a:bodyPr>
          <a:lstStyle/>
          <a:p>
            <a:pPr algn="l">
              <a:defRPr sz="1100" b="1">
                <a:solidFill>
                  <a:srgbClr val="1F4E79"/>
                </a:solidFill>
                <a:latin typeface="Times New Roman"/>
              </a:defRPr>
            </a:pPr>
            <a:r>
              <a:rPr sz="1100" b="1">
                <a:solidFill>
                  <a:srgbClr val="1F4E79"/>
                </a:solidFill>
                <a:latin typeface="Times New Roman"/>
              </a:rPr>
              <a:t>What the published</a:t>
            </a:r>
            <a:br/>
            <a:r>
              <a:rPr sz="1100" b="1">
                <a:solidFill>
                  <a:srgbClr val="1F4E79"/>
                </a:solidFill>
                <a:latin typeface="Times New Roman"/>
              </a:rPr>
              <a:t>methods need</a:t>
            </a:r>
          </a:p>
        </p:txBody>
      </p:sp>
      <p:sp>
        <p:nvSpPr>
          <p:cNvPr id="5" name="Rectangle 4"/>
          <p:cNvSpPr/>
          <p:nvPr/>
        </p:nvSpPr>
        <p:spPr>
          <a:xfrm>
            <a:off x="3108960" y="1572768"/>
            <a:ext cx="2743200" cy="749808"/>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Patient A</a:t>
            </a:r>
            <a:br/>
            <a:r>
              <a:rPr sz="1050" b="0">
                <a:solidFill>
                  <a:srgbClr val="1A1A1A"/>
                </a:solidFill>
                <a:latin typeface="Times New Roman"/>
              </a:rPr>
              <a:t>on the tabletop camera</a:t>
            </a:r>
          </a:p>
        </p:txBody>
      </p:sp>
      <p:sp>
        <p:nvSpPr>
          <p:cNvPr id="6" name="Right Arrow 5"/>
          <p:cNvSpPr/>
          <p:nvPr/>
        </p:nvSpPr>
        <p:spPr>
          <a:xfrm>
            <a:off x="5961888" y="1856231"/>
            <a:ext cx="43891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10528" y="1572768"/>
            <a:ext cx="2834640" cy="749808"/>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Patient A</a:t>
            </a:r>
            <a:br/>
            <a:r>
              <a:rPr sz="1050" b="0">
                <a:solidFill>
                  <a:srgbClr val="1A1A1A"/>
                </a:solidFill>
                <a:latin typeface="Times New Roman"/>
              </a:rPr>
              <a:t>on the handheld camera</a:t>
            </a:r>
          </a:p>
        </p:txBody>
      </p:sp>
      <p:sp>
        <p:nvSpPr>
          <p:cNvPr id="8" name="Rectangle 7"/>
          <p:cNvSpPr/>
          <p:nvPr/>
        </p:nvSpPr>
        <p:spPr>
          <a:xfrm>
            <a:off x="9509760" y="1572768"/>
            <a:ext cx="2148840" cy="749808"/>
          </a:xfrm>
          <a:prstGeom prst="rect">
            <a:avLst/>
          </a:prstGeom>
          <a:solidFill>
            <a:srgbClr val="DFEADF"/>
          </a:solidFill>
          <a:ln w="9525">
            <a:solidFill>
              <a:srgbClr val="1E6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A1A1A"/>
                </a:solidFill>
                <a:latin typeface="Times New Roman"/>
              </a:defRPr>
            </a:pPr>
            <a:r>
              <a:rPr sz="1200" b="1">
                <a:solidFill>
                  <a:srgbClr val="1A1A1A"/>
                </a:solidFill>
                <a:latin typeface="Times New Roman"/>
              </a:rPr>
              <a:t>PAIRED</a:t>
            </a:r>
          </a:p>
        </p:txBody>
      </p:sp>
      <p:sp>
        <p:nvSpPr>
          <p:cNvPr id="9" name="TextBox 8"/>
          <p:cNvSpPr txBox="1"/>
          <p:nvPr/>
        </p:nvSpPr>
        <p:spPr>
          <a:xfrm>
            <a:off x="594360" y="2743200"/>
            <a:ext cx="2377440" cy="566928"/>
          </a:xfrm>
          <a:prstGeom prst="rect">
            <a:avLst/>
          </a:prstGeom>
          <a:noFill/>
        </p:spPr>
        <p:txBody>
          <a:bodyPr wrap="square">
            <a:spAutoFit/>
          </a:bodyPr>
          <a:lstStyle/>
          <a:p>
            <a:pPr algn="l">
              <a:defRPr sz="1100" b="1">
                <a:solidFill>
                  <a:srgbClr val="1F4E79"/>
                </a:solidFill>
                <a:latin typeface="Times New Roman"/>
              </a:defRPr>
            </a:pPr>
            <a:r>
              <a:rPr sz="1100" b="1">
                <a:solidFill>
                  <a:srgbClr val="1F4E79"/>
                </a:solidFill>
                <a:latin typeface="Times New Roman"/>
              </a:rPr>
              <a:t>What this project</a:t>
            </a:r>
            <a:br/>
            <a:r>
              <a:rPr sz="1100" b="1">
                <a:solidFill>
                  <a:srgbClr val="1F4E79"/>
                </a:solidFill>
                <a:latin typeface="Times New Roman"/>
              </a:rPr>
              <a:t>actually has</a:t>
            </a:r>
          </a:p>
        </p:txBody>
      </p:sp>
      <p:sp>
        <p:nvSpPr>
          <p:cNvPr id="10" name="Rectangle 9"/>
          <p:cNvSpPr/>
          <p:nvPr/>
        </p:nvSpPr>
        <p:spPr>
          <a:xfrm>
            <a:off x="3108960" y="2688336"/>
            <a:ext cx="2743200" cy="749808"/>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BRSET</a:t>
            </a:r>
            <a:br/>
            <a:r>
              <a:rPr sz="1050" b="0">
                <a:solidFill>
                  <a:srgbClr val="1A1A1A"/>
                </a:solidFill>
                <a:latin typeface="Times New Roman"/>
              </a:rPr>
              <a:t>8,524 patients</a:t>
            </a:r>
          </a:p>
        </p:txBody>
      </p:sp>
      <p:sp>
        <p:nvSpPr>
          <p:cNvPr id="11" name="Right Arrow 10"/>
          <p:cNvSpPr/>
          <p:nvPr/>
        </p:nvSpPr>
        <p:spPr>
          <a:xfrm>
            <a:off x="5961888" y="2971800"/>
            <a:ext cx="43891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10528" y="2688336"/>
            <a:ext cx="2834640" cy="749808"/>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mBRSET</a:t>
            </a:r>
            <a:br/>
            <a:r>
              <a:rPr sz="1050" b="0">
                <a:solidFill>
                  <a:srgbClr val="1A1A1A"/>
                </a:solidFill>
                <a:latin typeface="Times New Roman"/>
              </a:rPr>
              <a:t>1,291 different patients</a:t>
            </a:r>
          </a:p>
        </p:txBody>
      </p:sp>
      <p:sp>
        <p:nvSpPr>
          <p:cNvPr id="13" name="Rectangle 12"/>
          <p:cNvSpPr/>
          <p:nvPr/>
        </p:nvSpPr>
        <p:spPr>
          <a:xfrm>
            <a:off x="9509760" y="2688336"/>
            <a:ext cx="2148840" cy="749808"/>
          </a:xfrm>
          <a:prstGeom prst="rect">
            <a:avLst/>
          </a:prstGeom>
          <a:solidFill>
            <a:srgbClr val="F7E2DD"/>
          </a:solidFill>
          <a:ln w="9525">
            <a:solidFill>
              <a:srgbClr val="9B352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A1A1A"/>
                </a:solidFill>
                <a:latin typeface="Times New Roman"/>
              </a:defRPr>
            </a:pPr>
            <a:r>
              <a:rPr sz="1200" b="1">
                <a:solidFill>
                  <a:srgbClr val="1A1A1A"/>
                </a:solidFill>
                <a:latin typeface="Times New Roman"/>
              </a:rPr>
              <a:t>NOT PAIRED</a:t>
            </a:r>
          </a:p>
        </p:txBody>
      </p:sp>
      <p:sp>
        <p:nvSpPr>
          <p:cNvPr id="14" name="TextBox 13"/>
          <p:cNvSpPr txBox="1"/>
          <p:nvPr/>
        </p:nvSpPr>
        <p:spPr>
          <a:xfrm>
            <a:off x="594360" y="3858768"/>
            <a:ext cx="2377440" cy="566928"/>
          </a:xfrm>
          <a:prstGeom prst="rect">
            <a:avLst/>
          </a:prstGeom>
          <a:noFill/>
        </p:spPr>
        <p:txBody>
          <a:bodyPr wrap="square">
            <a:spAutoFit/>
          </a:bodyPr>
          <a:lstStyle/>
          <a:p>
            <a:pPr algn="l">
              <a:defRPr sz="1100" b="1">
                <a:solidFill>
                  <a:srgbClr val="1F4E79"/>
                </a:solidFill>
                <a:latin typeface="Times New Roman"/>
              </a:defRPr>
            </a:pPr>
            <a:r>
              <a:rPr sz="1100" b="1">
                <a:solidFill>
                  <a:srgbClr val="1F4E79"/>
                </a:solidFill>
                <a:latin typeface="Times New Roman"/>
              </a:rPr>
              <a:t>The proposed answer:</a:t>
            </a:r>
            <a:br/>
            <a:r>
              <a:rPr sz="1100" b="1">
                <a:solidFill>
                  <a:srgbClr val="1F4E79"/>
                </a:solidFill>
                <a:latin typeface="Times New Roman"/>
              </a:rPr>
              <a:t>device-fitted degradation</a:t>
            </a:r>
          </a:p>
        </p:txBody>
      </p:sp>
      <p:sp>
        <p:nvSpPr>
          <p:cNvPr id="15" name="Rectangle 14"/>
          <p:cNvSpPr/>
          <p:nvPr/>
        </p:nvSpPr>
        <p:spPr>
          <a:xfrm>
            <a:off x="3108960" y="3803904"/>
            <a:ext cx="2743200" cy="749808"/>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One BRSET image</a:t>
            </a:r>
          </a:p>
        </p:txBody>
      </p:sp>
      <p:sp>
        <p:nvSpPr>
          <p:cNvPr id="16" name="Right Arrow 15"/>
          <p:cNvSpPr/>
          <p:nvPr/>
        </p:nvSpPr>
        <p:spPr>
          <a:xfrm>
            <a:off x="5961888" y="4087368"/>
            <a:ext cx="43891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10528" y="3803904"/>
            <a:ext cx="2834640" cy="749808"/>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the same image, degraded to</a:t>
            </a:r>
            <a:br/>
            <a:r>
              <a:rPr sz="1050" b="0">
                <a:solidFill>
                  <a:srgbClr val="1A1A1A"/>
                </a:solidFill>
                <a:latin typeface="Times New Roman"/>
              </a:rPr>
              <a:t>match the handheld camera</a:t>
            </a:r>
          </a:p>
        </p:txBody>
      </p:sp>
      <p:sp>
        <p:nvSpPr>
          <p:cNvPr id="18" name="Rectangle 17"/>
          <p:cNvSpPr/>
          <p:nvPr/>
        </p:nvSpPr>
        <p:spPr>
          <a:xfrm>
            <a:off x="9509760" y="3803904"/>
            <a:ext cx="2148840" cy="749808"/>
          </a:xfrm>
          <a:prstGeom prst="rect">
            <a:avLst/>
          </a:prstGeom>
          <a:solidFill>
            <a:srgbClr val="DFEADF"/>
          </a:solidFill>
          <a:ln w="9525">
            <a:solidFill>
              <a:srgbClr val="1E6B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A1A1A"/>
                </a:solidFill>
                <a:latin typeface="Times New Roman"/>
              </a:defRPr>
            </a:pPr>
            <a:r>
              <a:rPr sz="1200" b="1">
                <a:solidFill>
                  <a:srgbClr val="1A1A1A"/>
                </a:solidFill>
                <a:latin typeface="Times New Roman"/>
              </a:rPr>
              <a:t>PAIRED</a:t>
            </a:r>
          </a:p>
        </p:txBody>
      </p:sp>
      <p:sp>
        <p:nvSpPr>
          <p:cNvPr id="19" name="TextBox 18"/>
          <p:cNvSpPr txBox="1"/>
          <p:nvPr/>
        </p:nvSpPr>
        <p:spPr>
          <a:xfrm>
            <a:off x="594360" y="4718304"/>
            <a:ext cx="11064240" cy="310896"/>
          </a:xfrm>
          <a:prstGeom prst="rect">
            <a:avLst/>
          </a:prstGeom>
          <a:noFill/>
        </p:spPr>
        <p:txBody>
          <a:bodyPr wrap="square">
            <a:spAutoFit/>
          </a:bodyPr>
          <a:lstStyle/>
          <a:p>
            <a:pPr algn="l">
              <a:defRPr sz="1300" b="1">
                <a:solidFill>
                  <a:srgbClr val="1F4E79"/>
                </a:solidFill>
                <a:latin typeface="Times New Roman"/>
              </a:defRPr>
            </a:pPr>
            <a:r>
              <a:rPr sz="1300" b="1">
                <a:solidFill>
                  <a:srgbClr val="1F4E79"/>
                </a:solidFill>
                <a:latin typeface="Times New Roman"/>
              </a:rPr>
              <a:t>Degradation augmentation manufactures the pairs that do not exist naturally</a:t>
            </a:r>
          </a:p>
        </p:txBody>
      </p:sp>
      <p:sp>
        <p:nvSpPr>
          <p:cNvPr id="20" name="TextBox 19"/>
          <p:cNvSpPr txBox="1"/>
          <p:nvPr/>
        </p:nvSpPr>
        <p:spPr>
          <a:xfrm>
            <a:off x="594360" y="5029200"/>
            <a:ext cx="11064240" cy="1097280"/>
          </a:xfrm>
          <a:prstGeom prst="rect">
            <a:avLst/>
          </a:prstGeom>
          <a:noFill/>
        </p:spPr>
        <p:txBody>
          <a:bodyPr wrap="square">
            <a:spAutoFit/>
          </a:bodyPr>
          <a:lstStyle/>
          <a:p>
            <a:pPr>
              <a:spcAft>
                <a:spcPts val="800"/>
              </a:spcAft>
              <a:defRPr sz="1150" b="0">
                <a:solidFill>
                  <a:srgbClr val="1A1A1A"/>
                </a:solidFill>
                <a:latin typeface="Times New Roman"/>
              </a:defRPr>
            </a:pPr>
            <a:r>
              <a:rPr sz="1150" b="0">
                <a:solidFill>
                  <a:srgbClr val="1A1A1A"/>
                </a:solidFill>
                <a:latin typeface="Times New Roman"/>
              </a:rPr>
              <a:t>A clean image and its degraded twin are the same image, so they pair perfectly by construction. Creating them costs nothing.</a:t>
            </a:r>
          </a:p>
          <a:p>
            <a:pPr>
              <a:spcAft>
                <a:spcPts val="800"/>
              </a:spcAft>
              <a:defRPr sz="1150" b="0">
                <a:solidFill>
                  <a:srgbClr val="1A1A1A"/>
                </a:solidFill>
                <a:latin typeface="Times New Roman"/>
              </a:defRPr>
            </a:pPr>
            <a:r>
              <a:rPr sz="1150" b="0">
                <a:solidFill>
                  <a:srgbClr val="1A1A1A"/>
                </a:solidFill>
                <a:latin typeface="Times New Roman"/>
              </a:rPr>
              <a:t>The method: fit the degradation to the measured statistics of the real handheld camera, using the physically grounded fundus degradation model of Shen et al., cofe-Net, IEEE TMI 2021. That fitting is what makes the synthetic pairs realistic enough to learn from, and it is the novel step.</a:t>
            </a:r>
          </a:p>
          <a:p>
            <a:pPr>
              <a:spcAft>
                <a:spcPts val="800"/>
              </a:spcAft>
              <a:defRPr sz="1150" b="0">
                <a:solidFill>
                  <a:srgbClr val="1A1A1A"/>
                </a:solidFill>
                <a:latin typeface="Times New Roman"/>
              </a:defRPr>
            </a:pPr>
            <a:r>
              <a:rPr sz="1150" b="0">
                <a:solidFill>
                  <a:srgbClr val="1A1A1A"/>
                </a:solidFill>
                <a:latin typeface="Times New Roman"/>
              </a:rPr>
              <a:t>This matters beyond answering the objection. Every method that requires pairs was closed to this project and is now open, including clean-to-degraded feature distillation.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The proposed method, and where each piece comes from</a:t>
            </a:r>
          </a:p>
          <a:p>
            <a:pPr>
              <a:defRPr sz="1250" b="0">
                <a:solidFill>
                  <a:srgbClr val="5F5F5F"/>
                </a:solidFill>
                <a:latin typeface="Times New Roman"/>
              </a:defRPr>
            </a:pPr>
            <a:r>
              <a:rPr sz="1250" b="0">
                <a:solidFill>
                  <a:srgbClr val="5F5F5F"/>
                </a:solidFill>
                <a:latin typeface="Times New Roman"/>
              </a:rPr>
              <a:t>Four steps. Every step is published work; the contribution is the chain and the fitting in step 2.</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517904"/>
            <a:ext cx="2468880" cy="40233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latin typeface="Times New Roman"/>
              </a:defRPr>
            </a:pPr>
            <a:r>
              <a:rPr sz="1250" b="1">
                <a:solidFill>
                  <a:srgbClr val="FFFFFF"/>
                </a:solidFill>
                <a:latin typeface="Times New Roman"/>
              </a:rPr>
              <a:t>1.  Measure</a:t>
            </a:r>
          </a:p>
        </p:txBody>
      </p:sp>
      <p:sp>
        <p:nvSpPr>
          <p:cNvPr id="5" name="Rectangle 4"/>
          <p:cNvSpPr/>
          <p:nvPr/>
        </p:nvSpPr>
        <p:spPr>
          <a:xfrm>
            <a:off x="594360" y="1975104"/>
            <a:ext cx="2468880" cy="1078992"/>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How the handheld camera really</a:t>
            </a:r>
            <a:br/>
            <a:r>
              <a:rPr sz="1050" b="0">
                <a:solidFill>
                  <a:srgbClr val="1A1A1A"/>
                </a:solidFill>
                <a:latin typeface="Times New Roman"/>
              </a:rPr>
              <a:t>degrades images, from 4,272</a:t>
            </a:r>
            <a:br/>
            <a:r>
              <a:rPr sz="1050" b="0">
                <a:solidFill>
                  <a:srgbClr val="1A1A1A"/>
                </a:solidFill>
                <a:latin typeface="Times New Roman"/>
              </a:rPr>
              <a:t>artifact-annotated mBRSET images</a:t>
            </a:r>
          </a:p>
        </p:txBody>
      </p:sp>
      <p:sp>
        <p:nvSpPr>
          <p:cNvPr id="6" name="Rectangle 5"/>
          <p:cNvSpPr/>
          <p:nvPr/>
        </p:nvSpPr>
        <p:spPr>
          <a:xfrm>
            <a:off x="594360" y="3127248"/>
            <a:ext cx="2468880" cy="512064"/>
          </a:xfrm>
          <a:prstGeom prst="rect">
            <a:avLst/>
          </a:prstGeom>
          <a:solidFill>
            <a:srgbClr val="ECEFF4"/>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A1A1A"/>
                </a:solidFill>
                <a:latin typeface="Times New Roman"/>
              </a:defRPr>
            </a:pPr>
            <a:r>
              <a:rPr sz="1000" b="1">
                <a:solidFill>
                  <a:srgbClr val="1A1A1A"/>
                </a:solidFill>
                <a:latin typeface="Times New Roman"/>
              </a:rPr>
              <a:t>cofe-Net</a:t>
            </a:r>
            <a:br/>
            <a:r>
              <a:rPr sz="1000" b="1">
                <a:solidFill>
                  <a:srgbClr val="1A1A1A"/>
                </a:solidFill>
                <a:latin typeface="Times New Roman"/>
              </a:rPr>
              <a:t>IEEE TMI 2021</a:t>
            </a:r>
          </a:p>
        </p:txBody>
      </p:sp>
      <p:sp>
        <p:nvSpPr>
          <p:cNvPr id="7" name="Rectangle 6"/>
          <p:cNvSpPr/>
          <p:nvPr/>
        </p:nvSpPr>
        <p:spPr>
          <a:xfrm>
            <a:off x="3429000" y="1517904"/>
            <a:ext cx="2468880" cy="40233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latin typeface="Times New Roman"/>
              </a:defRPr>
            </a:pPr>
            <a:r>
              <a:rPr sz="1250" b="1">
                <a:solidFill>
                  <a:srgbClr val="FFFFFF"/>
                </a:solidFill>
                <a:latin typeface="Times New Roman"/>
              </a:rPr>
              <a:t>2.  Degrade</a:t>
            </a:r>
          </a:p>
        </p:txBody>
      </p:sp>
      <p:sp>
        <p:nvSpPr>
          <p:cNvPr id="8" name="Rectangle 7"/>
          <p:cNvSpPr/>
          <p:nvPr/>
        </p:nvSpPr>
        <p:spPr>
          <a:xfrm>
            <a:off x="3429000" y="1975104"/>
            <a:ext cx="2468880" cy="1078992"/>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Apply that measured degradation</a:t>
            </a:r>
            <a:br/>
            <a:r>
              <a:rPr sz="1050" b="0">
                <a:solidFill>
                  <a:srgbClr val="1A1A1A"/>
                </a:solidFill>
                <a:latin typeface="Times New Roman"/>
              </a:rPr>
              <a:t>to BRSET, creating clean and</a:t>
            </a:r>
            <a:br/>
            <a:r>
              <a:rPr sz="1050" b="0">
                <a:solidFill>
                  <a:srgbClr val="1A1A1A"/>
                </a:solidFill>
                <a:latin typeface="Times New Roman"/>
              </a:rPr>
              <a:t>degraded pairs</a:t>
            </a:r>
          </a:p>
        </p:txBody>
      </p:sp>
      <p:sp>
        <p:nvSpPr>
          <p:cNvPr id="9" name="Rectangle 8"/>
          <p:cNvSpPr/>
          <p:nvPr/>
        </p:nvSpPr>
        <p:spPr>
          <a:xfrm>
            <a:off x="3429000" y="3127248"/>
            <a:ext cx="2468880" cy="512064"/>
          </a:xfrm>
          <a:prstGeom prst="rect">
            <a:avLst/>
          </a:prstGeom>
          <a:solidFill>
            <a:srgbClr val="ECEFF4"/>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A1A1A"/>
                </a:solidFill>
                <a:latin typeface="Times New Roman"/>
              </a:defRPr>
            </a:pPr>
            <a:r>
              <a:rPr sz="1000" b="1">
                <a:solidFill>
                  <a:srgbClr val="1A1A1A"/>
                </a:solidFill>
                <a:latin typeface="Times New Roman"/>
              </a:rPr>
              <a:t>GDRNet</a:t>
            </a:r>
            <a:br/>
            <a:r>
              <a:rPr sz="1000" b="1">
                <a:solidFill>
                  <a:srgbClr val="1A1A1A"/>
                </a:solidFill>
                <a:latin typeface="Times New Roman"/>
              </a:rPr>
              <a:t>MICCAI 2023</a:t>
            </a:r>
          </a:p>
        </p:txBody>
      </p:sp>
      <p:sp>
        <p:nvSpPr>
          <p:cNvPr id="10" name="Rectangle 9"/>
          <p:cNvSpPr/>
          <p:nvPr/>
        </p:nvSpPr>
        <p:spPr>
          <a:xfrm>
            <a:off x="6263640" y="1517904"/>
            <a:ext cx="2468880" cy="40233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latin typeface="Times New Roman"/>
              </a:defRPr>
            </a:pPr>
            <a:r>
              <a:rPr sz="1250" b="1">
                <a:solidFill>
                  <a:srgbClr val="FFFFFF"/>
                </a:solidFill>
                <a:latin typeface="Times New Roman"/>
              </a:rPr>
              <a:t>3.  Distil</a:t>
            </a:r>
          </a:p>
        </p:txBody>
      </p:sp>
      <p:sp>
        <p:nvSpPr>
          <p:cNvPr id="11" name="Rectangle 10"/>
          <p:cNvSpPr/>
          <p:nvPr/>
        </p:nvSpPr>
        <p:spPr>
          <a:xfrm>
            <a:off x="6263640" y="1975104"/>
            <a:ext cx="2468880" cy="1078992"/>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Clean features teach the degraded</a:t>
            </a:r>
            <a:br/>
            <a:r>
              <a:rPr sz="1050" b="0">
                <a:solidFill>
                  <a:srgbClr val="1A1A1A"/>
                </a:solidFill>
                <a:latin typeface="Times New Roman"/>
              </a:rPr>
              <a:t>ones, weighted by how hard each</a:t>
            </a:r>
            <a:br/>
            <a:r>
              <a:rPr sz="1050" b="0">
                <a:solidFill>
                  <a:srgbClr val="1A1A1A"/>
                </a:solidFill>
                <a:latin typeface="Times New Roman"/>
              </a:rPr>
              <a:t>region is to recover</a:t>
            </a:r>
          </a:p>
        </p:txBody>
      </p:sp>
      <p:sp>
        <p:nvSpPr>
          <p:cNvPr id="12" name="Rectangle 11"/>
          <p:cNvSpPr/>
          <p:nvPr/>
        </p:nvSpPr>
        <p:spPr>
          <a:xfrm>
            <a:off x="6263640" y="3127248"/>
            <a:ext cx="2468880" cy="512064"/>
          </a:xfrm>
          <a:prstGeom prst="rect">
            <a:avLst/>
          </a:prstGeom>
          <a:solidFill>
            <a:srgbClr val="ECEFF4"/>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A1A1A"/>
                </a:solidFill>
                <a:latin typeface="Times New Roman"/>
              </a:defRPr>
            </a:pPr>
            <a:r>
              <a:rPr sz="1000" b="1">
                <a:solidFill>
                  <a:srgbClr val="1A1A1A"/>
                </a:solidFill>
                <a:latin typeface="Times New Roman"/>
              </a:rPr>
              <a:t>Self-Feature Distillation</a:t>
            </a:r>
            <a:br/>
            <a:r>
              <a:rPr sz="1000" b="1">
                <a:solidFill>
                  <a:srgbClr val="1A1A1A"/>
                </a:solidFill>
                <a:latin typeface="Times New Roman"/>
              </a:rPr>
              <a:t>ECCV 2022</a:t>
            </a:r>
          </a:p>
        </p:txBody>
      </p:sp>
      <p:sp>
        <p:nvSpPr>
          <p:cNvPr id="13" name="Rectangle 12"/>
          <p:cNvSpPr/>
          <p:nvPr/>
        </p:nvSpPr>
        <p:spPr>
          <a:xfrm>
            <a:off x="9098280" y="1517904"/>
            <a:ext cx="2468880" cy="40233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latin typeface="Times New Roman"/>
              </a:defRPr>
            </a:pPr>
            <a:r>
              <a:rPr sz="1250" b="1">
                <a:solidFill>
                  <a:srgbClr val="FFFFFF"/>
                </a:solidFill>
                <a:latin typeface="Times New Roman"/>
              </a:rPr>
              <a:t>4.  Separate</a:t>
            </a:r>
          </a:p>
        </p:txBody>
      </p:sp>
      <p:sp>
        <p:nvSpPr>
          <p:cNvPr id="14" name="Rectangle 13"/>
          <p:cNvSpPr/>
          <p:nvPr/>
        </p:nvSpPr>
        <p:spPr>
          <a:xfrm>
            <a:off x="9098280" y="1975104"/>
            <a:ext cx="2468880" cy="1078992"/>
          </a:xfrm>
          <a:prstGeom prst="rect">
            <a:avLst/>
          </a:prstGeom>
          <a:solidFill>
            <a:srgbClr val="E8EDF3"/>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0">
                <a:solidFill>
                  <a:srgbClr val="1A1A1A"/>
                </a:solidFill>
                <a:latin typeface="Times New Roman"/>
              </a:defRPr>
            </a:pPr>
            <a:r>
              <a:rPr sz="1050" b="0">
                <a:solidFill>
                  <a:srgbClr val="1A1A1A"/>
                </a:solidFill>
                <a:latin typeface="Times New Roman"/>
              </a:rPr>
              <a:t>Split what both cameras share</a:t>
            </a:r>
            <a:br/>
            <a:r>
              <a:rPr sz="1050" b="0">
                <a:solidFill>
                  <a:srgbClr val="1A1A1A"/>
                </a:solidFill>
                <a:latin typeface="Times New Roman"/>
              </a:rPr>
              <a:t>from what is specific to each,</a:t>
            </a:r>
            <a:br/>
            <a:r>
              <a:rPr sz="1050" b="0">
                <a:solidFill>
                  <a:srgbClr val="1A1A1A"/>
                </a:solidFill>
                <a:latin typeface="Times New Roman"/>
              </a:rPr>
              <a:t>inside the encoder</a:t>
            </a:r>
          </a:p>
        </p:txBody>
      </p:sp>
      <p:sp>
        <p:nvSpPr>
          <p:cNvPr id="15" name="Rectangle 14"/>
          <p:cNvSpPr/>
          <p:nvPr/>
        </p:nvSpPr>
        <p:spPr>
          <a:xfrm>
            <a:off x="9098280" y="3127248"/>
            <a:ext cx="2468880" cy="512064"/>
          </a:xfrm>
          <a:prstGeom prst="rect">
            <a:avLst/>
          </a:prstGeom>
          <a:solidFill>
            <a:srgbClr val="ECEFF4"/>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A1A1A"/>
                </a:solidFill>
                <a:latin typeface="Times New Roman"/>
              </a:defRPr>
            </a:pPr>
            <a:r>
              <a:rPr sz="1000" b="1">
                <a:solidFill>
                  <a:srgbClr val="1A1A1A"/>
                </a:solidFill>
                <a:latin typeface="Times New Roman"/>
              </a:rPr>
              <a:t>Domain Separation Nets</a:t>
            </a:r>
            <a:br/>
            <a:r>
              <a:rPr sz="1000" b="1">
                <a:solidFill>
                  <a:srgbClr val="1A1A1A"/>
                </a:solidFill>
                <a:latin typeface="Times New Roman"/>
              </a:rPr>
              <a:t>NeurIPS 2016</a:t>
            </a:r>
          </a:p>
        </p:txBody>
      </p:sp>
      <p:sp>
        <p:nvSpPr>
          <p:cNvPr id="16" name="Right Arrow 15"/>
          <p:cNvSpPr/>
          <p:nvPr/>
        </p:nvSpPr>
        <p:spPr>
          <a:xfrm>
            <a:off x="3108960" y="2359152"/>
            <a:ext cx="25603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5943600" y="2359152"/>
            <a:ext cx="25603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778240" y="2359152"/>
            <a:ext cx="256032" cy="182880"/>
          </a:xfrm>
          <a:prstGeom prst="rightArrow">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877056"/>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Steps 1 and 2 use no target diagnosis labels, only image appearance and existing artifact annotations.</a:t>
            </a:r>
          </a:p>
        </p:txBody>
      </p:sp>
      <p:sp>
        <p:nvSpPr>
          <p:cNvPr id="20" name="TextBox 19"/>
          <p:cNvSpPr txBox="1"/>
          <p:nvPr/>
        </p:nvSpPr>
        <p:spPr>
          <a:xfrm>
            <a:off x="594360" y="4261104"/>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What is genuinely new, and what would disprove it</a:t>
            </a:r>
          </a:p>
        </p:txBody>
      </p:sp>
      <p:sp>
        <p:nvSpPr>
          <p:cNvPr id="21" name="TextBox 20"/>
          <p:cNvSpPr txBox="1"/>
          <p:nvPr/>
        </p:nvSpPr>
        <p:spPr>
          <a:xfrm>
            <a:off x="594360" y="4572000"/>
            <a:ext cx="11064240" cy="1280160"/>
          </a:xfrm>
          <a:prstGeom prst="rect">
            <a:avLst/>
          </a:prstGeom>
          <a:noFill/>
        </p:spPr>
        <p:txBody>
          <a:bodyPr wrap="square">
            <a:spAutoFit/>
          </a:bodyPr>
          <a:lstStyle/>
          <a:p>
            <a:pPr>
              <a:spcAft>
                <a:spcPts val="800"/>
              </a:spcAft>
              <a:defRPr sz="1150" b="0">
                <a:solidFill>
                  <a:srgbClr val="1A1A1A"/>
                </a:solidFill>
                <a:latin typeface="Times New Roman"/>
              </a:defRPr>
            </a:pPr>
            <a:r>
              <a:rPr sz="1150" b="0">
                <a:solidFill>
                  <a:srgbClr val="1A1A1A"/>
                </a:solidFill>
                <a:latin typeface="Times New Roman"/>
              </a:rPr>
              <a:t>Step 2 is the keystone. GDRNet fires its nine operations at a fixed 0.5 probability with hand-chosen magnitudes, tuned for no particular camera. Fitting them to a measured target device is the new part, and it is what makes the pairs realistic enough for step 3 to work.</a:t>
            </a:r>
          </a:p>
          <a:p>
            <a:pPr>
              <a:spcAft>
                <a:spcPts val="800"/>
              </a:spcAft>
              <a:defRPr sz="1150" b="0">
                <a:solidFill>
                  <a:srgbClr val="1A1A1A"/>
                </a:solidFill>
                <a:latin typeface="Times New Roman"/>
              </a:defRPr>
            </a:pPr>
            <a:r>
              <a:rPr sz="1150" b="0">
                <a:solidFill>
                  <a:srgbClr val="1A1A1A"/>
                </a:solidFill>
                <a:latin typeface="Times New Roman"/>
              </a:rPr>
              <a:t>The control: generic FundusAug at its published settings. If fitting to the device does not beat guessing, the contribution fails and I will report that. Gulrajani and Lopez-Paz, ICLR 2021, is the reason that control is not optional.</a:t>
            </a:r>
          </a:p>
        </p:txBody>
      </p:sp>
      <p:sp>
        <p:nvSpPr>
          <p:cNvPr id="22" name="TextBox 21"/>
          <p:cNvSpPr txBox="1"/>
          <p:nvPr/>
        </p:nvSpPr>
        <p:spPr>
          <a:xfrm>
            <a:off x="594360" y="5907024"/>
            <a:ext cx="11064240" cy="640080"/>
          </a:xfrm>
          <a:prstGeom prst="rect">
            <a:avLst/>
          </a:prstGeom>
          <a:noFill/>
        </p:spPr>
        <p:txBody>
          <a:bodyPr wrap="square">
            <a:spAutoFit/>
          </a:bodyPr>
          <a:lstStyle/>
          <a:p>
            <a:pPr>
              <a:defRPr sz="1350" b="1">
                <a:solidFill>
                  <a:srgbClr val="1E6B3C"/>
                </a:solidFill>
                <a:latin typeface="Times New Roman"/>
              </a:defRPr>
            </a:pPr>
            <a:r>
              <a:rPr sz="1350" b="1">
                <a:solidFill>
                  <a:srgbClr val="1E6B3C"/>
                </a:solidFill>
                <a:latin typeface="Times New Roman"/>
              </a:rPr>
              <a:t>Deployable on a new camera without a labelling campaign, which is the practical case.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Three findings from the widened review</a:t>
            </a:r>
          </a:p>
          <a:p>
            <a:pPr>
              <a:defRPr sz="1250" b="0">
                <a:solidFill>
                  <a:srgbClr val="5F5F5F"/>
                </a:solidFill>
                <a:latin typeface="Times New Roman"/>
              </a:defRPr>
            </a:pPr>
            <a:r>
              <a:rPr sz="1250" b="0">
                <a:solidFill>
                  <a:srgbClr val="5F5F5F"/>
                </a:solidFill>
                <a:latin typeface="Times New Roman"/>
              </a:rPr>
              <a:t>The review was widened from the application to the semantics of the problem: two datasets with the same content, one high quality and one low.</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517904"/>
            <a:ext cx="384048"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latin typeface="Times New Roman"/>
              </a:defRPr>
            </a:pPr>
            <a:r>
              <a:rPr sz="1250" b="1">
                <a:solidFill>
                  <a:srgbClr val="FFFFFF"/>
                </a:solidFill>
                <a:latin typeface="Times New Roman"/>
              </a:rPr>
              <a:t>A</a:t>
            </a:r>
          </a:p>
        </p:txBody>
      </p:sp>
      <p:sp>
        <p:nvSpPr>
          <p:cNvPr id="5" name="TextBox 4"/>
          <p:cNvSpPr txBox="1"/>
          <p:nvPr/>
        </p:nvSpPr>
        <p:spPr>
          <a:xfrm>
            <a:off x="1097280" y="1499616"/>
            <a:ext cx="1051560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The unpaired problem is solved in CT, not ophthalmology</a:t>
            </a:r>
          </a:p>
        </p:txBody>
      </p:sp>
      <p:sp>
        <p:nvSpPr>
          <p:cNvPr id="6" name="TextBox 5"/>
          <p:cNvSpPr txBox="1"/>
          <p:nvPr/>
        </p:nvSpPr>
        <p:spPr>
          <a:xfrm>
            <a:off x="1097280" y="1810512"/>
            <a:ext cx="10515600" cy="1188720"/>
          </a:xfrm>
          <a:prstGeom prst="rect">
            <a:avLst/>
          </a:prstGeom>
          <a:noFill/>
        </p:spPr>
        <p:txBody>
          <a:bodyPr wrap="square">
            <a:spAutoFit/>
          </a:bodyPr>
          <a:lstStyle/>
          <a:p>
            <a:pPr algn="l">
              <a:defRPr sz="1050" b="0">
                <a:solidFill>
                  <a:srgbClr val="1A1A1A"/>
                </a:solidFill>
                <a:latin typeface="Times New Roman"/>
              </a:defRPr>
            </a:pPr>
            <a:r>
              <a:rPr sz="1050" b="0">
                <a:solidFill>
                  <a:srgbClr val="1A1A1A"/>
                </a:solidFill>
                <a:latin typeface="Times New Roman"/>
              </a:rPr>
              <a:t>DuDoNet (CVPR 2019) is dual-domain but needs PAIRED data. DCDiff (MICCAI 2024) extends it with conditional diffusion. The CycleGAN family escaped the paired requirement through cycle-consistency: translate low quality to high quality and then back again, recovering the</a:t>
            </a:r>
            <a:br/>
            <a:r>
              <a:rPr sz="1050" b="0">
                <a:solidFill>
                  <a:srgbClr val="1A1A1A"/>
                </a:solidFill>
                <a:latin typeface="Times New Roman"/>
              </a:rPr>
              <a:t>original.</a:t>
            </a:r>
            <a:br/>
            <a:r>
              <a:rPr sz="1050" b="0">
                <a:solidFill>
                  <a:srgbClr val="1A1A1A"/>
                </a:solidFill>
                <a:latin typeface="Times New Roman"/>
              </a:rPr>
              <a:t>The catch, worth a paragraph in the paper: CycleGAN is documented to collapse on real tabletop to portable fundus data (Lin, MICCAI 2022). Borrow the framing, not the method.</a:t>
            </a:r>
          </a:p>
        </p:txBody>
      </p:sp>
      <p:sp>
        <p:nvSpPr>
          <p:cNvPr id="7" name="Rectangle 6"/>
          <p:cNvSpPr/>
          <p:nvPr/>
        </p:nvSpPr>
        <p:spPr>
          <a:xfrm>
            <a:off x="594360" y="3035808"/>
            <a:ext cx="384048"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latin typeface="Times New Roman"/>
              </a:defRPr>
            </a:pPr>
            <a:r>
              <a:rPr sz="1250" b="1">
                <a:solidFill>
                  <a:srgbClr val="FFFFFF"/>
                </a:solidFill>
                <a:latin typeface="Times New Roman"/>
              </a:rPr>
              <a:t>B</a:t>
            </a:r>
          </a:p>
        </p:txBody>
      </p:sp>
      <p:sp>
        <p:nvSpPr>
          <p:cNvPr id="8" name="TextBox 7"/>
          <p:cNvSpPr txBox="1"/>
          <p:nvPr/>
        </p:nvSpPr>
        <p:spPr>
          <a:xfrm>
            <a:off x="1097280" y="3017520"/>
            <a:ext cx="1051560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The routing idea has a name and a 2016 ancestor</a:t>
            </a:r>
          </a:p>
        </p:txBody>
      </p:sp>
      <p:sp>
        <p:nvSpPr>
          <p:cNvPr id="9" name="TextBox 8"/>
          <p:cNvSpPr txBox="1"/>
          <p:nvPr/>
        </p:nvSpPr>
        <p:spPr>
          <a:xfrm>
            <a:off x="1097280" y="3328415"/>
            <a:ext cx="10515600" cy="1188720"/>
          </a:xfrm>
          <a:prstGeom prst="rect">
            <a:avLst/>
          </a:prstGeom>
          <a:noFill/>
        </p:spPr>
        <p:txBody>
          <a:bodyPr wrap="square">
            <a:spAutoFit/>
          </a:bodyPr>
          <a:lstStyle/>
          <a:p>
            <a:pPr algn="l">
              <a:defRPr sz="1050" b="0">
                <a:solidFill>
                  <a:srgbClr val="1A1A1A"/>
                </a:solidFill>
                <a:latin typeface="Times New Roman"/>
              </a:defRPr>
            </a:pPr>
            <a:r>
              <a:rPr sz="1050" b="0">
                <a:solidFill>
                  <a:srgbClr val="1A1A1A"/>
                </a:solidFill>
                <a:latin typeface="Times New Roman"/>
              </a:rPr>
              <a:t>Domain Separation Networks (NeurIPS 2016) is almost exactly what he sketched: a shared encoder for what both domains have in common, a private encoder per domain for what is specific, no paired data required. For the conditional-entropy half there is an active literature on information-theoretic gating for Mixture-of-Experts, where routing is driven by mutual information between expert assignment and label. Neither piece is ours; the combination on cross-device fundus appears open.</a:t>
            </a:r>
          </a:p>
        </p:txBody>
      </p:sp>
      <p:sp>
        <p:nvSpPr>
          <p:cNvPr id="10" name="Rectangle 9"/>
          <p:cNvSpPr/>
          <p:nvPr/>
        </p:nvSpPr>
        <p:spPr>
          <a:xfrm>
            <a:off x="594360" y="4700016"/>
            <a:ext cx="384048" cy="3657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latin typeface="Times New Roman"/>
              </a:defRPr>
            </a:pPr>
            <a:r>
              <a:rPr sz="1250" b="1">
                <a:solidFill>
                  <a:srgbClr val="FFFFFF"/>
                </a:solidFill>
                <a:latin typeface="Times New Roman"/>
              </a:rPr>
              <a:t>C</a:t>
            </a:r>
          </a:p>
        </p:txBody>
      </p:sp>
      <p:sp>
        <p:nvSpPr>
          <p:cNvPr id="11" name="TextBox 10"/>
          <p:cNvSpPr txBox="1"/>
          <p:nvPr/>
        </p:nvSpPr>
        <p:spPr>
          <a:xfrm>
            <a:off x="1097280" y="4681728"/>
            <a:ext cx="1051560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The generative world model idea is partly taken</a:t>
            </a:r>
          </a:p>
        </p:txBody>
      </p:sp>
      <p:sp>
        <p:nvSpPr>
          <p:cNvPr id="12" name="TextBox 11"/>
          <p:cNvSpPr txBox="1"/>
          <p:nvPr/>
        </p:nvSpPr>
        <p:spPr>
          <a:xfrm>
            <a:off x="1097280" y="4992624"/>
            <a:ext cx="10515600" cy="1188720"/>
          </a:xfrm>
          <a:prstGeom prst="rect">
            <a:avLst/>
          </a:prstGeom>
          <a:noFill/>
        </p:spPr>
        <p:txBody>
          <a:bodyPr wrap="square">
            <a:spAutoFit/>
          </a:bodyPr>
          <a:lstStyle/>
          <a:p>
            <a:pPr algn="l">
              <a:defRPr sz="1050" b="0">
                <a:solidFill>
                  <a:srgbClr val="1A1A1A"/>
                </a:solidFill>
                <a:latin typeface="Times New Roman"/>
              </a:defRPr>
            </a:pPr>
            <a:r>
              <a:rPr sz="1050" b="0">
                <a:solidFill>
                  <a:srgbClr val="1A1A1A"/>
                </a:solidFill>
                <a:latin typeface="Times New Roman"/>
              </a:rPr>
              <a:t>A world model for cross-domain relationships looked unexplored. It is not. CheXWorld (CVPR 2025) is a self-supervised world model for radiographs that explicitly models domain variation across hospitals and devices. It validates the direction at a top venue, but the claim must be narrower: CheXWorld does self-supervised pretraining on chest X-ray, not cross-device transfer of a trained classifier.</a:t>
            </a:r>
          </a:p>
        </p:txBody>
      </p:sp>
      <p:sp>
        <p:nvSpPr>
          <p:cNvPr id="13" name="TextBox 12"/>
          <p:cNvSpPr txBox="1"/>
          <p:nvPr/>
        </p:nvSpPr>
        <p:spPr>
          <a:xfrm>
            <a:off x="594360" y="6163056"/>
            <a:ext cx="11064240" cy="640080"/>
          </a:xfrm>
          <a:prstGeom prst="rect">
            <a:avLst/>
          </a:prstGeom>
          <a:noFill/>
        </p:spPr>
        <p:txBody>
          <a:bodyPr wrap="square">
            <a:spAutoFit/>
          </a:bodyPr>
          <a:lstStyle/>
          <a:p>
            <a:pPr>
              <a:defRPr sz="1350" b="1">
                <a:solidFill>
                  <a:srgbClr val="1F4E79"/>
                </a:solidFill>
                <a:latin typeface="Times New Roman"/>
              </a:defRPr>
            </a:pPr>
            <a:r>
              <a:rPr sz="1350" b="1">
                <a:solidFill>
                  <a:srgbClr val="1F4E79"/>
                </a:solidFill>
                <a:latin typeface="Times New Roman"/>
              </a:rPr>
              <a:t>Finding B is the one to act on: it gives the routing proposal a published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The evidence behind each choice</a:t>
            </a:r>
          </a:p>
          <a:p>
            <a:pPr>
              <a:defRPr sz="1250" b="0">
                <a:solidFill>
                  <a:srgbClr val="5F5F5F"/>
                </a:solidFill>
                <a:latin typeface="Times New Roman"/>
              </a:defRPr>
            </a:pPr>
            <a:r>
              <a:rPr sz="1250" b="0">
                <a:solidFill>
                  <a:srgbClr val="5F5F5F"/>
                </a:solidFill>
                <a:latin typeface="Times New Roman"/>
              </a:rPr>
              <a:t>Peer-reviewed venues only. Most sit outside ophthalmology, which is the point. Paper names are links.</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536192"/>
          <a:ext cx="11064236" cy="4114800"/>
        </p:xfrm>
        <a:graphic>
          <a:graphicData uri="http://schemas.openxmlformats.org/drawingml/2006/table">
            <a:tbl>
              <a:tblPr firstRow="1" bandRow="1">
                <a:tableStyleId>{5C22544A-7EE6-4342-B048-85BDC9FD1C3A}</a:tableStyleId>
              </a:tblPr>
              <a:tblGrid>
                <a:gridCol w="822959"/>
                <a:gridCol w="5669279"/>
                <a:gridCol w="2468879"/>
                <a:gridCol w="2103119"/>
              </a:tblGrid>
              <a:tr h="457200">
                <a:tc>
                  <a:txBody>
                    <a:bodyPr/>
                    <a:lstStyle/>
                    <a:p>
                      <a:pPr algn="l">
                        <a:defRPr sz="900" b="1">
                          <a:solidFill>
                            <a:srgbClr val="FFFFFF"/>
                          </a:solidFill>
                          <a:latin typeface="Times New Roman"/>
                        </a:defRPr>
                      </a:pPr>
                      <a:r>
                        <a:rPr sz="900" b="1">
                          <a:solidFill>
                            <a:srgbClr val="FFFFFF"/>
                          </a:solidFill>
                          <a:latin typeface="Times New Roman"/>
                        </a:rPr>
                        <a:t>Use</a:t>
                      </a:r>
                    </a:p>
                  </a:txBody>
                  <a:tcPr marL="73152" marR="73152" marT="27432" marB="27432" anchor="ctr">
                    <a:solidFill>
                      <a:srgbClr val="1F4E79"/>
                    </a:solidFill>
                  </a:tcPr>
                </a:tc>
                <a:tc>
                  <a:txBody>
                    <a:bodyPr/>
                    <a:lstStyle/>
                    <a:p>
                      <a:pPr algn="ctr">
                        <a:defRPr sz="900" b="1">
                          <a:solidFill>
                            <a:srgbClr val="FFFFFF"/>
                          </a:solidFill>
                          <a:latin typeface="Times New Roman"/>
                        </a:defRPr>
                      </a:pPr>
                      <a:r>
                        <a:rPr sz="900" b="1">
                          <a:solidFill>
                            <a:srgbClr val="FFFFFF"/>
                          </a:solidFill>
                          <a:latin typeface="Times New Roman"/>
                        </a:rPr>
                        <a:t>What it establishes</a:t>
                      </a:r>
                    </a:p>
                  </a:txBody>
                  <a:tcPr marL="73152" marR="73152" marT="27432" marB="27432" anchor="ctr">
                    <a:solidFill>
                      <a:srgbClr val="1F4E79"/>
                    </a:solidFill>
                  </a:tcPr>
                </a:tc>
                <a:tc>
                  <a:txBody>
                    <a:bodyPr/>
                    <a:lstStyle/>
                    <a:p>
                      <a:pPr algn="ctr">
                        <a:defRPr sz="900" b="1">
                          <a:solidFill>
                            <a:srgbClr val="FFFFFF"/>
                          </a:solidFill>
                          <a:latin typeface="Times New Roman"/>
                        </a:defRPr>
                      </a:pPr>
                      <a:r>
                        <a:rPr sz="900" b="1">
                          <a:solidFill>
                            <a:srgbClr val="FFFFFF"/>
                          </a:solidFill>
                          <a:latin typeface="Times New Roman"/>
                        </a:rPr>
                        <a:t>Paper</a:t>
                      </a:r>
                    </a:p>
                  </a:txBody>
                  <a:tcPr marL="73152" marR="73152" marT="27432" marB="27432" anchor="ctr">
                    <a:solidFill>
                      <a:srgbClr val="1F4E79"/>
                    </a:solidFill>
                  </a:tcPr>
                </a:tc>
                <a:tc>
                  <a:txBody>
                    <a:bodyPr/>
                    <a:lstStyle/>
                    <a:p>
                      <a:pPr algn="ctr">
                        <a:defRPr sz="900" b="1">
                          <a:solidFill>
                            <a:srgbClr val="FFFFFF"/>
                          </a:solidFill>
                          <a:latin typeface="Times New Roman"/>
                        </a:defRPr>
                      </a:pPr>
                      <a:r>
                        <a:rPr sz="900" b="1">
                          <a:solidFill>
                            <a:srgbClr val="FFFFFF"/>
                          </a:solidFill>
                          <a:latin typeface="Times New Roman"/>
                        </a:rPr>
                        <a:t>Venue</a:t>
                      </a:r>
                    </a:p>
                  </a:txBody>
                  <a:tcPr marL="73152" marR="73152" marT="27432" marB="27432" anchor="ctr">
                    <a:solidFill>
                      <a:srgbClr val="1F4E79"/>
                    </a:solidFill>
                  </a:tcPr>
                </a:tc>
              </a:tr>
              <a:tr h="457200">
                <a:tc>
                  <a:txBody>
                    <a:bodyPr/>
                    <a:lstStyle/>
                    <a:p>
                      <a:pPr algn="l">
                        <a:defRPr sz="900" b="1">
                          <a:solidFill>
                            <a:srgbClr val="1E6B3C"/>
                          </a:solidFill>
                          <a:latin typeface="Times New Roman"/>
                        </a:defRPr>
                      </a:pPr>
                      <a:r>
                        <a:rPr sz="900" b="1">
                          <a:solidFill>
                            <a:srgbClr val="1E6B3C"/>
                          </a:solidFill>
                          <a:latin typeface="Times New Roman"/>
                        </a:rPr>
                        <a:t>Adopt</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rPr>
                        <a:t>Clean features can teach degraded ones, using synthetically</a:t>
                      </a:r>
                    </a:p>
                    <a:p>
                      <a:pPr algn="ctr">
                        <a:defRPr sz="900" b="0">
                          <a:solidFill>
                            <a:srgbClr val="1A1A1A"/>
                          </a:solidFill>
                          <a:latin typeface="Times New Roman"/>
                        </a:defRPr>
                      </a:pPr>
                      <a:r>
                        <a:rPr sz="900" b="0">
                          <a:solidFill>
                            <a:srgbClr val="1A1A1A"/>
                          </a:solidFill>
                          <a:latin typeface="Times New Roman"/>
                        </a:rPr>
                        <a:t>degraded images. Exactly the setting here once step 2 makes pairs</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hlinkClick r:id="rId2"/>
                        </a:rPr>
                        <a:t>Self-Feature Distillation</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rPr>
                        <a:t>ECCV 2022</a:t>
                      </a:r>
                    </a:p>
                  </a:txBody>
                  <a:tcPr marL="73152" marR="73152" marT="27432" marB="27432" anchor="ctr">
                    <a:solidFill>
                      <a:srgbClr val="FFFFFF"/>
                    </a:solidFill>
                  </a:tcPr>
                </a:tc>
              </a:tr>
              <a:tr h="457200">
                <a:tc>
                  <a:txBody>
                    <a:bodyPr/>
                    <a:lstStyle/>
                    <a:p>
                      <a:pPr algn="l">
                        <a:defRPr sz="900" b="1">
                          <a:solidFill>
                            <a:srgbClr val="1E6B3C"/>
                          </a:solidFill>
                          <a:latin typeface="Times New Roman"/>
                        </a:defRPr>
                      </a:pPr>
                      <a:r>
                        <a:rPr sz="900" b="1">
                          <a:solidFill>
                            <a:srgbClr val="1E6B3C"/>
                          </a:solidFill>
                          <a:latin typeface="Times New Roman"/>
                        </a:rPr>
                        <a:t>Adopt</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rPr>
                        <a:t>Degradation and appearance augmentation beat every adaptation</a:t>
                      </a:r>
                    </a:p>
                    <a:p>
                      <a:pPr algn="ctr">
                        <a:defRPr sz="900" b="0">
                          <a:solidFill>
                            <a:srgbClr val="1A1A1A"/>
                          </a:solidFill>
                          <a:latin typeface="Times New Roman"/>
                        </a:defRPr>
                      </a:pPr>
                      <a:r>
                        <a:rPr sz="900" b="0">
                          <a:solidFill>
                            <a:srgbClr val="1A1A1A"/>
                          </a:solidFill>
                          <a:latin typeface="Times New Roman"/>
                        </a:rPr>
                        <a:t>method tested for cross-scanner shift</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hlinkClick r:id="rId3"/>
                        </a:rPr>
                        <a:t>Tellez et al.</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rPr>
                        <a:t>Med. Image Anal. 2019</a:t>
                      </a:r>
                    </a:p>
                  </a:txBody>
                  <a:tcPr marL="73152" marR="73152" marT="27432" marB="27432" anchor="ctr">
                    <a:solidFill>
                      <a:srgbClr val="F2F4F7"/>
                    </a:solidFill>
                  </a:tcPr>
                </a:tc>
              </a:tr>
              <a:tr h="457200">
                <a:tc>
                  <a:txBody>
                    <a:bodyPr/>
                    <a:lstStyle/>
                    <a:p>
                      <a:pPr algn="l">
                        <a:defRPr sz="900" b="1">
                          <a:solidFill>
                            <a:srgbClr val="1E6B3C"/>
                          </a:solidFill>
                          <a:latin typeface="Times New Roman"/>
                        </a:defRPr>
                      </a:pPr>
                      <a:r>
                        <a:rPr sz="900" b="1">
                          <a:solidFill>
                            <a:srgbClr val="1E6B3C"/>
                          </a:solidFill>
                          <a:latin typeface="Times New Roman"/>
                        </a:rPr>
                        <a:t>Adopt</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rPr>
                        <a:t>Shared encoder plus a private encoder per domain, no pairs needed.</a:t>
                      </a:r>
                    </a:p>
                    <a:p>
                      <a:pPr algn="ctr">
                        <a:defRPr sz="900" b="0">
                          <a:solidFill>
                            <a:srgbClr val="1A1A1A"/>
                          </a:solidFill>
                          <a:latin typeface="Times New Roman"/>
                        </a:defRPr>
                      </a:pPr>
                      <a:r>
                        <a:rPr sz="900" b="0">
                          <a:solidFill>
                            <a:srgbClr val="1A1A1A"/>
                          </a:solidFill>
                          <a:latin typeface="Times New Roman"/>
                        </a:rPr>
                        <a:t>The architecture behind the routing idea</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hlinkClick r:id="rId4"/>
                        </a:rPr>
                        <a:t>Domain Separation Networks</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rPr>
                        <a:t>NeurIPS 2016</a:t>
                      </a:r>
                    </a:p>
                  </a:txBody>
                  <a:tcPr marL="73152" marR="73152" marT="27432" marB="27432" anchor="ctr">
                    <a:solidFill>
                      <a:srgbClr val="FFFFFF"/>
                    </a:solidFill>
                  </a:tcPr>
                </a:tc>
              </a:tr>
              <a:tr h="457200">
                <a:tc>
                  <a:txBody>
                    <a:bodyPr/>
                    <a:lstStyle/>
                    <a:p>
                      <a:pPr algn="l">
                        <a:defRPr sz="900" b="1">
                          <a:solidFill>
                            <a:srgbClr val="1F4E79"/>
                          </a:solidFill>
                          <a:latin typeface="Times New Roman"/>
                        </a:defRPr>
                      </a:pPr>
                      <a:r>
                        <a:rPr sz="900" b="1">
                          <a:solidFill>
                            <a:srgbClr val="1F4E79"/>
                          </a:solidFill>
                          <a:latin typeface="Times New Roman"/>
                        </a:rPr>
                        <a:t>Compare</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rPr>
                        <a:t>Aligns low-quality features to high-quality ones through a fixed</a:t>
                      </a:r>
                    </a:p>
                    <a:p>
                      <a:pPr algn="ctr">
                        <a:defRPr sz="900" b="0">
                          <a:solidFill>
                            <a:srgbClr val="1A1A1A"/>
                          </a:solidFill>
                          <a:latin typeface="Times New Roman"/>
                        </a:defRPr>
                      </a:pPr>
                      <a:r>
                        <a:rPr sz="900" b="0">
                          <a:solidFill>
                            <a:srgbClr val="1A1A1A"/>
                          </a:solidFill>
                          <a:latin typeface="Times New Roman"/>
                        </a:rPr>
                        <a:t>invertible decoder</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hlinkClick r:id="rId5"/>
                        </a:rPr>
                        <a:t>QualNet</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rPr>
                        <a:t>CVPR 2021</a:t>
                      </a:r>
                    </a:p>
                  </a:txBody>
                  <a:tcPr marL="73152" marR="73152" marT="27432" marB="27432" anchor="ctr">
                    <a:solidFill>
                      <a:srgbClr val="F2F4F7"/>
                    </a:solidFill>
                  </a:tcPr>
                </a:tc>
              </a:tr>
              <a:tr h="457200">
                <a:tc>
                  <a:txBody>
                    <a:bodyPr/>
                    <a:lstStyle/>
                    <a:p>
                      <a:pPr algn="l">
                        <a:defRPr sz="900" b="1">
                          <a:solidFill>
                            <a:srgbClr val="5F5F5F"/>
                          </a:solidFill>
                          <a:latin typeface="Times New Roman"/>
                        </a:defRPr>
                      </a:pPr>
                      <a:r>
                        <a:rPr sz="900" b="1">
                          <a:solidFill>
                            <a:srgbClr val="5F5F5F"/>
                          </a:solidFill>
                          <a:latin typeface="Times New Roman"/>
                        </a:rPr>
                        <a:t>Frame</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rPr>
                        <a:t>The same problem in CT: two views, one clean and one corrupted.</a:t>
                      </a:r>
                    </a:p>
                    <a:p>
                      <a:pPr algn="ctr">
                        <a:defRPr sz="900" b="0">
                          <a:solidFill>
                            <a:srgbClr val="1A1A1A"/>
                          </a:solidFill>
                          <a:latin typeface="Times New Roman"/>
                        </a:defRPr>
                      </a:pPr>
                      <a:r>
                        <a:rPr sz="900" b="0">
                          <a:solidFill>
                            <a:srgbClr val="1A1A1A"/>
                          </a:solidFill>
                          <a:latin typeface="Times New Roman"/>
                        </a:rPr>
                        <a:t>Needs paired data, which is the limitation inherited here</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hlinkClick r:id="rId6"/>
                        </a:rPr>
                        <a:t>DuDoNet</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rPr>
                        <a:t>CVPR 2019</a:t>
                      </a:r>
                    </a:p>
                  </a:txBody>
                  <a:tcPr marL="73152" marR="73152" marT="27432" marB="27432" anchor="ctr">
                    <a:solidFill>
                      <a:srgbClr val="FFFFFF"/>
                    </a:solidFill>
                  </a:tcPr>
                </a:tc>
              </a:tr>
              <a:tr h="457200">
                <a:tc>
                  <a:txBody>
                    <a:bodyPr/>
                    <a:lstStyle/>
                    <a:p>
                      <a:pPr algn="l">
                        <a:defRPr sz="900" b="1">
                          <a:solidFill>
                            <a:srgbClr val="A36E0A"/>
                          </a:solidFill>
                          <a:latin typeface="Times New Roman"/>
                        </a:defRPr>
                      </a:pPr>
                      <a:r>
                        <a:rPr sz="900" b="1">
                          <a:solidFill>
                            <a:srgbClr val="A36E0A"/>
                          </a:solidFill>
                          <a:latin typeface="Times New Roman"/>
                        </a:rPr>
                        <a:t>Bound</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rPr>
                        <a:t>World model that already captures cross-device domain variation,</a:t>
                      </a:r>
                    </a:p>
                    <a:p>
                      <a:pPr algn="ctr">
                        <a:defRPr sz="900" b="0">
                          <a:solidFill>
                            <a:srgbClr val="1A1A1A"/>
                          </a:solidFill>
                          <a:latin typeface="Times New Roman"/>
                        </a:defRPr>
                      </a:pPr>
                      <a:r>
                        <a:rPr sz="900" b="0">
                          <a:solidFill>
                            <a:srgbClr val="1A1A1A"/>
                          </a:solidFill>
                          <a:latin typeface="Times New Roman"/>
                        </a:rPr>
                        <a:t>so the novelty claim must be narrower</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hlinkClick r:id="rId7"/>
                        </a:rPr>
                        <a:t>CheXWorld</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rPr>
                        <a:t>CVPR 2025</a:t>
                      </a:r>
                    </a:p>
                  </a:txBody>
                  <a:tcPr marL="73152" marR="73152" marT="27432" marB="27432" anchor="ctr">
                    <a:solidFill>
                      <a:srgbClr val="F2F4F7"/>
                    </a:solidFill>
                  </a:tcPr>
                </a:tc>
              </a:tr>
              <a:tr h="457200">
                <a:tc>
                  <a:txBody>
                    <a:bodyPr/>
                    <a:lstStyle/>
                    <a:p>
                      <a:pPr algn="l">
                        <a:defRPr sz="900" b="1">
                          <a:solidFill>
                            <a:srgbClr val="9B3525"/>
                          </a:solidFill>
                          <a:latin typeface="Times New Roman"/>
                        </a:defRPr>
                      </a:pPr>
                      <a:r>
                        <a:rPr sz="900" b="1">
                          <a:solidFill>
                            <a:srgbClr val="9B3525"/>
                          </a:solidFill>
                          <a:latin typeface="Times New Roman"/>
                        </a:rPr>
                        <a:t>Rule out</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rPr>
                        <a:t>Adversarial adaptation collapses on real tabletop to portable data</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hlinkClick r:id="rId8"/>
                        </a:rPr>
                        <a:t>Lin et al.</a:t>
                      </a:r>
                    </a:p>
                  </a:txBody>
                  <a:tcPr marL="73152" marR="73152" marT="27432" marB="27432" anchor="ctr">
                    <a:solidFill>
                      <a:srgbClr val="FFFFFF"/>
                    </a:solidFill>
                  </a:tcPr>
                </a:tc>
                <a:tc>
                  <a:txBody>
                    <a:bodyPr/>
                    <a:lstStyle/>
                    <a:p>
                      <a:pPr algn="ctr">
                        <a:defRPr sz="900" b="0">
                          <a:solidFill>
                            <a:srgbClr val="1A1A1A"/>
                          </a:solidFill>
                          <a:latin typeface="Times New Roman"/>
                        </a:defRPr>
                      </a:pPr>
                      <a:r>
                        <a:rPr sz="900" b="0">
                          <a:solidFill>
                            <a:srgbClr val="1A1A1A"/>
                          </a:solidFill>
                          <a:latin typeface="Times New Roman"/>
                        </a:rPr>
                        <a:t>MICCAI 2022</a:t>
                      </a:r>
                    </a:p>
                  </a:txBody>
                  <a:tcPr marL="73152" marR="73152" marT="27432" marB="27432" anchor="ctr">
                    <a:solidFill>
                      <a:srgbClr val="FFFFFF"/>
                    </a:solidFill>
                  </a:tcPr>
                </a:tc>
              </a:tr>
              <a:tr h="457200">
                <a:tc>
                  <a:txBody>
                    <a:bodyPr/>
                    <a:lstStyle/>
                    <a:p>
                      <a:pPr algn="l">
                        <a:defRPr sz="900" b="1">
                          <a:solidFill>
                            <a:srgbClr val="9B3525"/>
                          </a:solidFill>
                          <a:latin typeface="Times New Roman"/>
                        </a:defRPr>
                      </a:pPr>
                      <a:r>
                        <a:rPr sz="900" b="1">
                          <a:solidFill>
                            <a:srgbClr val="9B3525"/>
                          </a:solidFill>
                          <a:latin typeface="Times New Roman"/>
                        </a:rPr>
                        <a:t>Rule out</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rPr>
                        <a:t>Test-time adaptation loses up to 66 points under prior shift</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hlinkClick r:id="rId9"/>
                        </a:rPr>
                        <a:t>Boudiaf et al. (LAME)</a:t>
                      </a:r>
                    </a:p>
                  </a:txBody>
                  <a:tcPr marL="73152" marR="73152" marT="27432" marB="27432" anchor="ctr">
                    <a:solidFill>
                      <a:srgbClr val="F2F4F7"/>
                    </a:solidFill>
                  </a:tcPr>
                </a:tc>
                <a:tc>
                  <a:txBody>
                    <a:bodyPr/>
                    <a:lstStyle/>
                    <a:p>
                      <a:pPr algn="ctr">
                        <a:defRPr sz="900" b="0">
                          <a:solidFill>
                            <a:srgbClr val="1A1A1A"/>
                          </a:solidFill>
                          <a:latin typeface="Times New Roman"/>
                        </a:defRPr>
                      </a:pPr>
                      <a:r>
                        <a:rPr sz="900" b="0">
                          <a:solidFill>
                            <a:srgbClr val="1A1A1A"/>
                          </a:solidFill>
                          <a:latin typeface="Times New Roman"/>
                        </a:rPr>
                        <a:t>CVPR 2022</a:t>
                      </a:r>
                    </a:p>
                  </a:txBody>
                  <a:tcPr marL="73152" marR="73152" marT="27432" marB="27432" anchor="ctr">
                    <a:solidFill>
                      <a:srgbClr val="F2F4F7"/>
                    </a:solidFill>
                  </a:tcPr>
                </a:tc>
              </a:tr>
            </a:tbl>
          </a:graphicData>
        </a:graphic>
      </p:graphicFrame>
      <p:sp>
        <p:nvSpPr>
          <p:cNvPr id="5" name="TextBox 4"/>
          <p:cNvSpPr txBox="1"/>
          <p:nvPr/>
        </p:nvSpPr>
        <p:spPr>
          <a:xfrm>
            <a:off x="594360" y="5870448"/>
            <a:ext cx="11064240" cy="640080"/>
          </a:xfrm>
          <a:prstGeom prst="rect">
            <a:avLst/>
          </a:prstGeom>
          <a:noFill/>
        </p:spPr>
        <p:txBody>
          <a:bodyPr wrap="square">
            <a:spAutoFit/>
          </a:bodyPr>
          <a:lstStyle/>
          <a:p>
            <a:pPr>
              <a:defRPr sz="1350" b="1">
                <a:solidFill>
                  <a:srgbClr val="1F4E79"/>
                </a:solidFill>
                <a:latin typeface="Times New Roman"/>
              </a:defRPr>
            </a:pPr>
            <a:r>
              <a:rPr sz="1350" b="1">
                <a:solidFill>
                  <a:srgbClr val="1F4E79"/>
                </a:solidFill>
                <a:latin typeface="Times New Roman"/>
              </a:rPr>
              <a:t>Three of the four approaches worth trying first are published failures in this exact setting.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Experiment 1: encoder separation, and what the adversarial term was doing</a:t>
            </a:r>
          </a:p>
          <a:p>
            <a:pPr>
              <a:defRPr sz="1250" b="0">
                <a:solidFill>
                  <a:srgbClr val="5F5F5F"/>
                </a:solidFill>
                <a:latin typeface="Times New Roman"/>
              </a:defRPr>
            </a:pPr>
            <a:r>
              <a:rPr sz="1250" b="0">
                <a:solidFill>
                  <a:srgbClr val="5F5F5F"/>
                </a:solidFill>
                <a:latin typeface="Times New Roman"/>
              </a:rPr>
              <a:t>Four runs on the same aggregated training set. Only the architecture and the adversarial weight change. All 25 of 25 epochs, no instability.</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444752"/>
          <a:ext cx="11064237" cy="1600200"/>
        </p:xfrm>
        <a:graphic>
          <a:graphicData uri="http://schemas.openxmlformats.org/drawingml/2006/table">
            <a:tbl>
              <a:tblPr firstRow="1" bandRow="1">
                <a:tableStyleId>{5C22544A-7EE6-4342-B048-85BDC9FD1C3A}</a:tableStyleId>
              </a:tblPr>
              <a:tblGrid>
                <a:gridCol w="3430772"/>
                <a:gridCol w="1200770"/>
                <a:gridCol w="943462"/>
                <a:gridCol w="943462"/>
                <a:gridCol w="1115000"/>
                <a:gridCol w="1286539"/>
                <a:gridCol w="943462"/>
                <a:gridCol w="1200770"/>
              </a:tblGrid>
              <a:tr h="320040">
                <a:tc>
                  <a:txBody>
                    <a:bodyPr/>
                    <a:lstStyle/>
                    <a:p>
                      <a:pPr algn="l">
                        <a:defRPr sz="1000" b="1">
                          <a:solidFill>
                            <a:srgbClr val="FFFFFF"/>
                          </a:solidFill>
                          <a:latin typeface="Times New Roman"/>
                        </a:defRPr>
                      </a:pPr>
                      <a:r>
                        <a:rPr sz="1000" b="1">
                          <a:solidFill>
                            <a:srgbClr val="FFFFFF"/>
                          </a:solidFill>
                          <a:latin typeface="Times New Roman"/>
                        </a:rPr>
                        <a:t>Run</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Adversarial</a:t>
                      </a:r>
                    </a:p>
                    <a:p>
                      <a:pPr algn="ctr">
                        <a:defRPr sz="1000" b="1">
                          <a:solidFill>
                            <a:srgbClr val="FFFFFF"/>
                          </a:solidFill>
                          <a:latin typeface="Times New Roman"/>
                        </a:defRPr>
                      </a:pPr>
                      <a:r>
                        <a:rPr sz="1000" b="1">
                          <a:solidFill>
                            <a:srgbClr val="FFFFFF"/>
                          </a:solidFill>
                          <a:latin typeface="Times New Roman"/>
                        </a:rPr>
                        <a:t>weight</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DR AUC</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DR F1</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DR recall</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DR missed</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ME F1</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ME missed</a:t>
                      </a:r>
                    </a:p>
                  </a:txBody>
                  <a:tcPr marL="73152" marR="73152" marT="27432" marB="27432" anchor="ctr">
                    <a:solidFill>
                      <a:srgbClr val="1F4E79"/>
                    </a:solidFill>
                  </a:tcPr>
                </a:tc>
              </a:tr>
              <a:tr h="320040">
                <a:tc>
                  <a:txBody>
                    <a:bodyPr/>
                    <a:lstStyle/>
                    <a:p>
                      <a:pPr algn="l">
                        <a:defRPr sz="1000" b="1">
                          <a:solidFill>
                            <a:srgbClr val="1A1A1A"/>
                          </a:solidFill>
                          <a:latin typeface="Times New Roman"/>
                        </a:defRPr>
                      </a:pPr>
                      <a:r>
                        <a:rPr sz="1000" b="1">
                          <a:solidFill>
                            <a:srgbClr val="1A1A1A"/>
                          </a:solidFill>
                          <a:latin typeface="Times New Roman"/>
                        </a:rPr>
                        <a:t>Plain aggregated training (no separation)</a:t>
                      </a:r>
                    </a:p>
                  </a:txBody>
                  <a:tcPr marL="73152" marR="73152" marT="27432" marB="27432" anchor="ctr">
                    <a:solidFill>
                      <a:srgbClr val="DFEADF"/>
                    </a:solidFill>
                  </a:tcPr>
                </a:tc>
                <a:tc>
                  <a:txBody>
                    <a:bodyPr/>
                    <a:lstStyle/>
                    <a:p>
                      <a:pPr algn="ctr">
                        <a:defRPr sz="1000" b="1">
                          <a:solidFill>
                            <a:srgbClr val="1A1A1A"/>
                          </a:solidFill>
                          <a:latin typeface="Times New Roman"/>
                        </a:defRPr>
                      </a:pPr>
                      <a:r>
                        <a:rPr sz="1000" b="1">
                          <a:solidFill>
                            <a:srgbClr val="1A1A1A"/>
                          </a:solidFill>
                          <a:latin typeface="Times New Roman"/>
                        </a:rPr>
                        <a:t>not used</a:t>
                      </a:r>
                    </a:p>
                  </a:txBody>
                  <a:tcPr marL="73152" marR="73152" marT="27432" marB="27432" anchor="ctr">
                    <a:solidFill>
                      <a:srgbClr val="DFEADF"/>
                    </a:solidFill>
                  </a:tcPr>
                </a:tc>
                <a:tc>
                  <a:txBody>
                    <a:bodyPr/>
                    <a:lstStyle/>
                    <a:p>
                      <a:pPr algn="ctr">
                        <a:defRPr sz="1000" b="1">
                          <a:solidFill>
                            <a:srgbClr val="1A1A1A"/>
                          </a:solidFill>
                          <a:latin typeface="Times New Roman"/>
                        </a:defRPr>
                      </a:pPr>
                      <a:r>
                        <a:rPr sz="1000" b="1">
                          <a:solidFill>
                            <a:srgbClr val="1A1A1A"/>
                          </a:solidFill>
                          <a:latin typeface="Times New Roman"/>
                        </a:rPr>
                        <a:t>0.9377</a:t>
                      </a:r>
                    </a:p>
                  </a:txBody>
                  <a:tcPr marL="73152" marR="73152" marT="27432" marB="27432" anchor="ctr">
                    <a:solidFill>
                      <a:srgbClr val="DFEADF"/>
                    </a:solidFill>
                  </a:tcPr>
                </a:tc>
                <a:tc>
                  <a:txBody>
                    <a:bodyPr/>
                    <a:lstStyle/>
                    <a:p>
                      <a:pPr algn="ctr">
                        <a:defRPr sz="1000" b="1">
                          <a:solidFill>
                            <a:srgbClr val="1A1A1A"/>
                          </a:solidFill>
                          <a:latin typeface="Times New Roman"/>
                        </a:defRPr>
                      </a:pPr>
                      <a:r>
                        <a:rPr sz="1000" b="1">
                          <a:solidFill>
                            <a:srgbClr val="1A1A1A"/>
                          </a:solidFill>
                          <a:latin typeface="Times New Roman"/>
                        </a:rPr>
                        <a:t>0.8250</a:t>
                      </a:r>
                    </a:p>
                  </a:txBody>
                  <a:tcPr marL="73152" marR="73152" marT="27432" marB="27432" anchor="ctr">
                    <a:solidFill>
                      <a:srgbClr val="DFEADF"/>
                    </a:solidFill>
                  </a:tcPr>
                </a:tc>
                <a:tc>
                  <a:txBody>
                    <a:bodyPr/>
                    <a:lstStyle/>
                    <a:p>
                      <a:pPr algn="ctr">
                        <a:defRPr sz="1000" b="1">
                          <a:solidFill>
                            <a:srgbClr val="1A1A1A"/>
                          </a:solidFill>
                          <a:latin typeface="Times New Roman"/>
                        </a:defRPr>
                      </a:pPr>
                      <a:r>
                        <a:rPr sz="1000" b="1">
                          <a:solidFill>
                            <a:srgbClr val="1A1A1A"/>
                          </a:solidFill>
                          <a:latin typeface="Times New Roman"/>
                        </a:rPr>
                        <a:t>0.8302</a:t>
                      </a:r>
                    </a:p>
                  </a:txBody>
                  <a:tcPr marL="73152" marR="73152" marT="27432" marB="27432" anchor="ctr">
                    <a:solidFill>
                      <a:srgbClr val="DFEADF"/>
                    </a:solidFill>
                  </a:tcPr>
                </a:tc>
                <a:tc>
                  <a:txBody>
                    <a:bodyPr/>
                    <a:lstStyle/>
                    <a:p>
                      <a:pPr algn="ctr">
                        <a:defRPr sz="1000" b="1">
                          <a:solidFill>
                            <a:srgbClr val="1A1A1A"/>
                          </a:solidFill>
                          <a:latin typeface="Times New Roman"/>
                        </a:defRPr>
                      </a:pPr>
                      <a:r>
                        <a:rPr sz="1000" b="1">
                          <a:solidFill>
                            <a:srgbClr val="1A1A1A"/>
                          </a:solidFill>
                          <a:latin typeface="Times New Roman"/>
                        </a:rPr>
                        <a:t>27 / 159</a:t>
                      </a:r>
                    </a:p>
                  </a:txBody>
                  <a:tcPr marL="73152" marR="73152" marT="27432" marB="27432" anchor="ctr">
                    <a:solidFill>
                      <a:srgbClr val="DFEADF"/>
                    </a:solidFill>
                  </a:tcPr>
                </a:tc>
                <a:tc>
                  <a:txBody>
                    <a:bodyPr/>
                    <a:lstStyle/>
                    <a:p>
                      <a:pPr algn="ctr">
                        <a:defRPr sz="1000" b="1">
                          <a:solidFill>
                            <a:srgbClr val="1A1A1A"/>
                          </a:solidFill>
                          <a:latin typeface="Times New Roman"/>
                        </a:defRPr>
                      </a:pPr>
                      <a:r>
                        <a:rPr sz="1000" b="1">
                          <a:solidFill>
                            <a:srgbClr val="1A1A1A"/>
                          </a:solidFill>
                          <a:latin typeface="Times New Roman"/>
                        </a:rPr>
                        <a:t>0.8649</a:t>
                      </a:r>
                    </a:p>
                  </a:txBody>
                  <a:tcPr marL="73152" marR="73152" marT="27432" marB="27432" anchor="ctr">
                    <a:solidFill>
                      <a:srgbClr val="DFEADF"/>
                    </a:solidFill>
                  </a:tcPr>
                </a:tc>
                <a:tc>
                  <a:txBody>
                    <a:bodyPr/>
                    <a:lstStyle/>
                    <a:p>
                      <a:pPr algn="ctr">
                        <a:defRPr sz="1000" b="1">
                          <a:solidFill>
                            <a:srgbClr val="1A1A1A"/>
                          </a:solidFill>
                          <a:latin typeface="Times New Roman"/>
                        </a:defRPr>
                      </a:pPr>
                      <a:r>
                        <a:rPr sz="1000" b="1">
                          <a:solidFill>
                            <a:srgbClr val="1A1A1A"/>
                          </a:solidFill>
                          <a:latin typeface="Times New Roman"/>
                        </a:rPr>
                        <a:t>15 / 63</a:t>
                      </a:r>
                    </a:p>
                  </a:txBody>
                  <a:tcPr marL="73152" marR="73152" marT="27432" marB="27432" anchor="ctr">
                    <a:solidFill>
                      <a:srgbClr val="DFEADF"/>
                    </a:solidFill>
                  </a:tcPr>
                </a:tc>
              </a:tr>
              <a:tr h="320040">
                <a:tc>
                  <a:txBody>
                    <a:bodyPr/>
                    <a:lstStyle/>
                    <a:p>
                      <a:pPr algn="l">
                        <a:defRPr sz="1000" b="0">
                          <a:solidFill>
                            <a:srgbClr val="1A1A1A"/>
                          </a:solidFill>
                          <a:latin typeface="Times New Roman"/>
                        </a:defRPr>
                      </a:pPr>
                      <a:r>
                        <a:rPr sz="1000" b="0">
                          <a:solidFill>
                            <a:srgbClr val="1A1A1A"/>
                          </a:solidFill>
                          <a:latin typeface="Times New Roman"/>
                        </a:rPr>
                        <a:t>Shared plus private encoders</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0.25</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0.9448</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0.8053</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0.7673</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37 / 159</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0.8224</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19 / 63</a:t>
                      </a:r>
                    </a:p>
                  </a:txBody>
                  <a:tcPr marL="73152" marR="73152" marT="27432" marB="27432" anchor="ctr">
                    <a:solidFill>
                      <a:srgbClr val="F2F4F7"/>
                    </a:solidFill>
                  </a:tcPr>
                </a:tc>
              </a:tr>
              <a:tr h="320040">
                <a:tc>
                  <a:txBody>
                    <a:bodyPr/>
                    <a:lstStyle/>
                    <a:p>
                      <a:pPr algn="l">
                        <a:defRPr sz="1000" b="0">
                          <a:solidFill>
                            <a:srgbClr val="1A1A1A"/>
                          </a:solidFill>
                          <a:latin typeface="Times New Roman"/>
                        </a:defRPr>
                      </a:pPr>
                      <a:r>
                        <a:rPr sz="1000" b="0">
                          <a:solidFill>
                            <a:srgbClr val="1A1A1A"/>
                          </a:solidFill>
                          <a:latin typeface="Times New Roman"/>
                        </a:rPr>
                        <a:t>Shared plus private encoders</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0.05</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0.9404</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0.8227</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0.7736</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36 / 159</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0.8889</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11 / 63</a:t>
                      </a:r>
                    </a:p>
                  </a:txBody>
                  <a:tcPr marL="73152" marR="73152" marT="27432" marB="27432" anchor="ctr">
                    <a:solidFill>
                      <a:srgbClr val="FFFFFF"/>
                    </a:solidFill>
                  </a:tcPr>
                </a:tc>
              </a:tr>
              <a:tr h="320040">
                <a:tc>
                  <a:txBody>
                    <a:bodyPr/>
                    <a:lstStyle/>
                    <a:p>
                      <a:pPr algn="l">
                        <a:defRPr sz="1000" b="0">
                          <a:solidFill>
                            <a:srgbClr val="1A1A1A"/>
                          </a:solidFill>
                          <a:latin typeface="Times New Roman"/>
                        </a:defRPr>
                      </a:pPr>
                      <a:r>
                        <a:rPr sz="1000" b="0">
                          <a:solidFill>
                            <a:srgbClr val="1A1A1A"/>
                          </a:solidFill>
                          <a:latin typeface="Times New Roman"/>
                        </a:rPr>
                        <a:t>Shared plus private encoders</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0.00</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0.9441</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0.8232</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0.8050</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31 / 159</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0.8833</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10 / 63</a:t>
                      </a:r>
                    </a:p>
                  </a:txBody>
                  <a:tcPr marL="73152" marR="73152" marT="27432" marB="27432" anchor="ctr">
                    <a:solidFill>
                      <a:srgbClr val="F2F4F7"/>
                    </a:solidFill>
                  </a:tcPr>
                </a:tc>
              </a:tr>
            </a:tbl>
          </a:graphicData>
        </a:graphic>
      </p:graphicFrame>
      <p:sp>
        <p:nvSpPr>
          <p:cNvPr id="5" name="TextBox 4"/>
          <p:cNvSpPr txBox="1"/>
          <p:nvPr/>
        </p:nvSpPr>
        <p:spPr>
          <a:xfrm>
            <a:off x="594360" y="3200400"/>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What the sweep shows</a:t>
            </a:r>
          </a:p>
        </p:txBody>
      </p:sp>
      <p:sp>
        <p:nvSpPr>
          <p:cNvPr id="6" name="TextBox 5"/>
          <p:cNvSpPr txBox="1"/>
          <p:nvPr/>
        </p:nvSpPr>
        <p:spPr>
          <a:xfrm>
            <a:off x="594360" y="3511296"/>
            <a:ext cx="11064240" cy="1883664"/>
          </a:xfrm>
          <a:prstGeom prst="rect">
            <a:avLst/>
          </a:prstGeom>
          <a:noFill/>
        </p:spPr>
        <p:txBody>
          <a:bodyPr wrap="square">
            <a:spAutoFit/>
          </a:bodyPr>
          <a:lstStyle/>
          <a:p>
            <a:pPr>
              <a:spcAft>
                <a:spcPts val="800"/>
              </a:spcAft>
              <a:defRPr sz="1150" b="0">
                <a:solidFill>
                  <a:srgbClr val="1A1A1A"/>
                </a:solidFill>
                <a:latin typeface="Times New Roman"/>
              </a:defRPr>
            </a:pPr>
            <a:r>
              <a:rPr sz="1150" b="0">
                <a:solidFill>
                  <a:srgbClr val="1A1A1A"/>
                </a:solidFill>
                <a:latin typeface="Times New Roman"/>
              </a:rPr>
              <a:t>The adversarial term was the problem. Turning it down from 0.25 to 0.05 to zero raises DR F1 from 0.8053 to 0.8227 to 0.8232, and cuts missed patients from 37 to 31. It was scrubbing device information the decision still needed, which is why ranking improved while recall fell.</a:t>
            </a:r>
          </a:p>
          <a:p>
            <a:pPr>
              <a:spcAft>
                <a:spcPts val="800"/>
              </a:spcAft>
              <a:defRPr sz="1150" b="0">
                <a:solidFill>
                  <a:srgbClr val="1A1A1A"/>
                </a:solidFill>
                <a:latin typeface="Times New Roman"/>
              </a:defRPr>
            </a:pPr>
            <a:r>
              <a:rPr sz="1150" b="0">
                <a:solidFill>
                  <a:srgbClr val="1A1A1A"/>
                </a:solidFill>
                <a:latin typeface="Times New Roman"/>
              </a:rPr>
              <a:t>Even with it switched off, encoder separation does not beat plain aggregated training. On DR the two are indistinguishable (difference 0.0015, p = 0.91) and plain training still catches four more patients. On macular edema separation is ahead (10 missed against 15), but the difference is not significant (p = 0.50).</a:t>
            </a:r>
          </a:p>
          <a:p>
            <a:pPr>
              <a:spcAft>
                <a:spcPts val="800"/>
              </a:spcAft>
              <a:defRPr sz="1150" b="0">
                <a:solidFill>
                  <a:srgbClr val="1A1A1A"/>
                </a:solidFill>
                <a:latin typeface="Times New Roman"/>
              </a:defRPr>
            </a:pPr>
            <a:r>
              <a:rPr sz="1150" b="0">
                <a:solidFill>
                  <a:srgbClr val="1A1A1A"/>
                </a:solidFill>
                <a:latin typeface="Times New Roman"/>
              </a:rPr>
              <a:t>Sweeping every cutoff confirms it is not a threshold artifact: the best DR F1 reachable is 0.8361 for separation against 0.8383 for plain training. There is no hidden advantage waiting behind a better operating point.</a:t>
            </a:r>
          </a:p>
        </p:txBody>
      </p:sp>
      <p:sp>
        <p:nvSpPr>
          <p:cNvPr id="7" name="Rectangle 6"/>
          <p:cNvSpPr/>
          <p:nvPr/>
        </p:nvSpPr>
        <p:spPr>
          <a:xfrm>
            <a:off x="594360" y="5431536"/>
            <a:ext cx="11064240" cy="548640"/>
          </a:xfrm>
          <a:prstGeom prst="rect">
            <a:avLst/>
          </a:prstGeom>
          <a:solidFill>
            <a:srgbClr val="F8EED8"/>
          </a:solidFill>
          <a:ln w="9525">
            <a:solidFill>
              <a:srgbClr val="A36E0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1A1A1A"/>
                </a:solidFill>
                <a:latin typeface="Times New Roman"/>
              </a:defRPr>
            </a:pPr>
            <a:r>
              <a:rPr sz="1100" b="0">
                <a:solidFill>
                  <a:srgbClr val="1A1A1A"/>
                </a:solidFill>
                <a:latin typeface="Times New Roman"/>
              </a:rPr>
              <a:t>A hypothesis that turned out to be wrong, recorded rather than dropped: the deficit was expected to come from selecting checkpoints on the average of AUC and F1. Reselecting on F1 alone chose the same epoch and gave identical numbers, so that explanation is ruled out.</a:t>
            </a:r>
          </a:p>
        </p:txBody>
      </p:sp>
      <p:sp>
        <p:nvSpPr>
          <p:cNvPr id="8" name="TextBox 7"/>
          <p:cNvSpPr txBox="1"/>
          <p:nvPr/>
        </p:nvSpPr>
        <p:spPr>
          <a:xfrm>
            <a:off x="594360" y="6053328"/>
            <a:ext cx="11064240" cy="640080"/>
          </a:xfrm>
          <a:prstGeom prst="rect">
            <a:avLst/>
          </a:prstGeom>
          <a:noFill/>
        </p:spPr>
        <p:txBody>
          <a:bodyPr wrap="square">
            <a:spAutoFit/>
          </a:bodyPr>
          <a:lstStyle/>
          <a:p>
            <a:pPr>
              <a:defRPr sz="1350" b="1">
                <a:solidFill>
                  <a:srgbClr val="9B3525"/>
                </a:solidFill>
                <a:latin typeface="Times New Roman"/>
              </a:defRPr>
            </a:pPr>
            <a:r>
              <a:rPr sz="1350" b="1">
                <a:solidFill>
                  <a:srgbClr val="9B3525"/>
                </a:solidFill>
                <a:latin typeface="Times New Roman"/>
              </a:rPr>
              <a:t>Encoder separation alone is a wash. The routing gate now has to carry the contribution itself.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What runs next</a:t>
            </a:r>
          </a:p>
          <a:p>
            <a:pPr>
              <a:defRPr sz="1250" b="0">
                <a:solidFill>
                  <a:srgbClr val="5F5F5F"/>
                </a:solidFill>
                <a:latin typeface="Times New Roman"/>
              </a:defRPr>
            </a:pPr>
            <a:r>
              <a:rPr sz="1250" b="0">
                <a:solidFill>
                  <a:srgbClr val="5F5F5F"/>
                </a:solidFill>
                <a:latin typeface="Times New Roman"/>
              </a:rPr>
              <a:t>Every experiment reports against the same 732-image mBRSET test set.</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444752"/>
          <a:ext cx="11064238" cy="3108960"/>
        </p:xfrm>
        <a:graphic>
          <a:graphicData uri="http://schemas.openxmlformats.org/drawingml/2006/table">
            <a:tbl>
              <a:tblPr firstRow="1" bandRow="1">
                <a:tableStyleId>{5C22544A-7EE6-4342-B048-85BDC9FD1C3A}</a:tableStyleId>
              </a:tblPr>
              <a:tblGrid>
                <a:gridCol w="550916"/>
                <a:gridCol w="3764596"/>
                <a:gridCol w="5876442"/>
                <a:gridCol w="872284"/>
              </a:tblGrid>
              <a:tr h="444137">
                <a:tc>
                  <a:txBody>
                    <a:bodyPr/>
                    <a:lstStyle/>
                    <a:p>
                      <a:pPr algn="l">
                        <a:defRPr sz="950" b="1">
                          <a:solidFill>
                            <a:srgbClr val="FFFFFF"/>
                          </a:solidFill>
                          <a:latin typeface="Times New Roman"/>
                        </a:defRPr>
                      </a:pPr>
                    </a:p>
                  </a:txBody>
                  <a:tcPr marL="73152" marR="73152" marT="27432" marB="27432" anchor="ctr">
                    <a:solidFill>
                      <a:srgbClr val="1F4E79"/>
                    </a:solidFill>
                  </a:tcPr>
                </a:tc>
                <a:tc>
                  <a:txBody>
                    <a:bodyPr/>
                    <a:lstStyle/>
                    <a:p>
                      <a:pPr algn="ctr">
                        <a:defRPr sz="950" b="1">
                          <a:solidFill>
                            <a:srgbClr val="FFFFFF"/>
                          </a:solidFill>
                          <a:latin typeface="Times New Roman"/>
                        </a:defRPr>
                      </a:pPr>
                      <a:r>
                        <a:rPr sz="950" b="1">
                          <a:solidFill>
                            <a:srgbClr val="FFFFFF"/>
                          </a:solidFill>
                          <a:latin typeface="Times New Roman"/>
                        </a:rPr>
                        <a:t>Experiment</a:t>
                      </a:r>
                    </a:p>
                  </a:txBody>
                  <a:tcPr marL="73152" marR="73152" marT="27432" marB="27432" anchor="ctr">
                    <a:solidFill>
                      <a:srgbClr val="1F4E79"/>
                    </a:solidFill>
                  </a:tcPr>
                </a:tc>
                <a:tc>
                  <a:txBody>
                    <a:bodyPr/>
                    <a:lstStyle/>
                    <a:p>
                      <a:pPr algn="ctr">
                        <a:defRPr sz="950" b="1">
                          <a:solidFill>
                            <a:srgbClr val="FFFFFF"/>
                          </a:solidFill>
                          <a:latin typeface="Times New Roman"/>
                        </a:defRPr>
                      </a:pPr>
                      <a:r>
                        <a:rPr sz="950" b="1">
                          <a:solidFill>
                            <a:srgbClr val="FFFFFF"/>
                          </a:solidFill>
                          <a:latin typeface="Times New Roman"/>
                        </a:rPr>
                        <a:t>Outcome</a:t>
                      </a:r>
                    </a:p>
                  </a:txBody>
                  <a:tcPr marL="73152" marR="73152" marT="27432" marB="27432" anchor="ctr">
                    <a:solidFill>
                      <a:srgbClr val="1F4E79"/>
                    </a:solidFill>
                  </a:tcPr>
                </a:tc>
                <a:tc>
                  <a:txBody>
                    <a:bodyPr/>
                    <a:lstStyle/>
                    <a:p>
                      <a:pPr algn="ctr">
                        <a:defRPr sz="950" b="1">
                          <a:solidFill>
                            <a:srgbClr val="FFFFFF"/>
                          </a:solidFill>
                          <a:latin typeface="Times New Roman"/>
                        </a:defRPr>
                      </a:pPr>
                      <a:r>
                        <a:rPr sz="950" b="1">
                          <a:solidFill>
                            <a:srgbClr val="FFFFFF"/>
                          </a:solidFill>
                          <a:latin typeface="Times New Roman"/>
                        </a:rPr>
                        <a:t>Status</a:t>
                      </a:r>
                    </a:p>
                  </a:txBody>
                  <a:tcPr marL="73152" marR="73152" marT="27432" marB="27432" anchor="ctr">
                    <a:solidFill>
                      <a:srgbClr val="1F4E79"/>
                    </a:solidFill>
                  </a:tcPr>
                </a:tc>
              </a:tr>
              <a:tr h="444137">
                <a:tc>
                  <a:txBody>
                    <a:bodyPr/>
                    <a:lstStyle/>
                    <a:p>
                      <a:pPr algn="l">
                        <a:defRPr sz="950" b="0">
                          <a:solidFill>
                            <a:srgbClr val="1A1A1A"/>
                          </a:solidFill>
                          <a:latin typeface="Times New Roman"/>
                        </a:defRPr>
                      </a:pPr>
                      <a:r>
                        <a:rPr sz="950" b="0">
                          <a:solidFill>
                            <a:srgbClr val="1A1A1A"/>
                          </a:solidFill>
                          <a:latin typeface="Times New Roman"/>
                        </a:rPr>
                        <a:t>0</a:t>
                      </a:r>
                    </a:p>
                  </a:txBody>
                  <a:tcPr marL="73152" marR="73152" marT="27432" marB="27432" anchor="ctr">
                    <a:solidFill>
                      <a:srgbClr val="FFFFFF"/>
                    </a:solidFill>
                  </a:tcPr>
                </a:tc>
                <a:tc>
                  <a:txBody>
                    <a:bodyPr/>
                    <a:lstStyle/>
                    <a:p>
                      <a:pPr algn="ctr">
                        <a:defRPr sz="950" b="0">
                          <a:solidFill>
                            <a:srgbClr val="1A1A1A"/>
                          </a:solidFill>
                          <a:latin typeface="Times New Roman"/>
                        </a:defRPr>
                      </a:pPr>
                      <a:r>
                        <a:rPr sz="950" b="0">
                          <a:solidFill>
                            <a:srgbClr val="1A1A1A"/>
                          </a:solidFill>
                          <a:latin typeface="Times New Roman"/>
                        </a:rPr>
                        <a:t>Plain aggregated training</a:t>
                      </a:r>
                    </a:p>
                  </a:txBody>
                  <a:tcPr marL="73152" marR="73152" marT="27432" marB="27432" anchor="ctr">
                    <a:solidFill>
                      <a:srgbClr val="FFFFFF"/>
                    </a:solidFill>
                  </a:tcPr>
                </a:tc>
                <a:tc>
                  <a:txBody>
                    <a:bodyPr/>
                    <a:lstStyle/>
                    <a:p>
                      <a:pPr algn="ctr">
                        <a:defRPr sz="950" b="0">
                          <a:solidFill>
                            <a:srgbClr val="1A1A1A"/>
                          </a:solidFill>
                          <a:latin typeface="Times New Roman"/>
                        </a:defRPr>
                      </a:pPr>
                      <a:r>
                        <a:rPr sz="950" b="0">
                          <a:solidFill>
                            <a:srgbClr val="1A1A1A"/>
                          </a:solidFill>
                          <a:latin typeface="Times New Roman"/>
                        </a:rPr>
                        <a:t>DR F1 0.8250, 27 of 159 missed. Still the model to beat</a:t>
                      </a:r>
                    </a:p>
                  </a:txBody>
                  <a:tcPr marL="73152" marR="73152" marT="27432" marB="27432" anchor="ctr">
                    <a:solidFill>
                      <a:srgbClr val="FFFFFF"/>
                    </a:solidFill>
                  </a:tcPr>
                </a:tc>
                <a:tc>
                  <a:txBody>
                    <a:bodyPr/>
                    <a:lstStyle/>
                    <a:p>
                      <a:pPr algn="ctr">
                        <a:defRPr sz="950" b="1">
                          <a:solidFill>
                            <a:srgbClr val="1E6B3C"/>
                          </a:solidFill>
                          <a:latin typeface="Times New Roman"/>
                        </a:defRPr>
                      </a:pPr>
                      <a:r>
                        <a:rPr sz="950" b="1">
                          <a:solidFill>
                            <a:srgbClr val="1E6B3C"/>
                          </a:solidFill>
                          <a:latin typeface="Times New Roman"/>
                        </a:rPr>
                        <a:t>Done</a:t>
                      </a:r>
                    </a:p>
                  </a:txBody>
                  <a:tcPr marL="73152" marR="73152" marT="27432" marB="27432" anchor="ctr">
                    <a:solidFill>
                      <a:srgbClr val="FFFFFF"/>
                    </a:solidFill>
                  </a:tcPr>
                </a:tc>
              </a:tr>
              <a:tr h="444137">
                <a:tc>
                  <a:txBody>
                    <a:bodyPr/>
                    <a:lstStyle/>
                    <a:p>
                      <a:pPr algn="l">
                        <a:defRPr sz="950" b="0">
                          <a:solidFill>
                            <a:srgbClr val="1A1A1A"/>
                          </a:solidFill>
                          <a:latin typeface="Times New Roman"/>
                        </a:defRPr>
                      </a:pPr>
                      <a:r>
                        <a:rPr sz="950" b="0">
                          <a:solidFill>
                            <a:srgbClr val="1A1A1A"/>
                          </a:solidFill>
                          <a:latin typeface="Times New Roman"/>
                        </a:rPr>
                        <a:t>1</a:t>
                      </a:r>
                    </a:p>
                  </a:txBody>
                  <a:tcPr marL="73152" marR="73152" marT="27432" marB="27432" anchor="ctr">
                    <a:solidFill>
                      <a:srgbClr val="F2F4F7"/>
                    </a:solidFill>
                  </a:tcPr>
                </a:tc>
                <a:tc>
                  <a:txBody>
                    <a:bodyPr/>
                    <a:lstStyle/>
                    <a:p>
                      <a:pPr algn="ctr">
                        <a:defRPr sz="950" b="0">
                          <a:solidFill>
                            <a:srgbClr val="1A1A1A"/>
                          </a:solidFill>
                          <a:latin typeface="Times New Roman"/>
                        </a:defRPr>
                      </a:pPr>
                      <a:r>
                        <a:rPr sz="950" b="0">
                          <a:solidFill>
                            <a:srgbClr val="1A1A1A"/>
                          </a:solidFill>
                          <a:latin typeface="Times New Roman"/>
                        </a:rPr>
                        <a:t>Shared plus private encoders, adversarial weight 0.25</a:t>
                      </a:r>
                    </a:p>
                  </a:txBody>
                  <a:tcPr marL="73152" marR="73152" marT="27432" marB="27432" anchor="ctr">
                    <a:solidFill>
                      <a:srgbClr val="F2F4F7"/>
                    </a:solidFill>
                  </a:tcPr>
                </a:tc>
                <a:tc>
                  <a:txBody>
                    <a:bodyPr/>
                    <a:lstStyle/>
                    <a:p>
                      <a:pPr algn="ctr">
                        <a:defRPr sz="950" b="0">
                          <a:solidFill>
                            <a:srgbClr val="1A1A1A"/>
                          </a:solidFill>
                          <a:latin typeface="Times New Roman"/>
                        </a:defRPr>
                      </a:pPr>
                      <a:r>
                        <a:rPr sz="950" b="0">
                          <a:solidFill>
                            <a:srgbClr val="1A1A1A"/>
                          </a:solidFill>
                          <a:latin typeface="Times New Roman"/>
                        </a:rPr>
                        <a:t>DR F1 0.8053, 37 missed. Worse than the baseline</a:t>
                      </a:r>
                    </a:p>
                  </a:txBody>
                  <a:tcPr marL="73152" marR="73152" marT="27432" marB="27432" anchor="ctr">
                    <a:solidFill>
                      <a:srgbClr val="F2F4F7"/>
                    </a:solidFill>
                  </a:tcPr>
                </a:tc>
                <a:tc>
                  <a:txBody>
                    <a:bodyPr/>
                    <a:lstStyle/>
                    <a:p>
                      <a:pPr algn="ctr">
                        <a:defRPr sz="950" b="1">
                          <a:solidFill>
                            <a:srgbClr val="1E6B3C"/>
                          </a:solidFill>
                          <a:latin typeface="Times New Roman"/>
                        </a:defRPr>
                      </a:pPr>
                      <a:r>
                        <a:rPr sz="950" b="1">
                          <a:solidFill>
                            <a:srgbClr val="1E6B3C"/>
                          </a:solidFill>
                          <a:latin typeface="Times New Roman"/>
                        </a:rPr>
                        <a:t>Done</a:t>
                      </a:r>
                    </a:p>
                  </a:txBody>
                  <a:tcPr marL="73152" marR="73152" marT="27432" marB="27432" anchor="ctr">
                    <a:solidFill>
                      <a:srgbClr val="F2F4F7"/>
                    </a:solidFill>
                  </a:tcPr>
                </a:tc>
              </a:tr>
              <a:tr h="444137">
                <a:tc>
                  <a:txBody>
                    <a:bodyPr/>
                    <a:lstStyle/>
                    <a:p>
                      <a:pPr algn="l">
                        <a:defRPr sz="950" b="0">
                          <a:solidFill>
                            <a:srgbClr val="1A1A1A"/>
                          </a:solidFill>
                          <a:latin typeface="Times New Roman"/>
                        </a:defRPr>
                      </a:pPr>
                      <a:r>
                        <a:rPr sz="950" b="0">
                          <a:solidFill>
                            <a:srgbClr val="1A1A1A"/>
                          </a:solidFill>
                          <a:latin typeface="Times New Roman"/>
                        </a:rPr>
                        <a:t>1a</a:t>
                      </a:r>
                    </a:p>
                  </a:txBody>
                  <a:tcPr marL="73152" marR="73152" marT="27432" marB="27432" anchor="ctr">
                    <a:solidFill>
                      <a:srgbClr val="FFFFFF"/>
                    </a:solidFill>
                  </a:tcPr>
                </a:tc>
                <a:tc>
                  <a:txBody>
                    <a:bodyPr/>
                    <a:lstStyle/>
                    <a:p>
                      <a:pPr algn="ctr">
                        <a:defRPr sz="950" b="0">
                          <a:solidFill>
                            <a:srgbClr val="1A1A1A"/>
                          </a:solidFill>
                          <a:latin typeface="Times New Roman"/>
                        </a:defRPr>
                      </a:pPr>
                      <a:r>
                        <a:rPr sz="950" b="0">
                          <a:solidFill>
                            <a:srgbClr val="1A1A1A"/>
                          </a:solidFill>
                          <a:latin typeface="Times New Roman"/>
                        </a:rPr>
                        <a:t>Same, checkpoints selected on macro F1 alone</a:t>
                      </a:r>
                    </a:p>
                  </a:txBody>
                  <a:tcPr marL="73152" marR="73152" marT="27432" marB="27432" anchor="ctr">
                    <a:solidFill>
                      <a:srgbClr val="FFFFFF"/>
                    </a:solidFill>
                  </a:tcPr>
                </a:tc>
                <a:tc>
                  <a:txBody>
                    <a:bodyPr/>
                    <a:lstStyle/>
                    <a:p>
                      <a:pPr algn="ctr">
                        <a:defRPr sz="950" b="0">
                          <a:solidFill>
                            <a:srgbClr val="1A1A1A"/>
                          </a:solidFill>
                          <a:latin typeface="Times New Roman"/>
                        </a:defRPr>
                      </a:pPr>
                      <a:r>
                        <a:rPr sz="950" b="0">
                          <a:solidFill>
                            <a:srgbClr val="1A1A1A"/>
                          </a:solidFill>
                          <a:latin typeface="Times New Roman"/>
                        </a:rPr>
                        <a:t>Identical result. The selection criterion was not the cause</a:t>
                      </a:r>
                    </a:p>
                  </a:txBody>
                  <a:tcPr marL="73152" marR="73152" marT="27432" marB="27432" anchor="ctr">
                    <a:solidFill>
                      <a:srgbClr val="FFFFFF"/>
                    </a:solidFill>
                  </a:tcPr>
                </a:tc>
                <a:tc>
                  <a:txBody>
                    <a:bodyPr/>
                    <a:lstStyle/>
                    <a:p>
                      <a:pPr algn="ctr">
                        <a:defRPr sz="950" b="1">
                          <a:solidFill>
                            <a:srgbClr val="1E6B3C"/>
                          </a:solidFill>
                          <a:latin typeface="Times New Roman"/>
                        </a:defRPr>
                      </a:pPr>
                      <a:r>
                        <a:rPr sz="950" b="1">
                          <a:solidFill>
                            <a:srgbClr val="1E6B3C"/>
                          </a:solidFill>
                          <a:latin typeface="Times New Roman"/>
                        </a:rPr>
                        <a:t>Done</a:t>
                      </a:r>
                    </a:p>
                  </a:txBody>
                  <a:tcPr marL="73152" marR="73152" marT="27432" marB="27432" anchor="ctr">
                    <a:solidFill>
                      <a:srgbClr val="FFFFFF"/>
                    </a:solidFill>
                  </a:tcPr>
                </a:tc>
              </a:tr>
              <a:tr h="444137">
                <a:tc>
                  <a:txBody>
                    <a:bodyPr/>
                    <a:lstStyle/>
                    <a:p>
                      <a:pPr algn="l">
                        <a:defRPr sz="950" b="0">
                          <a:solidFill>
                            <a:srgbClr val="1A1A1A"/>
                          </a:solidFill>
                          <a:latin typeface="Times New Roman"/>
                        </a:defRPr>
                      </a:pPr>
                      <a:r>
                        <a:rPr sz="950" b="0">
                          <a:solidFill>
                            <a:srgbClr val="1A1A1A"/>
                          </a:solidFill>
                          <a:latin typeface="Times New Roman"/>
                        </a:rPr>
                        <a:t>1b, 1c</a:t>
                      </a:r>
                    </a:p>
                  </a:txBody>
                  <a:tcPr marL="73152" marR="73152" marT="27432" marB="27432" anchor="ctr">
                    <a:solidFill>
                      <a:srgbClr val="F2F4F7"/>
                    </a:solidFill>
                  </a:tcPr>
                </a:tc>
                <a:tc>
                  <a:txBody>
                    <a:bodyPr/>
                    <a:lstStyle/>
                    <a:p>
                      <a:pPr algn="ctr">
                        <a:defRPr sz="950" b="0">
                          <a:solidFill>
                            <a:srgbClr val="1A1A1A"/>
                          </a:solidFill>
                          <a:latin typeface="Times New Roman"/>
                        </a:defRPr>
                      </a:pPr>
                      <a:r>
                        <a:rPr sz="950" b="0">
                          <a:solidFill>
                            <a:srgbClr val="1A1A1A"/>
                          </a:solidFill>
                          <a:latin typeface="Times New Roman"/>
                        </a:rPr>
                        <a:t>Adversarial weight reduced to 0.05, then to zero</a:t>
                      </a:r>
                    </a:p>
                  </a:txBody>
                  <a:tcPr marL="73152" marR="73152" marT="27432" marB="27432" anchor="ctr">
                    <a:solidFill>
                      <a:srgbClr val="F2F4F7"/>
                    </a:solidFill>
                  </a:tcPr>
                </a:tc>
                <a:tc>
                  <a:txBody>
                    <a:bodyPr/>
                    <a:lstStyle/>
                    <a:p>
                      <a:pPr algn="ctr">
                        <a:defRPr sz="950" b="0">
                          <a:solidFill>
                            <a:srgbClr val="1A1A1A"/>
                          </a:solidFill>
                          <a:latin typeface="Times New Roman"/>
                        </a:defRPr>
                      </a:pPr>
                      <a:r>
                        <a:rPr sz="950" b="0">
                          <a:solidFill>
                            <a:srgbClr val="1A1A1A"/>
                          </a:solidFill>
                          <a:latin typeface="Times New Roman"/>
                        </a:rPr>
                        <a:t>Recovers to DR F1 0.8232 and 31 missed, and to 10 of 63 on</a:t>
                      </a:r>
                    </a:p>
                    <a:p>
                      <a:pPr algn="ctr">
                        <a:defRPr sz="950" b="0">
                          <a:solidFill>
                            <a:srgbClr val="1A1A1A"/>
                          </a:solidFill>
                          <a:latin typeface="Times New Roman"/>
                        </a:defRPr>
                      </a:pPr>
                      <a:r>
                        <a:rPr sz="950" b="0">
                          <a:solidFill>
                            <a:srgbClr val="1A1A1A"/>
                          </a:solidFill>
                          <a:latin typeface="Times New Roman"/>
                        </a:rPr>
                        <a:t>macular edema. Still a wash against the baseline</a:t>
                      </a:r>
                    </a:p>
                  </a:txBody>
                  <a:tcPr marL="73152" marR="73152" marT="27432" marB="27432" anchor="ctr">
                    <a:solidFill>
                      <a:srgbClr val="F2F4F7"/>
                    </a:solidFill>
                  </a:tcPr>
                </a:tc>
                <a:tc>
                  <a:txBody>
                    <a:bodyPr/>
                    <a:lstStyle/>
                    <a:p>
                      <a:pPr algn="ctr">
                        <a:defRPr sz="950" b="1">
                          <a:solidFill>
                            <a:srgbClr val="1E6B3C"/>
                          </a:solidFill>
                          <a:latin typeface="Times New Roman"/>
                        </a:defRPr>
                      </a:pPr>
                      <a:r>
                        <a:rPr sz="950" b="1">
                          <a:solidFill>
                            <a:srgbClr val="1E6B3C"/>
                          </a:solidFill>
                          <a:latin typeface="Times New Roman"/>
                        </a:rPr>
                        <a:t>Done</a:t>
                      </a:r>
                    </a:p>
                  </a:txBody>
                  <a:tcPr marL="73152" marR="73152" marT="27432" marB="27432" anchor="ctr">
                    <a:solidFill>
                      <a:srgbClr val="F2F4F7"/>
                    </a:solidFill>
                  </a:tcPr>
                </a:tc>
              </a:tr>
              <a:tr h="444137">
                <a:tc>
                  <a:txBody>
                    <a:bodyPr/>
                    <a:lstStyle/>
                    <a:p>
                      <a:pPr algn="l">
                        <a:defRPr sz="950" b="0">
                          <a:solidFill>
                            <a:srgbClr val="1A1A1A"/>
                          </a:solidFill>
                          <a:latin typeface="Times New Roman"/>
                        </a:defRPr>
                      </a:pPr>
                      <a:r>
                        <a:rPr sz="950" b="0">
                          <a:solidFill>
                            <a:srgbClr val="1A1A1A"/>
                          </a:solidFill>
                          <a:latin typeface="Times New Roman"/>
                        </a:rPr>
                        <a:t>2</a:t>
                      </a:r>
                    </a:p>
                  </a:txBody>
                  <a:tcPr marL="73152" marR="73152" marT="27432" marB="27432" anchor="ctr">
                    <a:solidFill>
                      <a:srgbClr val="FFFFFF"/>
                    </a:solidFill>
                  </a:tcPr>
                </a:tc>
                <a:tc>
                  <a:txBody>
                    <a:bodyPr/>
                    <a:lstStyle/>
                    <a:p>
                      <a:pPr algn="ctr">
                        <a:defRPr sz="950" b="0">
                          <a:solidFill>
                            <a:srgbClr val="1A1A1A"/>
                          </a:solidFill>
                          <a:latin typeface="Times New Roman"/>
                        </a:defRPr>
                      </a:pPr>
                      <a:r>
                        <a:rPr sz="950" b="0">
                          <a:solidFill>
                            <a:srgbClr val="1A1A1A"/>
                          </a:solidFill>
                          <a:latin typeface="Times New Roman"/>
                        </a:rPr>
                        <a:t>Entropy-gated routing, built on the weight-zero variant</a:t>
                      </a:r>
                    </a:p>
                  </a:txBody>
                  <a:tcPr marL="73152" marR="73152" marT="27432" marB="27432" anchor="ctr">
                    <a:solidFill>
                      <a:srgbClr val="FFFFFF"/>
                    </a:solidFill>
                  </a:tcPr>
                </a:tc>
                <a:tc>
                  <a:txBody>
                    <a:bodyPr/>
                    <a:lstStyle/>
                    <a:p>
                      <a:pPr algn="ctr">
                        <a:defRPr sz="950" b="0">
                          <a:solidFill>
                            <a:srgbClr val="1A1A1A"/>
                          </a:solidFill>
                          <a:latin typeface="Times New Roman"/>
                        </a:defRPr>
                      </a:pPr>
                      <a:r>
                        <a:rPr sz="950" b="0">
                          <a:solidFill>
                            <a:srgbClr val="1A1A1A"/>
                          </a:solidFill>
                          <a:latin typeface="Times New Roman"/>
                        </a:rPr>
                        <a:t>The routing proposal itself. Both entropy formulations tested</a:t>
                      </a:r>
                    </a:p>
                  </a:txBody>
                  <a:tcPr marL="73152" marR="73152" marT="27432" marB="27432" anchor="ctr">
                    <a:solidFill>
                      <a:srgbClr val="FFFFFF"/>
                    </a:solidFill>
                  </a:tcPr>
                </a:tc>
                <a:tc>
                  <a:txBody>
                    <a:bodyPr/>
                    <a:lstStyle/>
                    <a:p>
                      <a:pPr algn="ctr">
                        <a:defRPr sz="950" b="1">
                          <a:solidFill>
                            <a:srgbClr val="1F4E79"/>
                          </a:solidFill>
                          <a:latin typeface="Times New Roman"/>
                        </a:defRPr>
                      </a:pPr>
                      <a:r>
                        <a:rPr sz="950" b="1">
                          <a:solidFill>
                            <a:srgbClr val="1F4E79"/>
                          </a:solidFill>
                          <a:latin typeface="Times New Roman"/>
                        </a:rPr>
                        <a:t>Next</a:t>
                      </a:r>
                    </a:p>
                  </a:txBody>
                  <a:tcPr marL="73152" marR="73152" marT="27432" marB="27432" anchor="ctr">
                    <a:solidFill>
                      <a:srgbClr val="FFFFFF"/>
                    </a:solidFill>
                  </a:tcPr>
                </a:tc>
              </a:tr>
              <a:tr h="444138">
                <a:tc>
                  <a:txBody>
                    <a:bodyPr/>
                    <a:lstStyle/>
                    <a:p>
                      <a:pPr algn="l">
                        <a:defRPr sz="950" b="0">
                          <a:solidFill>
                            <a:srgbClr val="1A1A1A"/>
                          </a:solidFill>
                          <a:latin typeface="Times New Roman"/>
                        </a:defRPr>
                      </a:pPr>
                      <a:r>
                        <a:rPr sz="950" b="0">
                          <a:solidFill>
                            <a:srgbClr val="1A1A1A"/>
                          </a:solidFill>
                          <a:latin typeface="Times New Roman"/>
                        </a:rPr>
                        <a:t>3</a:t>
                      </a:r>
                    </a:p>
                  </a:txBody>
                  <a:tcPr marL="73152" marR="73152" marT="27432" marB="27432" anchor="ctr">
                    <a:solidFill>
                      <a:srgbClr val="F2F4F7"/>
                    </a:solidFill>
                  </a:tcPr>
                </a:tc>
                <a:tc>
                  <a:txBody>
                    <a:bodyPr/>
                    <a:lstStyle/>
                    <a:p>
                      <a:pPr algn="ctr">
                        <a:defRPr sz="950" b="0">
                          <a:solidFill>
                            <a:srgbClr val="1A1A1A"/>
                          </a:solidFill>
                          <a:latin typeface="Times New Roman"/>
                        </a:defRPr>
                      </a:pPr>
                      <a:r>
                        <a:rPr sz="950" b="0">
                          <a:solidFill>
                            <a:srgbClr val="1A1A1A"/>
                          </a:solidFill>
                          <a:latin typeface="Times New Roman"/>
                        </a:rPr>
                        <a:t>Device-fitted degradation and distillation</a:t>
                      </a:r>
                    </a:p>
                  </a:txBody>
                  <a:tcPr marL="73152" marR="73152" marT="27432" marB="27432" anchor="ctr">
                    <a:solidFill>
                      <a:srgbClr val="F2F4F7"/>
                    </a:solidFill>
                  </a:tcPr>
                </a:tc>
                <a:tc>
                  <a:txBody>
                    <a:bodyPr/>
                    <a:lstStyle/>
                    <a:p>
                      <a:pPr algn="ctr">
                        <a:defRPr sz="950" b="0">
                          <a:solidFill>
                            <a:srgbClr val="1A1A1A"/>
                          </a:solidFill>
                          <a:latin typeface="Times New Roman"/>
                        </a:defRPr>
                      </a:pPr>
                      <a:r>
                        <a:rPr sz="950" b="0">
                          <a:solidFill>
                            <a:srgbClr val="1A1A1A"/>
                          </a:solidFill>
                          <a:latin typeface="Times New Roman"/>
                        </a:rPr>
                        <a:t>Control is generic FundusAug at its published settings</a:t>
                      </a:r>
                    </a:p>
                  </a:txBody>
                  <a:tcPr marL="73152" marR="73152" marT="27432" marB="27432" anchor="ctr">
                    <a:solidFill>
                      <a:srgbClr val="F2F4F7"/>
                    </a:solidFill>
                  </a:tcPr>
                </a:tc>
                <a:tc>
                  <a:txBody>
                    <a:bodyPr/>
                    <a:lstStyle/>
                    <a:p>
                      <a:pPr algn="ctr">
                        <a:defRPr sz="950" b="1">
                          <a:solidFill>
                            <a:srgbClr val="5F5F5F"/>
                          </a:solidFill>
                          <a:latin typeface="Times New Roman"/>
                        </a:defRPr>
                      </a:pPr>
                      <a:r>
                        <a:rPr sz="950" b="1">
                          <a:solidFill>
                            <a:srgbClr val="5F5F5F"/>
                          </a:solidFill>
                          <a:latin typeface="Times New Roman"/>
                        </a:rPr>
                        <a:t>Planned</a:t>
                      </a:r>
                    </a:p>
                  </a:txBody>
                  <a:tcPr marL="73152" marR="73152" marT="27432" marB="27432" anchor="ctr">
                    <a:solidFill>
                      <a:srgbClr val="F2F4F7"/>
                    </a:solidFill>
                  </a:tcPr>
                </a:tc>
              </a:tr>
            </a:tbl>
          </a:graphicData>
        </a:graphic>
      </p:graphicFrame>
      <p:sp>
        <p:nvSpPr>
          <p:cNvPr id="5" name="TextBox 4"/>
          <p:cNvSpPr txBox="1"/>
          <p:nvPr/>
        </p:nvSpPr>
        <p:spPr>
          <a:xfrm>
            <a:off x="594360" y="4773168"/>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What the negative result changes</a:t>
            </a:r>
          </a:p>
        </p:txBody>
      </p:sp>
      <p:sp>
        <p:nvSpPr>
          <p:cNvPr id="6" name="TextBox 5"/>
          <p:cNvSpPr txBox="1"/>
          <p:nvPr/>
        </p:nvSpPr>
        <p:spPr>
          <a:xfrm>
            <a:off x="594360" y="5084064"/>
            <a:ext cx="11064240" cy="859536"/>
          </a:xfrm>
          <a:prstGeom prst="rect">
            <a:avLst/>
          </a:prstGeom>
          <a:noFill/>
        </p:spPr>
        <p:txBody>
          <a:bodyPr wrap="square">
            <a:spAutoFit/>
          </a:bodyPr>
          <a:lstStyle/>
          <a:p>
            <a:pPr>
              <a:spcAft>
                <a:spcPts val="800"/>
              </a:spcAft>
              <a:defRPr sz="1150" b="0">
                <a:solidFill>
                  <a:srgbClr val="1A1A1A"/>
                </a:solidFill>
                <a:latin typeface="Times New Roman"/>
              </a:defRPr>
            </a:pPr>
            <a:r>
              <a:rPr sz="1150" b="0">
                <a:solidFill>
                  <a:srgbClr val="1A1A1A"/>
                </a:solidFill>
                <a:latin typeface="Times New Roman"/>
              </a:rPr>
              <a:t>Experiment 2 now builds on the weight-zero variant rather than the published defaults, because the sweep showed those defaults actively hurt on this problem.</a:t>
            </a:r>
          </a:p>
          <a:p>
            <a:pPr>
              <a:spcAft>
                <a:spcPts val="800"/>
              </a:spcAft>
              <a:defRPr sz="1150" b="0">
                <a:solidFill>
                  <a:srgbClr val="1A1A1A"/>
                </a:solidFill>
                <a:latin typeface="Times New Roman"/>
              </a:defRPr>
            </a:pPr>
            <a:r>
              <a:rPr sz="1150" b="0">
                <a:solidFill>
                  <a:srgbClr val="1A1A1A"/>
                </a:solidFill>
                <a:latin typeface="Times New Roman"/>
              </a:rPr>
              <a:t>The routing gate has to beat plain aggregated training on its own. It can no longer be presented as an addition to a structure that was already helping, because that structure is not helping.</a:t>
            </a:r>
          </a:p>
        </p:txBody>
      </p:sp>
      <p:sp>
        <p:nvSpPr>
          <p:cNvPr id="7" name="TextBox 6"/>
          <p:cNvSpPr txBox="1"/>
          <p:nvPr/>
        </p:nvSpPr>
        <p:spPr>
          <a:xfrm>
            <a:off x="594360" y="5980176"/>
            <a:ext cx="11064240" cy="640080"/>
          </a:xfrm>
          <a:prstGeom prst="rect">
            <a:avLst/>
          </a:prstGeom>
          <a:noFill/>
        </p:spPr>
        <p:txBody>
          <a:bodyPr wrap="square">
            <a:spAutoFit/>
          </a:bodyPr>
          <a:lstStyle/>
          <a:p>
            <a:pPr>
              <a:defRPr sz="1350" b="1">
                <a:solidFill>
                  <a:srgbClr val="1E6B3C"/>
                </a:solidFill>
                <a:latin typeface="Times New Roman"/>
              </a:defRPr>
            </a:pPr>
            <a:r>
              <a:rPr sz="1350" b="1">
                <a:solidFill>
                  <a:srgbClr val="1E6B3C"/>
                </a:solidFill>
                <a:latin typeface="Times New Roman"/>
              </a:rPr>
              <a:t>Methodology settled through September, experiments through early October, target mid-October.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