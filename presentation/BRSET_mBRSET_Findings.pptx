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608.06019" TargetMode="External"/><Relationship Id="rId3" Type="http://schemas.openxmlformats.org/officeDocument/2006/relationships/hyperlink" Target="https://arxiv.org/abs/1907.00273" TargetMode="External"/><Relationship Id="rId4" Type="http://schemas.openxmlformats.org/officeDocument/2006/relationships/hyperlink" Target="https://papers.miccai.org/miccai-2024/192-Paper1608.html" TargetMode="External"/><Relationship Id="rId5" Type="http://schemas.openxmlformats.org/officeDocument/2006/relationships/hyperlink" Target="https://openaccess.thecvf.com/content/CVPR2025/html/Yue_CheXWorld_Exploring_Image_World_Modeling_for_Radiograph_Representation_Learning_CVPR_2025_paper.html" TargetMode="External"/><Relationship Id="rId6" Type="http://schemas.openxmlformats.org/officeDocument/2006/relationships/hyperlink" Target="https://arxiv.org/abs/2307.04378" TargetMode="External"/><Relationship Id="rId7" Type="http://schemas.openxmlformats.org/officeDocument/2006/relationships/hyperlink" Target="https://arxiv.org/abs/2005.05594"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What changed after the meeting</a:t>
            </a:r>
          </a:p>
          <a:p>
            <a:pPr>
              <a:defRPr sz="1250" b="0">
                <a:solidFill>
                  <a:srgbClr val="5F5F5F"/>
                </a:solidFill>
                <a:latin typeface="Times New Roman"/>
              </a:defRPr>
            </a:pPr>
            <a:r>
              <a:rPr sz="1250" b="0">
                <a:solidFill>
                  <a:srgbClr val="5F5F5F"/>
                </a:solidFill>
                <a:latin typeface="Times New Roman"/>
              </a:rPr>
              <a:t>Three directives from Dr. Ye, and where each one leaves the work.</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94360" y="1481328"/>
          <a:ext cx="11064240" cy="2926080"/>
        </p:xfrm>
        <a:graphic>
          <a:graphicData uri="http://schemas.openxmlformats.org/drawingml/2006/table">
            <a:tbl>
              <a:tblPr firstRow="1" bandRow="1">
                <a:tableStyleId>{5C22544A-7EE6-4342-B048-85BDC9FD1C3A}</a:tableStyleId>
              </a:tblPr>
              <a:tblGrid>
                <a:gridCol w="4206240"/>
                <a:gridCol w="3291840"/>
                <a:gridCol w="3566160"/>
              </a:tblGrid>
              <a:tr h="731520">
                <a:tc>
                  <a:txBody>
                    <a:bodyPr/>
                    <a:lstStyle/>
                    <a:p>
                      <a:pPr algn="l">
                        <a:defRPr sz="1050" b="1">
                          <a:solidFill>
                            <a:srgbClr val="FFFFFF"/>
                          </a:solidFill>
                          <a:latin typeface="Times New Roman"/>
                        </a:defRPr>
                      </a:pPr>
                      <a:r>
                        <a:rPr sz="1050" b="1">
                          <a:solidFill>
                            <a:srgbClr val="FFFFFF"/>
                          </a:solidFill>
                          <a:latin typeface="Times New Roman"/>
                        </a:rPr>
                        <a:t>Directive</a:t>
                      </a:r>
                    </a:p>
                  </a:txBody>
                  <a:tcPr marL="73152" marR="73152" marT="27432" marB="27432" anchor="ctr">
                    <a:solidFill>
                      <a:srgbClr val="1F4E79"/>
                    </a:solidFill>
                  </a:tcPr>
                </a:tc>
                <a:tc>
                  <a:txBody>
                    <a:bodyPr/>
                    <a:lstStyle/>
                    <a:p>
                      <a:pPr algn="ctr">
                        <a:defRPr sz="1050" b="1">
                          <a:solidFill>
                            <a:srgbClr val="FFFFFF"/>
                          </a:solidFill>
                          <a:latin typeface="Times New Roman"/>
                        </a:defRPr>
                      </a:pPr>
                      <a:r>
                        <a:rPr sz="1050" b="1">
                          <a:solidFill>
                            <a:srgbClr val="FFFFFF"/>
                          </a:solidFill>
                          <a:latin typeface="Times New Roman"/>
                        </a:rPr>
                        <a:t>Before</a:t>
                      </a:r>
                    </a:p>
                  </a:txBody>
                  <a:tcPr marL="73152" marR="73152" marT="27432" marB="27432" anchor="ctr">
                    <a:solidFill>
                      <a:srgbClr val="1F4E79"/>
                    </a:solidFill>
                  </a:tcPr>
                </a:tc>
                <a:tc>
                  <a:txBody>
                    <a:bodyPr/>
                    <a:lstStyle/>
                    <a:p>
                      <a:pPr algn="ctr">
                        <a:defRPr sz="1050" b="1">
                          <a:solidFill>
                            <a:srgbClr val="FFFFFF"/>
                          </a:solidFill>
                          <a:latin typeface="Times New Roman"/>
                        </a:defRPr>
                      </a:pPr>
                      <a:r>
                        <a:rPr sz="1050" b="1">
                          <a:solidFill>
                            <a:srgbClr val="FFFFFF"/>
                          </a:solidFill>
                          <a:latin typeface="Times New Roman"/>
                        </a:rPr>
                        <a:t>After</a:t>
                      </a:r>
                    </a:p>
                  </a:txBody>
                  <a:tcPr marL="73152" marR="73152" marT="27432" marB="27432" anchor="ctr">
                    <a:solidFill>
                      <a:srgbClr val="1F4E79"/>
                    </a:solidFill>
                  </a:tcPr>
                </a:tc>
              </a:tr>
              <a:tr h="731520">
                <a:tc>
                  <a:txBody>
                    <a:bodyPr/>
                    <a:lstStyle/>
                    <a:p>
                      <a:pPr algn="l">
                        <a:defRPr sz="1050" b="0">
                          <a:solidFill>
                            <a:srgbClr val="1A1A1A"/>
                          </a:solidFill>
                          <a:latin typeface="Times New Roman"/>
                        </a:defRPr>
                      </a:pPr>
                      <a:r>
                        <a:rPr sz="1050" b="0">
                          <a:solidFill>
                            <a:srgbClr val="1A1A1A"/>
                          </a:solidFill>
                          <a:latin typeface="Times New Roman"/>
                        </a:rPr>
                        <a:t>mBRSET may be used in training.</a:t>
                      </a:r>
                    </a:p>
                    <a:p>
                      <a:pPr algn="l">
                        <a:defRPr sz="1050" b="0">
                          <a:solidFill>
                            <a:srgbClr val="1A1A1A"/>
                          </a:solidFill>
                          <a:latin typeface="Times New Roman"/>
                        </a:defRPr>
                      </a:pPr>
                      <a:r>
                        <a:rPr sz="1050" b="0">
                          <a:solidFill>
                            <a:srgbClr val="1A1A1A"/>
                          </a:solidFill>
                          <a:latin typeface="Times New Roman"/>
                        </a:rPr>
                        <a:t>"For the training we can use anything.</a:t>
                      </a:r>
                    </a:p>
                    <a:p>
                      <a:pPr algn="l">
                        <a:defRPr sz="1050" b="0">
                          <a:solidFill>
                            <a:srgbClr val="1A1A1A"/>
                          </a:solidFill>
                          <a:latin typeface="Times New Roman"/>
                        </a:defRPr>
                      </a:pPr>
                      <a:r>
                        <a:rPr sz="1050" b="0">
                          <a:solidFill>
                            <a:srgbClr val="1A1A1A"/>
                          </a:solidFill>
                          <a:latin typeface="Times New Roman"/>
                        </a:rPr>
                        <a:t>For the testing we cannot."</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Assumed zero-shot transfer.</a:t>
                      </a:r>
                    </a:p>
                    <a:p>
                      <a:pPr algn="ctr">
                        <a:defRPr sz="1050" b="0">
                          <a:solidFill>
                            <a:srgbClr val="1A1A1A"/>
                          </a:solidFill>
                          <a:latin typeface="Times New Roman"/>
                        </a:defRPr>
                      </a:pPr>
                      <a:r>
                        <a:rPr sz="1050" b="0">
                          <a:solidFill>
                            <a:srgbClr val="1A1A1A"/>
                          </a:solidFill>
                          <a:latin typeface="Times New Roman"/>
                        </a:rPr>
                        <a:t>Baseline to beat: 0.7842</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Aggregated training allowed.</a:t>
                      </a:r>
                    </a:p>
                    <a:p>
                      <a:pPr algn="ctr">
                        <a:defRPr sz="1050" b="0">
                          <a:solidFill>
                            <a:srgbClr val="1A1A1A"/>
                          </a:solidFill>
                          <a:latin typeface="Times New Roman"/>
                        </a:defRPr>
                      </a:pPr>
                      <a:r>
                        <a:rPr sz="1050" b="0">
                          <a:solidFill>
                            <a:srgbClr val="1A1A1A"/>
                          </a:solidFill>
                          <a:latin typeface="Times New Roman"/>
                        </a:rPr>
                        <a:t>Baseline to beat: 0.8355</a:t>
                      </a:r>
                    </a:p>
                  </a:txBody>
                  <a:tcPr marL="73152" marR="73152" marT="27432" marB="27432" anchor="ctr">
                    <a:solidFill>
                      <a:srgbClr val="FFFFFF"/>
                    </a:solidFill>
                  </a:tcPr>
                </a:tc>
              </a:tr>
              <a:tr h="731520">
                <a:tc>
                  <a:txBody>
                    <a:bodyPr/>
                    <a:lstStyle/>
                    <a:p>
                      <a:pPr algn="l">
                        <a:defRPr sz="1050" b="0">
                          <a:solidFill>
                            <a:srgbClr val="1A1A1A"/>
                          </a:solidFill>
                          <a:latin typeface="Times New Roman"/>
                        </a:defRPr>
                      </a:pPr>
                      <a:r>
                        <a:rPr sz="1050" b="0">
                          <a:solidFill>
                            <a:srgbClr val="1A1A1A"/>
                          </a:solidFill>
                          <a:latin typeface="Times New Roman"/>
                        </a:rPr>
                        <a:t>The methods cited rely on PAIRED data,</a:t>
                      </a:r>
                    </a:p>
                    <a:p>
                      <a:pPr algn="l">
                        <a:defRPr sz="1050" b="0">
                          <a:solidFill>
                            <a:srgbClr val="1A1A1A"/>
                          </a:solidFill>
                          <a:latin typeface="Times New Roman"/>
                        </a:defRPr>
                      </a:pPr>
                      <a:r>
                        <a:rPr sz="1050" b="0">
                          <a:solidFill>
                            <a:srgbClr val="1A1A1A"/>
                          </a:solidFill>
                          <a:latin typeface="Times New Roman"/>
                        </a:rPr>
                        <a:t>same patient on both cameras.</a:t>
                      </a:r>
                    </a:p>
                    <a:p>
                      <a:pPr algn="l">
                        <a:defRPr sz="1050" b="0">
                          <a:solidFill>
                            <a:srgbClr val="1A1A1A"/>
                          </a:solidFill>
                          <a:latin typeface="Times New Roman"/>
                        </a:defRPr>
                      </a:pPr>
                      <a:r>
                        <a:rPr sz="1050" b="0">
                          <a:solidFill>
                            <a:srgbClr val="1A1A1A"/>
                          </a:solidFill>
                          <a:latin typeface="Times New Roman"/>
                        </a:rPr>
                        <a:t>BRSET and mBRSET share no patients.</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rPr>
                        <a:t>Treated the paired-data papers</a:t>
                      </a:r>
                    </a:p>
                    <a:p>
                      <a:pPr algn="ctr">
                        <a:defRPr sz="1050" b="0">
                          <a:solidFill>
                            <a:srgbClr val="1A1A1A"/>
                          </a:solidFill>
                          <a:latin typeface="Times New Roman"/>
                        </a:defRPr>
                      </a:pPr>
                      <a:r>
                        <a:rPr sz="1050" b="0">
                          <a:solidFill>
                            <a:srgbClr val="1A1A1A"/>
                          </a:solidFill>
                          <a:latin typeface="Times New Roman"/>
                        </a:rPr>
                        <a:t>as directly applicable</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rPr>
                        <a:t>Adapting them to unpaired data</a:t>
                      </a:r>
                    </a:p>
                    <a:p>
                      <a:pPr algn="ctr">
                        <a:defRPr sz="1050" b="0">
                          <a:solidFill>
                            <a:srgbClr val="1A1A1A"/>
                          </a:solidFill>
                          <a:latin typeface="Times New Roman"/>
                        </a:defRPr>
                      </a:pPr>
                      <a:r>
                        <a:rPr sz="1050" b="0">
                          <a:solidFill>
                            <a:srgbClr val="1A1A1A"/>
                          </a:solidFill>
                          <a:latin typeface="Times New Roman"/>
                        </a:rPr>
                        <a:t>is itself the research problem</a:t>
                      </a:r>
                    </a:p>
                  </a:txBody>
                  <a:tcPr marL="73152" marR="73152" marT="27432" marB="27432" anchor="ctr">
                    <a:solidFill>
                      <a:srgbClr val="F2F4F7"/>
                    </a:solidFill>
                  </a:tcPr>
                </a:tc>
              </a:tr>
              <a:tr h="731520">
                <a:tc>
                  <a:txBody>
                    <a:bodyPr/>
                    <a:lstStyle/>
                    <a:p>
                      <a:pPr algn="l">
                        <a:defRPr sz="1050" b="0">
                          <a:solidFill>
                            <a:srgbClr val="1A1A1A"/>
                          </a:solidFill>
                          <a:latin typeface="Times New Roman"/>
                        </a:defRPr>
                      </a:pPr>
                      <a:r>
                        <a:rPr sz="1050" b="0">
                          <a:solidFill>
                            <a:srgbClr val="1A1A1A"/>
                          </a:solidFill>
                          <a:latin typeface="Times New Roman"/>
                        </a:rPr>
                        <a:t>Widen the review beyond retinal imaging</a:t>
                      </a:r>
                    </a:p>
                    <a:p>
                      <a:pPr algn="l">
                        <a:defRPr sz="1050" b="0">
                          <a:solidFill>
                            <a:srgbClr val="1A1A1A"/>
                          </a:solidFill>
                          <a:latin typeface="Times New Roman"/>
                        </a:defRPr>
                      </a:pPr>
                      <a:r>
                        <a:rPr sz="1050" b="0">
                          <a:solidFill>
                            <a:srgbClr val="1A1A1A"/>
                          </a:solidFill>
                          <a:latin typeface="Times New Roman"/>
                        </a:rPr>
                        <a:t>to any two datasets, one high quality</a:t>
                      </a:r>
                    </a:p>
                    <a:p>
                      <a:pPr algn="l">
                        <a:defRPr sz="1050" b="0">
                          <a:solidFill>
                            <a:srgbClr val="1A1A1A"/>
                          </a:solidFill>
                          <a:latin typeface="Times New Roman"/>
                        </a:defRPr>
                      </a:pPr>
                      <a:r>
                        <a:rPr sz="1050" b="0">
                          <a:solidFill>
                            <a:srgbClr val="1A1A1A"/>
                          </a:solidFill>
                          <a:latin typeface="Times New Roman"/>
                        </a:rPr>
                        <a:t>and one low quality, same content.</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Review confined to fundus</a:t>
                      </a:r>
                    </a:p>
                    <a:p>
                      <a:pPr algn="ctr">
                        <a:defRPr sz="1050" b="0">
                          <a:solidFill>
                            <a:srgbClr val="1A1A1A"/>
                          </a:solidFill>
                          <a:latin typeface="Times New Roman"/>
                        </a:defRPr>
                      </a:pPr>
                      <a:r>
                        <a:rPr sz="1050" b="0">
                          <a:solidFill>
                            <a:srgbClr val="1A1A1A"/>
                          </a:solidFill>
                          <a:latin typeface="Times New Roman"/>
                        </a:rPr>
                        <a:t>and DR grading</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CT artifact reduction and low-dose</a:t>
                      </a:r>
                    </a:p>
                    <a:p>
                      <a:pPr algn="ctr">
                        <a:defRPr sz="1050" b="0">
                          <a:solidFill>
                            <a:srgbClr val="1A1A1A"/>
                          </a:solidFill>
                          <a:latin typeface="Times New Roman"/>
                        </a:defRPr>
                      </a:pPr>
                      <a:r>
                        <a:rPr sz="1050" b="0">
                          <a:solidFill>
                            <a:srgbClr val="1A1A1A"/>
                          </a:solidFill>
                          <a:latin typeface="Times New Roman"/>
                        </a:rPr>
                        <a:t>CT are the mature literature</a:t>
                      </a:r>
                    </a:p>
                  </a:txBody>
                  <a:tcPr marL="73152" marR="73152" marT="27432" marB="27432" anchor="ctr">
                    <a:solidFill>
                      <a:srgbClr val="FFFFFF"/>
                    </a:solidFill>
                  </a:tcPr>
                </a:tc>
              </a:tr>
            </a:tbl>
          </a:graphicData>
        </a:graphic>
      </p:graphicFrame>
      <p:sp>
        <p:nvSpPr>
          <p:cNvPr id="5" name="TextBox 4"/>
          <p:cNvSpPr txBox="1"/>
          <p:nvPr/>
        </p:nvSpPr>
        <p:spPr>
          <a:xfrm>
            <a:off x="594360" y="4617720"/>
            <a:ext cx="1106424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The consequence</a:t>
            </a:r>
          </a:p>
        </p:txBody>
      </p:sp>
      <p:sp>
        <p:nvSpPr>
          <p:cNvPr id="6" name="TextBox 5"/>
          <p:cNvSpPr txBox="1"/>
          <p:nvPr/>
        </p:nvSpPr>
        <p:spPr>
          <a:xfrm>
            <a:off x="594360" y="4937760"/>
            <a:ext cx="11064240" cy="960119"/>
          </a:xfrm>
          <a:prstGeom prst="rect">
            <a:avLst/>
          </a:prstGeom>
          <a:noFill/>
        </p:spPr>
        <p:txBody>
          <a:bodyPr wrap="square">
            <a:spAutoFit/>
          </a:bodyPr>
          <a:lstStyle/>
          <a:p>
            <a:pPr>
              <a:spcAft>
                <a:spcPts val="800"/>
              </a:spcAft>
              <a:defRPr sz="1250" b="0">
                <a:solidFill>
                  <a:srgbClr val="1A1A1A"/>
                </a:solidFill>
                <a:latin typeface="Times New Roman"/>
              </a:defRPr>
            </a:pPr>
            <a:r>
              <a:rPr sz="1250" b="0">
                <a:solidFill>
                  <a:srgbClr val="1A1A1A"/>
                </a:solidFill>
                <a:latin typeface="Times New Roman"/>
              </a:rPr>
              <a:t>The question is no longer how close a label-free method can get. It is how best to combine a large high-quality labelled set with a small degraded one. That is a harder bar and a cleaner question.</a:t>
            </a:r>
          </a:p>
          <a:p>
            <a:pPr>
              <a:spcAft>
                <a:spcPts val="800"/>
              </a:spcAft>
              <a:defRPr sz="1250" b="0">
                <a:solidFill>
                  <a:srgbClr val="1A1A1A"/>
                </a:solidFill>
                <a:latin typeface="Times New Roman"/>
              </a:defRPr>
            </a:pPr>
            <a:r>
              <a:rPr sz="1250" b="0">
                <a:solidFill>
                  <a:srgbClr val="1A1A1A"/>
                </a:solidFill>
                <a:latin typeface="Times New Roman"/>
              </a:rPr>
              <a:t>Only the mBRSET test split of 732 images stays untouched. Everything else may be trained on.</a:t>
            </a:r>
          </a:p>
        </p:txBody>
      </p:sp>
      <p:sp>
        <p:nvSpPr>
          <p:cNvPr id="7" name="TextBox 6"/>
          <p:cNvSpPr txBox="1"/>
          <p:nvPr/>
        </p:nvSpPr>
        <p:spPr>
          <a:xfrm>
            <a:off x="594360" y="5943600"/>
            <a:ext cx="11064240" cy="640080"/>
          </a:xfrm>
          <a:prstGeom prst="rect">
            <a:avLst/>
          </a:prstGeom>
          <a:noFill/>
        </p:spPr>
        <p:txBody>
          <a:bodyPr wrap="square">
            <a:spAutoFit/>
          </a:bodyPr>
          <a:lstStyle/>
          <a:p>
            <a:pPr>
              <a:defRPr sz="1350" b="1">
                <a:solidFill>
                  <a:srgbClr val="1E6B3C"/>
                </a:solidFill>
                <a:latin typeface="Times New Roman"/>
              </a:defRPr>
            </a:pPr>
            <a:r>
              <a:rPr sz="1350" b="1">
                <a:solidFill>
                  <a:srgbClr val="1E6B3C"/>
                </a:solidFill>
                <a:latin typeface="Times New Roman"/>
              </a:rPr>
              <a:t>The aggregation experiment was already run before the meeting. Results on the next slide.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The aggregation experiment, in full</a:t>
            </a:r>
          </a:p>
          <a:p>
            <a:pPr>
              <a:defRPr sz="1250" b="0">
                <a:solidFill>
                  <a:srgbClr val="5F5F5F"/>
                </a:solidFill>
                <a:latin typeface="Times New Roman"/>
              </a:defRPr>
            </a:pPr>
            <a:r>
              <a:rPr sz="1250" b="0">
                <a:solidFill>
                  <a:srgbClr val="5F5F5F"/>
                </a:solidFill>
                <a:latin typeface="Times New Roman"/>
              </a:rPr>
              <a:t>BRSET and mBRSET merged into one training set. Validated and tested on mBRSET only, so the target domain is never contaminated.</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298448"/>
            <a:ext cx="548640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Data</a:t>
            </a:r>
          </a:p>
        </p:txBody>
      </p:sp>
      <p:graphicFrame>
        <p:nvGraphicFramePr>
          <p:cNvPr id="5" name="Table 4"/>
          <p:cNvGraphicFramePr>
            <a:graphicFrameLocks noGrp="1"/>
          </p:cNvGraphicFramePr>
          <p:nvPr/>
        </p:nvGraphicFramePr>
        <p:xfrm>
          <a:off x="594360" y="1609344"/>
          <a:ext cx="5486399" cy="1737360"/>
        </p:xfrm>
        <a:graphic>
          <a:graphicData uri="http://schemas.openxmlformats.org/drawingml/2006/table">
            <a:tbl>
              <a:tblPr firstRow="1" bandRow="1">
                <a:tableStyleId>{5C22544A-7EE6-4342-B048-85BDC9FD1C3A}</a:tableStyleId>
              </a:tblPr>
              <a:tblGrid>
                <a:gridCol w="2477729"/>
                <a:gridCol w="1504335"/>
                <a:gridCol w="1504335"/>
              </a:tblGrid>
              <a:tr h="289560">
                <a:tc>
                  <a:txBody>
                    <a:bodyPr/>
                    <a:lstStyle/>
                    <a:p>
                      <a:pPr algn="l">
                        <a:defRPr sz="1000" b="1">
                          <a:solidFill>
                            <a:srgbClr val="FFFFFF"/>
                          </a:solidFill>
                          <a:latin typeface="Times New Roman"/>
                        </a:defRPr>
                      </a:pPr>
                      <a:r>
                        <a:rPr sz="1000" b="1">
                          <a:solidFill>
                            <a:srgbClr val="FFFFFF"/>
                          </a:solidFill>
                          <a:latin typeface="Times New Roman"/>
                        </a:rPr>
                        <a:t>Split</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Images</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DR positive</a:t>
                      </a:r>
                    </a:p>
                  </a:txBody>
                  <a:tcPr marL="73152" marR="73152" marT="27432" marB="27432" anchor="ctr">
                    <a:solidFill>
                      <a:srgbClr val="1F4E79"/>
                    </a:solidFill>
                  </a:tcPr>
                </a:tc>
              </a:tr>
              <a:tr h="289560">
                <a:tc>
                  <a:txBody>
                    <a:bodyPr/>
                    <a:lstStyle/>
                    <a:p>
                      <a:pPr algn="l">
                        <a:defRPr sz="1000" b="0">
                          <a:solidFill>
                            <a:srgbClr val="1A1A1A"/>
                          </a:solidFill>
                          <a:latin typeface="Times New Roman"/>
                        </a:defRPr>
                      </a:pPr>
                      <a:r>
                        <a:rPr sz="1000" b="0">
                          <a:solidFill>
                            <a:srgbClr val="1A1A1A"/>
                          </a:solidFill>
                          <a:latin typeface="Times New Roman"/>
                        </a:rPr>
                        <a:t>Train: BRSET</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11,372  (77%)</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748   (6.6%)</a:t>
                      </a:r>
                    </a:p>
                  </a:txBody>
                  <a:tcPr marL="73152" marR="73152" marT="27432" marB="27432" anchor="ctr">
                    <a:solidFill>
                      <a:srgbClr val="FFFFFF"/>
                    </a:solidFill>
                  </a:tcPr>
                </a:tc>
              </a:tr>
              <a:tr h="289560">
                <a:tc>
                  <a:txBody>
                    <a:bodyPr/>
                    <a:lstStyle/>
                    <a:p>
                      <a:pPr algn="l">
                        <a:defRPr sz="1000" b="0">
                          <a:solidFill>
                            <a:srgbClr val="1A1A1A"/>
                          </a:solidFill>
                          <a:latin typeface="Times New Roman"/>
                        </a:defRPr>
                      </a:pPr>
                      <a:r>
                        <a:rPr sz="1000" b="0">
                          <a:solidFill>
                            <a:srgbClr val="1A1A1A"/>
                          </a:solidFill>
                          <a:latin typeface="Times New Roman"/>
                        </a:rPr>
                        <a:t>Train: mBRSET</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3,402  (23%)</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797  (23.4%)</a:t>
                      </a:r>
                    </a:p>
                  </a:txBody>
                  <a:tcPr marL="73152" marR="73152" marT="27432" marB="27432" anchor="ctr">
                    <a:solidFill>
                      <a:srgbClr val="F2F4F7"/>
                    </a:solidFill>
                  </a:tcPr>
                </a:tc>
              </a:tr>
              <a:tr h="289560">
                <a:tc>
                  <a:txBody>
                    <a:bodyPr/>
                    <a:lstStyle/>
                    <a:p>
                      <a:pPr algn="l">
                        <a:defRPr sz="1000" b="0">
                          <a:solidFill>
                            <a:srgbClr val="1A1A1A"/>
                          </a:solidFill>
                          <a:latin typeface="Times New Roman"/>
                        </a:defRPr>
                      </a:pPr>
                      <a:r>
                        <a:rPr sz="1000" b="0">
                          <a:solidFill>
                            <a:srgbClr val="1A1A1A"/>
                          </a:solidFill>
                          <a:latin typeface="Times New Roman"/>
                        </a:rPr>
                        <a:t>Train: total</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14,774</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1,545  (10.5%)</a:t>
                      </a:r>
                    </a:p>
                  </a:txBody>
                  <a:tcPr marL="73152" marR="73152" marT="27432" marB="27432" anchor="ctr">
                    <a:solidFill>
                      <a:srgbClr val="FFFFFF"/>
                    </a:solidFill>
                  </a:tcPr>
                </a:tc>
              </a:tr>
              <a:tr h="289560">
                <a:tc>
                  <a:txBody>
                    <a:bodyPr/>
                    <a:lstStyle/>
                    <a:p>
                      <a:pPr algn="l">
                        <a:defRPr sz="1000" b="0">
                          <a:solidFill>
                            <a:srgbClr val="1A1A1A"/>
                          </a:solidFill>
                          <a:latin typeface="Times New Roman"/>
                        </a:defRPr>
                      </a:pPr>
                      <a:r>
                        <a:rPr sz="1000" b="0">
                          <a:solidFill>
                            <a:srgbClr val="1A1A1A"/>
                          </a:solidFill>
                          <a:latin typeface="Times New Roman"/>
                        </a:rPr>
                        <a:t>Validation (mBRSET only)</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725</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176  (24.3%)</a:t>
                      </a:r>
                    </a:p>
                  </a:txBody>
                  <a:tcPr marL="73152" marR="73152" marT="27432" marB="27432" anchor="ctr">
                    <a:solidFill>
                      <a:srgbClr val="F2F4F7"/>
                    </a:solidFill>
                  </a:tcPr>
                </a:tc>
              </a:tr>
              <a:tr h="289560">
                <a:tc>
                  <a:txBody>
                    <a:bodyPr/>
                    <a:lstStyle/>
                    <a:p>
                      <a:pPr algn="l">
                        <a:defRPr sz="1000" b="0">
                          <a:solidFill>
                            <a:srgbClr val="1A1A1A"/>
                          </a:solidFill>
                          <a:latin typeface="Times New Roman"/>
                        </a:defRPr>
                      </a:pPr>
                      <a:r>
                        <a:rPr sz="1000" b="0">
                          <a:solidFill>
                            <a:srgbClr val="1A1A1A"/>
                          </a:solidFill>
                          <a:latin typeface="Times New Roman"/>
                        </a:rPr>
                        <a:t>Test (mBRSET only)</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732</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159  (21.7%)</a:t>
                      </a:r>
                    </a:p>
                  </a:txBody>
                  <a:tcPr marL="73152" marR="73152" marT="27432" marB="27432" anchor="ctr">
                    <a:solidFill>
                      <a:srgbClr val="FFFFFF"/>
                    </a:solidFill>
                  </a:tcPr>
                </a:tc>
              </a:tr>
            </a:tbl>
          </a:graphicData>
        </a:graphic>
      </p:graphicFrame>
      <p:sp>
        <p:nvSpPr>
          <p:cNvPr id="6" name="TextBox 5"/>
          <p:cNvSpPr txBox="1"/>
          <p:nvPr/>
        </p:nvSpPr>
        <p:spPr>
          <a:xfrm>
            <a:off x="6355080" y="1298448"/>
            <a:ext cx="530352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Configuration</a:t>
            </a:r>
          </a:p>
        </p:txBody>
      </p:sp>
      <p:graphicFrame>
        <p:nvGraphicFramePr>
          <p:cNvPr id="7" name="Table 6"/>
          <p:cNvGraphicFramePr>
            <a:graphicFrameLocks noGrp="1"/>
          </p:cNvGraphicFramePr>
          <p:nvPr/>
        </p:nvGraphicFramePr>
        <p:xfrm>
          <a:off x="6355080" y="1609344"/>
          <a:ext cx="5303520" cy="1737360"/>
        </p:xfrm>
        <a:graphic>
          <a:graphicData uri="http://schemas.openxmlformats.org/drawingml/2006/table">
            <a:tbl>
              <a:tblPr firstRow="1" bandRow="1">
                <a:tableStyleId>{5C22544A-7EE6-4342-B048-85BDC9FD1C3A}</a:tableStyleId>
              </a:tblPr>
              <a:tblGrid>
                <a:gridCol w="1828800"/>
                <a:gridCol w="3474720"/>
              </a:tblGrid>
              <a:tr h="289560">
                <a:tc>
                  <a:txBody>
                    <a:bodyPr/>
                    <a:lstStyle/>
                    <a:p>
                      <a:pPr algn="l">
                        <a:defRPr sz="1000" b="1">
                          <a:solidFill>
                            <a:srgbClr val="FFFFFF"/>
                          </a:solidFill>
                          <a:latin typeface="Times New Roman"/>
                        </a:defRPr>
                      </a:pPr>
                      <a:r>
                        <a:rPr sz="1000" b="1">
                          <a:solidFill>
                            <a:srgbClr val="FFFFFF"/>
                          </a:solidFill>
                          <a:latin typeface="Times New Roman"/>
                        </a:rPr>
                        <a:t>Setting</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Value</a:t>
                      </a:r>
                    </a:p>
                  </a:txBody>
                  <a:tcPr marL="73152" marR="73152" marT="27432" marB="27432" anchor="ctr">
                    <a:solidFill>
                      <a:srgbClr val="1F4E79"/>
                    </a:solidFill>
                  </a:tcPr>
                </a:tc>
              </a:tr>
              <a:tr h="289560">
                <a:tc>
                  <a:txBody>
                    <a:bodyPr/>
                    <a:lstStyle/>
                    <a:p>
                      <a:pPr algn="l">
                        <a:defRPr sz="1000" b="0">
                          <a:solidFill>
                            <a:srgbClr val="1A1A1A"/>
                          </a:solidFill>
                          <a:latin typeface="Times New Roman"/>
                        </a:defRPr>
                      </a:pPr>
                      <a:r>
                        <a:rPr sz="1000" b="0">
                          <a:solidFill>
                            <a:srgbClr val="1A1A1A"/>
                          </a:solidFill>
                          <a:latin typeface="Times New Roman"/>
                        </a:rPr>
                        <a:t>Backbone</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ConvNeXt V2 Large, 512 px</a:t>
                      </a:r>
                    </a:p>
                  </a:txBody>
                  <a:tcPr marL="73152" marR="73152" marT="27432" marB="27432" anchor="ctr">
                    <a:solidFill>
                      <a:srgbClr val="FFFFFF"/>
                    </a:solidFill>
                  </a:tcPr>
                </a:tc>
              </a:tr>
              <a:tr h="289560">
                <a:tc>
                  <a:txBody>
                    <a:bodyPr/>
                    <a:lstStyle/>
                    <a:p>
                      <a:pPr algn="l">
                        <a:defRPr sz="1000" b="0">
                          <a:solidFill>
                            <a:srgbClr val="1A1A1A"/>
                          </a:solidFill>
                          <a:latin typeface="Times New Roman"/>
                        </a:defRPr>
                      </a:pPr>
                      <a:r>
                        <a:rPr sz="1000" b="0">
                          <a:solidFill>
                            <a:srgbClr val="1A1A1A"/>
                          </a:solidFill>
                          <a:latin typeface="Times New Roman"/>
                        </a:rPr>
                        <a:t>Optimizer</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AdamW, lr 3e-5, weight decay 0.1</a:t>
                      </a:r>
                    </a:p>
                  </a:txBody>
                  <a:tcPr marL="73152" marR="73152" marT="27432" marB="27432" anchor="ctr">
                    <a:solidFill>
                      <a:srgbClr val="F2F4F7"/>
                    </a:solidFill>
                  </a:tcPr>
                </a:tc>
              </a:tr>
              <a:tr h="289560">
                <a:tc>
                  <a:txBody>
                    <a:bodyPr/>
                    <a:lstStyle/>
                    <a:p>
                      <a:pPr algn="l">
                        <a:defRPr sz="1000" b="0">
                          <a:solidFill>
                            <a:srgbClr val="1A1A1A"/>
                          </a:solidFill>
                          <a:latin typeface="Times New Roman"/>
                        </a:defRPr>
                      </a:pPr>
                      <a:r>
                        <a:rPr sz="1000" b="0">
                          <a:solidFill>
                            <a:srgbClr val="1A1A1A"/>
                          </a:solidFill>
                          <a:latin typeface="Times New Roman"/>
                        </a:rPr>
                        <a:t>Schedule</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25 epochs, 3 warmup, cosine</a:t>
                      </a:r>
                    </a:p>
                  </a:txBody>
                  <a:tcPr marL="73152" marR="73152" marT="27432" marB="27432" anchor="ctr">
                    <a:solidFill>
                      <a:srgbClr val="FFFFFF"/>
                    </a:solidFill>
                  </a:tcPr>
                </a:tc>
              </a:tr>
              <a:tr h="289560">
                <a:tc>
                  <a:txBody>
                    <a:bodyPr/>
                    <a:lstStyle/>
                    <a:p>
                      <a:pPr algn="l">
                        <a:defRPr sz="1000" b="0">
                          <a:solidFill>
                            <a:srgbClr val="1A1A1A"/>
                          </a:solidFill>
                          <a:latin typeface="Times New Roman"/>
                        </a:defRPr>
                      </a:pPr>
                      <a:r>
                        <a:rPr sz="1000" b="0">
                          <a:solidFill>
                            <a:srgbClr val="1A1A1A"/>
                          </a:solidFill>
                          <a:latin typeface="Times New Roman"/>
                        </a:rPr>
                        <a:t>Loss / sampler</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focal gamma 2.0, no oversampling</a:t>
                      </a:r>
                    </a:p>
                  </a:txBody>
                  <a:tcPr marL="73152" marR="73152" marT="27432" marB="27432" anchor="ctr">
                    <a:solidFill>
                      <a:srgbClr val="F2F4F7"/>
                    </a:solidFill>
                  </a:tcPr>
                </a:tc>
              </a:tr>
              <a:tr h="289560">
                <a:tc>
                  <a:txBody>
                    <a:bodyPr/>
                    <a:lstStyle/>
                    <a:p>
                      <a:pPr algn="l">
                        <a:defRPr sz="1000" b="0">
                          <a:solidFill>
                            <a:srgbClr val="1A1A1A"/>
                          </a:solidFill>
                          <a:latin typeface="Times New Roman"/>
                        </a:defRPr>
                      </a:pPr>
                      <a:r>
                        <a:rPr sz="1000" b="0">
                          <a:solidFill>
                            <a:srgbClr val="1A1A1A"/>
                          </a:solidFill>
                          <a:latin typeface="Times New Roman"/>
                        </a:rPr>
                        <a:t>Inference</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EMA 0.999, 4-way flip TTA</a:t>
                      </a:r>
                    </a:p>
                  </a:txBody>
                  <a:tcPr marL="73152" marR="73152" marT="27432" marB="27432" anchor="ctr">
                    <a:solidFill>
                      <a:srgbClr val="FFFFFF"/>
                    </a:solidFill>
                  </a:tcPr>
                </a:tc>
              </a:tr>
            </a:tbl>
          </a:graphicData>
        </a:graphic>
      </p:graphicFrame>
      <p:sp>
        <p:nvSpPr>
          <p:cNvPr id="8" name="TextBox 7"/>
          <p:cNvSpPr txBox="1"/>
          <p:nvPr/>
        </p:nvSpPr>
        <p:spPr>
          <a:xfrm>
            <a:off x="594360" y="3474720"/>
            <a:ext cx="1106424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Results on the mBRSET test set, against every alternative</a:t>
            </a:r>
          </a:p>
        </p:txBody>
      </p:sp>
      <p:graphicFrame>
        <p:nvGraphicFramePr>
          <p:cNvPr id="9" name="Table 8"/>
          <p:cNvGraphicFramePr>
            <a:graphicFrameLocks noGrp="1"/>
          </p:cNvGraphicFramePr>
          <p:nvPr/>
        </p:nvGraphicFramePr>
        <p:xfrm>
          <a:off x="594360" y="3803904"/>
          <a:ext cx="11064236" cy="1417320"/>
        </p:xfrm>
        <a:graphic>
          <a:graphicData uri="http://schemas.openxmlformats.org/drawingml/2006/table">
            <a:tbl>
              <a:tblPr firstRow="1" bandRow="1">
                <a:tableStyleId>{5C22544A-7EE6-4342-B048-85BDC9FD1C3A}</a:tableStyleId>
              </a:tblPr>
              <a:tblGrid>
                <a:gridCol w="4104476"/>
                <a:gridCol w="1070732"/>
                <a:gridCol w="1070732"/>
                <a:gridCol w="1338416"/>
                <a:gridCol w="1070732"/>
                <a:gridCol w="1070732"/>
                <a:gridCol w="1338416"/>
              </a:tblGrid>
              <a:tr h="283464">
                <a:tc>
                  <a:txBody>
                    <a:bodyPr/>
                    <a:lstStyle/>
                    <a:p>
                      <a:pPr algn="l">
                        <a:defRPr sz="1000" b="1">
                          <a:solidFill>
                            <a:srgbClr val="FFFFFF"/>
                          </a:solidFill>
                          <a:latin typeface="Times New Roman"/>
                        </a:defRPr>
                      </a:pPr>
                      <a:r>
                        <a:rPr sz="1000" b="1">
                          <a:solidFill>
                            <a:srgbClr val="FFFFFF"/>
                          </a:solidFill>
                          <a:latin typeface="Times New Roman"/>
                        </a:rPr>
                        <a:t>Model</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DR AUC</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DR F1</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DR missed</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ME AUC</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ME F1</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ME missed</a:t>
                      </a:r>
                    </a:p>
                  </a:txBody>
                  <a:tcPr marL="73152" marR="73152" marT="27432" marB="27432" anchor="ctr">
                    <a:solidFill>
                      <a:srgbClr val="1F4E79"/>
                    </a:solidFill>
                  </a:tcPr>
                </a:tc>
              </a:tr>
              <a:tr h="283464">
                <a:tc>
                  <a:txBody>
                    <a:bodyPr/>
                    <a:lstStyle/>
                    <a:p>
                      <a:pPr algn="l">
                        <a:defRPr sz="1000" b="0">
                          <a:solidFill>
                            <a:srgbClr val="1A1A1A"/>
                          </a:solidFill>
                          <a:latin typeface="Times New Roman"/>
                        </a:defRPr>
                      </a:pPr>
                      <a:r>
                        <a:rPr sz="1000" b="0">
                          <a:solidFill>
                            <a:srgbClr val="1A1A1A"/>
                          </a:solidFill>
                          <a:latin typeface="Times New Roman"/>
                        </a:rPr>
                        <a:t>Zero-shot transfer, no mBRSET in training</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0.9060</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0.7842</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50 / 159</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0.9705</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0.7027</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24 / 63</a:t>
                      </a:r>
                    </a:p>
                  </a:txBody>
                  <a:tcPr marL="73152" marR="73152" marT="27432" marB="27432" anchor="ctr">
                    <a:solidFill>
                      <a:srgbClr val="FFFFFF"/>
                    </a:solidFill>
                  </a:tcPr>
                </a:tc>
              </a:tr>
              <a:tr h="283464">
                <a:tc>
                  <a:txBody>
                    <a:bodyPr/>
                    <a:lstStyle/>
                    <a:p>
                      <a:pPr algn="l">
                        <a:defRPr sz="1000" b="0">
                          <a:solidFill>
                            <a:srgbClr val="1A1A1A"/>
                          </a:solidFill>
                          <a:latin typeface="Times New Roman"/>
                        </a:defRPr>
                      </a:pPr>
                      <a:r>
                        <a:rPr sz="1000" b="0">
                          <a:solidFill>
                            <a:srgbClr val="1A1A1A"/>
                          </a:solidFill>
                          <a:latin typeface="Times New Roman"/>
                        </a:rPr>
                        <a:t>mBRSET only, from scratch</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0.9433</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0.8239</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35 / 159</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0.9920</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0.8333</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18 / 63</a:t>
                      </a:r>
                    </a:p>
                  </a:txBody>
                  <a:tcPr marL="73152" marR="73152" marT="27432" marB="27432" anchor="ctr">
                    <a:solidFill>
                      <a:srgbClr val="F2F4F7"/>
                    </a:solidFill>
                  </a:tcPr>
                </a:tc>
              </a:tr>
              <a:tr h="283464">
                <a:tc>
                  <a:txBody>
                    <a:bodyPr/>
                    <a:lstStyle/>
                    <a:p>
                      <a:pPr algn="l">
                        <a:defRPr sz="1000" b="0">
                          <a:solidFill>
                            <a:srgbClr val="1A1A1A"/>
                          </a:solidFill>
                          <a:latin typeface="Times New Roman"/>
                        </a:defRPr>
                      </a:pPr>
                      <a:r>
                        <a:rPr sz="1000" b="0">
                          <a:solidFill>
                            <a:srgbClr val="1A1A1A"/>
                          </a:solidFill>
                          <a:latin typeface="Times New Roman"/>
                        </a:rPr>
                        <a:t>BRSET pretrain, mBRSET finetune (best F1)</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0.9446</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0.8355</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32 / 159</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0.9895</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0.8113</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20 / 63</a:t>
                      </a:r>
                    </a:p>
                  </a:txBody>
                  <a:tcPr marL="73152" marR="73152" marT="27432" marB="27432" anchor="ctr">
                    <a:solidFill>
                      <a:srgbClr val="FFFFFF"/>
                    </a:solidFill>
                  </a:tcPr>
                </a:tc>
              </a:tr>
              <a:tr h="283464">
                <a:tc>
                  <a:txBody>
                    <a:bodyPr/>
                    <a:lstStyle/>
                    <a:p>
                      <a:pPr algn="l">
                        <a:defRPr sz="1000" b="1">
                          <a:solidFill>
                            <a:srgbClr val="1A1A1A"/>
                          </a:solidFill>
                          <a:latin typeface="Times New Roman"/>
                        </a:defRPr>
                      </a:pPr>
                      <a:r>
                        <a:rPr sz="1000" b="1">
                          <a:solidFill>
                            <a:srgbClr val="1A1A1A"/>
                          </a:solidFill>
                          <a:latin typeface="Times New Roman"/>
                        </a:rPr>
                        <a:t>Aggregated BRSET + mBRSET (joint)</a:t>
                      </a:r>
                    </a:p>
                  </a:txBody>
                  <a:tcPr marL="73152" marR="73152" marT="27432" marB="27432" anchor="ctr">
                    <a:solidFill>
                      <a:srgbClr val="DFEADF"/>
                    </a:solidFill>
                  </a:tcPr>
                </a:tc>
                <a:tc>
                  <a:txBody>
                    <a:bodyPr/>
                    <a:lstStyle/>
                    <a:p>
                      <a:pPr algn="ctr">
                        <a:defRPr sz="1000" b="1">
                          <a:solidFill>
                            <a:srgbClr val="1A1A1A"/>
                          </a:solidFill>
                          <a:latin typeface="Times New Roman"/>
                        </a:defRPr>
                      </a:pPr>
                      <a:r>
                        <a:rPr sz="1000" b="1">
                          <a:solidFill>
                            <a:srgbClr val="1A1A1A"/>
                          </a:solidFill>
                          <a:latin typeface="Times New Roman"/>
                        </a:rPr>
                        <a:t>0.9377</a:t>
                      </a:r>
                    </a:p>
                  </a:txBody>
                  <a:tcPr marL="73152" marR="73152" marT="27432" marB="27432" anchor="ctr">
                    <a:solidFill>
                      <a:srgbClr val="DFEADF"/>
                    </a:solidFill>
                  </a:tcPr>
                </a:tc>
                <a:tc>
                  <a:txBody>
                    <a:bodyPr/>
                    <a:lstStyle/>
                    <a:p>
                      <a:pPr algn="ctr">
                        <a:defRPr sz="1000" b="1">
                          <a:solidFill>
                            <a:srgbClr val="1A1A1A"/>
                          </a:solidFill>
                          <a:latin typeface="Times New Roman"/>
                        </a:defRPr>
                      </a:pPr>
                      <a:r>
                        <a:rPr sz="1000" b="1">
                          <a:solidFill>
                            <a:srgbClr val="1A1A1A"/>
                          </a:solidFill>
                          <a:latin typeface="Times New Roman"/>
                        </a:rPr>
                        <a:t>0.8250</a:t>
                      </a:r>
                    </a:p>
                  </a:txBody>
                  <a:tcPr marL="73152" marR="73152" marT="27432" marB="27432" anchor="ctr">
                    <a:solidFill>
                      <a:srgbClr val="DFEADF"/>
                    </a:solidFill>
                  </a:tcPr>
                </a:tc>
                <a:tc>
                  <a:txBody>
                    <a:bodyPr/>
                    <a:lstStyle/>
                    <a:p>
                      <a:pPr algn="ctr">
                        <a:defRPr sz="1000" b="1">
                          <a:solidFill>
                            <a:srgbClr val="1A1A1A"/>
                          </a:solidFill>
                          <a:latin typeface="Times New Roman"/>
                        </a:defRPr>
                      </a:pPr>
                      <a:r>
                        <a:rPr sz="1000" b="1">
                          <a:solidFill>
                            <a:srgbClr val="1A1A1A"/>
                          </a:solidFill>
                          <a:latin typeface="Times New Roman"/>
                        </a:rPr>
                        <a:t>27 / 159</a:t>
                      </a:r>
                    </a:p>
                  </a:txBody>
                  <a:tcPr marL="73152" marR="73152" marT="27432" marB="27432" anchor="ctr">
                    <a:solidFill>
                      <a:srgbClr val="DFEADF"/>
                    </a:solidFill>
                  </a:tcPr>
                </a:tc>
                <a:tc>
                  <a:txBody>
                    <a:bodyPr/>
                    <a:lstStyle/>
                    <a:p>
                      <a:pPr algn="ctr">
                        <a:defRPr sz="1000" b="1">
                          <a:solidFill>
                            <a:srgbClr val="1A1A1A"/>
                          </a:solidFill>
                          <a:latin typeface="Times New Roman"/>
                        </a:defRPr>
                      </a:pPr>
                      <a:r>
                        <a:rPr sz="1000" b="1">
                          <a:solidFill>
                            <a:srgbClr val="1A1A1A"/>
                          </a:solidFill>
                          <a:latin typeface="Times New Roman"/>
                        </a:rPr>
                        <a:t>0.9936</a:t>
                      </a:r>
                    </a:p>
                  </a:txBody>
                  <a:tcPr marL="73152" marR="73152" marT="27432" marB="27432" anchor="ctr">
                    <a:solidFill>
                      <a:srgbClr val="DFEADF"/>
                    </a:solidFill>
                  </a:tcPr>
                </a:tc>
                <a:tc>
                  <a:txBody>
                    <a:bodyPr/>
                    <a:lstStyle/>
                    <a:p>
                      <a:pPr algn="ctr">
                        <a:defRPr sz="1000" b="1">
                          <a:solidFill>
                            <a:srgbClr val="1A1A1A"/>
                          </a:solidFill>
                          <a:latin typeface="Times New Roman"/>
                        </a:defRPr>
                      </a:pPr>
                      <a:r>
                        <a:rPr sz="1000" b="1">
                          <a:solidFill>
                            <a:srgbClr val="1A1A1A"/>
                          </a:solidFill>
                          <a:latin typeface="Times New Roman"/>
                        </a:rPr>
                        <a:t>0.8649</a:t>
                      </a:r>
                    </a:p>
                  </a:txBody>
                  <a:tcPr marL="73152" marR="73152" marT="27432" marB="27432" anchor="ctr">
                    <a:solidFill>
                      <a:srgbClr val="DFEADF"/>
                    </a:solidFill>
                  </a:tcPr>
                </a:tc>
                <a:tc>
                  <a:txBody>
                    <a:bodyPr/>
                    <a:lstStyle/>
                    <a:p>
                      <a:pPr algn="ctr">
                        <a:defRPr sz="1000" b="1">
                          <a:solidFill>
                            <a:srgbClr val="1A1A1A"/>
                          </a:solidFill>
                          <a:latin typeface="Times New Roman"/>
                        </a:defRPr>
                      </a:pPr>
                      <a:r>
                        <a:rPr sz="1000" b="1">
                          <a:solidFill>
                            <a:srgbClr val="1A1A1A"/>
                          </a:solidFill>
                          <a:latin typeface="Times New Roman"/>
                        </a:rPr>
                        <a:t>15 / 63</a:t>
                      </a:r>
                    </a:p>
                  </a:txBody>
                  <a:tcPr marL="73152" marR="73152" marT="27432" marB="27432" anchor="ctr">
                    <a:solidFill>
                      <a:srgbClr val="DFEADF"/>
                    </a:solidFill>
                  </a:tcPr>
                </a:tc>
              </a:tr>
            </a:tbl>
          </a:graphicData>
        </a:graphic>
      </p:graphicFrame>
      <p:sp>
        <p:nvSpPr>
          <p:cNvPr id="10" name="TextBox 9"/>
          <p:cNvSpPr txBox="1"/>
          <p:nvPr/>
        </p:nvSpPr>
        <p:spPr>
          <a:xfrm>
            <a:off x="594360" y="5358384"/>
            <a:ext cx="11064240" cy="676655"/>
          </a:xfrm>
          <a:prstGeom prst="rect">
            <a:avLst/>
          </a:prstGeom>
          <a:noFill/>
        </p:spPr>
        <p:txBody>
          <a:bodyPr wrap="square">
            <a:spAutoFit/>
          </a:bodyPr>
          <a:lstStyle/>
          <a:p>
            <a:pPr>
              <a:spcAft>
                <a:spcPts val="800"/>
              </a:spcAft>
              <a:defRPr sz="1150" b="0">
                <a:solidFill>
                  <a:srgbClr val="1A1A1A"/>
                </a:solidFill>
                <a:latin typeface="Times New Roman"/>
              </a:defRPr>
            </a:pPr>
            <a:r>
              <a:rPr sz="1150" b="0">
                <a:solidFill>
                  <a:srgbClr val="1A1A1A"/>
                </a:solidFill>
                <a:latin typeface="Times New Roman"/>
              </a:rPr>
              <a:t>Joint training catches the most patients, 27 missed against 32 for the best fine-tune, and gives the best macular edema result at perfect precision. But paired bootstrap says joint and fine-tuning are statistically indistinguishable on DR (p = 0.47), so this is a tie on the headline metric, not a win.</a:t>
            </a:r>
          </a:p>
          <a:p>
            <a:pPr>
              <a:spcAft>
                <a:spcPts val="800"/>
              </a:spcAft>
              <a:defRPr sz="1150" b="0">
                <a:solidFill>
                  <a:srgbClr val="1A1A1A"/>
                </a:solidFill>
                <a:latin typeface="Times New Roman"/>
              </a:defRPr>
            </a:pPr>
            <a:r>
              <a:rPr sz="1150" b="0">
                <a:solidFill>
                  <a:srgbClr val="1A1A1A"/>
                </a:solidFill>
                <a:latin typeface="Times New Roman"/>
              </a:rPr>
              <a:t>Training was clean: 25 of 25 epochs, zero non-finite batches, best epoch 10, 6.6 hours on one A40.</a:t>
            </a:r>
          </a:p>
        </p:txBody>
      </p:sp>
      <p:sp>
        <p:nvSpPr>
          <p:cNvPr id="11" name="TextBox 10"/>
          <p:cNvSpPr txBox="1"/>
          <p:nvPr/>
        </p:nvSpPr>
        <p:spPr>
          <a:xfrm>
            <a:off x="594360" y="6071616"/>
            <a:ext cx="11064240" cy="640080"/>
          </a:xfrm>
          <a:prstGeom prst="rect">
            <a:avLst/>
          </a:prstGeom>
          <a:noFill/>
        </p:spPr>
        <p:txBody>
          <a:bodyPr wrap="square">
            <a:spAutoFit/>
          </a:bodyPr>
          <a:lstStyle/>
          <a:p>
            <a:pPr>
              <a:defRPr sz="1350" b="1">
                <a:solidFill>
                  <a:srgbClr val="1F4E79"/>
                </a:solidFill>
                <a:latin typeface="Times New Roman"/>
              </a:defRPr>
            </a:pPr>
            <a:r>
              <a:rPr sz="1350" b="1">
                <a:solidFill>
                  <a:srgbClr val="1F4E79"/>
                </a:solidFill>
                <a:latin typeface="Times New Roman"/>
              </a:rPr>
              <a:t>Aggregation matches fine-tuning and misses fewer patients. It is the right base to add routing to.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Where this problem has already been solved, outside ophthalmology</a:t>
            </a:r>
          </a:p>
          <a:p>
            <a:pPr>
              <a:defRPr sz="1250" b="0">
                <a:solidFill>
                  <a:srgbClr val="5F5F5F"/>
                </a:solidFill>
                <a:latin typeface="Times New Roman"/>
              </a:defRPr>
            </a:pPr>
            <a:r>
              <a:rPr sz="1250" b="0">
                <a:solidFill>
                  <a:srgbClr val="5F5F5F"/>
                </a:solidFill>
                <a:latin typeface="Times New Roman"/>
              </a:rPr>
              <a:t>Stated abstractly, as Dr. Ye asked: two datasets, same content, one high quality and one low quality. Paper names are live links.</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94360" y="1536192"/>
          <a:ext cx="11064238" cy="3657600"/>
        </p:xfrm>
        <a:graphic>
          <a:graphicData uri="http://schemas.openxmlformats.org/drawingml/2006/table">
            <a:tbl>
              <a:tblPr firstRow="1" bandRow="1">
                <a:tableStyleId>{5C22544A-7EE6-4342-B048-85BDC9FD1C3A}</a:tableStyleId>
              </a:tblPr>
              <a:tblGrid>
                <a:gridCol w="1239957"/>
                <a:gridCol w="6104408"/>
                <a:gridCol w="2193771"/>
                <a:gridCol w="1526102"/>
              </a:tblGrid>
              <a:tr h="522514">
                <a:tc>
                  <a:txBody>
                    <a:bodyPr/>
                    <a:lstStyle/>
                    <a:p>
                      <a:pPr algn="l">
                        <a:defRPr sz="950" b="1">
                          <a:solidFill>
                            <a:srgbClr val="FFFFFF"/>
                          </a:solidFill>
                          <a:latin typeface="Times New Roman"/>
                        </a:defRPr>
                      </a:pPr>
                      <a:r>
                        <a:rPr sz="950" b="1">
                          <a:solidFill>
                            <a:srgbClr val="FFFFFF"/>
                          </a:solidFill>
                          <a:latin typeface="Times New Roman"/>
                        </a:rPr>
                        <a:t>Family</a:t>
                      </a:r>
                    </a:p>
                  </a:txBody>
                  <a:tcPr marL="73152" marR="73152" marT="27432" marB="27432" anchor="ctr">
                    <a:solidFill>
                      <a:srgbClr val="1F4E79"/>
                    </a:solidFill>
                  </a:tcPr>
                </a:tc>
                <a:tc>
                  <a:txBody>
                    <a:bodyPr/>
                    <a:lstStyle/>
                    <a:p>
                      <a:pPr algn="ctr">
                        <a:defRPr sz="950" b="1">
                          <a:solidFill>
                            <a:srgbClr val="FFFFFF"/>
                          </a:solidFill>
                          <a:latin typeface="Times New Roman"/>
                        </a:defRPr>
                      </a:pPr>
                      <a:r>
                        <a:rPr sz="950" b="1">
                          <a:solidFill>
                            <a:srgbClr val="FFFFFF"/>
                          </a:solidFill>
                          <a:latin typeface="Times New Roman"/>
                        </a:rPr>
                        <a:t>What it contributes here</a:t>
                      </a:r>
                    </a:p>
                  </a:txBody>
                  <a:tcPr marL="73152" marR="73152" marT="27432" marB="27432" anchor="ctr">
                    <a:solidFill>
                      <a:srgbClr val="1F4E79"/>
                    </a:solidFill>
                  </a:tcPr>
                </a:tc>
                <a:tc>
                  <a:txBody>
                    <a:bodyPr/>
                    <a:lstStyle/>
                    <a:p>
                      <a:pPr algn="ctr">
                        <a:defRPr sz="950" b="1">
                          <a:solidFill>
                            <a:srgbClr val="FFFFFF"/>
                          </a:solidFill>
                          <a:latin typeface="Times New Roman"/>
                        </a:defRPr>
                      </a:pPr>
                      <a:r>
                        <a:rPr sz="950" b="1">
                          <a:solidFill>
                            <a:srgbClr val="FFFFFF"/>
                          </a:solidFill>
                          <a:latin typeface="Times New Roman"/>
                        </a:rPr>
                        <a:t>Paper</a:t>
                      </a:r>
                    </a:p>
                  </a:txBody>
                  <a:tcPr marL="73152" marR="73152" marT="27432" marB="27432" anchor="ctr">
                    <a:solidFill>
                      <a:srgbClr val="1F4E79"/>
                    </a:solidFill>
                  </a:tcPr>
                </a:tc>
                <a:tc>
                  <a:txBody>
                    <a:bodyPr/>
                    <a:lstStyle/>
                    <a:p>
                      <a:pPr algn="ctr">
                        <a:defRPr sz="950" b="1">
                          <a:solidFill>
                            <a:srgbClr val="FFFFFF"/>
                          </a:solidFill>
                          <a:latin typeface="Times New Roman"/>
                        </a:defRPr>
                      </a:pPr>
                      <a:r>
                        <a:rPr sz="950" b="1">
                          <a:solidFill>
                            <a:srgbClr val="FFFFFF"/>
                          </a:solidFill>
                          <a:latin typeface="Times New Roman"/>
                        </a:rPr>
                        <a:t>Venue</a:t>
                      </a:r>
                    </a:p>
                  </a:txBody>
                  <a:tcPr marL="73152" marR="73152" marT="27432" marB="27432" anchor="ctr">
                    <a:solidFill>
                      <a:srgbClr val="1F4E79"/>
                    </a:solidFill>
                  </a:tcPr>
                </a:tc>
              </a:tr>
              <a:tr h="522514">
                <a:tc>
                  <a:txBody>
                    <a:bodyPr/>
                    <a:lstStyle/>
                    <a:p>
                      <a:pPr algn="l">
                        <a:defRPr sz="950" b="0">
                          <a:solidFill>
                            <a:srgbClr val="1A1A1A"/>
                          </a:solidFill>
                          <a:latin typeface="Times New Roman"/>
                        </a:defRPr>
                      </a:pPr>
                      <a:r>
                        <a:rPr sz="950" b="0">
                          <a:solidFill>
                            <a:srgbClr val="1A1A1A"/>
                          </a:solidFill>
                          <a:latin typeface="Times New Roman"/>
                        </a:rPr>
                        <a:t>Architecture</a:t>
                      </a:r>
                    </a:p>
                    <a:p>
                      <a:pPr algn="l">
                        <a:defRPr sz="950" b="0">
                          <a:solidFill>
                            <a:srgbClr val="1A1A1A"/>
                          </a:solidFill>
                          <a:latin typeface="Times New Roman"/>
                        </a:defRPr>
                      </a:pPr>
                      <a:r>
                        <a:rPr sz="950" b="0">
                          <a:solidFill>
                            <a:srgbClr val="1A1A1A"/>
                          </a:solidFill>
                          <a:latin typeface="Times New Roman"/>
                        </a:rPr>
                        <a:t>for routing</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Shared encoder plus a private encoder per domain.</a:t>
                      </a:r>
                    </a:p>
                    <a:p>
                      <a:pPr algn="ctr">
                        <a:defRPr sz="950" b="0">
                          <a:solidFill>
                            <a:srgbClr val="1A1A1A"/>
                          </a:solidFill>
                          <a:latin typeface="Times New Roman"/>
                        </a:defRPr>
                      </a:pPr>
                      <a:r>
                        <a:rPr sz="950" b="0">
                          <a:solidFill>
                            <a:srgbClr val="1A1A1A"/>
                          </a:solidFill>
                          <a:latin typeface="Times New Roman"/>
                        </a:rPr>
                        <a:t>No paired data required. Closest published form of</a:t>
                      </a:r>
                    </a:p>
                    <a:p>
                      <a:pPr algn="ctr">
                        <a:defRPr sz="950" b="0">
                          <a:solidFill>
                            <a:srgbClr val="1A1A1A"/>
                          </a:solidFill>
                          <a:latin typeface="Times New Roman"/>
                        </a:defRPr>
                      </a:pPr>
                      <a:r>
                        <a:rPr sz="950" b="0">
                          <a:solidFill>
                            <a:srgbClr val="1A1A1A"/>
                          </a:solidFill>
                          <a:latin typeface="Times New Roman"/>
                        </a:rPr>
                        <a:t>the routing idea</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hlinkClick r:id="rId2"/>
                        </a:rPr>
                        <a:t>Domain Separation</a:t>
                      </a:r>
                    </a:p>
                    <a:p>
                      <a:pPr algn="ctr">
                        <a:defRPr sz="950" b="0">
                          <a:solidFill>
                            <a:srgbClr val="1A1A1A"/>
                          </a:solidFill>
                          <a:latin typeface="Times New Roman"/>
                        </a:defRPr>
                      </a:pPr>
                      <a:r>
                        <a:rPr sz="950" b="0">
                          <a:solidFill>
                            <a:srgbClr val="1A1A1A"/>
                          </a:solidFill>
                          <a:latin typeface="Times New Roman"/>
                          <a:hlinkClick r:id="rId2"/>
                        </a:rPr>
                        <a:t>Networks</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NeurIPS 2016</a:t>
                      </a:r>
                    </a:p>
                  </a:txBody>
                  <a:tcPr marL="73152" marR="73152" marT="27432" marB="27432" anchor="ctr">
                    <a:solidFill>
                      <a:srgbClr val="FFFFFF"/>
                    </a:solidFill>
                  </a:tcPr>
                </a:tc>
              </a:tr>
              <a:tr h="522514">
                <a:tc>
                  <a:txBody>
                    <a:bodyPr/>
                    <a:lstStyle/>
                    <a:p>
                      <a:pPr algn="l">
                        <a:defRPr sz="950" b="0">
                          <a:solidFill>
                            <a:srgbClr val="1A1A1A"/>
                          </a:solidFill>
                          <a:latin typeface="Times New Roman"/>
                        </a:defRPr>
                      </a:pPr>
                      <a:r>
                        <a:rPr sz="950" b="0">
                          <a:solidFill>
                            <a:srgbClr val="1A1A1A"/>
                          </a:solidFill>
                          <a:latin typeface="Times New Roman"/>
                        </a:rPr>
                        <a:t>The unpaired</a:t>
                      </a:r>
                    </a:p>
                    <a:p>
                      <a:pPr algn="l">
                        <a:defRPr sz="950" b="0">
                          <a:solidFill>
                            <a:srgbClr val="1A1A1A"/>
                          </a:solidFill>
                          <a:latin typeface="Times New Roman"/>
                        </a:defRPr>
                      </a:pPr>
                      <a:r>
                        <a:rPr sz="950" b="0">
                          <a:solidFill>
                            <a:srgbClr val="1A1A1A"/>
                          </a:solidFill>
                          <a:latin typeface="Times New Roman"/>
                        </a:rPr>
                        <a:t>problem</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Dual-domain network for CT metal artifact reduction.</a:t>
                      </a:r>
                    </a:p>
                    <a:p>
                      <a:pPr algn="ctr">
                        <a:defRPr sz="950" b="0">
                          <a:solidFill>
                            <a:srgbClr val="1A1A1A"/>
                          </a:solidFill>
                          <a:latin typeface="Times New Roman"/>
                        </a:defRPr>
                      </a:pPr>
                      <a:r>
                        <a:rPr sz="950" b="0">
                          <a:solidFill>
                            <a:srgbClr val="1A1A1A"/>
                          </a:solidFill>
                          <a:latin typeface="Times New Roman"/>
                        </a:rPr>
                        <a:t>Named directly by Dr. Ye. Requires PAIRED data,</a:t>
                      </a:r>
                    </a:p>
                    <a:p>
                      <a:pPr algn="ctr">
                        <a:defRPr sz="950" b="0">
                          <a:solidFill>
                            <a:srgbClr val="1A1A1A"/>
                          </a:solidFill>
                          <a:latin typeface="Times New Roman"/>
                        </a:defRPr>
                      </a:pPr>
                      <a:r>
                        <a:rPr sz="950" b="0">
                          <a:solidFill>
                            <a:srgbClr val="1A1A1A"/>
                          </a:solidFill>
                          <a:latin typeface="Times New Roman"/>
                        </a:rPr>
                        <a:t>the limitation inherited here</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hlinkClick r:id="rId3"/>
                        </a:rPr>
                        <a:t>DuDoNet</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CVPR 2019</a:t>
                      </a:r>
                    </a:p>
                  </a:txBody>
                  <a:tcPr marL="73152" marR="73152" marT="27432" marB="27432" anchor="ctr">
                    <a:solidFill>
                      <a:srgbClr val="F2F4F7"/>
                    </a:solidFill>
                  </a:tcPr>
                </a:tc>
              </a:tr>
              <a:tr h="522514">
                <a:tc>
                  <a:txBody>
                    <a:bodyPr/>
                    <a:lstStyle/>
                    <a:p>
                      <a:pPr algn="l">
                        <a:defRPr sz="950" b="0">
                          <a:solidFill>
                            <a:srgbClr val="1A1A1A"/>
                          </a:solidFill>
                          <a:latin typeface="Times New Roman"/>
                        </a:defRPr>
                      </a:pPr>
                      <a:r>
                        <a:rPr sz="950" b="0">
                          <a:solidFill>
                            <a:srgbClr val="1A1A1A"/>
                          </a:solidFill>
                          <a:latin typeface="Times New Roman"/>
                        </a:rPr>
                        <a:t>The unpaired</a:t>
                      </a:r>
                    </a:p>
                    <a:p>
                      <a:pPr algn="l">
                        <a:defRPr sz="950" b="0">
                          <a:solidFill>
                            <a:srgbClr val="1A1A1A"/>
                          </a:solidFill>
                          <a:latin typeface="Times New Roman"/>
                        </a:defRPr>
                      </a:pPr>
                      <a:r>
                        <a:rPr sz="950" b="0">
                          <a:solidFill>
                            <a:srgbClr val="1A1A1A"/>
                          </a:solidFill>
                          <a:latin typeface="Times New Roman"/>
                        </a:rPr>
                        <a:t>problem</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Same lineage, now with conditional diffusion</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hlinkClick r:id="rId4"/>
                        </a:rPr>
                        <a:t>DCDiff</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MICCAI 2024</a:t>
                      </a:r>
                    </a:p>
                  </a:txBody>
                  <a:tcPr marL="73152" marR="73152" marT="27432" marB="27432" anchor="ctr">
                    <a:solidFill>
                      <a:srgbClr val="FFFFFF"/>
                    </a:solidFill>
                  </a:tcPr>
                </a:tc>
              </a:tr>
              <a:tr h="522514">
                <a:tc>
                  <a:txBody>
                    <a:bodyPr/>
                    <a:lstStyle/>
                    <a:p>
                      <a:pPr algn="l">
                        <a:defRPr sz="950" b="0">
                          <a:solidFill>
                            <a:srgbClr val="1A1A1A"/>
                          </a:solidFill>
                          <a:latin typeface="Times New Roman"/>
                        </a:defRPr>
                      </a:pPr>
                      <a:r>
                        <a:rPr sz="950" b="0">
                          <a:solidFill>
                            <a:srgbClr val="1A1A1A"/>
                          </a:solidFill>
                          <a:latin typeface="Times New Roman"/>
                        </a:rPr>
                        <a:t>World model</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Self-supervised world model for radiographs that</a:t>
                      </a:r>
                    </a:p>
                    <a:p>
                      <a:pPr algn="ctr">
                        <a:defRPr sz="950" b="0">
                          <a:solidFill>
                            <a:srgbClr val="1A1A1A"/>
                          </a:solidFill>
                          <a:latin typeface="Times New Roman"/>
                        </a:defRPr>
                      </a:pPr>
                      <a:r>
                        <a:rPr sz="950" b="0">
                          <a:solidFill>
                            <a:srgbClr val="1A1A1A"/>
                          </a:solidFill>
                          <a:latin typeface="Times New Roman"/>
                        </a:rPr>
                        <a:t>explicitly models domain variation across hospitals</a:t>
                      </a:r>
                    </a:p>
                    <a:p>
                      <a:pPr algn="ctr">
                        <a:defRPr sz="950" b="0">
                          <a:solidFill>
                            <a:srgbClr val="1A1A1A"/>
                          </a:solidFill>
                          <a:latin typeface="Times New Roman"/>
                        </a:defRPr>
                      </a:pPr>
                      <a:r>
                        <a:rPr sz="950" b="0">
                          <a:solidFill>
                            <a:srgbClr val="1A1A1A"/>
                          </a:solidFill>
                          <a:latin typeface="Times New Roman"/>
                        </a:rPr>
                        <a:t>and devices</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hlinkClick r:id="rId5"/>
                        </a:rPr>
                        <a:t>CheXWorld</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CVPR 2025</a:t>
                      </a:r>
                    </a:p>
                  </a:txBody>
                  <a:tcPr marL="73152" marR="73152" marT="27432" marB="27432" anchor="ctr">
                    <a:solidFill>
                      <a:srgbClr val="F2F4F7"/>
                    </a:solidFill>
                  </a:tcPr>
                </a:tc>
              </a:tr>
              <a:tr h="522514">
                <a:tc>
                  <a:txBody>
                    <a:bodyPr/>
                    <a:lstStyle/>
                    <a:p>
                      <a:pPr algn="l">
                        <a:defRPr sz="950" b="0">
                          <a:solidFill>
                            <a:srgbClr val="1A1A1A"/>
                          </a:solidFill>
                          <a:latin typeface="Times New Roman"/>
                        </a:defRPr>
                      </a:pPr>
                      <a:r>
                        <a:rPr sz="950" b="0">
                          <a:solidFill>
                            <a:srgbClr val="1A1A1A"/>
                          </a:solidFill>
                          <a:latin typeface="Times New Roman"/>
                        </a:rPr>
                        <a:t>Augmentation</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Nine degradation operations, generic settings.</a:t>
                      </a:r>
                    </a:p>
                    <a:p>
                      <a:pPr algn="ctr">
                        <a:defRPr sz="950" b="0">
                          <a:solidFill>
                            <a:srgbClr val="1A1A1A"/>
                          </a:solidFill>
                          <a:latin typeface="Times New Roman"/>
                        </a:defRPr>
                      </a:pPr>
                      <a:r>
                        <a:rPr sz="950" b="0">
                          <a:solidFill>
                            <a:srgbClr val="1A1A1A"/>
                          </a:solidFill>
                          <a:latin typeface="Times New Roman"/>
                        </a:rPr>
                        <a:t>AUC 78.4 to 82.6 across eight fundus datasets</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hlinkClick r:id="rId6"/>
                        </a:rPr>
                        <a:t>GDRNet</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MICCAI 2023</a:t>
                      </a:r>
                    </a:p>
                  </a:txBody>
                  <a:tcPr marL="73152" marR="73152" marT="27432" marB="27432" anchor="ctr">
                    <a:solidFill>
                      <a:srgbClr val="FFFFFF"/>
                    </a:solidFill>
                  </a:tcPr>
                </a:tc>
              </a:tr>
              <a:tr h="522516">
                <a:tc>
                  <a:txBody>
                    <a:bodyPr/>
                    <a:lstStyle/>
                    <a:p>
                      <a:pPr algn="l">
                        <a:defRPr sz="950" b="0">
                          <a:solidFill>
                            <a:srgbClr val="1A1A1A"/>
                          </a:solidFill>
                          <a:latin typeface="Times New Roman"/>
                        </a:defRPr>
                      </a:pPr>
                      <a:r>
                        <a:rPr sz="950" b="0">
                          <a:solidFill>
                            <a:srgbClr val="1A1A1A"/>
                          </a:solidFill>
                          <a:latin typeface="Times New Roman"/>
                        </a:rPr>
                        <a:t>Degradation</a:t>
                      </a:r>
                    </a:p>
                    <a:p>
                      <a:pPr algn="l">
                        <a:defRPr sz="950" b="0">
                          <a:solidFill>
                            <a:srgbClr val="1A1A1A"/>
                          </a:solidFill>
                          <a:latin typeface="Times New Roman"/>
                        </a:defRPr>
                      </a:pPr>
                      <a:r>
                        <a:rPr sz="950" b="0">
                          <a:solidFill>
                            <a:srgbClr val="1A1A1A"/>
                          </a:solidFill>
                          <a:latin typeface="Times New Roman"/>
                        </a:rPr>
                        <a:t>model</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Fundus degradation derived from the optics:</a:t>
                      </a:r>
                    </a:p>
                    <a:p>
                      <a:pPr algn="ctr">
                        <a:defRPr sz="950" b="0">
                          <a:solidFill>
                            <a:srgbClr val="1A1A1A"/>
                          </a:solidFill>
                          <a:latin typeface="Times New Roman"/>
                        </a:defRPr>
                      </a:pPr>
                      <a:r>
                        <a:rPr sz="950" b="0">
                          <a:solidFill>
                            <a:srgbClr val="1A1A1A"/>
                          </a:solidFill>
                          <a:latin typeface="Times New Roman"/>
                        </a:rPr>
                        <a:t>light transmission, blur, artifacts</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hlinkClick r:id="rId7"/>
                        </a:rPr>
                        <a:t>cofe-Net</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IEEE TMI 2021</a:t>
                      </a:r>
                    </a:p>
                  </a:txBody>
                  <a:tcPr marL="73152" marR="73152" marT="27432" marB="27432" anchor="ctr">
                    <a:solidFill>
                      <a:srgbClr val="F2F4F7"/>
                    </a:solidFill>
                  </a:tcPr>
                </a:tc>
              </a:tr>
            </a:tbl>
          </a:graphicData>
        </a:graphic>
      </p:graphicFrame>
      <p:sp>
        <p:nvSpPr>
          <p:cNvPr id="5" name="TextBox 4"/>
          <p:cNvSpPr txBox="1"/>
          <p:nvPr/>
        </p:nvSpPr>
        <p:spPr>
          <a:xfrm>
            <a:off x="594360" y="5321808"/>
            <a:ext cx="11064240" cy="731519"/>
          </a:xfrm>
          <a:prstGeom prst="rect">
            <a:avLst/>
          </a:prstGeom>
          <a:noFill/>
        </p:spPr>
        <p:txBody>
          <a:bodyPr wrap="square">
            <a:spAutoFit/>
          </a:bodyPr>
          <a:lstStyle/>
          <a:p>
            <a:pPr>
              <a:spcAft>
                <a:spcPts val="800"/>
              </a:spcAft>
              <a:defRPr sz="1100" b="0">
                <a:solidFill>
                  <a:srgbClr val="1A1A1A"/>
                </a:solidFill>
                <a:latin typeface="Times New Roman"/>
              </a:defRPr>
            </a:pPr>
            <a:r>
              <a:rPr sz="1100" b="0">
                <a:solidFill>
                  <a:srgbClr val="1A1A1A"/>
                </a:solidFill>
                <a:latin typeface="Times New Roman"/>
              </a:rPr>
              <a:t>How CT escaped the paired-data requirement: cycle-consistency. Translate low to high quality and back, and recover the original. The catch is that CycleGAN is documented to collapse on real tabletop to portable fundus data (Lin, MICCAI 2022), so the framing transfers but the method does not.</a:t>
            </a:r>
          </a:p>
          <a:p>
            <a:pPr>
              <a:spcAft>
                <a:spcPts val="800"/>
              </a:spcAft>
              <a:defRPr sz="1100" b="0">
                <a:solidFill>
                  <a:srgbClr val="1A1A1A"/>
                </a:solidFill>
                <a:latin typeface="Times New Roman"/>
              </a:defRPr>
            </a:pPr>
            <a:r>
              <a:rPr sz="1100" b="0">
                <a:solidFill>
                  <a:srgbClr val="1A1A1A"/>
                </a:solidFill>
                <a:latin typeface="Times New Roman"/>
              </a:rPr>
              <a:t>One correction to raise with Dr. Ye: he believed a generative world model for cross-domain relationships was unexplored. CheXWorld does model domain variation, at CVPR 2025. Room remains, since it does self-supervised pretraining rather than cross-device transfer of a classifier, but less than assumed.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Dr. Ye's routing proposal, and what it maps onto</a:t>
            </a:r>
          </a:p>
          <a:p>
            <a:pPr>
              <a:defRPr sz="1250" b="0">
                <a:solidFill>
                  <a:srgbClr val="5F5F5F"/>
                </a:solidFill>
                <a:latin typeface="Times New Roman"/>
              </a:defRPr>
            </a:pPr>
            <a:r>
              <a:rPr sz="1250" b="0">
                <a:solidFill>
                  <a:srgbClr val="5F5F5F"/>
                </a:solidFill>
                <a:latin typeface="Times New Roman"/>
              </a:rPr>
              <a:t>His central technical idea, restated precisely, with the published work that supports each half.</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1353312"/>
            <a:ext cx="11064240" cy="658368"/>
          </a:xfrm>
          <a:prstGeom prst="rect">
            <a:avLst/>
          </a:prstGeom>
          <a:solidFill>
            <a:srgbClr val="ECEFF4"/>
          </a:solidFill>
          <a:ln w="9525">
            <a:solidFill>
              <a:srgbClr val="B8C2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0">
                <a:solidFill>
                  <a:srgbClr val="1A1A1A"/>
                </a:solidFill>
                <a:latin typeface="Times New Roman"/>
              </a:defRPr>
            </a:pPr>
            <a:r>
              <a:rPr sz="1250" b="0">
                <a:solidFill>
                  <a:srgbClr val="1A1A1A"/>
                </a:solidFill>
                <a:latin typeface="Times New Roman"/>
              </a:rPr>
              <a:t>"When you detect the disease in the mBRSET, mostly it should be based on the mBRSET, but part of the BRSET data may be helpful."</a:t>
            </a:r>
          </a:p>
        </p:txBody>
      </p:sp>
      <p:sp>
        <p:nvSpPr>
          <p:cNvPr id="5" name="TextBox 4"/>
          <p:cNvSpPr txBox="1"/>
          <p:nvPr/>
        </p:nvSpPr>
        <p:spPr>
          <a:xfrm>
            <a:off x="594360" y="2176272"/>
            <a:ext cx="1106424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The problem it solves</a:t>
            </a:r>
          </a:p>
        </p:txBody>
      </p:sp>
      <p:sp>
        <p:nvSpPr>
          <p:cNvPr id="6" name="TextBox 5"/>
          <p:cNvSpPr txBox="1"/>
          <p:nvPr/>
        </p:nvSpPr>
        <p:spPr>
          <a:xfrm>
            <a:off x="594360" y="2487168"/>
            <a:ext cx="11064240" cy="566928"/>
          </a:xfrm>
          <a:prstGeom prst="rect">
            <a:avLst/>
          </a:prstGeom>
          <a:noFill/>
        </p:spPr>
        <p:txBody>
          <a:bodyPr wrap="square">
            <a:spAutoFit/>
          </a:bodyPr>
          <a:lstStyle/>
          <a:p>
            <a:pPr algn="l">
              <a:defRPr sz="1200" b="0">
                <a:solidFill>
                  <a:srgbClr val="1A1A1A"/>
                </a:solidFill>
                <a:latin typeface="Times New Roman"/>
              </a:defRPr>
            </a:pPr>
            <a:r>
              <a:rPr sz="1200" b="0">
                <a:solidFill>
                  <a:srgbClr val="1A1A1A"/>
                </a:solidFill>
                <a:latin typeface="Times New Roman"/>
              </a:rPr>
              <a:t>Plain aggregation lets BRSET dominate 77 percent to 23 percent, so the model mostly learns tabletop features even when classifying a handheld image. Routing lets the model decide, per image, how much to draw on each source.</a:t>
            </a:r>
          </a:p>
        </p:txBody>
      </p:sp>
      <p:graphicFrame>
        <p:nvGraphicFramePr>
          <p:cNvPr id="7" name="Table 6"/>
          <p:cNvGraphicFramePr>
            <a:graphicFrameLocks noGrp="1"/>
          </p:cNvGraphicFramePr>
          <p:nvPr/>
        </p:nvGraphicFramePr>
        <p:xfrm>
          <a:off x="594360" y="3182112"/>
          <a:ext cx="11064240" cy="1371600"/>
        </p:xfrm>
        <a:graphic>
          <a:graphicData uri="http://schemas.openxmlformats.org/drawingml/2006/table">
            <a:tbl>
              <a:tblPr firstRow="1" bandRow="1">
                <a:tableStyleId>{5C22544A-7EE6-4342-B048-85BDC9FD1C3A}</a:tableStyleId>
              </a:tblPr>
              <a:tblGrid>
                <a:gridCol w="1463040"/>
                <a:gridCol w="4206240"/>
                <a:gridCol w="5394960"/>
              </a:tblGrid>
              <a:tr h="457200">
                <a:tc>
                  <a:txBody>
                    <a:bodyPr/>
                    <a:lstStyle/>
                    <a:p>
                      <a:pPr algn="l">
                        <a:defRPr sz="1000" b="1">
                          <a:solidFill>
                            <a:srgbClr val="FFFFFF"/>
                          </a:solidFill>
                          <a:latin typeface="Times New Roman"/>
                        </a:defRPr>
                      </a:pPr>
                      <a:r>
                        <a:rPr sz="1000" b="1">
                          <a:solidFill>
                            <a:srgbClr val="FFFFFF"/>
                          </a:solidFill>
                          <a:latin typeface="Times New Roman"/>
                        </a:rPr>
                        <a:t>Component</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What Dr. Ye specified</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Published form</a:t>
                      </a:r>
                    </a:p>
                  </a:txBody>
                  <a:tcPr marL="73152" marR="73152" marT="27432" marB="27432" anchor="ctr">
                    <a:solidFill>
                      <a:srgbClr val="1F4E79"/>
                    </a:solidFill>
                  </a:tcPr>
                </a:tc>
              </a:tr>
              <a:tr h="457200">
                <a:tc>
                  <a:txBody>
                    <a:bodyPr/>
                    <a:lstStyle/>
                    <a:p>
                      <a:pPr algn="l">
                        <a:defRPr sz="1000" b="0">
                          <a:solidFill>
                            <a:srgbClr val="1A1A1A"/>
                          </a:solidFill>
                          <a:latin typeface="Times New Roman"/>
                        </a:defRPr>
                      </a:pPr>
                      <a:r>
                        <a:rPr sz="1000" b="0">
                          <a:solidFill>
                            <a:srgbClr val="1A1A1A"/>
                          </a:solidFill>
                          <a:latin typeface="Times New Roman"/>
                        </a:rPr>
                        <a:t>Where it sits</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In the ENCODER, not the decision layer.</a:t>
                      </a:r>
                    </a:p>
                    <a:p>
                      <a:pPr algn="ctr">
                        <a:defRPr sz="1000" b="0">
                          <a:solidFill>
                            <a:srgbClr val="1A1A1A"/>
                          </a:solidFill>
                          <a:latin typeface="Times New Roman"/>
                        </a:defRPr>
                      </a:pPr>
                      <a:r>
                        <a:rPr sz="1000" b="0">
                          <a:solidFill>
                            <a:srgbClr val="1A1A1A"/>
                          </a:solidFill>
                          <a:latin typeface="Times New Roman"/>
                        </a:rPr>
                        <a:t>He repeated this twice</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Domain Separation Networks: shared encoder</a:t>
                      </a:r>
                    </a:p>
                    <a:p>
                      <a:pPr algn="ctr">
                        <a:defRPr sz="1000" b="0">
                          <a:solidFill>
                            <a:srgbClr val="1A1A1A"/>
                          </a:solidFill>
                          <a:latin typeface="Times New Roman"/>
                        </a:defRPr>
                      </a:pPr>
                      <a:r>
                        <a:rPr sz="1000" b="0">
                          <a:solidFill>
                            <a:srgbClr val="1A1A1A"/>
                          </a:solidFill>
                          <a:latin typeface="Times New Roman"/>
                        </a:rPr>
                        <a:t>plus per-domain private encoders (NeurIPS 2016)</a:t>
                      </a:r>
                    </a:p>
                  </a:txBody>
                  <a:tcPr marL="73152" marR="73152" marT="27432" marB="27432" anchor="ctr">
                    <a:solidFill>
                      <a:srgbClr val="FFFFFF"/>
                    </a:solidFill>
                  </a:tcPr>
                </a:tc>
              </a:tr>
              <a:tr h="457200">
                <a:tc>
                  <a:txBody>
                    <a:bodyPr/>
                    <a:lstStyle/>
                    <a:p>
                      <a:pPr algn="l">
                        <a:defRPr sz="1000" b="0">
                          <a:solidFill>
                            <a:srgbClr val="1A1A1A"/>
                          </a:solidFill>
                          <a:latin typeface="Times New Roman"/>
                        </a:defRPr>
                      </a:pPr>
                      <a:r>
                        <a:rPr sz="1000" b="0">
                          <a:solidFill>
                            <a:srgbClr val="1A1A1A"/>
                          </a:solidFill>
                          <a:latin typeface="Times New Roman"/>
                        </a:rPr>
                        <a:t>Routing signal</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Conditional entropy of the labels,</a:t>
                      </a:r>
                    </a:p>
                    <a:p>
                      <a:pPr algn="ctr">
                        <a:defRPr sz="1000" b="0">
                          <a:solidFill>
                            <a:srgbClr val="1A1A1A"/>
                          </a:solidFill>
                          <a:latin typeface="Times New Roman"/>
                        </a:defRPr>
                      </a:pPr>
                      <a:r>
                        <a:rPr sz="1000" b="0">
                          <a:solidFill>
                            <a:srgbClr val="1A1A1A"/>
                          </a:solidFill>
                          <a:latin typeface="Times New Roman"/>
                        </a:rPr>
                        <a:t>computed during training</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Information-theoretic Mixture-of-Experts gating:</a:t>
                      </a:r>
                    </a:p>
                    <a:p>
                      <a:pPr algn="ctr">
                        <a:defRPr sz="1000" b="0">
                          <a:solidFill>
                            <a:srgbClr val="1A1A1A"/>
                          </a:solidFill>
                          <a:latin typeface="Times New Roman"/>
                        </a:defRPr>
                      </a:pPr>
                      <a:r>
                        <a:rPr sz="1000" b="0">
                          <a:solidFill>
                            <a:srgbClr val="1A1A1A"/>
                          </a:solidFill>
                          <a:latin typeface="Times New Roman"/>
                        </a:rPr>
                        <a:t>mutual information between expert and label</a:t>
                      </a:r>
                    </a:p>
                  </a:txBody>
                  <a:tcPr marL="73152" marR="73152" marT="27432" marB="27432" anchor="ctr">
                    <a:solidFill>
                      <a:srgbClr val="F2F4F7"/>
                    </a:solidFill>
                  </a:tcPr>
                </a:tc>
              </a:tr>
            </a:tbl>
          </a:graphicData>
        </a:graphic>
      </p:graphicFrame>
      <p:sp>
        <p:nvSpPr>
          <p:cNvPr id="8" name="TextBox 7"/>
          <p:cNvSpPr txBox="1"/>
          <p:nvPr/>
        </p:nvSpPr>
        <p:spPr>
          <a:xfrm>
            <a:off x="594360" y="4700016"/>
            <a:ext cx="11064240" cy="310896"/>
          </a:xfrm>
          <a:prstGeom prst="rect">
            <a:avLst/>
          </a:prstGeom>
          <a:noFill/>
        </p:spPr>
        <p:txBody>
          <a:bodyPr wrap="square">
            <a:spAutoFit/>
          </a:bodyPr>
          <a:lstStyle/>
          <a:p>
            <a:pPr algn="l">
              <a:defRPr sz="1250" b="1">
                <a:solidFill>
                  <a:srgbClr val="A36E0A"/>
                </a:solidFill>
                <a:latin typeface="Times New Roman"/>
              </a:defRPr>
            </a:pPr>
            <a:r>
              <a:rPr sz="1250" b="1">
                <a:solidFill>
                  <a:srgbClr val="A36E0A"/>
                </a:solidFill>
                <a:latin typeface="Times New Roman"/>
              </a:rPr>
              <a:t>Open question, carried forward deliberately</a:t>
            </a:r>
          </a:p>
        </p:txBody>
      </p:sp>
      <p:sp>
        <p:nvSpPr>
          <p:cNvPr id="9" name="TextBox 8"/>
          <p:cNvSpPr txBox="1"/>
          <p:nvPr/>
        </p:nvSpPr>
        <p:spPr>
          <a:xfrm>
            <a:off x="594360" y="5010912"/>
            <a:ext cx="11064240" cy="658367"/>
          </a:xfrm>
          <a:prstGeom prst="rect">
            <a:avLst/>
          </a:prstGeom>
          <a:noFill/>
        </p:spPr>
        <p:txBody>
          <a:bodyPr wrap="square">
            <a:spAutoFit/>
          </a:bodyPr>
          <a:lstStyle/>
          <a:p>
            <a:pPr>
              <a:spcAft>
                <a:spcPts val="800"/>
              </a:spcAft>
              <a:defRPr sz="1150" b="0">
                <a:solidFill>
                  <a:srgbClr val="1A1A1A"/>
                </a:solidFill>
                <a:latin typeface="Times New Roman"/>
              </a:defRPr>
            </a:pPr>
            <a:r>
              <a:rPr sz="1150" b="0">
                <a:solidFill>
                  <a:srgbClr val="1A1A1A"/>
                </a:solidFill>
                <a:latin typeface="Times New Roman"/>
              </a:rPr>
              <a:t>The transcript is ambiguous on the entropy term. Entropy of the gate's own output distribution is standard and easy; conditional entropy of the label given domain features is closer to his wording and harder. I will implement both variants and test rather than guess, and confirm with him.</a:t>
            </a:r>
          </a:p>
        </p:txBody>
      </p:sp>
      <p:sp>
        <p:nvSpPr>
          <p:cNvPr id="10" name="TextBox 9"/>
          <p:cNvSpPr txBox="1"/>
          <p:nvPr/>
        </p:nvSpPr>
        <p:spPr>
          <a:xfrm>
            <a:off x="594360" y="5742432"/>
            <a:ext cx="11064240" cy="640080"/>
          </a:xfrm>
          <a:prstGeom prst="rect">
            <a:avLst/>
          </a:prstGeom>
          <a:noFill/>
        </p:spPr>
        <p:txBody>
          <a:bodyPr wrap="square">
            <a:spAutoFit/>
          </a:bodyPr>
          <a:lstStyle/>
          <a:p>
            <a:pPr>
              <a:defRPr sz="1350" b="1">
                <a:solidFill>
                  <a:srgbClr val="1F4E79"/>
                </a:solidFill>
                <a:latin typeface="Times New Roman"/>
              </a:defRPr>
            </a:pPr>
            <a:r>
              <a:rPr sz="1350" b="1">
                <a:solidFill>
                  <a:srgbClr val="1F4E79"/>
                </a:solidFill>
                <a:latin typeface="Times New Roman"/>
              </a:rPr>
              <a:t>Neither half is ours. The combination, applied to unpaired cross-device fundus, appears open.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What runs next</a:t>
            </a:r>
          </a:p>
          <a:p>
            <a:pPr>
              <a:defRPr sz="1250" b="0">
                <a:solidFill>
                  <a:srgbClr val="5F5F5F"/>
                </a:solidFill>
                <a:latin typeface="Times New Roman"/>
              </a:defRPr>
            </a:pPr>
            <a:r>
              <a:rPr sz="1250" b="0">
                <a:solidFill>
                  <a:srgbClr val="5F5F5F"/>
                </a:solidFill>
                <a:latin typeface="Times New Roman"/>
              </a:rPr>
              <a:t>Each experiment produces a number against a fixed control.</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94360" y="1481328"/>
          <a:ext cx="11064240" cy="2194560"/>
        </p:xfrm>
        <a:graphic>
          <a:graphicData uri="http://schemas.openxmlformats.org/drawingml/2006/table">
            <a:tbl>
              <a:tblPr firstRow="1" bandRow="1">
                <a:tableStyleId>{5C22544A-7EE6-4342-B048-85BDC9FD1C3A}</a:tableStyleId>
              </a:tblPr>
              <a:tblGrid>
                <a:gridCol w="365760"/>
                <a:gridCol w="2560320"/>
                <a:gridCol w="5120640"/>
                <a:gridCol w="1828800"/>
                <a:gridCol w="1188720"/>
              </a:tblGrid>
              <a:tr h="548640">
                <a:tc>
                  <a:txBody>
                    <a:bodyPr/>
                    <a:lstStyle/>
                    <a:p>
                      <a:pPr algn="l">
                        <a:defRPr sz="1000" b="1">
                          <a:solidFill>
                            <a:srgbClr val="FFFFFF"/>
                          </a:solidFill>
                          <a:latin typeface="Times New Roman"/>
                        </a:defRPr>
                      </a:pP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Experiment</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What it establishes</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Control to beat</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Status</a:t>
                      </a:r>
                    </a:p>
                  </a:txBody>
                  <a:tcPr marL="73152" marR="73152" marT="27432" marB="27432" anchor="ctr">
                    <a:solidFill>
                      <a:srgbClr val="1F4E79"/>
                    </a:solidFill>
                  </a:tcPr>
                </a:tc>
              </a:tr>
              <a:tr h="548640">
                <a:tc>
                  <a:txBody>
                    <a:bodyPr/>
                    <a:lstStyle/>
                    <a:p>
                      <a:pPr algn="l">
                        <a:defRPr sz="1000" b="0">
                          <a:solidFill>
                            <a:srgbClr val="1A1A1A"/>
                          </a:solidFill>
                          <a:latin typeface="Times New Roman"/>
                        </a:defRPr>
                      </a:pPr>
                      <a:r>
                        <a:rPr sz="1000" b="0">
                          <a:solidFill>
                            <a:srgbClr val="1A1A1A"/>
                          </a:solidFill>
                          <a:latin typeface="Times New Roman"/>
                        </a:rPr>
                        <a:t>1</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Domain Separation baseline</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Shared plus private encoders on the aggregated set.</a:t>
                      </a:r>
                    </a:p>
                    <a:p>
                      <a:pPr algn="ctr">
                        <a:defRPr sz="1000" b="0">
                          <a:solidFill>
                            <a:srgbClr val="1A1A1A"/>
                          </a:solidFill>
                          <a:latin typeface="Times New Roman"/>
                        </a:defRPr>
                      </a:pPr>
                      <a:r>
                        <a:rPr sz="1000" b="0">
                          <a:solidFill>
                            <a:srgbClr val="1A1A1A"/>
                          </a:solidFill>
                          <a:latin typeface="Times New Roman"/>
                        </a:rPr>
                        <a:t>Published architecture, unmodified</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Joint 0.8250</a:t>
                      </a:r>
                    </a:p>
                    <a:p>
                      <a:pPr algn="ctr">
                        <a:defRPr sz="1000" b="0">
                          <a:solidFill>
                            <a:srgbClr val="1A1A1A"/>
                          </a:solidFill>
                          <a:latin typeface="Times New Roman"/>
                        </a:defRPr>
                      </a:pPr>
                      <a:r>
                        <a:rPr sz="1000" b="0">
                          <a:solidFill>
                            <a:srgbClr val="1A1A1A"/>
                          </a:solidFill>
                          <a:latin typeface="Times New Roman"/>
                        </a:rPr>
                        <a:t>Finetune 0.8355</a:t>
                      </a:r>
                    </a:p>
                  </a:txBody>
                  <a:tcPr marL="73152" marR="73152" marT="27432" marB="27432" anchor="ctr">
                    <a:solidFill>
                      <a:srgbClr val="FFFFFF"/>
                    </a:solidFill>
                  </a:tcPr>
                </a:tc>
                <a:tc>
                  <a:txBody>
                    <a:bodyPr/>
                    <a:lstStyle/>
                    <a:p>
                      <a:pPr algn="ctr">
                        <a:defRPr sz="1000" b="1">
                          <a:solidFill>
                            <a:srgbClr val="A36E0A"/>
                          </a:solidFill>
                          <a:latin typeface="Times New Roman"/>
                        </a:defRPr>
                      </a:pPr>
                      <a:r>
                        <a:rPr sz="1000" b="1">
                          <a:solidFill>
                            <a:srgbClr val="A36E0A"/>
                          </a:solidFill>
                          <a:latin typeface="Times New Roman"/>
                        </a:rPr>
                        <a:t>Running</a:t>
                      </a:r>
                    </a:p>
                  </a:txBody>
                  <a:tcPr marL="73152" marR="73152" marT="27432" marB="27432" anchor="ctr">
                    <a:solidFill>
                      <a:srgbClr val="FFFFFF"/>
                    </a:solidFill>
                  </a:tcPr>
                </a:tc>
              </a:tr>
              <a:tr h="548640">
                <a:tc>
                  <a:txBody>
                    <a:bodyPr/>
                    <a:lstStyle/>
                    <a:p>
                      <a:pPr algn="l">
                        <a:defRPr sz="1000" b="0">
                          <a:solidFill>
                            <a:srgbClr val="1A1A1A"/>
                          </a:solidFill>
                          <a:latin typeface="Times New Roman"/>
                        </a:defRPr>
                      </a:pPr>
                      <a:r>
                        <a:rPr sz="1000" b="0">
                          <a:solidFill>
                            <a:srgbClr val="1A1A1A"/>
                          </a:solidFill>
                          <a:latin typeface="Times New Roman"/>
                        </a:rPr>
                        <a:t>2</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Entropy-gated routing</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Adds Dr. Ye's gate on top of experiment 1.</a:t>
                      </a:r>
                    </a:p>
                    <a:p>
                      <a:pPr algn="ctr">
                        <a:defRPr sz="1000" b="0">
                          <a:solidFill>
                            <a:srgbClr val="1A1A1A"/>
                          </a:solidFill>
                          <a:latin typeface="Times New Roman"/>
                        </a:defRPr>
                      </a:pPr>
                      <a:r>
                        <a:rPr sz="1000" b="0">
                          <a:solidFill>
                            <a:srgbClr val="1A1A1A"/>
                          </a:solidFill>
                          <a:latin typeface="Times New Roman"/>
                        </a:rPr>
                        <a:t>Both entropy variants tested</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Experiment 1</a:t>
                      </a:r>
                    </a:p>
                  </a:txBody>
                  <a:tcPr marL="73152" marR="73152" marT="27432" marB="27432" anchor="ctr">
                    <a:solidFill>
                      <a:srgbClr val="F2F4F7"/>
                    </a:solidFill>
                  </a:tcPr>
                </a:tc>
                <a:tc>
                  <a:txBody>
                    <a:bodyPr/>
                    <a:lstStyle/>
                    <a:p>
                      <a:pPr algn="ctr">
                        <a:defRPr sz="1000" b="1">
                          <a:solidFill>
                            <a:srgbClr val="1F4E79"/>
                          </a:solidFill>
                          <a:latin typeface="Times New Roman"/>
                        </a:defRPr>
                      </a:pPr>
                      <a:r>
                        <a:rPr sz="1000" b="1">
                          <a:solidFill>
                            <a:srgbClr val="1F4E79"/>
                          </a:solidFill>
                          <a:latin typeface="Times New Roman"/>
                        </a:rPr>
                        <a:t>Next</a:t>
                      </a:r>
                    </a:p>
                  </a:txBody>
                  <a:tcPr marL="73152" marR="73152" marT="27432" marB="27432" anchor="ctr">
                    <a:solidFill>
                      <a:srgbClr val="F2F4F7"/>
                    </a:solidFill>
                  </a:tcPr>
                </a:tc>
              </a:tr>
              <a:tr h="548640">
                <a:tc>
                  <a:txBody>
                    <a:bodyPr/>
                    <a:lstStyle/>
                    <a:p>
                      <a:pPr algn="l">
                        <a:defRPr sz="1000" b="0">
                          <a:solidFill>
                            <a:srgbClr val="1A1A1A"/>
                          </a:solidFill>
                          <a:latin typeface="Times New Roman"/>
                        </a:defRPr>
                      </a:pPr>
                      <a:r>
                        <a:rPr sz="1000" b="0">
                          <a:solidFill>
                            <a:srgbClr val="1A1A1A"/>
                          </a:solidFill>
                          <a:latin typeface="Times New Roman"/>
                        </a:rPr>
                        <a:t>3</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Device-fitted augmentation</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Fit degradation to measured mBRSET statistics.</a:t>
                      </a:r>
                    </a:p>
                    <a:p>
                      <a:pPr algn="ctr">
                        <a:defRPr sz="1000" b="0">
                          <a:solidFill>
                            <a:srgbClr val="1A1A1A"/>
                          </a:solidFill>
                          <a:latin typeface="Times New Roman"/>
                        </a:defRPr>
                      </a:pPr>
                      <a:r>
                        <a:rPr sz="1000" b="0">
                          <a:solidFill>
                            <a:srgbClr val="1A1A1A"/>
                          </a:solidFill>
                          <a:latin typeface="Times New Roman"/>
                        </a:rPr>
                        <a:t>Runs alongside routing, not instead of it</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Generic FundusAug</a:t>
                      </a:r>
                    </a:p>
                  </a:txBody>
                  <a:tcPr marL="73152" marR="73152" marT="27432" marB="27432" anchor="ctr">
                    <a:solidFill>
                      <a:srgbClr val="FFFFFF"/>
                    </a:solidFill>
                  </a:tcPr>
                </a:tc>
                <a:tc>
                  <a:txBody>
                    <a:bodyPr/>
                    <a:lstStyle/>
                    <a:p>
                      <a:pPr algn="ctr">
                        <a:defRPr sz="1000" b="1">
                          <a:solidFill>
                            <a:srgbClr val="5F5F5F"/>
                          </a:solidFill>
                          <a:latin typeface="Times New Roman"/>
                        </a:defRPr>
                      </a:pPr>
                      <a:r>
                        <a:rPr sz="1000" b="1">
                          <a:solidFill>
                            <a:srgbClr val="5F5F5F"/>
                          </a:solidFill>
                          <a:latin typeface="Times New Roman"/>
                        </a:rPr>
                        <a:t>Planned</a:t>
                      </a:r>
                    </a:p>
                  </a:txBody>
                  <a:tcPr marL="73152" marR="73152" marT="27432" marB="27432" anchor="ctr">
                    <a:solidFill>
                      <a:srgbClr val="FFFFFF"/>
                    </a:solidFill>
                  </a:tcPr>
                </a:tc>
              </a:tr>
            </a:tbl>
          </a:graphicData>
        </a:graphic>
      </p:graphicFrame>
      <p:sp>
        <p:nvSpPr>
          <p:cNvPr id="5" name="TextBox 4"/>
          <p:cNvSpPr txBox="1"/>
          <p:nvPr/>
        </p:nvSpPr>
        <p:spPr>
          <a:xfrm>
            <a:off x="594360" y="3877056"/>
            <a:ext cx="1106424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Why experiment 1 comes first</a:t>
            </a:r>
          </a:p>
        </p:txBody>
      </p:sp>
      <p:sp>
        <p:nvSpPr>
          <p:cNvPr id="6" name="TextBox 5"/>
          <p:cNvSpPr txBox="1"/>
          <p:nvPr/>
        </p:nvSpPr>
        <p:spPr>
          <a:xfrm>
            <a:off x="594360" y="4187952"/>
            <a:ext cx="11064240" cy="1709928"/>
          </a:xfrm>
          <a:prstGeom prst="rect">
            <a:avLst/>
          </a:prstGeom>
          <a:noFill/>
        </p:spPr>
        <p:txBody>
          <a:bodyPr wrap="square">
            <a:spAutoFit/>
          </a:bodyPr>
          <a:lstStyle/>
          <a:p>
            <a:pPr>
              <a:spcAft>
                <a:spcPts val="800"/>
              </a:spcAft>
              <a:defRPr sz="1150" b="0">
                <a:solidFill>
                  <a:srgbClr val="1A1A1A"/>
                </a:solidFill>
                <a:latin typeface="Times New Roman"/>
              </a:defRPr>
            </a:pPr>
            <a:r>
              <a:rPr sz="1150" b="0">
                <a:solidFill>
                  <a:srgbClr val="1A1A1A"/>
                </a:solidFill>
                <a:latin typeface="Times New Roman"/>
              </a:rPr>
              <a:t>Domain Separation Networks is published and unambiguous, so it can be built correctly today while the entropy formulation is still being clarified. If encoder-level separation does not help at all, the routing idea has no foundation, and that is learned cheaply.</a:t>
            </a:r>
          </a:p>
          <a:p>
            <a:pPr>
              <a:spcAft>
                <a:spcPts val="800"/>
              </a:spcAft>
              <a:defRPr sz="1150" b="0">
                <a:solidFill>
                  <a:srgbClr val="1A1A1A"/>
                </a:solidFill>
                <a:latin typeface="Times New Roman"/>
              </a:defRPr>
            </a:pPr>
            <a:r>
              <a:rPr sz="1150" b="0">
                <a:solidFill>
                  <a:srgbClr val="1A1A1A"/>
                </a:solidFill>
                <a:latin typeface="Times New Roman"/>
              </a:rPr>
              <a:t>Every experiment reports against the same 732-image mBRSET test set with paired bootstrap intervals, so improvements are testable rather than asserted.</a:t>
            </a:r>
          </a:p>
          <a:p>
            <a:pPr>
              <a:spcAft>
                <a:spcPts val="800"/>
              </a:spcAft>
              <a:defRPr sz="1150" b="0">
                <a:solidFill>
                  <a:srgbClr val="1A1A1A"/>
                </a:solidFill>
                <a:latin typeface="Times New Roman"/>
              </a:defRPr>
            </a:pPr>
            <a:r>
              <a:rPr sz="1150" b="0">
                <a:solidFill>
                  <a:srgbClr val="1A1A1A"/>
                </a:solidFill>
                <a:latin typeface="Times New Roman"/>
              </a:rPr>
              <a:t>Timeline: methodology settled through September, experiments through early October, target mid-October.</a:t>
            </a:r>
          </a:p>
        </p:txBody>
      </p:sp>
      <p:sp>
        <p:nvSpPr>
          <p:cNvPr id="7" name="TextBox 6"/>
          <p:cNvSpPr txBox="1"/>
          <p:nvPr/>
        </p:nvSpPr>
        <p:spPr>
          <a:xfrm>
            <a:off x="594360" y="5943600"/>
            <a:ext cx="11064240" cy="640080"/>
          </a:xfrm>
          <a:prstGeom prst="rect">
            <a:avLst/>
          </a:prstGeom>
          <a:noFill/>
        </p:spPr>
        <p:txBody>
          <a:bodyPr wrap="square">
            <a:spAutoFit/>
          </a:bodyPr>
          <a:lstStyle/>
          <a:p>
            <a:pPr>
              <a:defRPr sz="1350" b="1">
                <a:solidFill>
                  <a:srgbClr val="1E6B3C"/>
                </a:solidFill>
                <a:latin typeface="Times New Roman"/>
              </a:defRPr>
            </a:pPr>
            <a:r>
              <a:rPr sz="1350" b="1">
                <a:solidFill>
                  <a:srgbClr val="1E6B3C"/>
                </a:solidFill>
                <a:latin typeface="Times New Roman"/>
              </a:rPr>
              <a:t>Experiment 1 is queued. It answers whether encoder-level separation is worth building 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