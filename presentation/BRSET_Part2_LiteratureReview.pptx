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Part 2 — BRSET → mBRSET: literature review and proposed direction</a:t>
            </a:r>
          </a:p>
          <a:p>
            <a:pPr>
              <a:defRPr sz="1300">
                <a:solidFill>
                  <a:srgbClr val="5A5A5A"/>
                </a:solidFill>
              </a:defRPr>
            </a:pPr>
            <a:r>
              <a:t>Sahith Reddy Thummala   |   For: Dr. Dong Hye Ye   |   cc: Nagur Shareef Shaik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• How this review was conducted, after your feedback that the previous one was not rigorous enough:</a:t>
            </a:r>
          </a:p>
          <a:p>
            <a:pPr lvl="1">
              <a:spcAft>
                <a:spcPts val="600"/>
              </a:spcAft>
              <a:defRPr sz="1300">
                <a:solidFill>
                  <a:srgbClr val="5A5A5A"/>
                </a:solidFill>
              </a:defRPr>
            </a:pPr>
            <a:r>
              <a:t>– Peer-reviewed versions only. Where a preprint exists, the published venue is cited instead, and preprint-only work is labelled as weak evidence.</a:t>
            </a:r>
          </a:p>
          <a:p>
            <a:pPr lvl="1">
              <a:spcAft>
                <a:spcPts val="600"/>
              </a:spcAft>
              <a:defRPr sz="1300">
                <a:solidFill>
                  <a:srgbClr val="5A5A5A"/>
                </a:solidFill>
              </a:defRPr>
            </a:pPr>
            <a:r>
              <a:t>– Citation counts retrieved from the Semantic Scholar Graph API by DOI (not by title matching), 7 Aug 2026. Counts are stated for every paper.</a:t>
            </a:r>
          </a:p>
          <a:p>
            <a:pPr lvl="1">
              <a:spcAft>
                <a:spcPts val="600"/>
              </a:spcAft>
              <a:defRPr sz="1300">
                <a:solidFill>
                  <a:srgbClr val="5A5A5A"/>
                </a:solidFill>
              </a:defRPr>
            </a:pPr>
            <a:r>
              <a:t>– Papers were obtained and read as PDFs; results tables were extracted from the source, not from search summaries. Numbers quoted below come from those tables.</a:t>
            </a:r>
          </a:p>
          <a:p>
            <a:pPr lvl="1">
              <a:spcAft>
                <a:spcPts val="600"/>
              </a:spcAft>
              <a:defRPr sz="1300">
                <a:solidFill>
                  <a:srgbClr val="5A5A5A"/>
                </a:solidFill>
              </a:defRPr>
            </a:pPr>
            <a:r>
              <a:t>– Venue standing recorded for each: CVPR / ICCV / ECCV / NeurIPS / ICML / ICLR / MICCAI / IPMI, and Medical Image Analysis / IEEE TMI / Nature-family journals.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• Three independent reviews were run over separate sub-questions and cross-checked: (i) unsupervised domain adaptation and test-time adaptation for real device shift, (ii) prevalence and threshold shift in medical deployment, (iii) the statistical theory of multi-view aggregation.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• Coverage check: every paper citing either dataset paper was enumerated through the citation graph, plus GitHub, arXiv and preprint servers, to establish what is already claimed.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The aim was not a list of related work, but to establish what is already solved, what provably cannot work, and where a real gap remains.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What the published literature establishes</a:t>
            </a:r>
          </a:p>
          <a:p>
            <a:pPr>
              <a:defRPr sz="1300">
                <a:solidFill>
                  <a:srgbClr val="5A5A5A"/>
                </a:solidFill>
              </a:defRPr>
            </a:pPr>
            <a:r>
              <a:t>Peer-reviewed venue and approximate citation count given for each. Full links on the references slide.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17320"/>
          <a:ext cx="11155677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8990"/>
                <a:gridCol w="1906953"/>
                <a:gridCol w="1906953"/>
                <a:gridCol w="762781"/>
              </a:tblGrid>
              <a:tr h="5257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Venue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Cites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Aggressive appearance / degradation augmentation is the single most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effective intervention for cross-scanner shift — it beat stain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normalisation and every adaptation method across 4 pathology tasks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Tellez et al.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Medical Image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Analysis 2019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656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For diabetic retinopathy across 6 fundus datasets, leave-one-domain-out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AUC rises 75.9 → 82.6. The fundus augmentation component alone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contributes +3.4 AUC points — the largest single factor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Che et al. (GDRNet)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MICCAI 2023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46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Adversarial and generative adaptation COLLAPSE on real tabletop →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portable fundus data: DANN R² −0.025, MDD −0.010, CycleGAN no change,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against a 0.361 baseline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Lin et al.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MICCAI 2022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Under a fair model-selection protocol, no domain-generalization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algorithm reliably beats plain empirical risk minimisation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Gulrajani &amp;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Lopez-Paz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ICLR 2021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1,504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Test-time adaptation degrades accuracy by up to 66 points when applied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under non-i.i.d. and prior-shifted conditions — precisely our regime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Boudiaf et al. (LAME)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CVPR 2022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250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Unsupervised correction of the prediction distribution restores the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operating point across 4 mammography scanners with NO target labels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(Youden 0.295 → 0.651), but assumes prevalence is preserved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Roschewitz et al.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Nature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Communications 2023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42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Prevalence shift alone breaks calibration, decision thresholds and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metric interpretation across 30 medical classification tasks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Godau et al.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MICCAI 2023 →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Med. Image Anal. 2025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15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064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Two conclusions: augmentation has the strongest evidence for raising AUC under device shift, and the popular adaptation families have published evidence of failing on exactly our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What we established ourselves — measurements, not reading</a:t>
            </a:r>
          </a:p>
          <a:p>
            <a:pPr>
              <a:defRPr sz="1300">
                <a:solidFill>
                  <a:srgbClr val="5A5A5A"/>
                </a:solidFill>
              </a:defRPr>
            </a:pPr>
            <a:r>
              <a:t>Each of these was computed on our own data and is reproducible from the repository.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7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199"/>
                <a:gridCol w="3840480"/>
                <a:gridCol w="4572000"/>
              </a:tblGrid>
              <a:tr h="71323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we did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Is the shift a prevalence shift or a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genuine model failure?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Compared class-conditional score behaviour;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applied the ROC invariance property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NOT prevalence shift. ROC is provably invariant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to class distribution (Fawcett 2006, 21,726 cites),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yet AUC fell 0.988 → 0.909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How much of the collapse is the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decision cutoff?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Closed-form Bayes mapping of the optimal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cutoff under a prior change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77% of the 0.61 → 0.19 cutoff move is explained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by disease rate alone (6.6% → 23.3%)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Can any calibration method close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the remaining gap?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Swept every attainable cutoff on the target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test set to find the true maximum F1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No. Ceiling is F1 0.765 (DR) / 0.671 (ME).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Proof by set inclusion: monotone post-processing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cannot exceed it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Would averaging a patient's images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raise AUC, and by how much?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Derived AUC_K = Φ(z₁·√(K/(1+(K−1)ρ))) and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measured ρ by variance decomposition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ρ = 0.363 (patient), 0.481 (eye).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Predicted 0.909 → 0.968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257800"/>
            <a:ext cx="1115568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The fourth row is the important one: the entire multi-view proposal reduces to a single measurable quantity, so it could be tested before any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The decomposition — prevalence vs. calibration vs. ranking — is computable in closed form. Most cross-device papers report one number and attribute all of it to the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We tested our own proposal before building it — and it failed</a:t>
            </a:r>
          </a:p>
          <a:p>
            <a:pPr>
              <a:defRPr sz="1300">
                <a:solidFill>
                  <a:srgbClr val="5A5A5A"/>
                </a:solidFill>
              </a:defRPr>
            </a:pPr>
            <a:r>
              <a:t>The theory gave a falsifiable prediction. We checked it against data we already had, in minutes rather than a week.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08760"/>
          <a:ext cx="1115567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822"/>
                <a:gridCol w="2308071"/>
                <a:gridCol w="2500411"/>
                <a:gridCol w="1346375"/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Aggregation of a patient's images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Predicted by theory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Actually measured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A1A1A"/>
                          </a:solidFill>
                        </a:defRPr>
                      </a:pPr>
                      <a:r>
                        <a:rPr sz="1150" b="1">
                          <a:solidFill>
                            <a:srgbClr val="1A1A1A"/>
                          </a:solidFill>
                        </a:rPr>
                        <a:t>Diabetic retinopathy, 4 images per patient</a:t>
                      </a:r>
                    </a:p>
                  </a:txBody>
                  <a:tcPr marL="54864" marR="54864" marT="18288" marB="1828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A1A1A"/>
                          </a:solidFill>
                        </a:defRPr>
                      </a:pPr>
                      <a:r>
                        <a:rPr sz="1150" b="1">
                          <a:solidFill>
                            <a:srgbClr val="1A1A1A"/>
                          </a:solidFill>
                        </a:rPr>
                        <a:t>0.968</a:t>
                      </a:r>
                    </a:p>
                  </a:txBody>
                  <a:tcPr marL="54864" marR="54864" marT="18288" marB="1828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A1A1A"/>
                          </a:solidFill>
                        </a:defRPr>
                      </a:pPr>
                      <a:r>
                        <a:rPr sz="1150" b="1">
                          <a:solidFill>
                            <a:srgbClr val="1A1A1A"/>
                          </a:solidFill>
                        </a:rPr>
                        <a:t>0.842</a:t>
                      </a:r>
                    </a:p>
                  </a:txBody>
                  <a:tcPr marL="54864" marR="54864" marT="18288" marB="1828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A1A1A"/>
                          </a:solidFill>
                        </a:defRPr>
                      </a:pPr>
                      <a:r>
                        <a:rPr sz="1150" b="1">
                          <a:solidFill>
                            <a:srgbClr val="1A1A1A"/>
                          </a:solidFill>
                        </a:rPr>
                        <a:t>Failed</a:t>
                      </a:r>
                    </a:p>
                  </a:txBody>
                  <a:tcPr marL="54864" marR="54864" marT="18288" marB="18288">
                    <a:solidFill>
                      <a:srgbClr val="FDECE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A1A1A"/>
                          </a:solidFill>
                        </a:defRPr>
                      </a:pPr>
                      <a:r>
                        <a:rPr sz="1150" b="1">
                          <a:solidFill>
                            <a:srgbClr val="1A1A1A"/>
                          </a:solidFill>
                        </a:rPr>
                        <a:t>Diabetic retinopathy, 2 images per eye</a:t>
                      </a:r>
                    </a:p>
                  </a:txBody>
                  <a:tcPr marL="54864" marR="54864" marT="18288" marB="1828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A1A1A"/>
                          </a:solidFill>
                        </a:defRPr>
                      </a:pPr>
                      <a:r>
                        <a:rPr sz="1150" b="1">
                          <a:solidFill>
                            <a:srgbClr val="1A1A1A"/>
                          </a:solidFill>
                        </a:rPr>
                        <a:t>0.940</a:t>
                      </a:r>
                    </a:p>
                  </a:txBody>
                  <a:tcPr marL="54864" marR="54864" marT="18288" marB="1828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A1A1A"/>
                          </a:solidFill>
                        </a:defRPr>
                      </a:pPr>
                      <a:r>
                        <a:rPr sz="1150" b="1">
                          <a:solidFill>
                            <a:srgbClr val="1A1A1A"/>
                          </a:solidFill>
                        </a:rPr>
                        <a:t>0.883</a:t>
                      </a:r>
                    </a:p>
                  </a:txBody>
                  <a:tcPr marL="54864" marR="54864" marT="18288" marB="1828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A1A1A"/>
                          </a:solidFill>
                        </a:defRPr>
                      </a:pPr>
                      <a:r>
                        <a:rPr sz="1150" b="1">
                          <a:solidFill>
                            <a:srgbClr val="1A1A1A"/>
                          </a:solidFill>
                        </a:rPr>
                        <a:t>Failed</a:t>
                      </a:r>
                    </a:p>
                  </a:txBody>
                  <a:tcPr marL="54864" marR="54864" marT="18288" marB="18288">
                    <a:solidFill>
                      <a:srgbClr val="FDECE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A1A1A"/>
                          </a:solidFill>
                        </a:defRPr>
                      </a:pPr>
                      <a:r>
                        <a:rPr sz="1150" b="0">
                          <a:solidFill>
                            <a:srgbClr val="1A1A1A"/>
                          </a:solidFill>
                        </a:rPr>
                        <a:t>Macular edema, max over 4 images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A1A1A"/>
                          </a:solidFill>
                        </a:defRPr>
                      </a:pPr>
                      <a:r>
                        <a:rPr sz="115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A1A1A"/>
                          </a:solidFill>
                        </a:defRPr>
                      </a:pPr>
                      <a:r>
                        <a:rPr sz="1150" b="0">
                          <a:solidFill>
                            <a:srgbClr val="1A1A1A"/>
                          </a:solidFill>
                        </a:rPr>
                        <a:t>0.969  (from 0.933)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A1A1A"/>
                          </a:solidFill>
                        </a:defRPr>
                      </a:pPr>
                      <a:r>
                        <a:rPr sz="1150" b="0">
                          <a:solidFill>
                            <a:srgbClr val="1A1A1A"/>
                          </a:solidFill>
                        </a:rPr>
                        <a:t>Worked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108960"/>
            <a:ext cx="111556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A1A1A"/>
                </a:solidFill>
              </a:defRPr>
            </a:pPr>
            <a:r>
              <a:t>• Why it failed, and it is a mechanism we can state precisely:</a:t>
            </a:r>
          </a:p>
          <a:p>
            <a:pPr lvl="1">
              <a:spcAft>
                <a:spcPts val="600"/>
              </a:spcAft>
              <a:defRPr sz="1150">
                <a:solidFill>
                  <a:srgbClr val="5A5A5A"/>
                </a:solidFill>
              </a:defRPr>
            </a:pPr>
            <a:r>
              <a:t>– The theory assumes every image in a patient's group carries the same label. 14.5% of patients have one eye affected and the other clear, so averaging pulls the diseased eye's score down toward the healthy one and the patient looks healthier than they are.</a:t>
            </a:r>
          </a:p>
          <a:p>
            <a:pPr lvl="1">
              <a:spcAft>
                <a:spcPts val="600"/>
              </a:spcAft>
              <a:defRPr sz="1150">
                <a:solidFill>
                  <a:srgbClr val="5A5A5A"/>
                </a:solidFill>
              </a:defRPr>
            </a:pPr>
            <a:r>
              <a:t>– Independently, the theory predicts mean-pooling is the wrong operator when a bag is heterogeneous — an explicit counterexample takes AUC from 0.75 to 0.50 under mean-pooling while the median gives 1.00. The published literature agrees: the best reported multi-view gain in medical imaging is +0.015 AUC (Wu et al., MIDL 2020), and naive fusion there scored WORSE than the best single view.</a:t>
            </a:r>
          </a:p>
          <a:p>
            <a:pPr>
              <a:spcAft>
                <a:spcPts val="600"/>
              </a:spcAft>
              <a:defRPr sz="1250">
                <a:solidFill>
                  <a:srgbClr val="1A1A1A"/>
                </a:solidFill>
              </a:defRPr>
            </a:pPr>
            <a:r>
              <a:t>• Macular edema behaves differently and consistently with theory: it is a focal finding that appears strongly in one image, so a maximum — not a mean — is the correct aggregator, and it gives +0.036 AUC.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53A1A"/>
                </a:solidFill>
              </a:defRPr>
            </a:pPr>
            <a:r>
              <a:t>Reporting this rather than burying it: the prediction was wrong, the reason is understood, and the cost of finding out was 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Where the real gap is, and what we propose</a:t>
            </a:r>
          </a:p>
          <a:p>
            <a:pPr>
              <a:defRPr sz="1300">
                <a:solidFill>
                  <a:srgbClr val="5A5A5A"/>
                </a:solidFill>
              </a:defRPr>
            </a:pPr>
            <a:r>
              <a:t>Positioned against the two efforts closest to ours, both identified during the review.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840480"/>
              </a:tblGrid>
              <a:tr h="5791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Nearby work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it leaves open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RetSyn — Shuai, Wu, Tang, Restrepo, Morley,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Nakayama.  J. Biomedical Informatics 2025.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Same senior author as both datasets.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Quality- and class-conditioned synthetic data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for tabletop → portable DR screening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Does not diagnose what breaks; does not separate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image quality from camera identity; does not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address macular edema or the decision cutoff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IEEE ISBI 2026 — transferability of</a:t>
                      </a:r>
                    </a:p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fundus-trained models to mobile imaging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Reports the BRSET → mBRSET performance drop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Descriptive. Establishes that the drop exists,</a:t>
                      </a:r>
                    </a:p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</a:rPr>
                        <a:t>not what it is made of or how to close it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429000"/>
            <a:ext cx="11155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Three openings the review did not find addressed anywhere:</a:t>
            </a:r>
          </a:p>
          <a:p>
            <a:pPr lvl="1">
              <a:spcAft>
                <a:spcPts val="600"/>
              </a:spcAft>
              <a:defRPr sz="1100">
                <a:solidFill>
                  <a:srgbClr val="5A5A5A"/>
                </a:solidFill>
              </a:defRPr>
            </a:pPr>
            <a:r>
              <a:t>– 1.  Decomposing a cross-device gap into prevalence, calibration and ranking components. Papers report a single number and attribute it to the model; we show the split is computable, and that in our case calibration is provably exhausted.</a:t>
            </a:r>
          </a:p>
          <a:p>
            <a:pPr lvl="1">
              <a:spcAft>
                <a:spcPts val="600"/>
              </a:spcAft>
              <a:defRPr sz="1100">
                <a:solidFill>
                  <a:srgbClr val="5A5A5A"/>
                </a:solidFill>
              </a:defRPr>
            </a:pPr>
            <a:r>
              <a:t>– 2.  Label-shift correction for MULTI-LABEL sigmoid outputs. Every published method — BBSE (Lipton et al., ICML 2018), MLLS (Alexandari et al., ICML 2020; Garg et al., NeurIPS 2020) — is single-label multi-class. Diabetic retinopathy and macular edema co-occur, so per-label independent estimation is misspecified. No published extension exists.</a:t>
            </a:r>
          </a:p>
          <a:p>
            <a:pPr lvl="1">
              <a:spcAft>
                <a:spcPts val="600"/>
              </a:spcAft>
              <a:defRPr sz="1100">
                <a:solidFill>
                  <a:srgbClr val="5A5A5A"/>
                </a:solidFill>
              </a:defRPr>
            </a:pPr>
            <a:r>
              <a:t>– 3.  The intersection where both published families break their own stated assumptions: the mammography method assumes prevalence is preserved (ours changes 6.6% → 23.3%) and the prevalence-shift work assumes p(x|y) is unchanged (our AUC drop shows it is not).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Proposed next step, ordered by strength of published evidence rather than novelty: fundus degradation augmentation on the source (the only intervention with peer-reviewed evidence of raising AUC under real fundus device shift), with the gap decomposition as the scientific 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7A3C"/>
                </a:solidFill>
              </a:defRPr>
            </a:pPr>
            <a:r>
              <a:t>The decomposition holds as a contribution even if every method underperforms — showing what the gap is made of is itself the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References</a:t>
            </a:r>
          </a:p>
          <a:p>
            <a:pPr>
              <a:defRPr sz="1300">
                <a:solidFill>
                  <a:srgbClr val="5A5A5A"/>
                </a:solidFill>
              </a:defRPr>
            </a:pPr>
            <a:r>
              <a:t>Peer-reviewed versions. Citation counts: Semantic Scholar Graph API, 7 Aug 2026.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1A1A1A"/>
                </a:solidFill>
              </a:defRPr>
            </a:pPr>
            <a:r>
              <a:t>[1]  Tellez et al. Quantifying the effects of data augmentation and stain color normalization in CNNs for computational pathology. Medical Image Analysis 58:101544, 2019.  656 cites.  doi.org/10.1016/j.media.2019.101544</a:t>
            </a:r>
          </a:p>
          <a:p>
            <a:pPr>
              <a:spcAft>
                <a:spcPts val="300"/>
              </a:spcAft>
              <a:defRPr sz="950">
                <a:solidFill>
                  <a:srgbClr val="1A1A1A"/>
                </a:solidFill>
              </a:defRPr>
            </a:pPr>
            <a:r>
              <a:t>[2]  Che, Cheng, Jin, Chen. Towards Generalizable Diabetic Retinopathy Grading in Unseen Domains. MICCAI 2023, pp. 430–440.  46 cites.  doi.org/10.1007/978-3-031-43904-9_42</a:t>
            </a:r>
          </a:p>
          <a:p>
            <a:pPr>
              <a:spcAft>
                <a:spcPts val="300"/>
              </a:spcAft>
              <a:defRPr sz="950">
                <a:solidFill>
                  <a:srgbClr val="1A1A1A"/>
                </a:solidFill>
              </a:defRPr>
            </a:pPr>
            <a:r>
              <a:t>[3]  Lin, Shi, Zhang, Shang, He, Ge. Camera Adaptation for Fundus-Image-Based CVD Risk Estimation. MICCAI 2022, pp. 593–603.  5 cites.  doi.org/10.1007/978-3-031-16434-7_57</a:t>
            </a:r>
          </a:p>
          <a:p>
            <a:pPr>
              <a:spcAft>
                <a:spcPts val="300"/>
              </a:spcAft>
              <a:defRPr sz="950">
                <a:solidFill>
                  <a:srgbClr val="1A1A1A"/>
                </a:solidFill>
              </a:defRPr>
            </a:pPr>
            <a:r>
              <a:t>[4]  Gulrajani, Lopez-Paz. In Search of Lost Domain Generalization. ICLR 2021.  1,504 cites.  openreview.net/forum?id=lQdXeXDoWtI</a:t>
            </a:r>
          </a:p>
          <a:p>
            <a:pPr>
              <a:spcAft>
                <a:spcPts val="300"/>
              </a:spcAft>
              <a:defRPr sz="950">
                <a:solidFill>
                  <a:srgbClr val="1A1A1A"/>
                </a:solidFill>
              </a:defRPr>
            </a:pPr>
            <a:r>
              <a:t>[5]  Boudiaf, Mueller, Ben Ayed, Bertinetto. Parameter-free Online Test-time Adaptation. CVPR 2022, pp. 8344–8353.  250 cites.  doi.org/10.1109/CVPR52688.2022.00816</a:t>
            </a:r>
          </a:p>
          <a:p>
            <a:pPr>
              <a:spcAft>
                <a:spcPts val="300"/>
              </a:spcAft>
              <a:defRPr sz="950">
                <a:solidFill>
                  <a:srgbClr val="1A1A1A"/>
                </a:solidFill>
              </a:defRPr>
            </a:pPr>
            <a:r>
              <a:t>[6]  Roschewitz, Khara, Yearsley et al. Automatic correction of performance drift under acquisition shift in medical image classification. Nature Communications 14:6608, 2023.  42 cites.  doi.org/10.1038/s41467-023-42396-y</a:t>
            </a:r>
          </a:p>
          <a:p>
            <a:pPr>
              <a:spcAft>
                <a:spcPts val="300"/>
              </a:spcAft>
              <a:defRPr sz="950">
                <a:solidFill>
                  <a:srgbClr val="1A1A1A"/>
                </a:solidFill>
              </a:defRPr>
            </a:pPr>
            <a:r>
              <a:t>[7]  Godau, Kalinowski, Christodoulou et al. Deployment of Image Analysis Algorithms under Prevalence Shifts. MICCAI 2023 → Navigating prevalence shifts..., Medical Image Analysis 102:103504, 2025.  doi.org/10.1016/j.media.2025.103504</a:t>
            </a:r>
          </a:p>
          <a:p>
            <a:pPr>
              <a:spcAft>
                <a:spcPts val="300"/>
              </a:spcAft>
              <a:defRPr sz="950">
                <a:solidFill>
                  <a:srgbClr val="1A1A1A"/>
                </a:solidFill>
              </a:defRPr>
            </a:pPr>
            <a:r>
              <a:t>[8]  Lipton, Wang, Smola. Detecting and Correcting for Label Shift with Black Box Predictors. ICML 2018.  679 cites.  proceedings.mlr.press/v80/lipton18a.html</a:t>
            </a:r>
          </a:p>
          <a:p>
            <a:pPr>
              <a:spcAft>
                <a:spcPts val="300"/>
              </a:spcAft>
              <a:defRPr sz="950">
                <a:solidFill>
                  <a:srgbClr val="1A1A1A"/>
                </a:solidFill>
              </a:defRPr>
            </a:pPr>
            <a:r>
              <a:t>[9]  Alexandari, Kundaje, Shrikumar. Maximum Likelihood with Bias-Corrected Calibration is Hard-To-Beat at Label Shift Adaptation. ICML 2020, pp. 222–232.  proceedings.mlr.press/v119/alexandari20a.html</a:t>
            </a:r>
          </a:p>
          <a:p>
            <a:pPr>
              <a:spcAft>
                <a:spcPts val="300"/>
              </a:spcAft>
              <a:defRPr sz="950">
                <a:solidFill>
                  <a:srgbClr val="1A1A1A"/>
                </a:solidFill>
              </a:defRPr>
            </a:pPr>
            <a:r>
              <a:t>[10]  Garg, Wu, Balakrishnan, Lipton. A Unified View of Label Shift Estimation. NeurIPS 2020.  179 cites.</a:t>
            </a:r>
          </a:p>
          <a:p>
            <a:pPr>
              <a:spcAft>
                <a:spcPts val="300"/>
              </a:spcAft>
              <a:defRPr sz="950">
                <a:solidFill>
                  <a:srgbClr val="1A1A1A"/>
                </a:solidFill>
              </a:defRPr>
            </a:pPr>
            <a:r>
              <a:t>[11]  Fawcett. An introduction to ROC analysis. Pattern Recognition Letters 27(8):861–874, 2006.  21,726 cites.  doi.org/10.1016/j.patrec.2005.10.010</a:t>
            </a:r>
          </a:p>
          <a:p>
            <a:pPr>
              <a:spcAft>
                <a:spcPts val="300"/>
              </a:spcAft>
              <a:defRPr sz="950">
                <a:solidFill>
                  <a:srgbClr val="1A1A1A"/>
                </a:solidFill>
              </a:defRPr>
            </a:pPr>
            <a:r>
              <a:t>[12]  Wu, Jastrzębski, Park, Moy, Cho, Geras. Improving the Ability of Deep Neural Networks to Use Information from Multiple Views in Breast Cancer Screening. MIDL 2020, PMLR 121:827–842.</a:t>
            </a:r>
          </a:p>
          <a:p>
            <a:pPr>
              <a:spcAft>
                <a:spcPts val="300"/>
              </a:spcAft>
              <a:defRPr sz="950">
                <a:solidFill>
                  <a:srgbClr val="1A1A1A"/>
                </a:solidFill>
              </a:defRPr>
            </a:pPr>
            <a:r>
              <a:t>[13]  Ilse, Tomczak, Welling. Attention-based Deep Multiple Instance Learning. ICML 2018.  2,691 cites.</a:t>
            </a:r>
          </a:p>
          <a:p>
            <a:pPr>
              <a:spcAft>
                <a:spcPts val="300"/>
              </a:spcAft>
              <a:defRPr sz="950">
                <a:solidFill>
                  <a:srgbClr val="1A1A1A"/>
                </a:solidFill>
              </a:defRPr>
            </a:pPr>
            <a:r>
              <a:t>[14]  Shuai, Wu, Tang, Restrepo, Morley, Nakayama. Enhancing AI-based diabetic retinopathy screening in low- and middle-income countries with synthetic data. J. Biomedical Informatics 172:104938, 2025.  doi.org/10.1016/j.jbi.2025.104938</a:t>
            </a:r>
          </a:p>
          <a:p>
            <a:pPr>
              <a:spcAft>
                <a:spcPts val="300"/>
              </a:spcAft>
              <a:defRPr sz="950">
                <a:solidFill>
                  <a:srgbClr val="1A1A1A"/>
                </a:solidFill>
              </a:defRPr>
            </a:pPr>
            <a:r>
              <a:t>[15]  Nakayama, Restrepo et al. BRSET: A Brazilian Multilabel Ophthalmological Dataset. PLOS Digital Health 3(7):e0000454, 2024.   |   Wu, Restrepo, Nakayama et al. A portable retina fundus photos dataset. Scientific Data 12:340,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