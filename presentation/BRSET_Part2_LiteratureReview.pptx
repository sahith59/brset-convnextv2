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media.2019.101544" TargetMode="External"/><Relationship Id="rId3" Type="http://schemas.openxmlformats.org/officeDocument/2006/relationships/hyperlink" Target="https://doi.org/10.1007/978-3-031-43904-9_42" TargetMode="External"/><Relationship Id="rId4" Type="http://schemas.openxmlformats.org/officeDocument/2006/relationships/hyperlink" Target="https://doi.org/10.1007/978-3-031-16434-7_57" TargetMode="External"/><Relationship Id="rId5" Type="http://schemas.openxmlformats.org/officeDocument/2006/relationships/hyperlink" Target="https://openreview.net/forum?id=lQdXeXDoWtI" TargetMode="External"/><Relationship Id="rId6" Type="http://schemas.openxmlformats.org/officeDocument/2006/relationships/hyperlink" Target="https://doi.org/10.1109/CVPR52688.2022.00816" TargetMode="External"/><Relationship Id="rId7" Type="http://schemas.openxmlformats.org/officeDocument/2006/relationships/hyperlink" Target="https://doi.org/10.1038/s41467-023-42396-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bi.2025.10493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media.2019.101544" TargetMode="External"/><Relationship Id="rId3" Type="http://schemas.openxmlformats.org/officeDocument/2006/relationships/hyperlink" Target="https://doi.org/10.1007/978-3-031-43904-9_42" TargetMode="External"/><Relationship Id="rId4" Type="http://schemas.openxmlformats.org/officeDocument/2006/relationships/hyperlink" Target="https://doi.org/10.1007/978-3-031-16434-7_57" TargetMode="External"/><Relationship Id="rId5" Type="http://schemas.openxmlformats.org/officeDocument/2006/relationships/hyperlink" Target="https://openreview.net/forum?id=lQdXeXDoWtI" TargetMode="External"/><Relationship Id="rId6" Type="http://schemas.openxmlformats.org/officeDocument/2006/relationships/hyperlink" Target="https://doi.org/10.1109/CVPR52688.2022.00816" TargetMode="External"/><Relationship Id="rId7" Type="http://schemas.openxmlformats.org/officeDocument/2006/relationships/hyperlink" Target="https://doi.org/10.1038/s41467-023-42396-y" TargetMode="External"/><Relationship Id="rId8" Type="http://schemas.openxmlformats.org/officeDocument/2006/relationships/hyperlink" Target="https://doi.org/10.1016/j.media.2025.103504" TargetMode="External"/><Relationship Id="rId9" Type="http://schemas.openxmlformats.org/officeDocument/2006/relationships/hyperlink" Target="https://proceedings.mlr.press/v80/lipton18a.html" TargetMode="External"/><Relationship Id="rId10" Type="http://schemas.openxmlformats.org/officeDocument/2006/relationships/hyperlink" Target="https://proceedings.mlr.press/v119/alexandari20a.html" TargetMode="External"/><Relationship Id="rId11" Type="http://schemas.openxmlformats.org/officeDocument/2006/relationships/hyperlink" Target="https://proceedings.neurips.cc/paper/2020/hash/219e052492f4008818b8adb6366c7ed6-Abstract.html" TargetMode="External"/><Relationship Id="rId12" Type="http://schemas.openxmlformats.org/officeDocument/2006/relationships/hyperlink" Target="https://doi.org/10.1016/j.patrec.2005.10.010" TargetMode="External"/><Relationship Id="rId13" Type="http://schemas.openxmlformats.org/officeDocument/2006/relationships/hyperlink" Target="https://doi.org/10.1037/0033-2909.86.2.420" TargetMode="External"/><Relationship Id="rId14" Type="http://schemas.openxmlformats.org/officeDocument/2006/relationships/hyperlink" Target="https://proceedings.mlr.press/v80/ilse18a.html" TargetMode="External"/><Relationship Id="rId15" Type="http://schemas.openxmlformats.org/officeDocument/2006/relationships/hyperlink" Target="https://doi.org/10.1016/j.jbi.2025.104938" TargetMode="External"/><Relationship Id="rId16" Type="http://schemas.openxmlformats.org/officeDocument/2006/relationships/hyperlink" Target="https://doi.org/10.1371/journal.pdig.0000454" TargetMode="External"/><Relationship Id="rId17" Type="http://schemas.openxmlformats.org/officeDocument/2006/relationships/hyperlink" Target="https://doi.org/10.1038/s41597-025-04672-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1: final 40-epoch results</a:t>
            </a:r>
          </a:p>
          <a:p>
            <a:pPr>
              <a:defRPr sz="1250" b="0">
                <a:solidFill>
                  <a:srgbClr val="5F5F5F"/>
                </a:solidFill>
                <a:latin typeface="Times New Roman"/>
              </a:defRPr>
            </a:pPr>
            <a:r>
              <a:rPr sz="1250" b="0">
                <a:solidFill>
                  <a:srgbClr val="5F5F5F"/>
                </a:solidFill>
                <a:latin typeface="Times New Roman"/>
              </a:rPr>
              <a:t>All four runs are identical except for the loss and the sampler. Same backbone, 512 px, lr 5e-5, 40 epochs, effective batch 64, EMA with 4-way flip TTA, seed 0, and the same 2,435-image test set.</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417320"/>
          <a:ext cx="11064239" cy="1920240"/>
        </p:xfrm>
        <a:graphic>
          <a:graphicData uri="http://schemas.openxmlformats.org/drawingml/2006/table">
            <a:tbl>
              <a:tblPr firstRow="1" bandRow="1">
                <a:tableStyleId>{5C22544A-7EE6-4342-B048-85BDC9FD1C3A}</a:tableStyleId>
              </a:tblPr>
              <a:tblGrid>
                <a:gridCol w="4302760"/>
                <a:gridCol w="1229360"/>
                <a:gridCol w="1492794"/>
                <a:gridCol w="1317171"/>
                <a:gridCol w="1229360"/>
                <a:gridCol w="1492794"/>
              </a:tblGrid>
              <a:tr h="384048">
                <a:tc>
                  <a:txBody>
                    <a:bodyPr/>
                    <a:lstStyle/>
                    <a:p>
                      <a:pPr algn="l">
                        <a:defRPr sz="1150" b="1">
                          <a:solidFill>
                            <a:srgbClr val="FFFFFF"/>
                          </a:solidFill>
                          <a:latin typeface="Times New Roman"/>
                        </a:defRPr>
                      </a:pPr>
                      <a:r>
                        <a:rPr sz="1150" b="1">
                          <a:solidFill>
                            <a:srgbClr val="FFFFFF"/>
                          </a:solidFill>
                          <a:latin typeface="Times New Roman"/>
                        </a:rPr>
                        <a:t>Configuration</a:t>
                      </a:r>
                    </a:p>
                  </a:txBody>
                  <a:tcPr marL="73152" marR="73152" marT="27432" marB="27432" anchor="ctr">
                    <a:solidFill>
                      <a:srgbClr val="1F4E79"/>
                    </a:solidFill>
                  </a:tcPr>
                </a:tc>
                <a:tc>
                  <a:txBody>
                    <a:bodyPr/>
                    <a:lstStyle/>
                    <a:p>
                      <a:pPr algn="ctr">
                        <a:defRPr sz="1150" b="1">
                          <a:solidFill>
                            <a:srgbClr val="FFFFFF"/>
                          </a:solidFill>
                          <a:latin typeface="Times New Roman"/>
                        </a:defRPr>
                      </a:pPr>
                      <a:r>
                        <a:rPr sz="1150" b="1">
                          <a:solidFill>
                            <a:srgbClr val="FFFFFF"/>
                          </a:solidFill>
                          <a:latin typeface="Times New Roman"/>
                        </a:rPr>
                        <a:t>DR AUC</a:t>
                      </a:r>
                    </a:p>
                  </a:txBody>
                  <a:tcPr marL="73152" marR="73152" marT="27432" marB="27432" anchor="ctr">
                    <a:solidFill>
                      <a:srgbClr val="1F4E79"/>
                    </a:solidFill>
                  </a:tcPr>
                </a:tc>
                <a:tc>
                  <a:txBody>
                    <a:bodyPr/>
                    <a:lstStyle/>
                    <a:p>
                      <a:pPr algn="ctr">
                        <a:defRPr sz="1150" b="1">
                          <a:solidFill>
                            <a:srgbClr val="FFFFFF"/>
                          </a:solidFill>
                          <a:latin typeface="Times New Roman"/>
                        </a:defRPr>
                      </a:pPr>
                      <a:r>
                        <a:rPr sz="1150" b="1">
                          <a:solidFill>
                            <a:srgbClr val="FFFFFF"/>
                          </a:solidFill>
                          <a:latin typeface="Times New Roman"/>
                        </a:rPr>
                        <a:t>DR F1</a:t>
                      </a:r>
                    </a:p>
                    <a:p>
                      <a:pPr algn="ctr">
                        <a:defRPr sz="1150" b="1">
                          <a:solidFill>
                            <a:srgbClr val="FFFFFF"/>
                          </a:solidFill>
                          <a:latin typeface="Times New Roman"/>
                        </a:defRPr>
                      </a:pPr>
                      <a:r>
                        <a:rPr sz="1150" b="1">
                          <a:solidFill>
                            <a:srgbClr val="FFFFFF"/>
                          </a:solidFill>
                          <a:latin typeface="Times New Roman"/>
                        </a:rPr>
                        <a:t>(class-macro)</a:t>
                      </a:r>
                    </a:p>
                  </a:txBody>
                  <a:tcPr marL="73152" marR="73152" marT="27432" marB="27432" anchor="ctr">
                    <a:solidFill>
                      <a:srgbClr val="1F4E79"/>
                    </a:solidFill>
                  </a:tcPr>
                </a:tc>
                <a:tc>
                  <a:txBody>
                    <a:bodyPr/>
                    <a:lstStyle/>
                    <a:p>
                      <a:pPr algn="ctr">
                        <a:defRPr sz="1150" b="1">
                          <a:solidFill>
                            <a:srgbClr val="FFFFFF"/>
                          </a:solidFill>
                          <a:latin typeface="Times New Roman"/>
                        </a:defRPr>
                      </a:pPr>
                      <a:r>
                        <a:rPr sz="1150" b="1">
                          <a:solidFill>
                            <a:srgbClr val="FFFFFF"/>
                          </a:solidFill>
                          <a:latin typeface="Times New Roman"/>
                        </a:rPr>
                        <a:t>DR cases</a:t>
                      </a:r>
                    </a:p>
                    <a:p>
                      <a:pPr algn="ctr">
                        <a:defRPr sz="1150" b="1">
                          <a:solidFill>
                            <a:srgbClr val="FFFFFF"/>
                          </a:solidFill>
                          <a:latin typeface="Times New Roman"/>
                        </a:defRPr>
                      </a:pPr>
                      <a:r>
                        <a:rPr sz="1150" b="1">
                          <a:solidFill>
                            <a:srgbClr val="FFFFFF"/>
                          </a:solidFill>
                          <a:latin typeface="Times New Roman"/>
                        </a:rPr>
                        <a:t>missed</a:t>
                      </a:r>
                    </a:p>
                  </a:txBody>
                  <a:tcPr marL="73152" marR="73152" marT="27432" marB="27432" anchor="ctr">
                    <a:solidFill>
                      <a:srgbClr val="1F4E79"/>
                    </a:solidFill>
                  </a:tcPr>
                </a:tc>
                <a:tc>
                  <a:txBody>
                    <a:bodyPr/>
                    <a:lstStyle/>
                    <a:p>
                      <a:pPr algn="ctr">
                        <a:defRPr sz="1150" b="1">
                          <a:solidFill>
                            <a:srgbClr val="FFFFFF"/>
                          </a:solidFill>
                          <a:latin typeface="Times New Roman"/>
                        </a:defRPr>
                      </a:pPr>
                      <a:r>
                        <a:rPr sz="1150" b="1">
                          <a:solidFill>
                            <a:srgbClr val="FFFFFF"/>
                          </a:solidFill>
                          <a:latin typeface="Times New Roman"/>
                        </a:rPr>
                        <a:t>ME AUC</a:t>
                      </a:r>
                    </a:p>
                  </a:txBody>
                  <a:tcPr marL="73152" marR="73152" marT="27432" marB="27432" anchor="ctr">
                    <a:solidFill>
                      <a:srgbClr val="1F4E79"/>
                    </a:solidFill>
                  </a:tcPr>
                </a:tc>
                <a:tc>
                  <a:txBody>
                    <a:bodyPr/>
                    <a:lstStyle/>
                    <a:p>
                      <a:pPr algn="ctr">
                        <a:defRPr sz="1150" b="1">
                          <a:solidFill>
                            <a:srgbClr val="FFFFFF"/>
                          </a:solidFill>
                          <a:latin typeface="Times New Roman"/>
                        </a:defRPr>
                      </a:pPr>
                      <a:r>
                        <a:rPr sz="1150" b="1">
                          <a:solidFill>
                            <a:srgbClr val="FFFFFF"/>
                          </a:solidFill>
                          <a:latin typeface="Times New Roman"/>
                        </a:rPr>
                        <a:t>ME F1</a:t>
                      </a:r>
                    </a:p>
                    <a:p>
                      <a:pPr algn="ctr">
                        <a:defRPr sz="1150" b="1">
                          <a:solidFill>
                            <a:srgbClr val="FFFFFF"/>
                          </a:solidFill>
                          <a:latin typeface="Times New Roman"/>
                        </a:defRPr>
                      </a:pPr>
                      <a:r>
                        <a:rPr sz="1150" b="1">
                          <a:solidFill>
                            <a:srgbClr val="FFFFFF"/>
                          </a:solidFill>
                          <a:latin typeface="Times New Roman"/>
                        </a:rPr>
                        <a:t>(class-macro)</a:t>
                      </a:r>
                    </a:p>
                  </a:txBody>
                  <a:tcPr marL="73152" marR="73152" marT="27432" marB="27432" anchor="ctr">
                    <a:solidFill>
                      <a:srgbClr val="1F4E79"/>
                    </a:solidFill>
                  </a:tcPr>
                </a:tc>
              </a:tr>
              <a:tr h="384048">
                <a:tc>
                  <a:txBody>
                    <a:bodyPr/>
                    <a:lstStyle/>
                    <a:p>
                      <a:pPr algn="l">
                        <a:defRPr sz="1150" b="0">
                          <a:solidFill>
                            <a:srgbClr val="1A1A1A"/>
                          </a:solidFill>
                          <a:latin typeface="Times New Roman"/>
                        </a:defRPr>
                      </a:pPr>
                      <a:r>
                        <a:rPr sz="1150" b="0">
                          <a:solidFill>
                            <a:srgbClr val="1A1A1A"/>
                          </a:solidFill>
                          <a:latin typeface="Times New Roman"/>
                        </a:rPr>
                        <a:t>Focal with oversampling (baseline in earlier deck)</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0.9924</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0.9297</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16 / 162</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0.9886</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0.8707</a:t>
                      </a:r>
                    </a:p>
                  </a:txBody>
                  <a:tcPr marL="73152" marR="73152" marT="27432" marB="27432" anchor="ctr">
                    <a:solidFill>
                      <a:srgbClr val="FFFFFF"/>
                    </a:solidFill>
                  </a:tcPr>
                </a:tc>
              </a:tr>
              <a:tr h="384048">
                <a:tc>
                  <a:txBody>
                    <a:bodyPr/>
                    <a:lstStyle/>
                    <a:p>
                      <a:pPr algn="l">
                        <a:defRPr sz="1150" b="1">
                          <a:solidFill>
                            <a:srgbClr val="1A1A1A"/>
                          </a:solidFill>
                          <a:latin typeface="Times New Roman"/>
                        </a:defRPr>
                      </a:pPr>
                      <a:r>
                        <a:rPr sz="1150" b="1">
                          <a:solidFill>
                            <a:srgbClr val="1A1A1A"/>
                          </a:solidFill>
                          <a:latin typeface="Times New Roman"/>
                        </a:rPr>
                        <a:t>Focal, oversampling off  (selected)</a:t>
                      </a:r>
                    </a:p>
                  </a:txBody>
                  <a:tcPr marL="73152" marR="73152" marT="27432" marB="27432" anchor="ctr">
                    <a:solidFill>
                      <a:srgbClr val="DFEADF"/>
                    </a:solidFill>
                  </a:tcPr>
                </a:tc>
                <a:tc>
                  <a:txBody>
                    <a:bodyPr/>
                    <a:lstStyle/>
                    <a:p>
                      <a:pPr algn="ctr">
                        <a:defRPr sz="1150" b="1">
                          <a:solidFill>
                            <a:srgbClr val="1A1A1A"/>
                          </a:solidFill>
                          <a:latin typeface="Times New Roman"/>
                        </a:defRPr>
                      </a:pPr>
                      <a:r>
                        <a:rPr sz="1150" b="1">
                          <a:solidFill>
                            <a:srgbClr val="1A1A1A"/>
                          </a:solidFill>
                          <a:latin typeface="Times New Roman"/>
                        </a:rPr>
                        <a:t>0.9906</a:t>
                      </a:r>
                    </a:p>
                  </a:txBody>
                  <a:tcPr marL="73152" marR="73152" marT="27432" marB="27432" anchor="ctr">
                    <a:solidFill>
                      <a:srgbClr val="DFEADF"/>
                    </a:solidFill>
                  </a:tcPr>
                </a:tc>
                <a:tc>
                  <a:txBody>
                    <a:bodyPr/>
                    <a:lstStyle/>
                    <a:p>
                      <a:pPr algn="ctr">
                        <a:defRPr sz="1150" b="1">
                          <a:solidFill>
                            <a:srgbClr val="1A1A1A"/>
                          </a:solidFill>
                          <a:latin typeface="Times New Roman"/>
                        </a:defRPr>
                      </a:pPr>
                      <a:r>
                        <a:rPr sz="1150" b="1">
                          <a:solidFill>
                            <a:srgbClr val="1A1A1A"/>
                          </a:solidFill>
                          <a:latin typeface="Times New Roman"/>
                        </a:rPr>
                        <a:t>0.9374</a:t>
                      </a:r>
                    </a:p>
                  </a:txBody>
                  <a:tcPr marL="73152" marR="73152" marT="27432" marB="27432" anchor="ctr">
                    <a:solidFill>
                      <a:srgbClr val="DFEADF"/>
                    </a:solidFill>
                  </a:tcPr>
                </a:tc>
                <a:tc>
                  <a:txBody>
                    <a:bodyPr/>
                    <a:lstStyle/>
                    <a:p>
                      <a:pPr algn="ctr">
                        <a:defRPr sz="1150" b="1">
                          <a:solidFill>
                            <a:srgbClr val="1A1A1A"/>
                          </a:solidFill>
                          <a:latin typeface="Times New Roman"/>
                        </a:defRPr>
                      </a:pPr>
                      <a:r>
                        <a:rPr sz="1150" b="1">
                          <a:solidFill>
                            <a:srgbClr val="1A1A1A"/>
                          </a:solidFill>
                          <a:latin typeface="Times New Roman"/>
                        </a:rPr>
                        <a:t>10 / 162</a:t>
                      </a:r>
                    </a:p>
                  </a:txBody>
                  <a:tcPr marL="73152" marR="73152" marT="27432" marB="27432" anchor="ctr">
                    <a:solidFill>
                      <a:srgbClr val="DFEADF"/>
                    </a:solidFill>
                  </a:tcPr>
                </a:tc>
                <a:tc>
                  <a:txBody>
                    <a:bodyPr/>
                    <a:lstStyle/>
                    <a:p>
                      <a:pPr algn="ctr">
                        <a:defRPr sz="1150" b="1">
                          <a:solidFill>
                            <a:srgbClr val="1A1A1A"/>
                          </a:solidFill>
                          <a:latin typeface="Times New Roman"/>
                        </a:defRPr>
                      </a:pPr>
                      <a:r>
                        <a:rPr sz="1150" b="1">
                          <a:solidFill>
                            <a:srgbClr val="1A1A1A"/>
                          </a:solidFill>
                          <a:latin typeface="Times New Roman"/>
                        </a:rPr>
                        <a:t>0.9957</a:t>
                      </a:r>
                    </a:p>
                  </a:txBody>
                  <a:tcPr marL="73152" marR="73152" marT="27432" marB="27432" anchor="ctr">
                    <a:solidFill>
                      <a:srgbClr val="DFEADF"/>
                    </a:solidFill>
                  </a:tcPr>
                </a:tc>
                <a:tc>
                  <a:txBody>
                    <a:bodyPr/>
                    <a:lstStyle/>
                    <a:p>
                      <a:pPr algn="ctr">
                        <a:defRPr sz="1150" b="1">
                          <a:solidFill>
                            <a:srgbClr val="1A1A1A"/>
                          </a:solidFill>
                          <a:latin typeface="Times New Roman"/>
                        </a:defRPr>
                      </a:pPr>
                      <a:r>
                        <a:rPr sz="1150" b="1">
                          <a:solidFill>
                            <a:srgbClr val="1A1A1A"/>
                          </a:solidFill>
                          <a:latin typeface="Times New Roman"/>
                        </a:rPr>
                        <a:t>0.8852</a:t>
                      </a:r>
                    </a:p>
                  </a:txBody>
                  <a:tcPr marL="73152" marR="73152" marT="27432" marB="27432" anchor="ctr">
                    <a:solidFill>
                      <a:srgbClr val="DFEADF"/>
                    </a:solidFill>
                  </a:tcPr>
                </a:tc>
              </a:tr>
              <a:tr h="384048">
                <a:tc>
                  <a:txBody>
                    <a:bodyPr/>
                    <a:lstStyle/>
                    <a:p>
                      <a:pPr algn="l">
                        <a:defRPr sz="1150" b="0">
                          <a:solidFill>
                            <a:srgbClr val="1A1A1A"/>
                          </a:solidFill>
                          <a:latin typeface="Times New Roman"/>
                        </a:defRPr>
                      </a:pPr>
                      <a:r>
                        <a:rPr sz="1150" b="0">
                          <a:solidFill>
                            <a:srgbClr val="1A1A1A"/>
                          </a:solidFill>
                          <a:latin typeface="Times New Roman"/>
                        </a:rPr>
                        <a:t>Asymmetric focal, gamma 2.0, delta 0.60</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0.9916</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0.9201</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19 / 162</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0.9963</a:t>
                      </a:r>
                    </a:p>
                  </a:txBody>
                  <a:tcPr marL="73152" marR="73152" marT="27432" marB="27432" anchor="ctr">
                    <a:solidFill>
                      <a:srgbClr val="FFFFFF"/>
                    </a:solidFill>
                  </a:tcPr>
                </a:tc>
                <a:tc>
                  <a:txBody>
                    <a:bodyPr/>
                    <a:lstStyle/>
                    <a:p>
                      <a:pPr algn="ctr">
                        <a:defRPr sz="1150" b="0">
                          <a:solidFill>
                            <a:srgbClr val="1A1A1A"/>
                          </a:solidFill>
                          <a:latin typeface="Times New Roman"/>
                        </a:defRPr>
                      </a:pPr>
                      <a:r>
                        <a:rPr sz="1150" b="0">
                          <a:solidFill>
                            <a:srgbClr val="1A1A1A"/>
                          </a:solidFill>
                          <a:latin typeface="Times New Roman"/>
                        </a:rPr>
                        <a:t>0.8941</a:t>
                      </a:r>
                    </a:p>
                  </a:txBody>
                  <a:tcPr marL="73152" marR="73152" marT="27432" marB="27432" anchor="ctr">
                    <a:solidFill>
                      <a:srgbClr val="FFFFFF"/>
                    </a:solidFill>
                  </a:tcPr>
                </a:tc>
              </a:tr>
              <a:tr h="384048">
                <a:tc>
                  <a:txBody>
                    <a:bodyPr/>
                    <a:lstStyle/>
                    <a:p>
                      <a:pPr algn="l">
                        <a:defRPr sz="1150" b="0">
                          <a:solidFill>
                            <a:srgbClr val="1A1A1A"/>
                          </a:solidFill>
                          <a:latin typeface="Times New Roman"/>
                        </a:defRPr>
                      </a:pPr>
                      <a:r>
                        <a:rPr sz="1150" b="0">
                          <a:solidFill>
                            <a:srgbClr val="1A1A1A"/>
                          </a:solidFill>
                          <a:latin typeface="Times New Roman"/>
                        </a:rPr>
                        <a:t>Asymmetric focal, gamma 3.0, delta 0.75</a:t>
                      </a:r>
                    </a:p>
                  </a:txBody>
                  <a:tcPr marL="73152" marR="73152" marT="27432" marB="27432" anchor="ctr">
                    <a:solidFill>
                      <a:srgbClr val="F2F4F7"/>
                    </a:solidFill>
                  </a:tcPr>
                </a:tc>
                <a:tc>
                  <a:txBody>
                    <a:bodyPr/>
                    <a:lstStyle/>
                    <a:p>
                      <a:pPr algn="ctr">
                        <a:defRPr sz="1150" b="0">
                          <a:solidFill>
                            <a:srgbClr val="1A1A1A"/>
                          </a:solidFill>
                          <a:latin typeface="Times New Roman"/>
                        </a:defRPr>
                      </a:pPr>
                      <a:r>
                        <a:rPr sz="1150" b="0">
                          <a:solidFill>
                            <a:srgbClr val="1A1A1A"/>
                          </a:solidFill>
                          <a:latin typeface="Times New Roman"/>
                        </a:rPr>
                        <a:t>0.9872</a:t>
                      </a:r>
                    </a:p>
                  </a:txBody>
                  <a:tcPr marL="73152" marR="73152" marT="27432" marB="27432" anchor="ctr">
                    <a:solidFill>
                      <a:srgbClr val="F2F4F7"/>
                    </a:solidFill>
                  </a:tcPr>
                </a:tc>
                <a:tc>
                  <a:txBody>
                    <a:bodyPr/>
                    <a:lstStyle/>
                    <a:p>
                      <a:pPr algn="ctr">
                        <a:defRPr sz="1150" b="0">
                          <a:solidFill>
                            <a:srgbClr val="1A1A1A"/>
                          </a:solidFill>
                          <a:latin typeface="Times New Roman"/>
                        </a:defRPr>
                      </a:pPr>
                      <a:r>
                        <a:rPr sz="1150" b="0">
                          <a:solidFill>
                            <a:srgbClr val="1A1A1A"/>
                          </a:solidFill>
                          <a:latin typeface="Times New Roman"/>
                        </a:rPr>
                        <a:t>0.9224</a:t>
                      </a:r>
                    </a:p>
                  </a:txBody>
                  <a:tcPr marL="73152" marR="73152" marT="27432" marB="27432" anchor="ctr">
                    <a:solidFill>
                      <a:srgbClr val="F2F4F7"/>
                    </a:solidFill>
                  </a:tcPr>
                </a:tc>
                <a:tc>
                  <a:txBody>
                    <a:bodyPr/>
                    <a:lstStyle/>
                    <a:p>
                      <a:pPr algn="ctr">
                        <a:defRPr sz="1150" b="0">
                          <a:solidFill>
                            <a:srgbClr val="1A1A1A"/>
                          </a:solidFill>
                          <a:latin typeface="Times New Roman"/>
                        </a:defRPr>
                      </a:pPr>
                      <a:r>
                        <a:rPr sz="1150" b="0">
                          <a:solidFill>
                            <a:srgbClr val="1A1A1A"/>
                          </a:solidFill>
                          <a:latin typeface="Times New Roman"/>
                        </a:rPr>
                        <a:t>20 / 162</a:t>
                      </a:r>
                    </a:p>
                  </a:txBody>
                  <a:tcPr marL="73152" marR="73152" marT="27432" marB="27432" anchor="ctr">
                    <a:solidFill>
                      <a:srgbClr val="F2F4F7"/>
                    </a:solidFill>
                  </a:tcPr>
                </a:tc>
                <a:tc>
                  <a:txBody>
                    <a:bodyPr/>
                    <a:lstStyle/>
                    <a:p>
                      <a:pPr algn="ctr">
                        <a:defRPr sz="1150" b="0">
                          <a:solidFill>
                            <a:srgbClr val="1A1A1A"/>
                          </a:solidFill>
                          <a:latin typeface="Times New Roman"/>
                        </a:defRPr>
                      </a:pPr>
                      <a:r>
                        <a:rPr sz="1150" b="0">
                          <a:solidFill>
                            <a:srgbClr val="1A1A1A"/>
                          </a:solidFill>
                          <a:latin typeface="Times New Roman"/>
                        </a:rPr>
                        <a:t>0.9802</a:t>
                      </a:r>
                    </a:p>
                  </a:txBody>
                  <a:tcPr marL="73152" marR="73152" marT="27432" marB="27432" anchor="ctr">
                    <a:solidFill>
                      <a:srgbClr val="F2F4F7"/>
                    </a:solidFill>
                  </a:tcPr>
                </a:tc>
                <a:tc>
                  <a:txBody>
                    <a:bodyPr/>
                    <a:lstStyle/>
                    <a:p>
                      <a:pPr algn="ctr">
                        <a:defRPr sz="1150" b="0">
                          <a:solidFill>
                            <a:srgbClr val="1A1A1A"/>
                          </a:solidFill>
                          <a:latin typeface="Times New Roman"/>
                        </a:defRPr>
                      </a:pPr>
                      <a:r>
                        <a:rPr sz="1150" b="0">
                          <a:solidFill>
                            <a:srgbClr val="1A1A1A"/>
                          </a:solidFill>
                          <a:latin typeface="Times New Roman"/>
                        </a:rPr>
                        <a:t>0.8907</a:t>
                      </a:r>
                    </a:p>
                  </a:txBody>
                  <a:tcPr marL="73152" marR="73152" marT="27432" marB="27432" anchor="ctr">
                    <a:solidFill>
                      <a:srgbClr val="F2F4F7"/>
                    </a:solidFill>
                  </a:tcPr>
                </a:tc>
              </a:tr>
            </a:tbl>
          </a:graphicData>
        </a:graphic>
      </p:graphicFrame>
      <p:sp>
        <p:nvSpPr>
          <p:cNvPr id="5" name="TextBox 4"/>
          <p:cNvSpPr txBox="1"/>
          <p:nvPr/>
        </p:nvSpPr>
        <p:spPr>
          <a:xfrm>
            <a:off x="594360" y="3703320"/>
            <a:ext cx="11064240" cy="2103120"/>
          </a:xfrm>
          <a:prstGeom prst="rect">
            <a:avLst/>
          </a:prstGeom>
          <a:noFill/>
        </p:spPr>
        <p:txBody>
          <a:bodyPr wrap="square">
            <a:spAutoFit/>
          </a:bodyPr>
          <a:lstStyle/>
          <a:p>
            <a:pPr>
              <a:spcAft>
                <a:spcPts val="800"/>
              </a:spcAft>
              <a:defRPr sz="1300" b="0">
                <a:solidFill>
                  <a:srgbClr val="1A1A1A"/>
                </a:solidFill>
                <a:latin typeface="Times New Roman"/>
              </a:defRPr>
            </a:pPr>
            <a:r>
              <a:rPr sz="1300" b="0">
                <a:solidFill>
                  <a:srgbClr val="1A1A1A"/>
                </a:solidFill>
                <a:latin typeface="Times New Roman"/>
              </a:rPr>
              <a:t>The gain came from switching off the oversampler, not from changing the loss. The sampler raised the positive rate the loss actually saw from 6.6 percent to 61 percent, inverting the imbalance it was meant to correct.</a:t>
            </a:r>
          </a:p>
          <a:p>
            <a:pPr>
              <a:spcAft>
                <a:spcPts val="800"/>
              </a:spcAft>
              <a:defRPr sz="1300" b="0">
                <a:solidFill>
                  <a:srgbClr val="1A1A1A"/>
                </a:solidFill>
                <a:latin typeface="Times New Roman"/>
              </a:defRPr>
            </a:pPr>
            <a:r>
              <a:rPr sz="1300" b="0">
                <a:solidFill>
                  <a:srgbClr val="1A1A1A"/>
                </a:solidFill>
                <a:latin typeface="Times New Roman"/>
              </a:rPr>
              <a:t>Against the earlier baseline the DR gain is 0.0077 class-macro F1, which sits inside the noise (95% CI −0.006 to +0.022, p = 0.29). The claim that survives is the count: missed cases fell from 16 to 10 out of 162.</a:t>
            </a:r>
          </a:p>
          <a:p>
            <a:pPr>
              <a:spcAft>
                <a:spcPts val="800"/>
              </a:spcAft>
              <a:defRPr sz="1300" b="0">
                <a:solidFill>
                  <a:srgbClr val="1A1A1A"/>
                </a:solidFill>
                <a:latin typeface="Times New Roman"/>
              </a:defRPr>
            </a:pPr>
            <a:r>
              <a:rPr sz="1300" b="0">
                <a:solidFill>
                  <a:srgbClr val="1A1A1A"/>
                </a:solidFill>
                <a:latin typeface="Times New Roman"/>
              </a:rPr>
              <a:t>Scope. I ran two asymmetric-focal settings at the full 40 epochs against a matched control. The wider grid is designed but not run.</a:t>
            </a:r>
          </a:p>
        </p:txBody>
      </p:sp>
      <p:sp>
        <p:nvSpPr>
          <p:cNvPr id="6" name="TextBox 5"/>
          <p:cNvSpPr txBox="1"/>
          <p:nvPr/>
        </p:nvSpPr>
        <p:spPr>
          <a:xfrm>
            <a:off x="594360" y="5897880"/>
            <a:ext cx="11064240" cy="640080"/>
          </a:xfrm>
          <a:prstGeom prst="rect">
            <a:avLst/>
          </a:prstGeom>
          <a:noFill/>
        </p:spPr>
        <p:txBody>
          <a:bodyPr wrap="square">
            <a:spAutoFit/>
          </a:bodyPr>
          <a:lstStyle/>
          <a:p>
            <a:pPr>
              <a:defRPr sz="1350" b="1">
                <a:solidFill>
                  <a:srgbClr val="1E6B3C"/>
                </a:solidFill>
                <a:latin typeface="Times New Roman"/>
              </a:defRPr>
            </a:pPr>
            <a:r>
              <a:rPr sz="1350" b="1">
                <a:solidFill>
                  <a:srgbClr val="1E6B3C"/>
                </a:solidFill>
                <a:latin typeface="Times New Roman"/>
              </a:rPr>
              <a:t>Part 1 is closed. The strongest configuration is plain focal loss with the oversampler switched off.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1: did asymmetric focal loss help?</a:t>
            </a:r>
          </a:p>
          <a:p>
            <a:pPr>
              <a:defRPr sz="1250" b="0">
                <a:solidFill>
                  <a:srgbClr val="5F5F5F"/>
                </a:solidFill>
                <a:latin typeface="Times New Roman"/>
              </a:defRPr>
            </a:pPr>
            <a:r>
              <a:rPr sz="1250" b="0">
                <a:solidFill>
                  <a:srgbClr val="5F5F5F"/>
                </a:solidFill>
                <a:latin typeface="Times New Roman"/>
              </a:rPr>
              <a:t>Every metric, both losses. Oversampling is off in both arms, so the loss is the only difference.</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325880"/>
          <a:ext cx="5486400" cy="2651760"/>
        </p:xfrm>
        <a:graphic>
          <a:graphicData uri="http://schemas.openxmlformats.org/drawingml/2006/table">
            <a:tbl>
              <a:tblPr firstRow="1" bandRow="1">
                <a:tableStyleId>{5C22544A-7EE6-4342-B048-85BDC9FD1C3A}</a:tableStyleId>
              </a:tblPr>
              <a:tblGrid>
                <a:gridCol w="3108960"/>
                <a:gridCol w="1188720"/>
                <a:gridCol w="1188720"/>
              </a:tblGrid>
              <a:tr h="294640">
                <a:tc>
                  <a:txBody>
                    <a:bodyPr/>
                    <a:lstStyle/>
                    <a:p>
                      <a:pPr algn="l">
                        <a:defRPr sz="1000" b="1">
                          <a:solidFill>
                            <a:srgbClr val="FFFFFF"/>
                          </a:solidFill>
                          <a:latin typeface="Times New Roman"/>
                        </a:defRPr>
                      </a:pPr>
                      <a:r>
                        <a:rPr sz="1000" b="1">
                          <a:solidFill>
                            <a:srgbClr val="FFFFFF"/>
                          </a:solidFill>
                          <a:latin typeface="Times New Roman"/>
                        </a:rPr>
                        <a:t>Diabetic retinopathy (162 positive)</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Asym. focal</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Focal</a:t>
                      </a:r>
                    </a:p>
                  </a:txBody>
                  <a:tcPr marL="73152" marR="73152" marT="27432" marB="27432" anchor="ctr">
                    <a:solidFill>
                      <a:srgbClr val="1F4E79"/>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AUC</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0.9916</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0.9906</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Precision, diseased class</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0.8218</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0.8352</a:t>
                      </a:r>
                    </a:p>
                  </a:txBody>
                  <a:tcPr marL="73152" marR="73152" marT="27432" marB="27432" anchor="ctr">
                    <a:solidFill>
                      <a:srgbClr val="F2F4F7"/>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Recall, diseased class</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0.8827</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0.9383</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F1, diseased class only</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0.8512</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0.8837</a:t>
                      </a:r>
                    </a:p>
                  </a:txBody>
                  <a:tcPr marL="73152" marR="73152" marT="27432" marB="27432" anchor="ctr">
                    <a:solidFill>
                      <a:srgbClr val="F2F4F7"/>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F1, healthy class</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0.9890</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0.9912</a:t>
                      </a:r>
                    </a:p>
                  </a:txBody>
                  <a:tcPr marL="73152" marR="73152" marT="27432" marB="27432" anchor="ctr">
                    <a:solidFill>
                      <a:srgbClr val="FFFFFF"/>
                    </a:solidFill>
                  </a:tcPr>
                </a:tc>
              </a:tr>
              <a:tr h="294640">
                <a:tc>
                  <a:txBody>
                    <a:bodyPr/>
                    <a:lstStyle/>
                    <a:p>
                      <a:pPr algn="l">
                        <a:defRPr sz="1000" b="1">
                          <a:solidFill>
                            <a:srgbClr val="1A1A1A"/>
                          </a:solidFill>
                          <a:latin typeface="Times New Roman"/>
                        </a:defRPr>
                      </a:pPr>
                      <a:r>
                        <a:rPr sz="1000" b="1">
                          <a:solidFill>
                            <a:srgbClr val="1A1A1A"/>
                          </a:solidFill>
                          <a:latin typeface="Times New Roman"/>
                        </a:rPr>
                        <a:t>F1, class-macro (headline)</a:t>
                      </a:r>
                    </a:p>
                  </a:txBody>
                  <a:tcPr marL="73152" marR="73152" marT="27432" marB="27432" anchor="ctr">
                    <a:solidFill>
                      <a:srgbClr val="F7E2DD"/>
                    </a:solidFill>
                  </a:tcPr>
                </a:tc>
                <a:tc>
                  <a:txBody>
                    <a:bodyPr/>
                    <a:lstStyle/>
                    <a:p>
                      <a:pPr algn="ctr">
                        <a:defRPr sz="1000" b="1">
                          <a:solidFill>
                            <a:srgbClr val="1A1A1A"/>
                          </a:solidFill>
                          <a:latin typeface="Times New Roman"/>
                        </a:defRPr>
                      </a:pPr>
                      <a:r>
                        <a:rPr sz="1000" b="1">
                          <a:solidFill>
                            <a:srgbClr val="1A1A1A"/>
                          </a:solidFill>
                          <a:latin typeface="Times New Roman"/>
                        </a:rPr>
                        <a:t>0.9201</a:t>
                      </a:r>
                    </a:p>
                  </a:txBody>
                  <a:tcPr marL="73152" marR="73152" marT="27432" marB="27432" anchor="ctr">
                    <a:solidFill>
                      <a:srgbClr val="F7E2DD"/>
                    </a:solidFill>
                  </a:tcPr>
                </a:tc>
                <a:tc>
                  <a:txBody>
                    <a:bodyPr/>
                    <a:lstStyle/>
                    <a:p>
                      <a:pPr algn="ctr">
                        <a:defRPr sz="1000" b="1">
                          <a:solidFill>
                            <a:srgbClr val="1A1A1A"/>
                          </a:solidFill>
                          <a:latin typeface="Times New Roman"/>
                        </a:defRPr>
                      </a:pPr>
                      <a:r>
                        <a:rPr sz="1000" b="1">
                          <a:solidFill>
                            <a:srgbClr val="1A1A1A"/>
                          </a:solidFill>
                          <a:latin typeface="Times New Roman"/>
                        </a:rPr>
                        <a:t>0.9374</a:t>
                      </a:r>
                    </a:p>
                  </a:txBody>
                  <a:tcPr marL="73152" marR="73152" marT="27432" marB="27432" anchor="ctr">
                    <a:solidFill>
                      <a:srgbClr val="F7E2DD"/>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Best F1-macro at any cutoff</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0.9292</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0.9374</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Cases missed</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19 / 162</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10 / 162</a:t>
                      </a:r>
                    </a:p>
                  </a:txBody>
                  <a:tcPr marL="73152" marR="73152" marT="27432" marB="27432" anchor="ctr">
                    <a:solidFill>
                      <a:srgbClr val="F2F4F7"/>
                    </a:solidFill>
                  </a:tcPr>
                </a:tc>
              </a:tr>
            </a:tbl>
          </a:graphicData>
        </a:graphic>
      </p:graphicFrame>
      <p:graphicFrame>
        <p:nvGraphicFramePr>
          <p:cNvPr id="5" name="Table 4"/>
          <p:cNvGraphicFramePr>
            <a:graphicFrameLocks noGrp="1"/>
          </p:cNvGraphicFramePr>
          <p:nvPr/>
        </p:nvGraphicFramePr>
        <p:xfrm>
          <a:off x="6400800" y="1325880"/>
          <a:ext cx="5257799" cy="2651760"/>
        </p:xfrm>
        <a:graphic>
          <a:graphicData uri="http://schemas.openxmlformats.org/drawingml/2006/table">
            <a:tbl>
              <a:tblPr firstRow="1" bandRow="1">
                <a:tableStyleId>{5C22544A-7EE6-4342-B048-85BDC9FD1C3A}</a:tableStyleId>
              </a:tblPr>
              <a:tblGrid>
                <a:gridCol w="2900855"/>
                <a:gridCol w="1178472"/>
                <a:gridCol w="1178472"/>
              </a:tblGrid>
              <a:tr h="294640">
                <a:tc>
                  <a:txBody>
                    <a:bodyPr/>
                    <a:lstStyle/>
                    <a:p>
                      <a:pPr algn="l">
                        <a:defRPr sz="1000" b="1">
                          <a:solidFill>
                            <a:srgbClr val="FFFFFF"/>
                          </a:solidFill>
                          <a:latin typeface="Times New Roman"/>
                        </a:defRPr>
                      </a:pPr>
                      <a:r>
                        <a:rPr sz="1000" b="1">
                          <a:solidFill>
                            <a:srgbClr val="FFFFFF"/>
                          </a:solidFill>
                          <a:latin typeface="Times New Roman"/>
                        </a:rPr>
                        <a:t>Macular edema (61 positive)</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Asym. focal</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Focal</a:t>
                      </a:r>
                    </a:p>
                  </a:txBody>
                  <a:tcPr marL="73152" marR="73152" marT="27432" marB="27432" anchor="ctr">
                    <a:solidFill>
                      <a:srgbClr val="1F4E79"/>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AUC</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0.9963</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0.9957</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Precision, diseased class</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0.8000</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0.8182</a:t>
                      </a:r>
                    </a:p>
                  </a:txBody>
                  <a:tcPr marL="73152" marR="73152" marT="27432" marB="27432" anchor="ctr">
                    <a:solidFill>
                      <a:srgbClr val="F2F4F7"/>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Recall, diseased class</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0.7869</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0.7377</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F1, diseased class only</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0.7934</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0.7759</a:t>
                      </a:r>
                    </a:p>
                  </a:txBody>
                  <a:tcPr marL="73152" marR="73152" marT="27432" marB="27432" anchor="ctr">
                    <a:solidFill>
                      <a:srgbClr val="F2F4F7"/>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F1, healthy class</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0.9947</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0.9945</a:t>
                      </a:r>
                    </a:p>
                  </a:txBody>
                  <a:tcPr marL="73152" marR="73152" marT="27432" marB="27432" anchor="ctr">
                    <a:solidFill>
                      <a:srgbClr val="FFFFFF"/>
                    </a:solidFill>
                  </a:tcPr>
                </a:tc>
              </a:tr>
              <a:tr h="294640">
                <a:tc>
                  <a:txBody>
                    <a:bodyPr/>
                    <a:lstStyle/>
                    <a:p>
                      <a:pPr algn="l">
                        <a:defRPr sz="1000" b="1">
                          <a:solidFill>
                            <a:srgbClr val="1A1A1A"/>
                          </a:solidFill>
                          <a:latin typeface="Times New Roman"/>
                        </a:defRPr>
                      </a:pPr>
                      <a:r>
                        <a:rPr sz="1000" b="1">
                          <a:solidFill>
                            <a:srgbClr val="1A1A1A"/>
                          </a:solidFill>
                          <a:latin typeface="Times New Roman"/>
                        </a:rPr>
                        <a:t>F1, class-macro (headline)</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0.8941</a:t>
                      </a:r>
                    </a:p>
                  </a:txBody>
                  <a:tcPr marL="73152" marR="73152" marT="27432" marB="27432" anchor="ctr">
                    <a:solidFill>
                      <a:srgbClr val="DFEADF"/>
                    </a:solidFill>
                  </a:tcPr>
                </a:tc>
                <a:tc>
                  <a:txBody>
                    <a:bodyPr/>
                    <a:lstStyle/>
                    <a:p>
                      <a:pPr algn="ctr">
                        <a:defRPr sz="1000" b="1">
                          <a:solidFill>
                            <a:srgbClr val="1A1A1A"/>
                          </a:solidFill>
                          <a:latin typeface="Times New Roman"/>
                        </a:defRPr>
                      </a:pPr>
                      <a:r>
                        <a:rPr sz="1000" b="1">
                          <a:solidFill>
                            <a:srgbClr val="1A1A1A"/>
                          </a:solidFill>
                          <a:latin typeface="Times New Roman"/>
                        </a:rPr>
                        <a:t>0.8852</a:t>
                      </a:r>
                    </a:p>
                  </a:txBody>
                  <a:tcPr marL="73152" marR="73152" marT="27432" marB="27432" anchor="ctr">
                    <a:solidFill>
                      <a:srgbClr val="DFEAD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Best F1-macro at any cutoff</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0.9022</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0.8995</a:t>
                      </a:r>
                    </a:p>
                  </a:txBody>
                  <a:tcPr marL="73152" marR="73152" marT="27432" marB="27432" anchor="ctr">
                    <a:solidFill>
                      <a:srgbClr val="FFFFFF"/>
                    </a:solidFill>
                  </a:tcPr>
                </a:tc>
              </a:tr>
              <a:tr h="294640">
                <a:tc>
                  <a:txBody>
                    <a:bodyPr/>
                    <a:lstStyle/>
                    <a:p>
                      <a:pPr algn="l">
                        <a:defRPr sz="1000" b="0">
                          <a:solidFill>
                            <a:srgbClr val="1A1A1A"/>
                          </a:solidFill>
                          <a:latin typeface="Times New Roman"/>
                        </a:defRPr>
                      </a:pPr>
                      <a:r>
                        <a:rPr sz="1000" b="0">
                          <a:solidFill>
                            <a:srgbClr val="1A1A1A"/>
                          </a:solidFill>
                          <a:latin typeface="Times New Roman"/>
                        </a:rPr>
                        <a:t>Cases missed</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13 / 61</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16 / 61</a:t>
                      </a:r>
                    </a:p>
                  </a:txBody>
                  <a:tcPr marL="73152" marR="73152" marT="27432" marB="27432" anchor="ctr">
                    <a:solidFill>
                      <a:srgbClr val="F2F4F7"/>
                    </a:solidFill>
                  </a:tcPr>
                </a:tc>
              </a:tr>
            </a:tbl>
          </a:graphicData>
        </a:graphic>
      </p:graphicFrame>
      <p:sp>
        <p:nvSpPr>
          <p:cNvPr id="6" name="TextBox 5"/>
          <p:cNvSpPr txBox="1"/>
          <p:nvPr/>
        </p:nvSpPr>
        <p:spPr>
          <a:xfrm>
            <a:off x="594360" y="4096512"/>
            <a:ext cx="11064240" cy="310896"/>
          </a:xfrm>
          <a:prstGeom prst="rect">
            <a:avLst/>
          </a:prstGeom>
          <a:noFill/>
        </p:spPr>
        <p:txBody>
          <a:bodyPr wrap="square">
            <a:spAutoFit/>
          </a:bodyPr>
          <a:lstStyle/>
          <a:p>
            <a:pPr algn="l">
              <a:defRPr sz="1200" b="1">
                <a:solidFill>
                  <a:srgbClr val="1F4E79"/>
                </a:solidFill>
                <a:latin typeface="Times New Roman"/>
              </a:defRPr>
            </a:pPr>
            <a:r>
              <a:rPr sz="1200" b="1">
                <a:solidFill>
                  <a:srgbClr val="1F4E79"/>
                </a:solidFill>
                <a:latin typeface="Times New Roman"/>
              </a:rPr>
              <a:t>Reading the two F1 rows. Class-macro F1 is the average of the diseased and healthy class F1 scores. For DR asymmetric focal that is (0.8512 + 0.9890) / 2 = 0.9201.</a:t>
            </a:r>
          </a:p>
        </p:txBody>
      </p:sp>
      <p:sp>
        <p:nvSpPr>
          <p:cNvPr id="7" name="TextBox 6"/>
          <p:cNvSpPr txBox="1"/>
          <p:nvPr/>
        </p:nvSpPr>
        <p:spPr>
          <a:xfrm>
            <a:off x="594360" y="4425696"/>
            <a:ext cx="11064240" cy="310896"/>
          </a:xfrm>
          <a:prstGeom prst="rect">
            <a:avLst/>
          </a:prstGeom>
          <a:noFill/>
        </p:spPr>
        <p:txBody>
          <a:bodyPr wrap="square">
            <a:spAutoFit/>
          </a:bodyPr>
          <a:lstStyle/>
          <a:p>
            <a:pPr algn="l">
              <a:defRPr sz="1150" b="0">
                <a:solidFill>
                  <a:srgbClr val="5F5F5F"/>
                </a:solidFill>
                <a:latin typeface="Times New Roman"/>
              </a:defRPr>
            </a:pPr>
            <a:r>
              <a:rPr sz="1150" b="0">
                <a:solidFill>
                  <a:srgbClr val="5F5F5F"/>
                </a:solidFill>
                <a:latin typeface="Times New Roman"/>
              </a:rPr>
              <a:t>Precision and recall are diseased-class only, so they sit well below the class-macro headline. Different denominators, not a contradiction.</a:t>
            </a:r>
          </a:p>
        </p:txBody>
      </p:sp>
      <p:sp>
        <p:nvSpPr>
          <p:cNvPr id="8" name="TextBox 7"/>
          <p:cNvSpPr txBox="1"/>
          <p:nvPr/>
        </p:nvSpPr>
        <p:spPr>
          <a:xfrm>
            <a:off x="594360" y="4846320"/>
            <a:ext cx="11064240" cy="1051560"/>
          </a:xfrm>
          <a:prstGeom prst="rect">
            <a:avLst/>
          </a:prstGeom>
          <a:noFill/>
        </p:spPr>
        <p:txBody>
          <a:bodyPr wrap="square">
            <a:spAutoFit/>
          </a:bodyPr>
          <a:lstStyle/>
          <a:p>
            <a:pPr>
              <a:spcAft>
                <a:spcPts val="800"/>
              </a:spcAft>
              <a:defRPr sz="1250" b="0">
                <a:solidFill>
                  <a:srgbClr val="1A1A1A"/>
                </a:solidFill>
                <a:latin typeface="Times New Roman"/>
              </a:defRPr>
            </a:pPr>
            <a:r>
              <a:rPr sz="1250" b="0">
                <a:solidFill>
                  <a:srgbClr val="1A1A1A"/>
                </a:solidFill>
                <a:latin typeface="Times New Roman"/>
              </a:rPr>
              <a:t>Diabetic retinopathy. Asymmetric focal is worse by 0.0175 class-macro F1, 95% CI [−0.032, −0.004], p = 0.013. Its ranking is marginally better (AUC +0.0010), but even at the best cutoff available to it it reaches only 0.9292 against focal's 0.9374. This is not a threshold artifact.</a:t>
            </a:r>
          </a:p>
          <a:p>
            <a:pPr>
              <a:spcAft>
                <a:spcPts val="800"/>
              </a:spcAft>
              <a:defRPr sz="1250" b="0">
                <a:solidFill>
                  <a:srgbClr val="1A1A1A"/>
                </a:solidFill>
                <a:latin typeface="Times New Roman"/>
              </a:defRPr>
            </a:pPr>
            <a:r>
              <a:rPr sz="1250" b="0">
                <a:solidFill>
                  <a:srgbClr val="1A1A1A"/>
                </a:solidFill>
                <a:latin typeface="Times New Roman"/>
              </a:rPr>
              <a:t>Macular edema. Asymmetric focal leads by 0.0090, but the interval [−0.012, +0.033] crosses zero (p = 0.448). I report this as no measurable difference, not as a win.</a:t>
            </a:r>
          </a:p>
        </p:txBody>
      </p:sp>
      <p:sp>
        <p:nvSpPr>
          <p:cNvPr id="9" name="TextBox 8"/>
          <p:cNvSpPr txBox="1"/>
          <p:nvPr/>
        </p:nvSpPr>
        <p:spPr>
          <a:xfrm>
            <a:off x="594360" y="5943600"/>
            <a:ext cx="11064240" cy="640080"/>
          </a:xfrm>
          <a:prstGeom prst="rect">
            <a:avLst/>
          </a:prstGeom>
          <a:noFill/>
        </p:spPr>
        <p:txBody>
          <a:bodyPr wrap="square">
            <a:spAutoFit/>
          </a:bodyPr>
          <a:lstStyle/>
          <a:p>
            <a:pPr>
              <a:defRPr sz="1350" b="1">
                <a:solidFill>
                  <a:srgbClr val="9B3525"/>
                </a:solidFill>
                <a:latin typeface="Times New Roman"/>
              </a:defRPr>
            </a:pPr>
            <a:r>
              <a:rPr sz="1350" b="1">
                <a:solidFill>
                  <a:srgbClr val="9B3525"/>
                </a:solidFill>
                <a:latin typeface="Times New Roman"/>
              </a:rPr>
              <a:t>Asymmetric focal loss did not beat focal loss on BRSET. It is significantly worse on diabetic retinopathy and shows no measurable difference on macular edema.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1: exact configuration of every run</a:t>
            </a:r>
          </a:p>
          <a:p>
            <a:pPr>
              <a:defRPr sz="1250" b="0">
                <a:solidFill>
                  <a:srgbClr val="5F5F5F"/>
                </a:solidFill>
                <a:latin typeface="Times New Roman"/>
              </a:defRPr>
            </a:pPr>
            <a:r>
              <a:rPr sz="1250" b="0">
                <a:solidFill>
                  <a:srgbClr val="5F5F5F"/>
                </a:solidFill>
                <a:latin typeface="Times New Roman"/>
              </a:rPr>
              <a:t>Read from the run logs. Significance by paired bootstrap, 4,000 resamples, same test set.</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61872"/>
            <a:ext cx="548640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Identical across all four runs</a:t>
            </a:r>
          </a:p>
        </p:txBody>
      </p:sp>
      <p:graphicFrame>
        <p:nvGraphicFramePr>
          <p:cNvPr id="5" name="Table 4"/>
          <p:cNvGraphicFramePr>
            <a:graphicFrameLocks noGrp="1"/>
          </p:cNvGraphicFramePr>
          <p:nvPr/>
        </p:nvGraphicFramePr>
        <p:xfrm>
          <a:off x="594360" y="1572768"/>
          <a:ext cx="5486398" cy="2788920"/>
        </p:xfrm>
        <a:graphic>
          <a:graphicData uri="http://schemas.openxmlformats.org/drawingml/2006/table">
            <a:tbl>
              <a:tblPr firstRow="1" bandRow="1">
                <a:tableStyleId>{5C22544A-7EE6-4342-B048-85BDC9FD1C3A}</a:tableStyleId>
              </a:tblPr>
              <a:tblGrid>
                <a:gridCol w="1737359"/>
                <a:gridCol w="3749039"/>
              </a:tblGrid>
              <a:tr h="253538">
                <a:tc>
                  <a:txBody>
                    <a:bodyPr/>
                    <a:lstStyle/>
                    <a:p>
                      <a:pPr algn="l">
                        <a:defRPr sz="950" b="1">
                          <a:solidFill>
                            <a:srgbClr val="FFFFFF"/>
                          </a:solidFill>
                          <a:latin typeface="Times New Roman"/>
                        </a:defRPr>
                      </a:pPr>
                      <a:r>
                        <a:rPr sz="950" b="1">
                          <a:solidFill>
                            <a:srgbClr val="FFFFFF"/>
                          </a:solidFill>
                          <a:latin typeface="Times New Roman"/>
                        </a:rPr>
                        <a:t>Setting</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Value</a:t>
                      </a:r>
                    </a:p>
                  </a:txBody>
                  <a:tcPr marL="73152" marR="73152" marT="27432" marB="27432" anchor="ctr">
                    <a:solidFill>
                      <a:srgbClr val="1F4E79"/>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Backbone</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ConvNeXt V2 Large, fcmae_ft_in22k_in1k_384</a:t>
                      </a:r>
                    </a:p>
                  </a:txBody>
                  <a:tcPr marL="73152" marR="73152" marT="27432" marB="27432" anchor="ctr">
                    <a:solidFill>
                      <a:srgbClr val="FFFFFF"/>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Resolution</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512 px crop from a 560 px resize</a:t>
                      </a:r>
                    </a:p>
                  </a:txBody>
                  <a:tcPr marL="73152" marR="73152" marT="27432" marB="27432" anchor="ctr">
                    <a:solidFill>
                      <a:srgbClr val="F2F4F7"/>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Optimizer</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AdamW, lr 5e-5, weight decay 0.1</a:t>
                      </a:r>
                    </a:p>
                  </a:txBody>
                  <a:tcPr marL="73152" marR="73152" marT="27432" marB="27432" anchor="ctr">
                    <a:solidFill>
                      <a:srgbClr val="FFFFFF"/>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Schedule</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3-epoch linear warmup at 0.1x, then cosine to zero</a:t>
                      </a:r>
                    </a:p>
                  </a:txBody>
                  <a:tcPr marL="73152" marR="73152" marT="27432" marB="27432" anchor="ctr">
                    <a:solidFill>
                      <a:srgbClr val="F2F4F7"/>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Epochs, effective batch</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40,  64</a:t>
                      </a:r>
                    </a:p>
                  </a:txBody>
                  <a:tcPr marL="73152" marR="73152" marT="27432" marB="27432" anchor="ctr">
                    <a:solidFill>
                      <a:srgbClr val="FFFFFF"/>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Regularization</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drop-path 0.3, mixup alpha 0.2, label smoothing 0.1</a:t>
                      </a:r>
                    </a:p>
                  </a:txBody>
                  <a:tcPr marL="73152" marR="73152" marT="27432" marB="27432" anchor="ctr">
                    <a:solidFill>
                      <a:srgbClr val="F2F4F7"/>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Augmentation</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random crop, horizontal flip, 15 degree rotation,</a:t>
                      </a:r>
                    </a:p>
                    <a:p>
                      <a:pPr algn="ctr">
                        <a:defRPr sz="950" b="0">
                          <a:solidFill>
                            <a:srgbClr val="1A1A1A"/>
                          </a:solidFill>
                          <a:latin typeface="Times New Roman"/>
                        </a:defRPr>
                      </a:pPr>
                      <a:r>
                        <a:rPr sz="950" b="0">
                          <a:solidFill>
                            <a:srgbClr val="1A1A1A"/>
                          </a:solidFill>
                          <a:latin typeface="Times New Roman"/>
                        </a:rPr>
                        <a:t>colour jitter 0.2 / 0.2 / 0.1</a:t>
                      </a:r>
                    </a:p>
                  </a:txBody>
                  <a:tcPr marL="73152" marR="73152" marT="27432" marB="27432" anchor="ctr">
                    <a:solidFill>
                      <a:srgbClr val="FFFFFF"/>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Weight averaging</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EMA, decay 0.999</a:t>
                      </a:r>
                    </a:p>
                  </a:txBody>
                  <a:tcPr marL="73152" marR="73152" marT="27432" marB="27432" anchor="ctr">
                    <a:solidFill>
                      <a:srgbClr val="F2F4F7"/>
                    </a:solidFill>
                  </a:tcPr>
                </a:tc>
              </a:tr>
              <a:tr h="253538">
                <a:tc>
                  <a:txBody>
                    <a:bodyPr/>
                    <a:lstStyle/>
                    <a:p>
                      <a:pPr algn="l">
                        <a:defRPr sz="950" b="0">
                          <a:solidFill>
                            <a:srgbClr val="1A1A1A"/>
                          </a:solidFill>
                          <a:latin typeface="Times New Roman"/>
                        </a:defRPr>
                      </a:pPr>
                      <a:r>
                        <a:rPr sz="950" b="0">
                          <a:solidFill>
                            <a:srgbClr val="1A1A1A"/>
                          </a:solidFill>
                          <a:latin typeface="Times New Roman"/>
                        </a:rPr>
                        <a:t>Inference</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4-way flip TTA. Cutoff chosen on validation by</a:t>
                      </a:r>
                    </a:p>
                    <a:p>
                      <a:pPr algn="ctr">
                        <a:defRPr sz="950" b="0">
                          <a:solidFill>
                            <a:srgbClr val="1A1A1A"/>
                          </a:solidFill>
                          <a:latin typeface="Times New Roman"/>
                        </a:defRPr>
                      </a:pPr>
                      <a:r>
                        <a:rPr sz="950" b="0">
                          <a:solidFill>
                            <a:srgbClr val="1A1A1A"/>
                          </a:solidFill>
                          <a:latin typeface="Times New Roman"/>
                        </a:rPr>
                        <a:t>200-resample bootstrap</a:t>
                      </a:r>
                    </a:p>
                  </a:txBody>
                  <a:tcPr marL="73152" marR="73152" marT="27432" marB="27432" anchor="ctr">
                    <a:solidFill>
                      <a:srgbClr val="FFFFFF"/>
                    </a:solidFill>
                  </a:tcPr>
                </a:tc>
              </a:tr>
              <a:tr h="253540">
                <a:tc>
                  <a:txBody>
                    <a:bodyPr/>
                    <a:lstStyle/>
                    <a:p>
                      <a:pPr algn="l">
                        <a:defRPr sz="950" b="0">
                          <a:solidFill>
                            <a:srgbClr val="1A1A1A"/>
                          </a:solidFill>
                          <a:latin typeface="Times New Roman"/>
                        </a:defRPr>
                      </a:pPr>
                      <a:r>
                        <a:rPr sz="950" b="0">
                          <a:solidFill>
                            <a:srgbClr val="1A1A1A"/>
                          </a:solidFill>
                          <a:latin typeface="Times New Roman"/>
                        </a:rPr>
                        <a:t>Precision, seed</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fp16 autocast,  seed 0</a:t>
                      </a:r>
                    </a:p>
                  </a:txBody>
                  <a:tcPr marL="73152" marR="73152" marT="27432" marB="27432" anchor="ctr">
                    <a:solidFill>
                      <a:srgbClr val="F2F4F7"/>
                    </a:solidFill>
                  </a:tcPr>
                </a:tc>
              </a:tr>
            </a:tbl>
          </a:graphicData>
        </a:graphic>
      </p:graphicFrame>
      <p:sp>
        <p:nvSpPr>
          <p:cNvPr id="6" name="TextBox 5"/>
          <p:cNvSpPr txBox="1"/>
          <p:nvPr/>
        </p:nvSpPr>
        <p:spPr>
          <a:xfrm>
            <a:off x="6400800" y="1261872"/>
            <a:ext cx="525780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The only things that differ</a:t>
            </a:r>
          </a:p>
        </p:txBody>
      </p:sp>
      <p:graphicFrame>
        <p:nvGraphicFramePr>
          <p:cNvPr id="7" name="Table 6"/>
          <p:cNvGraphicFramePr>
            <a:graphicFrameLocks noGrp="1"/>
          </p:cNvGraphicFramePr>
          <p:nvPr/>
        </p:nvGraphicFramePr>
        <p:xfrm>
          <a:off x="6400800" y="1572768"/>
          <a:ext cx="5257800" cy="1828800"/>
        </p:xfrm>
        <a:graphic>
          <a:graphicData uri="http://schemas.openxmlformats.org/drawingml/2006/table">
            <a:tbl>
              <a:tblPr firstRow="1" bandRow="1">
                <a:tableStyleId>{5C22544A-7EE6-4342-B048-85BDC9FD1C3A}</a:tableStyleId>
              </a:tblPr>
              <a:tblGrid>
                <a:gridCol w="1463040"/>
                <a:gridCol w="731520"/>
                <a:gridCol w="1051560"/>
                <a:gridCol w="731520"/>
                <a:gridCol w="1280160"/>
              </a:tblGrid>
              <a:tr h="365760">
                <a:tc>
                  <a:txBody>
                    <a:bodyPr/>
                    <a:lstStyle/>
                    <a:p>
                      <a:pPr algn="l">
                        <a:defRPr sz="950" b="1">
                          <a:solidFill>
                            <a:srgbClr val="FFFFFF"/>
                          </a:solidFill>
                          <a:latin typeface="Times New Roman"/>
                        </a:defRPr>
                      </a:pPr>
                      <a:r>
                        <a:rPr sz="950" b="1">
                          <a:solidFill>
                            <a:srgbClr val="FFFFFF"/>
                          </a:solidFill>
                          <a:latin typeface="Times New Roman"/>
                        </a:rPr>
                        <a:t>Run</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Loss</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Parameters</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Over-</a:t>
                      </a:r>
                    </a:p>
                    <a:p>
                      <a:pPr algn="ctr">
                        <a:defRPr sz="950" b="1">
                          <a:solidFill>
                            <a:srgbClr val="FFFFFF"/>
                          </a:solidFill>
                          <a:latin typeface="Times New Roman"/>
                        </a:defRPr>
                      </a:pPr>
                      <a:r>
                        <a:rPr sz="950" b="1">
                          <a:solidFill>
                            <a:srgbClr val="FFFFFF"/>
                          </a:solidFill>
                          <a:latin typeface="Times New Roman"/>
                        </a:rPr>
                        <a:t>sample</a:t>
                      </a:r>
                    </a:p>
                  </a:txBody>
                  <a:tcPr marL="73152" marR="73152" marT="27432" marB="27432" anchor="ctr">
                    <a:solidFill>
                      <a:srgbClr val="1F4E79"/>
                    </a:solidFill>
                  </a:tcPr>
                </a:tc>
                <a:tc>
                  <a:txBody>
                    <a:bodyPr/>
                    <a:lstStyle/>
                    <a:p>
                      <a:pPr algn="ctr">
                        <a:defRPr sz="950" b="1">
                          <a:solidFill>
                            <a:srgbClr val="FFFFFF"/>
                          </a:solidFill>
                          <a:latin typeface="Times New Roman"/>
                        </a:defRPr>
                      </a:pPr>
                      <a:r>
                        <a:rPr sz="950" b="1">
                          <a:solidFill>
                            <a:srgbClr val="FFFFFF"/>
                          </a:solidFill>
                          <a:latin typeface="Times New Roman"/>
                        </a:rPr>
                        <a:t>Positive rate</a:t>
                      </a:r>
                    </a:p>
                    <a:p>
                      <a:pPr algn="ctr">
                        <a:defRPr sz="950" b="1">
                          <a:solidFill>
                            <a:srgbClr val="FFFFFF"/>
                          </a:solidFill>
                          <a:latin typeface="Times New Roman"/>
                        </a:defRPr>
                      </a:pPr>
                      <a:r>
                        <a:rPr sz="950" b="1">
                          <a:solidFill>
                            <a:srgbClr val="FFFFFF"/>
                          </a:solidFill>
                          <a:latin typeface="Times New Roman"/>
                        </a:rPr>
                        <a:t>seen by loss</a:t>
                      </a:r>
                    </a:p>
                  </a:txBody>
                  <a:tcPr marL="73152" marR="73152" marT="27432" marB="27432" anchor="ctr">
                    <a:solidFill>
                      <a:srgbClr val="1F4E79"/>
                    </a:solidFill>
                  </a:tcPr>
                </a:tc>
              </a:tr>
              <a:tr h="365760">
                <a:tc>
                  <a:txBody>
                    <a:bodyPr/>
                    <a:lstStyle/>
                    <a:p>
                      <a:pPr algn="l">
                        <a:defRPr sz="950" b="0">
                          <a:solidFill>
                            <a:srgbClr val="1A1A1A"/>
                          </a:solidFill>
                          <a:latin typeface="Times New Roman"/>
                        </a:defRPr>
                      </a:pPr>
                      <a:r>
                        <a:rPr sz="950" b="0">
                          <a:solidFill>
                            <a:srgbClr val="1A1A1A"/>
                          </a:solidFill>
                          <a:latin typeface="Times New Roman"/>
                        </a:rPr>
                        <a:t>Baseline (earlier deck)</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Focal</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gamma 2.0</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on</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DR 61.0%</a:t>
                      </a:r>
                    </a:p>
                    <a:p>
                      <a:pPr algn="ctr">
                        <a:defRPr sz="950" b="0">
                          <a:solidFill>
                            <a:srgbClr val="1A1A1A"/>
                          </a:solidFill>
                          <a:latin typeface="Times New Roman"/>
                        </a:defRPr>
                      </a:pPr>
                      <a:r>
                        <a:rPr sz="950" b="0">
                          <a:solidFill>
                            <a:srgbClr val="1A1A1A"/>
                          </a:solidFill>
                          <a:latin typeface="Times New Roman"/>
                        </a:rPr>
                        <a:t>ME 38.5%</a:t>
                      </a:r>
                    </a:p>
                  </a:txBody>
                  <a:tcPr marL="73152" marR="73152" marT="27432" marB="27432" anchor="ctr">
                    <a:solidFill>
                      <a:srgbClr val="FFFFFF"/>
                    </a:solidFill>
                  </a:tcPr>
                </a:tc>
              </a:tr>
              <a:tr h="365760">
                <a:tc>
                  <a:txBody>
                    <a:bodyPr/>
                    <a:lstStyle/>
                    <a:p>
                      <a:pPr algn="l">
                        <a:defRPr sz="950" b="0">
                          <a:solidFill>
                            <a:srgbClr val="1A1A1A"/>
                          </a:solidFill>
                          <a:latin typeface="Times New Roman"/>
                        </a:defRPr>
                      </a:pPr>
                      <a:r>
                        <a:rPr sz="950" b="0">
                          <a:solidFill>
                            <a:srgbClr val="1A1A1A"/>
                          </a:solidFill>
                          <a:latin typeface="Times New Roman"/>
                        </a:rPr>
                        <a:t>Focal control</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Focal</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gamma 2.0</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off</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DR 6.6%</a:t>
                      </a:r>
                    </a:p>
                    <a:p>
                      <a:pPr algn="ctr">
                        <a:defRPr sz="950" b="0">
                          <a:solidFill>
                            <a:srgbClr val="1A1A1A"/>
                          </a:solidFill>
                          <a:latin typeface="Times New Roman"/>
                        </a:defRPr>
                      </a:pPr>
                      <a:r>
                        <a:rPr sz="950" b="0">
                          <a:solidFill>
                            <a:srgbClr val="1A1A1A"/>
                          </a:solidFill>
                          <a:latin typeface="Times New Roman"/>
                        </a:rPr>
                        <a:t>ME 2.4%</a:t>
                      </a:r>
                    </a:p>
                  </a:txBody>
                  <a:tcPr marL="73152" marR="73152" marT="27432" marB="27432" anchor="ctr">
                    <a:solidFill>
                      <a:srgbClr val="F2F4F7"/>
                    </a:solidFill>
                  </a:tcPr>
                </a:tc>
              </a:tr>
              <a:tr h="365760">
                <a:tc>
                  <a:txBody>
                    <a:bodyPr/>
                    <a:lstStyle/>
                    <a:p>
                      <a:pPr algn="l">
                        <a:defRPr sz="950" b="0">
                          <a:solidFill>
                            <a:srgbClr val="1A1A1A"/>
                          </a:solidFill>
                          <a:latin typeface="Times New Roman"/>
                        </a:defRPr>
                      </a:pPr>
                      <a:r>
                        <a:rPr sz="950" b="0">
                          <a:solidFill>
                            <a:srgbClr val="1A1A1A"/>
                          </a:solidFill>
                          <a:latin typeface="Times New Roman"/>
                        </a:rPr>
                        <a:t>Asymmetric focal A</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AFL</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gamma 2.0</a:t>
                      </a:r>
                    </a:p>
                    <a:p>
                      <a:pPr algn="ctr">
                        <a:defRPr sz="950" b="0">
                          <a:solidFill>
                            <a:srgbClr val="1A1A1A"/>
                          </a:solidFill>
                          <a:latin typeface="Times New Roman"/>
                        </a:defRPr>
                      </a:pPr>
                      <a:r>
                        <a:rPr sz="950" b="0">
                          <a:solidFill>
                            <a:srgbClr val="1A1A1A"/>
                          </a:solidFill>
                          <a:latin typeface="Times New Roman"/>
                        </a:rPr>
                        <a:t>delta 0.60</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off</a:t>
                      </a:r>
                    </a:p>
                  </a:txBody>
                  <a:tcPr marL="73152" marR="73152" marT="27432" marB="27432" anchor="ctr">
                    <a:solidFill>
                      <a:srgbClr val="FFFFFF"/>
                    </a:solidFill>
                  </a:tcPr>
                </a:tc>
                <a:tc>
                  <a:txBody>
                    <a:bodyPr/>
                    <a:lstStyle/>
                    <a:p>
                      <a:pPr algn="ctr">
                        <a:defRPr sz="950" b="0">
                          <a:solidFill>
                            <a:srgbClr val="1A1A1A"/>
                          </a:solidFill>
                          <a:latin typeface="Times New Roman"/>
                        </a:defRPr>
                      </a:pPr>
                      <a:r>
                        <a:rPr sz="950" b="0">
                          <a:solidFill>
                            <a:srgbClr val="1A1A1A"/>
                          </a:solidFill>
                          <a:latin typeface="Times New Roman"/>
                        </a:rPr>
                        <a:t>DR 6.6%</a:t>
                      </a:r>
                    </a:p>
                    <a:p>
                      <a:pPr algn="ctr">
                        <a:defRPr sz="950" b="0">
                          <a:solidFill>
                            <a:srgbClr val="1A1A1A"/>
                          </a:solidFill>
                          <a:latin typeface="Times New Roman"/>
                        </a:defRPr>
                      </a:pPr>
                      <a:r>
                        <a:rPr sz="950" b="0">
                          <a:solidFill>
                            <a:srgbClr val="1A1A1A"/>
                          </a:solidFill>
                          <a:latin typeface="Times New Roman"/>
                        </a:rPr>
                        <a:t>ME 2.4%</a:t>
                      </a:r>
                    </a:p>
                  </a:txBody>
                  <a:tcPr marL="73152" marR="73152" marT="27432" marB="27432" anchor="ctr">
                    <a:solidFill>
                      <a:srgbClr val="FFFFFF"/>
                    </a:solidFill>
                  </a:tcPr>
                </a:tc>
              </a:tr>
              <a:tr h="365760">
                <a:tc>
                  <a:txBody>
                    <a:bodyPr/>
                    <a:lstStyle/>
                    <a:p>
                      <a:pPr algn="l">
                        <a:defRPr sz="950" b="0">
                          <a:solidFill>
                            <a:srgbClr val="1A1A1A"/>
                          </a:solidFill>
                          <a:latin typeface="Times New Roman"/>
                        </a:defRPr>
                      </a:pPr>
                      <a:r>
                        <a:rPr sz="950" b="0">
                          <a:solidFill>
                            <a:srgbClr val="1A1A1A"/>
                          </a:solidFill>
                          <a:latin typeface="Times New Roman"/>
                        </a:rPr>
                        <a:t>Asymmetric focal B</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AFL</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gamma 3.0</a:t>
                      </a:r>
                    </a:p>
                    <a:p>
                      <a:pPr algn="ctr">
                        <a:defRPr sz="950" b="0">
                          <a:solidFill>
                            <a:srgbClr val="1A1A1A"/>
                          </a:solidFill>
                          <a:latin typeface="Times New Roman"/>
                        </a:defRPr>
                      </a:pPr>
                      <a:r>
                        <a:rPr sz="950" b="0">
                          <a:solidFill>
                            <a:srgbClr val="1A1A1A"/>
                          </a:solidFill>
                          <a:latin typeface="Times New Roman"/>
                        </a:rPr>
                        <a:t>delta 0.75</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off</a:t>
                      </a:r>
                    </a:p>
                  </a:txBody>
                  <a:tcPr marL="73152" marR="73152" marT="27432" marB="27432" anchor="ctr">
                    <a:solidFill>
                      <a:srgbClr val="F2F4F7"/>
                    </a:solidFill>
                  </a:tcPr>
                </a:tc>
                <a:tc>
                  <a:txBody>
                    <a:bodyPr/>
                    <a:lstStyle/>
                    <a:p>
                      <a:pPr algn="ctr">
                        <a:defRPr sz="950" b="0">
                          <a:solidFill>
                            <a:srgbClr val="1A1A1A"/>
                          </a:solidFill>
                          <a:latin typeface="Times New Roman"/>
                        </a:defRPr>
                      </a:pPr>
                      <a:r>
                        <a:rPr sz="950" b="0">
                          <a:solidFill>
                            <a:srgbClr val="1A1A1A"/>
                          </a:solidFill>
                          <a:latin typeface="Times New Roman"/>
                        </a:rPr>
                        <a:t>DR 6.6%</a:t>
                      </a:r>
                    </a:p>
                    <a:p>
                      <a:pPr algn="ctr">
                        <a:defRPr sz="950" b="0">
                          <a:solidFill>
                            <a:srgbClr val="1A1A1A"/>
                          </a:solidFill>
                          <a:latin typeface="Times New Roman"/>
                        </a:defRPr>
                      </a:pPr>
                      <a:r>
                        <a:rPr sz="950" b="0">
                          <a:solidFill>
                            <a:srgbClr val="1A1A1A"/>
                          </a:solidFill>
                          <a:latin typeface="Times New Roman"/>
                        </a:rPr>
                        <a:t>ME 2.4%</a:t>
                      </a:r>
                    </a:p>
                  </a:txBody>
                  <a:tcPr marL="73152" marR="73152" marT="27432" marB="27432" anchor="ctr">
                    <a:solidFill>
                      <a:srgbClr val="F2F4F7"/>
                    </a:solidFill>
                  </a:tcPr>
                </a:tc>
              </a:tr>
            </a:tbl>
          </a:graphicData>
        </a:graphic>
      </p:graphicFrame>
      <p:sp>
        <p:nvSpPr>
          <p:cNvPr id="8" name="Rectangle 7"/>
          <p:cNvSpPr/>
          <p:nvPr/>
        </p:nvSpPr>
        <p:spPr>
          <a:xfrm>
            <a:off x="6400800" y="3547872"/>
            <a:ext cx="5257800" cy="365760"/>
          </a:xfrm>
          <a:prstGeom prst="rect">
            <a:avLst/>
          </a:prstGeom>
          <a:solidFill>
            <a:srgbClr val="ECEFF4"/>
          </a:solidFill>
          <a:ln w="9525">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0">
                <a:solidFill>
                  <a:srgbClr val="1A1A1A"/>
                </a:solidFill>
                <a:latin typeface="Times New Roman"/>
              </a:defRPr>
            </a:pPr>
            <a:r>
              <a:rPr sz="1050" b="0">
                <a:solidFill>
                  <a:srgbClr val="1A1A1A"/>
                </a:solidFill>
                <a:latin typeface="Times New Roman"/>
              </a:rPr>
              <a:t>Focal:   L = − y (1−p)^g log p − (1−y) p^g log(1−p)</a:t>
            </a:r>
          </a:p>
        </p:txBody>
      </p:sp>
      <p:sp>
        <p:nvSpPr>
          <p:cNvPr id="9" name="Rectangle 8"/>
          <p:cNvSpPr/>
          <p:nvPr/>
        </p:nvSpPr>
        <p:spPr>
          <a:xfrm>
            <a:off x="6400800" y="3968496"/>
            <a:ext cx="5257800" cy="365760"/>
          </a:xfrm>
          <a:prstGeom prst="rect">
            <a:avLst/>
          </a:prstGeom>
          <a:solidFill>
            <a:srgbClr val="ECEFF4"/>
          </a:solidFill>
          <a:ln w="9525">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0">
                <a:solidFill>
                  <a:srgbClr val="1A1A1A"/>
                </a:solidFill>
                <a:latin typeface="Times New Roman"/>
              </a:defRPr>
            </a:pPr>
            <a:r>
              <a:rPr sz="1050" b="0">
                <a:solidFill>
                  <a:srgbClr val="1A1A1A"/>
                </a:solidFill>
                <a:latin typeface="Times New Roman"/>
              </a:rPr>
              <a:t>AFL:     L = − d y log p − (1−d)(1−y) p^g log(1−p)</a:t>
            </a:r>
          </a:p>
        </p:txBody>
      </p:sp>
      <p:sp>
        <p:nvSpPr>
          <p:cNvPr id="10" name="TextBox 9"/>
          <p:cNvSpPr txBox="1"/>
          <p:nvPr/>
        </p:nvSpPr>
        <p:spPr>
          <a:xfrm>
            <a:off x="6400800" y="4389120"/>
            <a:ext cx="5257800" cy="402336"/>
          </a:xfrm>
          <a:prstGeom prst="rect">
            <a:avLst/>
          </a:prstGeom>
          <a:noFill/>
        </p:spPr>
        <p:txBody>
          <a:bodyPr wrap="square">
            <a:spAutoFit/>
          </a:bodyPr>
          <a:lstStyle/>
          <a:p>
            <a:pPr algn="l">
              <a:defRPr sz="1050" b="0">
                <a:solidFill>
                  <a:srgbClr val="5F5F5F"/>
                </a:solidFill>
                <a:latin typeface="Times New Roman"/>
              </a:defRPr>
            </a:pPr>
            <a:r>
              <a:rPr sz="1050" b="0">
                <a:solidFill>
                  <a:srgbClr val="5F5F5F"/>
                </a:solidFill>
                <a:latin typeface="Times New Roman"/>
              </a:rPr>
              <a:t>AFL differs in one way. Positives receive plain cross-entropy, with no (1−p)^g term.</a:t>
            </a:r>
          </a:p>
        </p:txBody>
      </p:sp>
      <p:sp>
        <p:nvSpPr>
          <p:cNvPr id="11" name="TextBox 10"/>
          <p:cNvSpPr txBox="1"/>
          <p:nvPr/>
        </p:nvSpPr>
        <p:spPr>
          <a:xfrm>
            <a:off x="594360" y="4846320"/>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What ran, and what did not</a:t>
            </a:r>
          </a:p>
        </p:txBody>
      </p:sp>
      <p:sp>
        <p:nvSpPr>
          <p:cNvPr id="12" name="TextBox 11"/>
          <p:cNvSpPr txBox="1"/>
          <p:nvPr/>
        </p:nvSpPr>
        <p:spPr>
          <a:xfrm>
            <a:off x="594360" y="5175504"/>
            <a:ext cx="960120" cy="310896"/>
          </a:xfrm>
          <a:prstGeom prst="rect">
            <a:avLst/>
          </a:prstGeom>
          <a:noFill/>
        </p:spPr>
        <p:txBody>
          <a:bodyPr wrap="square">
            <a:spAutoFit/>
          </a:bodyPr>
          <a:lstStyle/>
          <a:p>
            <a:pPr algn="l">
              <a:defRPr sz="1150" b="1">
                <a:solidFill>
                  <a:srgbClr val="1E6B3C"/>
                </a:solidFill>
                <a:latin typeface="Times New Roman"/>
              </a:defRPr>
            </a:pPr>
            <a:r>
              <a:rPr sz="1150" b="1">
                <a:solidFill>
                  <a:srgbClr val="1E6B3C"/>
                </a:solidFill>
                <a:latin typeface="Times New Roman"/>
              </a:rPr>
              <a:t>Complete.</a:t>
            </a:r>
          </a:p>
        </p:txBody>
      </p:sp>
      <p:sp>
        <p:nvSpPr>
          <p:cNvPr id="13" name="TextBox 12"/>
          <p:cNvSpPr txBox="1"/>
          <p:nvPr/>
        </p:nvSpPr>
        <p:spPr>
          <a:xfrm>
            <a:off x="1600200" y="5175504"/>
            <a:ext cx="10012680" cy="310896"/>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Three runs at the full 40 epochs, four Stage-0 controls at 20 epochs, and the earlier baseline.</a:t>
            </a:r>
          </a:p>
        </p:txBody>
      </p:sp>
      <p:sp>
        <p:nvSpPr>
          <p:cNvPr id="14" name="TextBox 13"/>
          <p:cNvSpPr txBox="1"/>
          <p:nvPr/>
        </p:nvSpPr>
        <p:spPr>
          <a:xfrm>
            <a:off x="594360" y="5486400"/>
            <a:ext cx="960120" cy="310896"/>
          </a:xfrm>
          <a:prstGeom prst="rect">
            <a:avLst/>
          </a:prstGeom>
          <a:noFill/>
        </p:spPr>
        <p:txBody>
          <a:bodyPr wrap="square">
            <a:spAutoFit/>
          </a:bodyPr>
          <a:lstStyle/>
          <a:p>
            <a:pPr algn="l">
              <a:defRPr sz="1150" b="1">
                <a:solidFill>
                  <a:srgbClr val="9B3525"/>
                </a:solidFill>
                <a:latin typeface="Times New Roman"/>
              </a:defRPr>
            </a:pPr>
            <a:r>
              <a:rPr sz="1150" b="1">
                <a:solidFill>
                  <a:srgbClr val="9B3525"/>
                </a:solidFill>
                <a:latin typeface="Times New Roman"/>
              </a:rPr>
              <a:t>Not run.</a:t>
            </a:r>
          </a:p>
        </p:txBody>
      </p:sp>
      <p:sp>
        <p:nvSpPr>
          <p:cNvPr id="15" name="TextBox 14"/>
          <p:cNvSpPr txBox="1"/>
          <p:nvPr/>
        </p:nvSpPr>
        <p:spPr>
          <a:xfrm>
            <a:off x="1600200" y="5486400"/>
            <a:ext cx="10012680" cy="310896"/>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Two of six planned grid points. Missing: gamma 1, 3 and 4 at delta 0.60, and gamma 2 at delta 0.75.</a:t>
            </a:r>
          </a:p>
        </p:txBody>
      </p:sp>
      <p:sp>
        <p:nvSpPr>
          <p:cNvPr id="16" name="TextBox 15"/>
          <p:cNvSpPr txBox="1"/>
          <p:nvPr/>
        </p:nvSpPr>
        <p:spPr>
          <a:xfrm>
            <a:off x="594360" y="5797296"/>
            <a:ext cx="960120" cy="310896"/>
          </a:xfrm>
          <a:prstGeom prst="rect">
            <a:avLst/>
          </a:prstGeom>
          <a:noFill/>
        </p:spPr>
        <p:txBody>
          <a:bodyPr wrap="square">
            <a:spAutoFit/>
          </a:bodyPr>
          <a:lstStyle/>
          <a:p>
            <a:pPr algn="l">
              <a:defRPr sz="1150" b="1">
                <a:solidFill>
                  <a:srgbClr val="5F5F5F"/>
                </a:solidFill>
                <a:latin typeface="Times New Roman"/>
              </a:defRPr>
            </a:pPr>
            <a:r>
              <a:rPr sz="1150" b="1">
                <a:solidFill>
                  <a:srgbClr val="5F5F5F"/>
                </a:solidFill>
                <a:latin typeface="Times New Roman"/>
              </a:rPr>
              <a:t>Cause.</a:t>
            </a:r>
          </a:p>
        </p:txBody>
      </p:sp>
      <p:sp>
        <p:nvSpPr>
          <p:cNvPr id="17" name="TextBox 16"/>
          <p:cNvSpPr txBox="1"/>
          <p:nvPr/>
        </p:nvSpPr>
        <p:spPr>
          <a:xfrm>
            <a:off x="1600200" y="5797296"/>
            <a:ext cx="10012680" cy="310896"/>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Two crashed on a filesystem read error, since fixed. The rest were cancelled when the design moved to 40 epochs.</a:t>
            </a:r>
          </a:p>
        </p:txBody>
      </p:sp>
      <p:sp>
        <p:nvSpPr>
          <p:cNvPr id="18" name="TextBox 17"/>
          <p:cNvSpPr txBox="1"/>
          <p:nvPr/>
        </p:nvSpPr>
        <p:spPr>
          <a:xfrm>
            <a:off x="594360" y="6144768"/>
            <a:ext cx="11064240" cy="640080"/>
          </a:xfrm>
          <a:prstGeom prst="rect">
            <a:avLst/>
          </a:prstGeom>
          <a:noFill/>
        </p:spPr>
        <p:txBody>
          <a:bodyPr wrap="square">
            <a:spAutoFit/>
          </a:bodyPr>
          <a:lstStyle/>
          <a:p>
            <a:pPr>
              <a:defRPr sz="1350" b="1">
                <a:solidFill>
                  <a:srgbClr val="A36E0A"/>
                </a:solidFill>
                <a:latin typeface="Times New Roman"/>
              </a:defRPr>
            </a:pPr>
            <a:r>
              <a:rPr sz="1350" b="1">
                <a:solidFill>
                  <a:srgbClr val="A36E0A"/>
                </a:solidFill>
                <a:latin typeface="Times New Roman"/>
              </a:rPr>
              <a:t>Two settings at full length against a matched control. A controlled comparison, not a completed sweep.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2: the model does not survive the change of camera</a:t>
            </a:r>
          </a:p>
          <a:p>
            <a:pPr>
              <a:defRPr sz="1250" b="0">
                <a:solidFill>
                  <a:srgbClr val="5F5F5F"/>
                </a:solidFill>
                <a:latin typeface="Times New Roman"/>
              </a:defRPr>
            </a:pPr>
            <a:r>
              <a:rPr sz="1250" b="0">
                <a:solidFill>
                  <a:srgbClr val="5F5F5F"/>
                </a:solidFill>
                <a:latin typeface="Times New Roman"/>
              </a:rPr>
              <a:t>Same disease and the same grading protocol. Only the camera and the population change.</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61872"/>
            <a:ext cx="594360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The two datasets</a:t>
            </a:r>
          </a:p>
        </p:txBody>
      </p:sp>
      <p:graphicFrame>
        <p:nvGraphicFramePr>
          <p:cNvPr id="5" name="Table 4"/>
          <p:cNvGraphicFramePr>
            <a:graphicFrameLocks noGrp="1"/>
          </p:cNvGraphicFramePr>
          <p:nvPr/>
        </p:nvGraphicFramePr>
        <p:xfrm>
          <a:off x="594360" y="1572768"/>
          <a:ext cx="5943600" cy="2057400"/>
        </p:xfrm>
        <a:graphic>
          <a:graphicData uri="http://schemas.openxmlformats.org/drawingml/2006/table">
            <a:tbl>
              <a:tblPr firstRow="1" bandRow="1">
                <a:tableStyleId>{5C22544A-7EE6-4342-B048-85BDC9FD1C3A}</a:tableStyleId>
              </a:tblPr>
              <a:tblGrid>
                <a:gridCol w="1600200"/>
                <a:gridCol w="2148840"/>
                <a:gridCol w="2194560"/>
              </a:tblGrid>
              <a:tr h="342900">
                <a:tc>
                  <a:txBody>
                    <a:bodyPr/>
                    <a:lstStyle/>
                    <a:p>
                      <a:pPr algn="l">
                        <a:defRPr sz="1000" b="1">
                          <a:solidFill>
                            <a:srgbClr val="FFFFFF"/>
                          </a:solidFill>
                          <a:latin typeface="Times New Roman"/>
                        </a:defRPr>
                      </a:pP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BRSET, trained on</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mBRSET, tested on</a:t>
                      </a:r>
                    </a:p>
                  </a:txBody>
                  <a:tcPr marL="73152" marR="73152" marT="27432" marB="27432" anchor="ctr">
                    <a:solidFill>
                      <a:srgbClr val="1F4E79"/>
                    </a:solidFill>
                  </a:tcPr>
                </a:tc>
              </a:tr>
              <a:tr h="342900">
                <a:tc>
                  <a:txBody>
                    <a:bodyPr/>
                    <a:lstStyle/>
                    <a:p>
                      <a:pPr algn="l">
                        <a:defRPr sz="1000" b="0">
                          <a:solidFill>
                            <a:srgbClr val="1A1A1A"/>
                          </a:solidFill>
                          <a:latin typeface="Times New Roman"/>
                        </a:defRPr>
                      </a:pPr>
                      <a:r>
                        <a:rPr sz="1000" b="0">
                          <a:solidFill>
                            <a:srgbClr val="1A1A1A"/>
                          </a:solidFill>
                          <a:latin typeface="Times New Roman"/>
                        </a:rPr>
                        <a:t>Camera</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Tabletop fundus camera</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Handheld phone camera</a:t>
                      </a:r>
                    </a:p>
                    <a:p>
                      <a:pPr algn="ctr">
                        <a:defRPr sz="1000" b="0">
                          <a:solidFill>
                            <a:srgbClr val="1A1A1A"/>
                          </a:solidFill>
                          <a:latin typeface="Times New Roman"/>
                        </a:defRPr>
                      </a:pPr>
                      <a:r>
                        <a:rPr sz="1000" b="0">
                          <a:solidFill>
                            <a:srgbClr val="1A1A1A"/>
                          </a:solidFill>
                          <a:latin typeface="Times New Roman"/>
                        </a:rPr>
                        <a:t>(Phelcom Eyer)</a:t>
                      </a:r>
                    </a:p>
                  </a:txBody>
                  <a:tcPr marL="73152" marR="73152" marT="27432" marB="27432" anchor="ctr">
                    <a:solidFill>
                      <a:srgbClr val="FFFFFF"/>
                    </a:solidFill>
                  </a:tcPr>
                </a:tc>
              </a:tr>
              <a:tr h="342900">
                <a:tc>
                  <a:txBody>
                    <a:bodyPr/>
                    <a:lstStyle/>
                    <a:p>
                      <a:pPr algn="l">
                        <a:defRPr sz="1000" b="0">
                          <a:solidFill>
                            <a:srgbClr val="1A1A1A"/>
                          </a:solidFill>
                          <a:latin typeface="Times New Roman"/>
                        </a:defRPr>
                      </a:pPr>
                      <a:r>
                        <a:rPr sz="1000" b="0">
                          <a:solidFill>
                            <a:srgbClr val="1A1A1A"/>
                          </a:solidFill>
                          <a:latin typeface="Times New Roman"/>
                        </a:rPr>
                        <a:t>Setting</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Hospital eye clinic</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Community screening campaign</a:t>
                      </a:r>
                    </a:p>
                  </a:txBody>
                  <a:tcPr marL="73152" marR="73152" marT="27432" marB="27432" anchor="ctr">
                    <a:solidFill>
                      <a:srgbClr val="F2F4F7"/>
                    </a:solidFill>
                  </a:tcPr>
                </a:tc>
              </a:tr>
              <a:tr h="342900">
                <a:tc>
                  <a:txBody>
                    <a:bodyPr/>
                    <a:lstStyle/>
                    <a:p>
                      <a:pPr algn="l">
                        <a:defRPr sz="1000" b="0">
                          <a:solidFill>
                            <a:srgbClr val="1A1A1A"/>
                          </a:solidFill>
                          <a:latin typeface="Times New Roman"/>
                        </a:defRPr>
                      </a:pPr>
                      <a:r>
                        <a:rPr sz="1000" b="0">
                          <a:solidFill>
                            <a:srgbClr val="1A1A1A"/>
                          </a:solidFill>
                          <a:latin typeface="Times New Roman"/>
                        </a:rPr>
                        <a:t>Images used</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16,258  (test 2,435)</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4,859  (test 732)</a:t>
                      </a:r>
                    </a:p>
                  </a:txBody>
                  <a:tcPr marL="73152" marR="73152" marT="27432" marB="27432" anchor="ctr">
                    <a:solidFill>
                      <a:srgbClr val="FFFFFF"/>
                    </a:solidFill>
                  </a:tcPr>
                </a:tc>
              </a:tr>
              <a:tr h="342900">
                <a:tc>
                  <a:txBody>
                    <a:bodyPr/>
                    <a:lstStyle/>
                    <a:p>
                      <a:pPr algn="l">
                        <a:defRPr sz="1000" b="0">
                          <a:solidFill>
                            <a:srgbClr val="1A1A1A"/>
                          </a:solidFill>
                          <a:latin typeface="Times New Roman"/>
                        </a:defRPr>
                      </a:pPr>
                      <a:r>
                        <a:rPr sz="1000" b="0">
                          <a:solidFill>
                            <a:srgbClr val="1A1A1A"/>
                          </a:solidFill>
                          <a:latin typeface="Times New Roman"/>
                        </a:rPr>
                        <a:t>Patients with DR</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6.6%</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23.3%</a:t>
                      </a:r>
                    </a:p>
                  </a:txBody>
                  <a:tcPr marL="73152" marR="73152" marT="27432" marB="27432" anchor="ctr">
                    <a:solidFill>
                      <a:srgbClr val="F2F4F7"/>
                    </a:solidFill>
                  </a:tcPr>
                </a:tc>
              </a:tr>
              <a:tr h="342900">
                <a:tc>
                  <a:txBody>
                    <a:bodyPr/>
                    <a:lstStyle/>
                    <a:p>
                      <a:pPr algn="l">
                        <a:defRPr sz="1000" b="0">
                          <a:solidFill>
                            <a:srgbClr val="1A1A1A"/>
                          </a:solidFill>
                          <a:latin typeface="Times New Roman"/>
                        </a:defRPr>
                      </a:pPr>
                      <a:r>
                        <a:rPr sz="1000" b="0">
                          <a:solidFill>
                            <a:srgbClr val="1A1A1A"/>
                          </a:solidFill>
                          <a:latin typeface="Times New Roman"/>
                        </a:rPr>
                        <a:t>Images with an artifact</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not recorded</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83%  (4,272 of 5,164)</a:t>
                      </a:r>
                    </a:p>
                  </a:txBody>
                  <a:tcPr marL="73152" marR="73152" marT="27432" marB="27432" anchor="ctr">
                    <a:solidFill>
                      <a:srgbClr val="FFFFFF"/>
                    </a:solidFill>
                  </a:tcPr>
                </a:tc>
              </a:tr>
            </a:tbl>
          </a:graphicData>
        </a:graphic>
      </p:graphicFrame>
      <p:sp>
        <p:nvSpPr>
          <p:cNvPr id="6" name="TextBox 5"/>
          <p:cNvSpPr txBox="1"/>
          <p:nvPr/>
        </p:nvSpPr>
        <p:spPr>
          <a:xfrm>
            <a:off x="6903720" y="1261872"/>
            <a:ext cx="475488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One model, one cutoff of 0.61, two test sets</a:t>
            </a:r>
          </a:p>
        </p:txBody>
      </p:sp>
      <p:graphicFrame>
        <p:nvGraphicFramePr>
          <p:cNvPr id="7" name="Table 6"/>
          <p:cNvGraphicFramePr>
            <a:graphicFrameLocks noGrp="1"/>
          </p:cNvGraphicFramePr>
          <p:nvPr/>
        </p:nvGraphicFramePr>
        <p:xfrm>
          <a:off x="6903720" y="1572768"/>
          <a:ext cx="4754880" cy="1737360"/>
        </p:xfrm>
        <a:graphic>
          <a:graphicData uri="http://schemas.openxmlformats.org/drawingml/2006/table">
            <a:tbl>
              <a:tblPr firstRow="1" bandRow="1">
                <a:tableStyleId>{5C22544A-7EE6-4342-B048-85BDC9FD1C3A}</a:tableStyleId>
              </a:tblPr>
              <a:tblGrid>
                <a:gridCol w="1828800"/>
                <a:gridCol w="1463040"/>
                <a:gridCol w="1463040"/>
              </a:tblGrid>
              <a:tr h="347472">
                <a:tc>
                  <a:txBody>
                    <a:bodyPr/>
                    <a:lstStyle/>
                    <a:p>
                      <a:pPr algn="l">
                        <a:defRPr sz="1000" b="1">
                          <a:solidFill>
                            <a:srgbClr val="FFFFFF"/>
                          </a:solidFill>
                          <a:latin typeface="Times New Roman"/>
                        </a:defRPr>
                      </a:pPr>
                      <a:r>
                        <a:rPr sz="1000" b="1">
                          <a:solidFill>
                            <a:srgbClr val="FFFFFF"/>
                          </a:solidFill>
                          <a:latin typeface="Times New Roman"/>
                        </a:rPr>
                        <a:t>Diabetic retinopathy</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on BRSET</a:t>
                      </a:r>
                    </a:p>
                  </a:txBody>
                  <a:tcPr marL="73152" marR="73152" marT="27432" marB="27432" anchor="ctr">
                    <a:solidFill>
                      <a:srgbClr val="1F4E79"/>
                    </a:solidFill>
                  </a:tcPr>
                </a:tc>
                <a:tc>
                  <a:txBody>
                    <a:bodyPr/>
                    <a:lstStyle/>
                    <a:p>
                      <a:pPr algn="ctr">
                        <a:defRPr sz="1000" b="1">
                          <a:solidFill>
                            <a:srgbClr val="FFFFFF"/>
                          </a:solidFill>
                          <a:latin typeface="Times New Roman"/>
                        </a:defRPr>
                      </a:pPr>
                      <a:r>
                        <a:rPr sz="1000" b="1">
                          <a:solidFill>
                            <a:srgbClr val="FFFFFF"/>
                          </a:solidFill>
                          <a:latin typeface="Times New Roman"/>
                        </a:rPr>
                        <a:t>on mBRSET</a:t>
                      </a:r>
                    </a:p>
                  </a:txBody>
                  <a:tcPr marL="73152" marR="73152" marT="27432" marB="27432" anchor="ctr">
                    <a:solidFill>
                      <a:srgbClr val="1F4E79"/>
                    </a:solidFill>
                  </a:tcPr>
                </a:tc>
              </a:tr>
              <a:tr h="347472">
                <a:tc>
                  <a:txBody>
                    <a:bodyPr/>
                    <a:lstStyle/>
                    <a:p>
                      <a:pPr algn="l">
                        <a:defRPr sz="1000" b="0">
                          <a:solidFill>
                            <a:srgbClr val="1A1A1A"/>
                          </a:solidFill>
                          <a:latin typeface="Times New Roman"/>
                        </a:defRPr>
                      </a:pPr>
                      <a:r>
                        <a:rPr sz="1000" b="0">
                          <a:solidFill>
                            <a:srgbClr val="1A1A1A"/>
                          </a:solidFill>
                          <a:latin typeface="Times New Roman"/>
                        </a:rPr>
                        <a:t>AUC</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0.988</a:t>
                      </a:r>
                    </a:p>
                  </a:txBody>
                  <a:tcPr marL="73152" marR="73152" marT="27432" marB="27432" anchor="ctr">
                    <a:solidFill>
                      <a:srgbClr val="FFFFFF"/>
                    </a:solidFill>
                  </a:tcPr>
                </a:tc>
                <a:tc>
                  <a:txBody>
                    <a:bodyPr/>
                    <a:lstStyle/>
                    <a:p>
                      <a:pPr algn="ctr">
                        <a:defRPr sz="1000" b="0">
                          <a:solidFill>
                            <a:srgbClr val="1A1A1A"/>
                          </a:solidFill>
                          <a:latin typeface="Times New Roman"/>
                        </a:defRPr>
                      </a:pPr>
                      <a:r>
                        <a:rPr sz="1000" b="0">
                          <a:solidFill>
                            <a:srgbClr val="1A1A1A"/>
                          </a:solidFill>
                          <a:latin typeface="Times New Roman"/>
                        </a:rPr>
                        <a:t>0.909</a:t>
                      </a:r>
                    </a:p>
                  </a:txBody>
                  <a:tcPr marL="73152" marR="73152" marT="27432" marB="27432" anchor="ctr">
                    <a:solidFill>
                      <a:srgbClr val="FFFFFF"/>
                    </a:solidFill>
                  </a:tcPr>
                </a:tc>
              </a:tr>
              <a:tr h="347472">
                <a:tc>
                  <a:txBody>
                    <a:bodyPr/>
                    <a:lstStyle/>
                    <a:p>
                      <a:pPr algn="l">
                        <a:defRPr sz="1000" b="0">
                          <a:solidFill>
                            <a:srgbClr val="1A1A1A"/>
                          </a:solidFill>
                          <a:latin typeface="Times New Roman"/>
                        </a:defRPr>
                      </a:pPr>
                      <a:r>
                        <a:rPr sz="1000" b="0">
                          <a:solidFill>
                            <a:srgbClr val="1A1A1A"/>
                          </a:solidFill>
                          <a:latin typeface="Times New Roman"/>
                        </a:rPr>
                        <a:t>Precision</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0.861</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0.964</a:t>
                      </a:r>
                    </a:p>
                  </a:txBody>
                  <a:tcPr marL="73152" marR="73152" marT="27432" marB="27432" anchor="ctr">
                    <a:solidFill>
                      <a:srgbClr val="F2F4F7"/>
                    </a:solidFill>
                  </a:tcPr>
                </a:tc>
              </a:tr>
              <a:tr h="347472">
                <a:tc>
                  <a:txBody>
                    <a:bodyPr/>
                    <a:lstStyle/>
                    <a:p>
                      <a:pPr algn="l">
                        <a:defRPr sz="1000" b="1">
                          <a:solidFill>
                            <a:srgbClr val="1A1A1A"/>
                          </a:solidFill>
                          <a:latin typeface="Times New Roman"/>
                        </a:defRPr>
                      </a:pPr>
                      <a:r>
                        <a:rPr sz="1000" b="1">
                          <a:solidFill>
                            <a:srgbClr val="1A1A1A"/>
                          </a:solidFill>
                          <a:latin typeface="Times New Roman"/>
                        </a:rPr>
                        <a:t>Recall</a:t>
                      </a:r>
                    </a:p>
                  </a:txBody>
                  <a:tcPr marL="73152" marR="73152" marT="27432" marB="27432" anchor="ctr">
                    <a:solidFill>
                      <a:srgbClr val="F7E2DD"/>
                    </a:solidFill>
                  </a:tcPr>
                </a:tc>
                <a:tc>
                  <a:txBody>
                    <a:bodyPr/>
                    <a:lstStyle/>
                    <a:p>
                      <a:pPr algn="ctr">
                        <a:defRPr sz="1000" b="1">
                          <a:solidFill>
                            <a:srgbClr val="1A1A1A"/>
                          </a:solidFill>
                          <a:latin typeface="Times New Roman"/>
                        </a:defRPr>
                      </a:pPr>
                      <a:r>
                        <a:rPr sz="1000" b="1">
                          <a:solidFill>
                            <a:srgbClr val="1A1A1A"/>
                          </a:solidFill>
                          <a:latin typeface="Times New Roman"/>
                        </a:rPr>
                        <a:t>0.877</a:t>
                      </a:r>
                    </a:p>
                  </a:txBody>
                  <a:tcPr marL="73152" marR="73152" marT="27432" marB="27432" anchor="ctr">
                    <a:solidFill>
                      <a:srgbClr val="F7E2DD"/>
                    </a:solidFill>
                  </a:tcPr>
                </a:tc>
                <a:tc>
                  <a:txBody>
                    <a:bodyPr/>
                    <a:lstStyle/>
                    <a:p>
                      <a:pPr algn="ctr">
                        <a:defRPr sz="1000" b="1">
                          <a:solidFill>
                            <a:srgbClr val="1A1A1A"/>
                          </a:solidFill>
                          <a:latin typeface="Times New Roman"/>
                        </a:defRPr>
                      </a:pPr>
                      <a:r>
                        <a:rPr sz="1000" b="1">
                          <a:solidFill>
                            <a:srgbClr val="1A1A1A"/>
                          </a:solidFill>
                          <a:latin typeface="Times New Roman"/>
                        </a:rPr>
                        <a:t>0.503</a:t>
                      </a:r>
                    </a:p>
                  </a:txBody>
                  <a:tcPr marL="73152" marR="73152" marT="27432" marB="27432" anchor="ctr">
                    <a:solidFill>
                      <a:srgbClr val="F7E2DD"/>
                    </a:solidFill>
                  </a:tcPr>
                </a:tc>
              </a:tr>
              <a:tr h="347472">
                <a:tc>
                  <a:txBody>
                    <a:bodyPr/>
                    <a:lstStyle/>
                    <a:p>
                      <a:pPr algn="l">
                        <a:defRPr sz="1000" b="0">
                          <a:solidFill>
                            <a:srgbClr val="1A1A1A"/>
                          </a:solidFill>
                          <a:latin typeface="Times New Roman"/>
                        </a:defRPr>
                      </a:pPr>
                      <a:r>
                        <a:rPr sz="1000" b="0">
                          <a:solidFill>
                            <a:srgbClr val="1A1A1A"/>
                          </a:solidFill>
                          <a:latin typeface="Times New Roman"/>
                        </a:rPr>
                        <a:t>F1</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0.869</a:t>
                      </a:r>
                    </a:p>
                  </a:txBody>
                  <a:tcPr marL="73152" marR="73152" marT="27432" marB="27432" anchor="ctr">
                    <a:solidFill>
                      <a:srgbClr val="F2F4F7"/>
                    </a:solidFill>
                  </a:tcPr>
                </a:tc>
                <a:tc>
                  <a:txBody>
                    <a:bodyPr/>
                    <a:lstStyle/>
                    <a:p>
                      <a:pPr algn="ctr">
                        <a:defRPr sz="1000" b="0">
                          <a:solidFill>
                            <a:srgbClr val="1A1A1A"/>
                          </a:solidFill>
                          <a:latin typeface="Times New Roman"/>
                        </a:defRPr>
                      </a:pPr>
                      <a:r>
                        <a:rPr sz="1000" b="0">
                          <a:solidFill>
                            <a:srgbClr val="1A1A1A"/>
                          </a:solidFill>
                          <a:latin typeface="Times New Roman"/>
                        </a:rPr>
                        <a:t>0.661</a:t>
                      </a:r>
                    </a:p>
                  </a:txBody>
                  <a:tcPr marL="73152" marR="73152" marT="27432" marB="27432" anchor="ctr">
                    <a:solidFill>
                      <a:srgbClr val="F2F4F7"/>
                    </a:solidFill>
                  </a:tcPr>
                </a:tc>
              </a:tr>
            </a:tbl>
          </a:graphicData>
        </a:graphic>
      </p:graphicFrame>
      <p:sp>
        <p:nvSpPr>
          <p:cNvPr id="8" name="TextBox 7"/>
          <p:cNvSpPr txBox="1"/>
          <p:nvPr/>
        </p:nvSpPr>
        <p:spPr>
          <a:xfrm>
            <a:off x="6903720" y="3383280"/>
            <a:ext cx="4754880" cy="310896"/>
          </a:xfrm>
          <a:prstGeom prst="rect">
            <a:avLst/>
          </a:prstGeom>
          <a:noFill/>
        </p:spPr>
        <p:txBody>
          <a:bodyPr wrap="square">
            <a:spAutoFit/>
          </a:bodyPr>
          <a:lstStyle/>
          <a:p>
            <a:pPr algn="l">
              <a:defRPr sz="1250" b="1">
                <a:solidFill>
                  <a:srgbClr val="9B3525"/>
                </a:solidFill>
                <a:latin typeface="Times New Roman"/>
              </a:defRPr>
            </a:pPr>
            <a:r>
              <a:rPr sz="1250" b="1">
                <a:solidFill>
                  <a:srgbClr val="9B3525"/>
                </a:solidFill>
                <a:latin typeface="Times New Roman"/>
              </a:rPr>
              <a:t>Precision rose. Recall halved.</a:t>
            </a:r>
          </a:p>
        </p:txBody>
      </p:sp>
      <p:sp>
        <p:nvSpPr>
          <p:cNvPr id="9" name="Rectangle 8"/>
          <p:cNvSpPr/>
          <p:nvPr/>
        </p:nvSpPr>
        <p:spPr>
          <a:xfrm>
            <a:off x="1051560" y="4206240"/>
            <a:ext cx="10058400" cy="420624"/>
          </a:xfrm>
          <a:prstGeom prst="rect">
            <a:avLst/>
          </a:prstGeom>
          <a:solidFill>
            <a:srgbClr val="E7EA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1A1A1A"/>
                </a:solidFill>
                <a:latin typeface="Times New Roman"/>
              </a:defRPr>
            </a:pPr>
          </a:p>
        </p:txBody>
      </p:sp>
      <p:sp>
        <p:nvSpPr>
          <p:cNvPr id="10" name="Rectangle 9"/>
          <p:cNvSpPr/>
          <p:nvPr/>
        </p:nvSpPr>
        <p:spPr>
          <a:xfrm>
            <a:off x="2962656" y="4206240"/>
            <a:ext cx="4224527" cy="420624"/>
          </a:xfrm>
          <a:prstGeom prst="rect">
            <a:avLst/>
          </a:prstGeom>
          <a:solidFill>
            <a:srgbClr val="E0AE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1A1A1A"/>
                </a:solidFill>
                <a:latin typeface="Times New Roman"/>
              </a:defRPr>
            </a:pPr>
            <a:r>
              <a:rPr sz="1150" b="1">
                <a:solidFill>
                  <a:srgbClr val="1A1A1A"/>
                </a:solidFill>
                <a:latin typeface="Times New Roman"/>
              </a:rPr>
              <a:t>79 diseased patients scored in this band</a:t>
            </a:r>
          </a:p>
        </p:txBody>
      </p:sp>
      <p:sp>
        <p:nvSpPr>
          <p:cNvPr id="11" name="Rectangle 10"/>
          <p:cNvSpPr/>
          <p:nvPr/>
        </p:nvSpPr>
        <p:spPr>
          <a:xfrm>
            <a:off x="2951683" y="4078224"/>
            <a:ext cx="21945" cy="676656"/>
          </a:xfrm>
          <a:prstGeom prst="rect">
            <a:avLst/>
          </a:prstGeom>
          <a:solidFill>
            <a:srgbClr val="1E6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FFFFFF"/>
                </a:solidFill>
                <a:latin typeface="Times New Roman"/>
              </a:defRPr>
            </a:pPr>
          </a:p>
        </p:txBody>
      </p:sp>
      <p:sp>
        <p:nvSpPr>
          <p:cNvPr id="12" name="TextBox 11"/>
          <p:cNvSpPr txBox="1"/>
          <p:nvPr/>
        </p:nvSpPr>
        <p:spPr>
          <a:xfrm>
            <a:off x="1728215" y="4681727"/>
            <a:ext cx="2468880" cy="512064"/>
          </a:xfrm>
          <a:prstGeom prst="rect">
            <a:avLst/>
          </a:prstGeom>
          <a:noFill/>
        </p:spPr>
        <p:txBody>
          <a:bodyPr wrap="square">
            <a:spAutoFit/>
          </a:bodyPr>
          <a:lstStyle/>
          <a:p>
            <a:pPr algn="ctr">
              <a:defRPr sz="1050" b="1">
                <a:solidFill>
                  <a:srgbClr val="1E6B3C"/>
                </a:solidFill>
                <a:latin typeface="Times New Roman"/>
              </a:defRPr>
            </a:pPr>
            <a:r>
              <a:rPr sz="1050" b="1">
                <a:solidFill>
                  <a:srgbClr val="1E6B3C"/>
                </a:solidFill>
                <a:latin typeface="Times New Roman"/>
              </a:rPr>
              <a:t>0.19</a:t>
            </a:r>
            <a:br/>
            <a:r>
              <a:rPr sz="1050" b="1">
                <a:solidFill>
                  <a:srgbClr val="1E6B3C"/>
                </a:solidFill>
                <a:latin typeface="Times New Roman"/>
              </a:rPr>
              <a:t>right cutoff for mBRSET</a:t>
            </a:r>
          </a:p>
        </p:txBody>
      </p:sp>
      <p:sp>
        <p:nvSpPr>
          <p:cNvPr id="13" name="Rectangle 12"/>
          <p:cNvSpPr/>
          <p:nvPr/>
        </p:nvSpPr>
        <p:spPr>
          <a:xfrm>
            <a:off x="7176211" y="4078224"/>
            <a:ext cx="21945" cy="676656"/>
          </a:xfrm>
          <a:prstGeom prst="rect">
            <a:avLst/>
          </a:prstGeom>
          <a:solidFill>
            <a:srgbClr val="9B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FFFFFF"/>
                </a:solidFill>
                <a:latin typeface="Times New Roman"/>
              </a:defRPr>
            </a:pPr>
          </a:p>
        </p:txBody>
      </p:sp>
      <p:sp>
        <p:nvSpPr>
          <p:cNvPr id="14" name="TextBox 13"/>
          <p:cNvSpPr txBox="1"/>
          <p:nvPr/>
        </p:nvSpPr>
        <p:spPr>
          <a:xfrm>
            <a:off x="5952744" y="4681727"/>
            <a:ext cx="2468880" cy="512064"/>
          </a:xfrm>
          <a:prstGeom prst="rect">
            <a:avLst/>
          </a:prstGeom>
          <a:noFill/>
        </p:spPr>
        <p:txBody>
          <a:bodyPr wrap="square">
            <a:spAutoFit/>
          </a:bodyPr>
          <a:lstStyle/>
          <a:p>
            <a:pPr algn="ctr">
              <a:defRPr sz="1050" b="1">
                <a:solidFill>
                  <a:srgbClr val="9B3525"/>
                </a:solidFill>
                <a:latin typeface="Times New Roman"/>
              </a:defRPr>
            </a:pPr>
            <a:r>
              <a:rPr sz="1050" b="1">
                <a:solidFill>
                  <a:srgbClr val="9B3525"/>
                </a:solidFill>
                <a:latin typeface="Times New Roman"/>
              </a:rPr>
              <a:t>0.61</a:t>
            </a:r>
            <a:br/>
            <a:r>
              <a:rPr sz="1050" b="1">
                <a:solidFill>
                  <a:srgbClr val="9B3525"/>
                </a:solidFill>
                <a:latin typeface="Times New Roman"/>
              </a:rPr>
              <a:t>cutoff learned on BRSET</a:t>
            </a:r>
          </a:p>
        </p:txBody>
      </p:sp>
      <p:sp>
        <p:nvSpPr>
          <p:cNvPr id="15" name="TextBox 14"/>
          <p:cNvSpPr txBox="1"/>
          <p:nvPr/>
        </p:nvSpPr>
        <p:spPr>
          <a:xfrm>
            <a:off x="1051560" y="3840479"/>
            <a:ext cx="1280160" cy="310896"/>
          </a:xfrm>
          <a:prstGeom prst="rect">
            <a:avLst/>
          </a:prstGeom>
          <a:noFill/>
        </p:spPr>
        <p:txBody>
          <a:bodyPr wrap="square">
            <a:spAutoFit/>
          </a:bodyPr>
          <a:lstStyle/>
          <a:p>
            <a:pPr algn="l">
              <a:defRPr sz="1000" b="0">
                <a:solidFill>
                  <a:srgbClr val="5F5F5F"/>
                </a:solidFill>
                <a:latin typeface="Times New Roman"/>
              </a:defRPr>
            </a:pPr>
            <a:r>
              <a:rPr sz="1000" b="0">
                <a:solidFill>
                  <a:srgbClr val="5F5F5F"/>
                </a:solidFill>
                <a:latin typeface="Times New Roman"/>
              </a:rPr>
              <a:t>score 0</a:t>
            </a:r>
          </a:p>
        </p:txBody>
      </p:sp>
      <p:sp>
        <p:nvSpPr>
          <p:cNvPr id="16" name="TextBox 15"/>
          <p:cNvSpPr txBox="1"/>
          <p:nvPr/>
        </p:nvSpPr>
        <p:spPr>
          <a:xfrm>
            <a:off x="9829800" y="3840479"/>
            <a:ext cx="1280160" cy="310896"/>
          </a:xfrm>
          <a:prstGeom prst="rect">
            <a:avLst/>
          </a:prstGeom>
          <a:noFill/>
        </p:spPr>
        <p:txBody>
          <a:bodyPr wrap="square">
            <a:spAutoFit/>
          </a:bodyPr>
          <a:lstStyle/>
          <a:p>
            <a:pPr algn="r">
              <a:defRPr sz="1000" b="0">
                <a:solidFill>
                  <a:srgbClr val="5F5F5F"/>
                </a:solidFill>
                <a:latin typeface="Times New Roman"/>
              </a:defRPr>
            </a:pPr>
            <a:r>
              <a:rPr sz="1000" b="0">
                <a:solidFill>
                  <a:srgbClr val="5F5F5F"/>
                </a:solidFill>
                <a:latin typeface="Times New Roman"/>
              </a:rPr>
              <a:t>score 1</a:t>
            </a:r>
          </a:p>
        </p:txBody>
      </p:sp>
      <p:sp>
        <p:nvSpPr>
          <p:cNvPr id="17" name="TextBox 16"/>
          <p:cNvSpPr txBox="1"/>
          <p:nvPr/>
        </p:nvSpPr>
        <p:spPr>
          <a:xfrm>
            <a:off x="594360" y="5358384"/>
            <a:ext cx="11064240" cy="548640"/>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BRSET is a clinic where 1 patient in 15 has diabetic retinopathy, so the model learned a strict cutoff of 0.61. mBRSET is a screening campaign where 1 in 4 does. Lowering the cutoff to 0.19, with no retraining, recovers 44 of those 79 patients.</a:t>
            </a:r>
          </a:p>
        </p:txBody>
      </p:sp>
      <p:sp>
        <p:nvSpPr>
          <p:cNvPr id="18" name="TextBox 17"/>
          <p:cNvSpPr txBox="1"/>
          <p:nvPr/>
        </p:nvSpPr>
        <p:spPr>
          <a:xfrm>
            <a:off x="594360" y="5989320"/>
            <a:ext cx="11064240" cy="640080"/>
          </a:xfrm>
          <a:prstGeom prst="rect">
            <a:avLst/>
          </a:prstGeom>
          <a:noFill/>
        </p:spPr>
        <p:txBody>
          <a:bodyPr wrap="square">
            <a:spAutoFit/>
          </a:bodyPr>
          <a:lstStyle/>
          <a:p>
            <a:pPr>
              <a:defRPr sz="1350" b="1">
                <a:solidFill>
                  <a:srgbClr val="1F4E79"/>
                </a:solidFill>
                <a:latin typeface="Times New Roman"/>
              </a:defRPr>
            </a:pPr>
            <a:r>
              <a:rPr sz="1350" b="1">
                <a:solidFill>
                  <a:srgbClr val="1F4E79"/>
                </a:solidFill>
                <a:latin typeface="Times New Roman"/>
              </a:rPr>
              <a:t>The model still ranks patients well. It is the decision cutoff that moved. Measured with the earlier two-model ensemble, not yet re-run with the new Part 1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2: what the remaining gap is made of</a:t>
            </a:r>
          </a:p>
          <a:p>
            <a:pPr>
              <a:defRPr sz="1250" b="0">
                <a:solidFill>
                  <a:srgbClr val="5F5F5F"/>
                </a:solidFill>
                <a:latin typeface="Times New Roman"/>
              </a:defRPr>
            </a:pPr>
            <a:r>
              <a:rPr sz="1250" b="0">
                <a:solidFill>
                  <a:srgbClr val="5F5F5F"/>
                </a:solidFill>
                <a:latin typeface="Times New Roman"/>
              </a:rPr>
              <a:t>Diabetic retinopathy, F1 on mBRSET. The transferred model scores 0.661. A model trained directly on mBRSET scores 0.815. Every value measured on my own data.</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1560" y="2761488"/>
            <a:ext cx="3657599" cy="566928"/>
          </a:xfrm>
          <a:prstGeom prst="rect">
            <a:avLst/>
          </a:prstGeom>
          <a:solidFill>
            <a:srgbClr val="1F4E7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Times New Roman"/>
              </a:defRPr>
            </a:pPr>
            <a:r>
              <a:rPr sz="1500" b="1">
                <a:solidFill>
                  <a:srgbClr val="FFFFFF"/>
                </a:solidFill>
                <a:latin typeface="Times New Roman"/>
              </a:rPr>
              <a:t>+0.056</a:t>
            </a:r>
          </a:p>
        </p:txBody>
      </p:sp>
      <p:sp>
        <p:nvSpPr>
          <p:cNvPr id="5" name="TextBox 4"/>
          <p:cNvSpPr txBox="1"/>
          <p:nvPr/>
        </p:nvSpPr>
        <p:spPr>
          <a:xfrm>
            <a:off x="1051560" y="3438144"/>
            <a:ext cx="3657599" cy="640080"/>
          </a:xfrm>
          <a:prstGeom prst="rect">
            <a:avLst/>
          </a:prstGeom>
          <a:noFill/>
        </p:spPr>
        <p:txBody>
          <a:bodyPr wrap="square">
            <a:spAutoFit/>
          </a:bodyPr>
          <a:lstStyle/>
          <a:p>
            <a:pPr algn="ctr">
              <a:defRPr sz="1100" b="0">
                <a:solidFill>
                  <a:srgbClr val="1A1A1A"/>
                </a:solidFill>
                <a:latin typeface="Times New Roman"/>
              </a:defRPr>
            </a:pPr>
            <a:r>
              <a:rPr sz="1100" b="0">
                <a:solidFill>
                  <a:srgbClr val="1A1A1A"/>
                </a:solidFill>
                <a:latin typeface="Times New Roman"/>
              </a:rPr>
              <a:t>Recovered by retuning</a:t>
            </a:r>
            <a:br/>
            <a:r>
              <a:rPr sz="1100" b="0">
                <a:solidFill>
                  <a:srgbClr val="1A1A1A"/>
                </a:solidFill>
                <a:latin typeface="Times New Roman"/>
              </a:rPr>
              <a:t>the cutoff</a:t>
            </a:r>
          </a:p>
        </p:txBody>
      </p:sp>
      <p:sp>
        <p:nvSpPr>
          <p:cNvPr id="6" name="Rectangle 5"/>
          <p:cNvSpPr/>
          <p:nvPr/>
        </p:nvSpPr>
        <p:spPr>
          <a:xfrm>
            <a:off x="4709159" y="2761488"/>
            <a:ext cx="3004457" cy="566928"/>
          </a:xfrm>
          <a:prstGeom prst="rect">
            <a:avLst/>
          </a:prstGeom>
          <a:solidFill>
            <a:srgbClr val="A8C0D8"/>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A1A1A"/>
                </a:solidFill>
                <a:latin typeface="Times New Roman"/>
              </a:defRPr>
            </a:pPr>
            <a:r>
              <a:rPr sz="1500" b="1">
                <a:solidFill>
                  <a:srgbClr val="1A1A1A"/>
                </a:solidFill>
                <a:latin typeface="Times New Roman"/>
              </a:rPr>
              <a:t>+0.046</a:t>
            </a:r>
          </a:p>
        </p:txBody>
      </p:sp>
      <p:sp>
        <p:nvSpPr>
          <p:cNvPr id="7" name="TextBox 6"/>
          <p:cNvSpPr txBox="1"/>
          <p:nvPr/>
        </p:nvSpPr>
        <p:spPr>
          <a:xfrm>
            <a:off x="4709159" y="3438144"/>
            <a:ext cx="3004457" cy="640080"/>
          </a:xfrm>
          <a:prstGeom prst="rect">
            <a:avLst/>
          </a:prstGeom>
          <a:noFill/>
        </p:spPr>
        <p:txBody>
          <a:bodyPr wrap="square">
            <a:spAutoFit/>
          </a:bodyPr>
          <a:lstStyle/>
          <a:p>
            <a:pPr algn="ctr">
              <a:defRPr sz="1100" b="0">
                <a:solidFill>
                  <a:srgbClr val="1A1A1A"/>
                </a:solidFill>
                <a:latin typeface="Times New Roman"/>
              </a:defRPr>
            </a:pPr>
            <a:r>
              <a:rPr sz="1100" b="0">
                <a:solidFill>
                  <a:srgbClr val="1A1A1A"/>
                </a:solidFill>
                <a:latin typeface="Times New Roman"/>
              </a:rPr>
              <a:t>Still reachable by a cutoff,</a:t>
            </a:r>
            <a:br/>
            <a:r>
              <a:rPr sz="1100" b="0">
                <a:solidFill>
                  <a:srgbClr val="1A1A1A"/>
                </a:solidFill>
                <a:latin typeface="Times New Roman"/>
              </a:rPr>
              <a:t>but not findable without</a:t>
            </a:r>
            <a:br/>
            <a:r>
              <a:rPr sz="1100" b="0">
                <a:solidFill>
                  <a:srgbClr val="1A1A1A"/>
                </a:solidFill>
                <a:latin typeface="Times New Roman"/>
              </a:rPr>
              <a:t>target labels</a:t>
            </a:r>
          </a:p>
        </p:txBody>
      </p:sp>
      <p:sp>
        <p:nvSpPr>
          <p:cNvPr id="8" name="Rectangle 7"/>
          <p:cNvSpPr/>
          <p:nvPr/>
        </p:nvSpPr>
        <p:spPr>
          <a:xfrm>
            <a:off x="7713617" y="2761488"/>
            <a:ext cx="3396342" cy="566928"/>
          </a:xfrm>
          <a:prstGeom prst="rect">
            <a:avLst/>
          </a:prstGeom>
          <a:solidFill>
            <a:srgbClr val="9B453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Times New Roman"/>
              </a:defRPr>
            </a:pPr>
            <a:r>
              <a:rPr sz="1500" b="1">
                <a:solidFill>
                  <a:srgbClr val="FFFFFF"/>
                </a:solidFill>
                <a:latin typeface="Times New Roman"/>
              </a:rPr>
              <a:t>+0.052</a:t>
            </a:r>
          </a:p>
        </p:txBody>
      </p:sp>
      <p:sp>
        <p:nvSpPr>
          <p:cNvPr id="9" name="TextBox 8"/>
          <p:cNvSpPr txBox="1"/>
          <p:nvPr/>
        </p:nvSpPr>
        <p:spPr>
          <a:xfrm>
            <a:off x="7713617" y="3438144"/>
            <a:ext cx="3396342" cy="640080"/>
          </a:xfrm>
          <a:prstGeom prst="rect">
            <a:avLst/>
          </a:prstGeom>
          <a:noFill/>
        </p:spPr>
        <p:txBody>
          <a:bodyPr wrap="square">
            <a:spAutoFit/>
          </a:bodyPr>
          <a:lstStyle/>
          <a:p>
            <a:pPr algn="ctr">
              <a:defRPr sz="1100" b="0">
                <a:solidFill>
                  <a:srgbClr val="1A1A1A"/>
                </a:solidFill>
                <a:latin typeface="Times New Roman"/>
              </a:defRPr>
            </a:pPr>
            <a:r>
              <a:rPr sz="1100" b="0">
                <a:solidFill>
                  <a:srgbClr val="1A1A1A"/>
                </a:solidFill>
                <a:latin typeface="Times New Roman"/>
              </a:rPr>
              <a:t>No cutoff reaches this.</a:t>
            </a:r>
            <a:br/>
            <a:r>
              <a:rPr sz="1100" b="0">
                <a:solidFill>
                  <a:srgbClr val="1A1A1A"/>
                </a:solidFill>
                <a:latin typeface="Times New Roman"/>
              </a:rPr>
              <a:t>Requires better features</a:t>
            </a:r>
          </a:p>
        </p:txBody>
      </p:sp>
      <p:sp>
        <p:nvSpPr>
          <p:cNvPr id="10" name="TextBox 9"/>
          <p:cNvSpPr txBox="1"/>
          <p:nvPr/>
        </p:nvSpPr>
        <p:spPr>
          <a:xfrm>
            <a:off x="137159" y="1572768"/>
            <a:ext cx="1828800" cy="548640"/>
          </a:xfrm>
          <a:prstGeom prst="rect">
            <a:avLst/>
          </a:prstGeom>
          <a:noFill/>
        </p:spPr>
        <p:txBody>
          <a:bodyPr wrap="square">
            <a:spAutoFit/>
          </a:bodyPr>
          <a:lstStyle/>
          <a:p>
            <a:pPr algn="ctr">
              <a:defRPr sz="1150" b="1">
                <a:solidFill>
                  <a:srgbClr val="1F4E79"/>
                </a:solidFill>
                <a:latin typeface="Times New Roman"/>
              </a:defRPr>
            </a:pPr>
            <a:r>
              <a:rPr sz="1150" b="1">
                <a:solidFill>
                  <a:srgbClr val="1F4E79"/>
                </a:solidFill>
                <a:latin typeface="Times New Roman"/>
              </a:rPr>
              <a:t>0.661</a:t>
            </a:r>
            <a:br/>
            <a:r>
              <a:rPr sz="1150" b="1">
                <a:solidFill>
                  <a:srgbClr val="1F4E79"/>
                </a:solidFill>
                <a:latin typeface="Times New Roman"/>
              </a:rPr>
              <a:t>transferred as is</a:t>
            </a:r>
          </a:p>
        </p:txBody>
      </p:sp>
      <p:sp>
        <p:nvSpPr>
          <p:cNvPr id="11" name="Rectangle 10"/>
          <p:cNvSpPr/>
          <p:nvPr/>
        </p:nvSpPr>
        <p:spPr>
          <a:xfrm>
            <a:off x="1046073" y="2157984"/>
            <a:ext cx="10972" cy="603504"/>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1A1A1A"/>
                </a:solidFill>
                <a:latin typeface="Times New Roman"/>
              </a:defRPr>
            </a:pPr>
          </a:p>
        </p:txBody>
      </p:sp>
      <p:sp>
        <p:nvSpPr>
          <p:cNvPr id="12" name="TextBox 11"/>
          <p:cNvSpPr txBox="1"/>
          <p:nvPr/>
        </p:nvSpPr>
        <p:spPr>
          <a:xfrm>
            <a:off x="3794759" y="1572768"/>
            <a:ext cx="1828800" cy="548640"/>
          </a:xfrm>
          <a:prstGeom prst="rect">
            <a:avLst/>
          </a:prstGeom>
          <a:noFill/>
        </p:spPr>
        <p:txBody>
          <a:bodyPr wrap="square">
            <a:spAutoFit/>
          </a:bodyPr>
          <a:lstStyle/>
          <a:p>
            <a:pPr algn="ctr">
              <a:defRPr sz="1150" b="1">
                <a:solidFill>
                  <a:srgbClr val="1F4E79"/>
                </a:solidFill>
                <a:latin typeface="Times New Roman"/>
              </a:defRPr>
            </a:pPr>
            <a:r>
              <a:rPr sz="1150" b="1">
                <a:solidFill>
                  <a:srgbClr val="1F4E79"/>
                </a:solidFill>
                <a:latin typeface="Times New Roman"/>
              </a:rPr>
              <a:t>0.717</a:t>
            </a:r>
            <a:br/>
            <a:r>
              <a:rPr sz="1150" b="1">
                <a:solidFill>
                  <a:srgbClr val="1F4E79"/>
                </a:solidFill>
                <a:latin typeface="Times New Roman"/>
              </a:rPr>
              <a:t>after retuning</a:t>
            </a:r>
          </a:p>
        </p:txBody>
      </p:sp>
      <p:sp>
        <p:nvSpPr>
          <p:cNvPr id="13" name="Rectangle 12"/>
          <p:cNvSpPr/>
          <p:nvPr/>
        </p:nvSpPr>
        <p:spPr>
          <a:xfrm>
            <a:off x="4703673" y="2157984"/>
            <a:ext cx="10972" cy="603504"/>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1A1A1A"/>
                </a:solidFill>
                <a:latin typeface="Times New Roman"/>
              </a:defRPr>
            </a:pPr>
          </a:p>
        </p:txBody>
      </p:sp>
      <p:sp>
        <p:nvSpPr>
          <p:cNvPr id="14" name="TextBox 13"/>
          <p:cNvSpPr txBox="1"/>
          <p:nvPr/>
        </p:nvSpPr>
        <p:spPr>
          <a:xfrm>
            <a:off x="6799217" y="1572768"/>
            <a:ext cx="1828800" cy="548640"/>
          </a:xfrm>
          <a:prstGeom prst="rect">
            <a:avLst/>
          </a:prstGeom>
          <a:noFill/>
        </p:spPr>
        <p:txBody>
          <a:bodyPr wrap="square">
            <a:spAutoFit/>
          </a:bodyPr>
          <a:lstStyle/>
          <a:p>
            <a:pPr algn="ctr">
              <a:defRPr sz="1150" b="1">
                <a:solidFill>
                  <a:srgbClr val="1F4E79"/>
                </a:solidFill>
                <a:latin typeface="Times New Roman"/>
              </a:defRPr>
            </a:pPr>
            <a:r>
              <a:rPr sz="1150" b="1">
                <a:solidFill>
                  <a:srgbClr val="1F4E79"/>
                </a:solidFill>
                <a:latin typeface="Times New Roman"/>
              </a:rPr>
              <a:t>0.763</a:t>
            </a:r>
            <a:br/>
            <a:r>
              <a:rPr sz="1150" b="1">
                <a:solidFill>
                  <a:srgbClr val="1F4E79"/>
                </a:solidFill>
                <a:latin typeface="Times New Roman"/>
              </a:rPr>
              <a:t>best at any cutoff</a:t>
            </a:r>
          </a:p>
        </p:txBody>
      </p:sp>
      <p:sp>
        <p:nvSpPr>
          <p:cNvPr id="15" name="Rectangle 14"/>
          <p:cNvSpPr/>
          <p:nvPr/>
        </p:nvSpPr>
        <p:spPr>
          <a:xfrm>
            <a:off x="7708130" y="2157984"/>
            <a:ext cx="10972" cy="603504"/>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1A1A1A"/>
                </a:solidFill>
                <a:latin typeface="Times New Roman"/>
              </a:defRPr>
            </a:pPr>
          </a:p>
        </p:txBody>
      </p:sp>
      <p:sp>
        <p:nvSpPr>
          <p:cNvPr id="16" name="TextBox 15"/>
          <p:cNvSpPr txBox="1"/>
          <p:nvPr/>
        </p:nvSpPr>
        <p:spPr>
          <a:xfrm>
            <a:off x="10195560" y="1572768"/>
            <a:ext cx="1828800" cy="548640"/>
          </a:xfrm>
          <a:prstGeom prst="rect">
            <a:avLst/>
          </a:prstGeom>
          <a:noFill/>
        </p:spPr>
        <p:txBody>
          <a:bodyPr wrap="square">
            <a:spAutoFit/>
          </a:bodyPr>
          <a:lstStyle/>
          <a:p>
            <a:pPr algn="ctr">
              <a:defRPr sz="1150" b="1">
                <a:solidFill>
                  <a:srgbClr val="1F4E79"/>
                </a:solidFill>
                <a:latin typeface="Times New Roman"/>
              </a:defRPr>
            </a:pPr>
            <a:r>
              <a:rPr sz="1150" b="1">
                <a:solidFill>
                  <a:srgbClr val="1F4E79"/>
                </a:solidFill>
                <a:latin typeface="Times New Roman"/>
              </a:rPr>
              <a:t>0.815</a:t>
            </a:r>
            <a:br/>
            <a:r>
              <a:rPr sz="1150" b="1">
                <a:solidFill>
                  <a:srgbClr val="1F4E79"/>
                </a:solidFill>
                <a:latin typeface="Times New Roman"/>
              </a:rPr>
              <a:t>trained on mBRSET</a:t>
            </a:r>
          </a:p>
        </p:txBody>
      </p:sp>
      <p:sp>
        <p:nvSpPr>
          <p:cNvPr id="17" name="Rectangle 16"/>
          <p:cNvSpPr/>
          <p:nvPr/>
        </p:nvSpPr>
        <p:spPr>
          <a:xfrm>
            <a:off x="11104473" y="2157984"/>
            <a:ext cx="10972" cy="603504"/>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1A1A1A"/>
                </a:solidFill>
                <a:latin typeface="Times New Roman"/>
              </a:defRPr>
            </a:pPr>
          </a:p>
        </p:txBody>
      </p:sp>
      <p:sp>
        <p:nvSpPr>
          <p:cNvPr id="18" name="Rectangle 17"/>
          <p:cNvSpPr/>
          <p:nvPr/>
        </p:nvSpPr>
        <p:spPr>
          <a:xfrm>
            <a:off x="1051560" y="4133087"/>
            <a:ext cx="6662057" cy="457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FFFFFF"/>
                </a:solidFill>
                <a:latin typeface="Times New Roman"/>
              </a:defRPr>
            </a:pPr>
          </a:p>
        </p:txBody>
      </p:sp>
      <p:sp>
        <p:nvSpPr>
          <p:cNvPr id="19" name="TextBox 18"/>
          <p:cNvSpPr txBox="1"/>
          <p:nvPr/>
        </p:nvSpPr>
        <p:spPr>
          <a:xfrm>
            <a:off x="1051560" y="4206240"/>
            <a:ext cx="6662057" cy="310896"/>
          </a:xfrm>
          <a:prstGeom prst="rect">
            <a:avLst/>
          </a:prstGeom>
          <a:noFill/>
        </p:spPr>
        <p:txBody>
          <a:bodyPr wrap="square">
            <a:spAutoFit/>
          </a:bodyPr>
          <a:lstStyle/>
          <a:p>
            <a:pPr algn="ctr">
              <a:defRPr sz="1150" b="1">
                <a:solidFill>
                  <a:srgbClr val="1F4E79"/>
                </a:solidFill>
                <a:latin typeface="Times New Roman"/>
              </a:defRPr>
            </a:pPr>
            <a:r>
              <a:rPr sz="1150" b="1">
                <a:solidFill>
                  <a:srgbClr val="1F4E79"/>
                </a:solidFill>
                <a:latin typeface="Times New Roman"/>
              </a:rPr>
              <a:t>Decision problem:  0.102 of the gap,  66 percent</a:t>
            </a:r>
          </a:p>
        </p:txBody>
      </p:sp>
      <p:sp>
        <p:nvSpPr>
          <p:cNvPr id="20" name="Rectangle 19"/>
          <p:cNvSpPr/>
          <p:nvPr/>
        </p:nvSpPr>
        <p:spPr>
          <a:xfrm>
            <a:off x="7713617" y="4133087"/>
            <a:ext cx="3396342" cy="45720"/>
          </a:xfrm>
          <a:prstGeom prst="rect">
            <a:avLst/>
          </a:prstGeom>
          <a:solidFill>
            <a:srgbClr val="9B45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FFFFFF"/>
                </a:solidFill>
                <a:latin typeface="Times New Roman"/>
              </a:defRPr>
            </a:pPr>
          </a:p>
        </p:txBody>
      </p:sp>
      <p:sp>
        <p:nvSpPr>
          <p:cNvPr id="21" name="TextBox 20"/>
          <p:cNvSpPr txBox="1"/>
          <p:nvPr/>
        </p:nvSpPr>
        <p:spPr>
          <a:xfrm>
            <a:off x="7713617" y="4206240"/>
            <a:ext cx="3396342" cy="310896"/>
          </a:xfrm>
          <a:prstGeom prst="rect">
            <a:avLst/>
          </a:prstGeom>
          <a:noFill/>
        </p:spPr>
        <p:txBody>
          <a:bodyPr wrap="square">
            <a:spAutoFit/>
          </a:bodyPr>
          <a:lstStyle/>
          <a:p>
            <a:pPr algn="ctr">
              <a:defRPr sz="1150" b="1">
                <a:solidFill>
                  <a:srgbClr val="9B4535"/>
                </a:solidFill>
                <a:latin typeface="Times New Roman"/>
              </a:defRPr>
            </a:pPr>
            <a:r>
              <a:rPr sz="1150" b="1">
                <a:solidFill>
                  <a:srgbClr val="9B4535"/>
                </a:solidFill>
                <a:latin typeface="Times New Roman"/>
              </a:rPr>
              <a:t>Feature problem:  0.052,  34 percent</a:t>
            </a:r>
          </a:p>
        </p:txBody>
      </p:sp>
      <p:sp>
        <p:nvSpPr>
          <p:cNvPr id="22" name="TextBox 21"/>
          <p:cNvSpPr txBox="1"/>
          <p:nvPr/>
        </p:nvSpPr>
        <p:spPr>
          <a:xfrm>
            <a:off x="594360" y="4736592"/>
            <a:ext cx="539496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Why 0.763 is a hard ceiling</a:t>
            </a:r>
          </a:p>
        </p:txBody>
      </p:sp>
      <p:sp>
        <p:nvSpPr>
          <p:cNvPr id="23" name="TextBox 22"/>
          <p:cNvSpPr txBox="1"/>
          <p:nvPr/>
        </p:nvSpPr>
        <p:spPr>
          <a:xfrm>
            <a:off x="594360" y="5029200"/>
            <a:ext cx="5394960" cy="1051560"/>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I swept every cutoff from 0.01 to 0.99. The best F1 attainable is 0.763. Calibration, temperature scaling and label-shift correction only rescale scores, so each picks a point on this same curve. None of them can pass 0.763, which rules out that whole family.</a:t>
            </a:r>
          </a:p>
        </p:txBody>
      </p:sp>
      <p:sp>
        <p:nvSpPr>
          <p:cNvPr id="24" name="TextBox 23"/>
          <p:cNvSpPr txBox="1"/>
          <p:nvPr/>
        </p:nvSpPr>
        <p:spPr>
          <a:xfrm>
            <a:off x="6400800" y="4736592"/>
            <a:ext cx="525780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Why this is not only a prevalence change</a:t>
            </a:r>
          </a:p>
        </p:txBody>
      </p:sp>
      <p:sp>
        <p:nvSpPr>
          <p:cNvPr id="25" name="TextBox 24"/>
          <p:cNvSpPr txBox="1"/>
          <p:nvPr/>
        </p:nvSpPr>
        <p:spPr>
          <a:xfrm>
            <a:off x="6400800" y="5029200"/>
            <a:ext cx="5257800" cy="1051560"/>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ROC is invariant to how many patients are diseased (Fawcett 2006). If only the disease rate had changed, AUC would have held steady. It fell from 0.988 to 0.909, so the images themselves differ. The handheld camera changed what the model sees.</a:t>
            </a:r>
          </a:p>
        </p:txBody>
      </p:sp>
      <p:sp>
        <p:nvSpPr>
          <p:cNvPr id="26" name="TextBox 25"/>
          <p:cNvSpPr txBox="1"/>
          <p:nvPr/>
        </p:nvSpPr>
        <p:spPr>
          <a:xfrm>
            <a:off x="594360" y="6126480"/>
            <a:ext cx="11064240" cy="640080"/>
          </a:xfrm>
          <a:prstGeom prst="rect">
            <a:avLst/>
          </a:prstGeom>
          <a:noFill/>
        </p:spPr>
        <p:txBody>
          <a:bodyPr wrap="square">
            <a:spAutoFit/>
          </a:bodyPr>
          <a:lstStyle/>
          <a:p>
            <a:pPr>
              <a:defRPr sz="1350" b="1">
                <a:solidFill>
                  <a:srgbClr val="1F4E79"/>
                </a:solidFill>
                <a:latin typeface="Times New Roman"/>
              </a:defRPr>
            </a:pPr>
            <a:r>
              <a:rPr sz="1350" b="1">
                <a:solidFill>
                  <a:srgbClr val="1F4E79"/>
                </a:solidFill>
                <a:latin typeface="Times New Roman"/>
              </a:rPr>
              <a:t>Two thirds of the gap is a decision problem and one third is a feature problem. Most cross-device papers report a single number and blame the model. This split is computable.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2: what the published literature establishes</a:t>
            </a:r>
          </a:p>
          <a:p>
            <a:pPr>
              <a:defRPr sz="1250" b="0">
                <a:solidFill>
                  <a:srgbClr val="5F5F5F"/>
                </a:solidFill>
                <a:latin typeface="Times New Roman"/>
              </a:defRPr>
            </a:pPr>
            <a:r>
              <a:rPr sz="1250" b="0">
                <a:solidFill>
                  <a:srgbClr val="5F5F5F"/>
                </a:solidFill>
                <a:latin typeface="Times New Roman"/>
              </a:rPr>
              <a:t>Peer-reviewed versions only, never the preprint. Citation counts from Semantic Scholar, 7 August 2026. Paper names are live links.</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94360" y="1481328"/>
          <a:ext cx="11064238" cy="3200400"/>
        </p:xfrm>
        <a:graphic>
          <a:graphicData uri="http://schemas.openxmlformats.org/drawingml/2006/table">
            <a:tbl>
              <a:tblPr firstRow="1" bandRow="1">
                <a:tableStyleId>{5C22544A-7EE6-4342-B048-85BDC9FD1C3A}</a:tableStyleId>
              </a:tblPr>
              <a:tblGrid>
                <a:gridCol w="922020"/>
                <a:gridCol w="5327226"/>
                <a:gridCol w="2048933"/>
                <a:gridCol w="2048933"/>
                <a:gridCol w="717126"/>
              </a:tblGrid>
              <a:tr h="457200">
                <a:tc>
                  <a:txBody>
                    <a:bodyPr/>
                    <a:lstStyle/>
                    <a:p>
                      <a:pPr algn="l">
                        <a:defRPr sz="1050" b="1">
                          <a:solidFill>
                            <a:srgbClr val="FFFFFF"/>
                          </a:solidFill>
                          <a:latin typeface="Times New Roman"/>
                        </a:defRPr>
                      </a:pPr>
                      <a:r>
                        <a:rPr sz="1050" b="1">
                          <a:solidFill>
                            <a:srgbClr val="FFFFFF"/>
                          </a:solidFill>
                          <a:latin typeface="Times New Roman"/>
                        </a:rPr>
                        <a:t>Evidence</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Finding</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Paper</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Venue</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Cites</a:t>
                      </a:r>
                    </a:p>
                  </a:txBody>
                  <a:tcPr marL="73152" marR="73152" marT="27432" marB="27432" anchor="ctr">
                    <a:solidFill>
                      <a:srgbClr val="1F4E79"/>
                    </a:solidFill>
                  </a:tcPr>
                </a:tc>
              </a:tr>
              <a:tr h="457200">
                <a:tc>
                  <a:txBody>
                    <a:bodyPr/>
                    <a:lstStyle/>
                    <a:p>
                      <a:pPr algn="l">
                        <a:defRPr sz="1050" b="1">
                          <a:solidFill>
                            <a:srgbClr val="1E6B3C"/>
                          </a:solidFill>
                          <a:latin typeface="Times New Roman"/>
                        </a:defRPr>
                      </a:pPr>
                      <a:r>
                        <a:rPr sz="1050" b="1">
                          <a:solidFill>
                            <a:srgbClr val="1E6B3C"/>
                          </a:solidFill>
                          <a:latin typeface="Times New Roman"/>
                        </a:rPr>
                        <a:t>Supports</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Appearance augmentation beat every adaptation</a:t>
                      </a:r>
                    </a:p>
                    <a:p>
                      <a:pPr algn="ctr">
                        <a:defRPr sz="1050" b="0">
                          <a:solidFill>
                            <a:srgbClr val="1A1A1A"/>
                          </a:solidFill>
                          <a:latin typeface="Times New Roman"/>
                        </a:defRPr>
                      </a:pPr>
                      <a:r>
                        <a:rPr sz="1050" b="0">
                          <a:solidFill>
                            <a:srgbClr val="1A1A1A"/>
                          </a:solidFill>
                          <a:latin typeface="Times New Roman"/>
                        </a:rPr>
                        <a:t>method tested for cross-scanner shift</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hlinkClick r:id="rId2"/>
                        </a:rPr>
                        <a:t>Tellez et al.</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Medical Image</a:t>
                      </a:r>
                    </a:p>
                    <a:p>
                      <a:pPr algn="ctr">
                        <a:defRPr sz="1050" b="0">
                          <a:solidFill>
                            <a:srgbClr val="1A1A1A"/>
                          </a:solidFill>
                          <a:latin typeface="Times New Roman"/>
                        </a:defRPr>
                      </a:pPr>
                      <a:r>
                        <a:rPr sz="1050" b="0">
                          <a:solidFill>
                            <a:srgbClr val="1A1A1A"/>
                          </a:solidFill>
                          <a:latin typeface="Times New Roman"/>
                        </a:rPr>
                        <a:t>Analysis 2019</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656</a:t>
                      </a:r>
                    </a:p>
                  </a:txBody>
                  <a:tcPr marL="73152" marR="73152" marT="27432" marB="27432" anchor="ctr">
                    <a:solidFill>
                      <a:srgbClr val="FFFFFF"/>
                    </a:solidFill>
                  </a:tcPr>
                </a:tc>
              </a:tr>
              <a:tr h="457200">
                <a:tc>
                  <a:txBody>
                    <a:bodyPr/>
                    <a:lstStyle/>
                    <a:p>
                      <a:pPr algn="l">
                        <a:defRPr sz="1050" b="1">
                          <a:solidFill>
                            <a:srgbClr val="1E6B3C"/>
                          </a:solidFill>
                          <a:latin typeface="Times New Roman"/>
                        </a:defRPr>
                      </a:pPr>
                      <a:r>
                        <a:rPr sz="1050" b="1">
                          <a:solidFill>
                            <a:srgbClr val="1E6B3C"/>
                          </a:solidFill>
                          <a:latin typeface="Times New Roman"/>
                        </a:rPr>
                        <a:t>Supports</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Fundus DR over six datasets, AUC 75.9 to 82.6.</a:t>
                      </a:r>
                    </a:p>
                    <a:p>
                      <a:pPr algn="ctr">
                        <a:defRPr sz="1050" b="0">
                          <a:solidFill>
                            <a:srgbClr val="1A1A1A"/>
                          </a:solidFill>
                          <a:latin typeface="Times New Roman"/>
                        </a:defRPr>
                      </a:pPr>
                      <a:r>
                        <a:rPr sz="1050" b="0">
                          <a:solidFill>
                            <a:srgbClr val="1A1A1A"/>
                          </a:solidFill>
                          <a:latin typeface="Times New Roman"/>
                        </a:rPr>
                        <a:t>Augmentation alone contributes 3.4</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hlinkClick r:id="rId3"/>
                        </a:rPr>
                        <a:t>Che et al.</a:t>
                      </a:r>
                    </a:p>
                    <a:p>
                      <a:pPr algn="ctr">
                        <a:defRPr sz="1050" b="0">
                          <a:solidFill>
                            <a:srgbClr val="1A1A1A"/>
                          </a:solidFill>
                          <a:latin typeface="Times New Roman"/>
                        </a:defRPr>
                      </a:pPr>
                      <a:r>
                        <a:rPr sz="1050" b="0">
                          <a:solidFill>
                            <a:srgbClr val="1A1A1A"/>
                          </a:solidFill>
                          <a:latin typeface="Times New Roman"/>
                          <a:hlinkClick r:id="rId3"/>
                        </a:rPr>
                        <a:t>(GDRNet)</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MICCAI 2023</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46</a:t>
                      </a:r>
                    </a:p>
                  </a:txBody>
                  <a:tcPr marL="73152" marR="73152" marT="27432" marB="27432" anchor="ctr">
                    <a:solidFill>
                      <a:srgbClr val="F2F4F7"/>
                    </a:solidFill>
                  </a:tcPr>
                </a:tc>
              </a:tr>
              <a:tr h="457200">
                <a:tc>
                  <a:txBody>
                    <a:bodyPr/>
                    <a:lstStyle/>
                    <a:p>
                      <a:pPr algn="l">
                        <a:defRPr sz="1050" b="1">
                          <a:solidFill>
                            <a:srgbClr val="9B3525"/>
                          </a:solidFill>
                          <a:latin typeface="Times New Roman"/>
                        </a:defRPr>
                      </a:pPr>
                      <a:r>
                        <a:rPr sz="1050" b="1">
                          <a:solidFill>
                            <a:srgbClr val="9B3525"/>
                          </a:solidFill>
                          <a:latin typeface="Times New Roman"/>
                        </a:rPr>
                        <a:t>Fails</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DANN, MDD and CycleGAN all collapse on real</a:t>
                      </a:r>
                    </a:p>
                    <a:p>
                      <a:pPr algn="ctr">
                        <a:defRPr sz="1050" b="0">
                          <a:solidFill>
                            <a:srgbClr val="1A1A1A"/>
                          </a:solidFill>
                          <a:latin typeface="Times New Roman"/>
                        </a:defRPr>
                      </a:pPr>
                      <a:r>
                        <a:rPr sz="1050" b="0">
                          <a:solidFill>
                            <a:srgbClr val="1A1A1A"/>
                          </a:solidFill>
                          <a:latin typeface="Times New Roman"/>
                        </a:rPr>
                        <a:t>tabletop to portable fundus data</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hlinkClick r:id="rId4"/>
                        </a:rPr>
                        <a:t>Lin et al.</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MICCAI 2022</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5</a:t>
                      </a:r>
                    </a:p>
                  </a:txBody>
                  <a:tcPr marL="73152" marR="73152" marT="27432" marB="27432" anchor="ctr">
                    <a:solidFill>
                      <a:srgbClr val="FFFFFF"/>
                    </a:solidFill>
                  </a:tcPr>
                </a:tc>
              </a:tr>
              <a:tr h="457200">
                <a:tc>
                  <a:txBody>
                    <a:bodyPr/>
                    <a:lstStyle/>
                    <a:p>
                      <a:pPr algn="l">
                        <a:defRPr sz="1050" b="1">
                          <a:solidFill>
                            <a:srgbClr val="9B3525"/>
                          </a:solidFill>
                          <a:latin typeface="Times New Roman"/>
                        </a:defRPr>
                      </a:pPr>
                      <a:r>
                        <a:rPr sz="1050" b="1">
                          <a:solidFill>
                            <a:srgbClr val="9B3525"/>
                          </a:solidFill>
                          <a:latin typeface="Times New Roman"/>
                        </a:rPr>
                        <a:t>Fails</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No domain-generalization method reliably beats</a:t>
                      </a:r>
                    </a:p>
                    <a:p>
                      <a:pPr algn="ctr">
                        <a:defRPr sz="1050" b="0">
                          <a:solidFill>
                            <a:srgbClr val="1A1A1A"/>
                          </a:solidFill>
                          <a:latin typeface="Times New Roman"/>
                        </a:defRPr>
                      </a:pPr>
                      <a:r>
                        <a:rPr sz="1050" b="0">
                          <a:solidFill>
                            <a:srgbClr val="1A1A1A"/>
                          </a:solidFill>
                          <a:latin typeface="Times New Roman"/>
                        </a:rPr>
                        <a:t>plain training under fair evaluation</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hlinkClick r:id="rId5"/>
                        </a:rPr>
                        <a:t>Gulrajani and</a:t>
                      </a:r>
                    </a:p>
                    <a:p>
                      <a:pPr algn="ctr">
                        <a:defRPr sz="1050" b="0">
                          <a:solidFill>
                            <a:srgbClr val="1A1A1A"/>
                          </a:solidFill>
                          <a:latin typeface="Times New Roman"/>
                        </a:defRPr>
                      </a:pPr>
                      <a:r>
                        <a:rPr sz="1050" b="0">
                          <a:solidFill>
                            <a:srgbClr val="1A1A1A"/>
                          </a:solidFill>
                          <a:latin typeface="Times New Roman"/>
                          <a:hlinkClick r:id="rId5"/>
                        </a:rPr>
                        <a:t>Lopez-Paz</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ICLR 2021</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1,504</a:t>
                      </a:r>
                    </a:p>
                  </a:txBody>
                  <a:tcPr marL="73152" marR="73152" marT="27432" marB="27432" anchor="ctr">
                    <a:solidFill>
                      <a:srgbClr val="F2F4F7"/>
                    </a:solidFill>
                  </a:tcPr>
                </a:tc>
              </a:tr>
              <a:tr h="457200">
                <a:tc>
                  <a:txBody>
                    <a:bodyPr/>
                    <a:lstStyle/>
                    <a:p>
                      <a:pPr algn="l">
                        <a:defRPr sz="1050" b="1">
                          <a:solidFill>
                            <a:srgbClr val="9B3525"/>
                          </a:solidFill>
                          <a:latin typeface="Times New Roman"/>
                        </a:defRPr>
                      </a:pPr>
                      <a:r>
                        <a:rPr sz="1050" b="1">
                          <a:solidFill>
                            <a:srgbClr val="9B3525"/>
                          </a:solidFill>
                          <a:latin typeface="Times New Roman"/>
                        </a:rPr>
                        <a:t>Fails</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Test-time adaptation loses up to 66 points under</a:t>
                      </a:r>
                    </a:p>
                    <a:p>
                      <a:pPr algn="ctr">
                        <a:defRPr sz="1050" b="0">
                          <a:solidFill>
                            <a:srgbClr val="1A1A1A"/>
                          </a:solidFill>
                          <a:latin typeface="Times New Roman"/>
                        </a:defRPr>
                      </a:pPr>
                      <a:r>
                        <a:rPr sz="1050" b="0">
                          <a:solidFill>
                            <a:srgbClr val="1A1A1A"/>
                          </a:solidFill>
                          <a:latin typeface="Times New Roman"/>
                        </a:rPr>
                        <a:t>prior shift, the exact regime here</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hlinkClick r:id="rId6"/>
                        </a:rPr>
                        <a:t>Boudiaf et al.</a:t>
                      </a:r>
                    </a:p>
                    <a:p>
                      <a:pPr algn="ctr">
                        <a:defRPr sz="1050" b="0">
                          <a:solidFill>
                            <a:srgbClr val="1A1A1A"/>
                          </a:solidFill>
                          <a:latin typeface="Times New Roman"/>
                        </a:defRPr>
                      </a:pPr>
                      <a:r>
                        <a:rPr sz="1050" b="0">
                          <a:solidFill>
                            <a:srgbClr val="1A1A1A"/>
                          </a:solidFill>
                          <a:latin typeface="Times New Roman"/>
                          <a:hlinkClick r:id="rId6"/>
                        </a:rPr>
                        <a:t>(LAME)</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CVPR 2022</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250</a:t>
                      </a:r>
                    </a:p>
                  </a:txBody>
                  <a:tcPr marL="73152" marR="73152" marT="27432" marB="27432" anchor="ctr">
                    <a:solidFill>
                      <a:srgbClr val="FFFFFF"/>
                    </a:solidFill>
                  </a:tcPr>
                </a:tc>
              </a:tr>
              <a:tr h="457200">
                <a:tc>
                  <a:txBody>
                    <a:bodyPr/>
                    <a:lstStyle/>
                    <a:p>
                      <a:pPr algn="l">
                        <a:defRPr sz="1050" b="1">
                          <a:solidFill>
                            <a:srgbClr val="A36E0A"/>
                          </a:solidFill>
                          <a:latin typeface="Times New Roman"/>
                        </a:defRPr>
                      </a:pPr>
                      <a:r>
                        <a:rPr sz="1050" b="1">
                          <a:solidFill>
                            <a:srgbClr val="A36E0A"/>
                          </a:solidFill>
                          <a:latin typeface="Times New Roman"/>
                        </a:rPr>
                        <a:t>Partial</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Cutoff can be fixed with no target labels, but the</a:t>
                      </a:r>
                    </a:p>
                    <a:p>
                      <a:pPr algn="ctr">
                        <a:defRPr sz="1050" b="0">
                          <a:solidFill>
                            <a:srgbClr val="1A1A1A"/>
                          </a:solidFill>
                          <a:latin typeface="Times New Roman"/>
                        </a:defRPr>
                      </a:pPr>
                      <a:r>
                        <a:rPr sz="1050" b="0">
                          <a:solidFill>
                            <a:srgbClr val="1A1A1A"/>
                          </a:solidFill>
                          <a:latin typeface="Times New Roman"/>
                        </a:rPr>
                        <a:t>method assumes prevalence is unchanged</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hlinkClick r:id="rId7"/>
                        </a:rPr>
                        <a:t>Roschewitz et al.</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Nature</a:t>
                      </a:r>
                    </a:p>
                    <a:p>
                      <a:pPr algn="ctr">
                        <a:defRPr sz="1050" b="0">
                          <a:solidFill>
                            <a:srgbClr val="1A1A1A"/>
                          </a:solidFill>
                          <a:latin typeface="Times New Roman"/>
                        </a:defRPr>
                      </a:pPr>
                      <a:r>
                        <a:rPr sz="1050" b="0">
                          <a:solidFill>
                            <a:srgbClr val="1A1A1A"/>
                          </a:solidFill>
                          <a:latin typeface="Times New Roman"/>
                        </a:rPr>
                        <a:t>Comms 2023</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42</a:t>
                      </a:r>
                    </a:p>
                  </a:txBody>
                  <a:tcPr marL="73152" marR="73152" marT="27432" marB="27432" anchor="ctr">
                    <a:solidFill>
                      <a:srgbClr val="F2F4F7"/>
                    </a:solidFill>
                  </a:tcPr>
                </a:tc>
              </a:tr>
            </a:tbl>
          </a:graphicData>
        </a:graphic>
      </p:graphicFrame>
      <p:sp>
        <p:nvSpPr>
          <p:cNvPr id="5" name="TextBox 4"/>
          <p:cNvSpPr txBox="1"/>
          <p:nvPr/>
        </p:nvSpPr>
        <p:spPr>
          <a:xfrm>
            <a:off x="594360" y="4892040"/>
            <a:ext cx="11064240" cy="1051560"/>
          </a:xfrm>
          <a:prstGeom prst="rect">
            <a:avLst/>
          </a:prstGeom>
          <a:noFill/>
        </p:spPr>
        <p:txBody>
          <a:bodyPr wrap="square">
            <a:spAutoFit/>
          </a:bodyPr>
          <a:lstStyle/>
          <a:p>
            <a:pPr>
              <a:spcAft>
                <a:spcPts val="800"/>
              </a:spcAft>
              <a:defRPr sz="1250" b="0">
                <a:solidFill>
                  <a:srgbClr val="1A1A1A"/>
                </a:solidFill>
                <a:latin typeface="Times New Roman"/>
              </a:defRPr>
            </a:pPr>
            <a:r>
              <a:rPr sz="1250" b="0">
                <a:solidFill>
                  <a:srgbClr val="1A1A1A"/>
                </a:solidFill>
                <a:latin typeface="Times New Roman"/>
              </a:rPr>
              <a:t>The three methods a reader would reach for first, adversarial adaptation, domain generalization and test-time adaptation, are all published failures in exactly this setting.</a:t>
            </a:r>
          </a:p>
          <a:p>
            <a:pPr>
              <a:spcAft>
                <a:spcPts val="800"/>
              </a:spcAft>
              <a:defRPr sz="1250" b="0">
                <a:solidFill>
                  <a:srgbClr val="1A1A1A"/>
                </a:solidFill>
                <a:latin typeface="Times New Roman"/>
              </a:defRPr>
            </a:pPr>
            <a:r>
              <a:rPr sz="1250" b="0">
                <a:solidFill>
                  <a:srgbClr val="1A1A1A"/>
                </a:solidFill>
                <a:latin typeface="Times New Roman"/>
              </a:rPr>
              <a:t>Augmentation is the only intervention with peer-reviewed evidence of raising AUC under real fundus device shift, which is why it is the direction I propose.</a:t>
            </a:r>
          </a:p>
        </p:txBody>
      </p:sp>
      <p:sp>
        <p:nvSpPr>
          <p:cNvPr id="6" name="TextBox 5"/>
          <p:cNvSpPr txBox="1"/>
          <p:nvPr/>
        </p:nvSpPr>
        <p:spPr>
          <a:xfrm>
            <a:off x="594360" y="5989320"/>
            <a:ext cx="11064240" cy="640080"/>
          </a:xfrm>
          <a:prstGeom prst="rect">
            <a:avLst/>
          </a:prstGeom>
          <a:noFill/>
        </p:spPr>
        <p:txBody>
          <a:bodyPr wrap="square">
            <a:spAutoFit/>
          </a:bodyPr>
          <a:lstStyle/>
          <a:p>
            <a:pPr>
              <a:defRPr sz="1350" b="1">
                <a:solidFill>
                  <a:srgbClr val="1F4E79"/>
                </a:solidFill>
                <a:latin typeface="Times New Roman"/>
              </a:defRPr>
            </a:pPr>
            <a:r>
              <a:rPr sz="1350" b="1">
                <a:solidFill>
                  <a:srgbClr val="1F4E79"/>
                </a:solidFill>
                <a:latin typeface="Times New Roman"/>
              </a:rPr>
              <a:t>This review changed the plan. It removed three candidate methods and left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2: I tested my own proposal before building it</a:t>
            </a:r>
          </a:p>
          <a:p>
            <a:pPr>
              <a:defRPr sz="1250" b="0">
                <a:solidFill>
                  <a:srgbClr val="5F5F5F"/>
                </a:solidFill>
                <a:latin typeface="Times New Roman"/>
              </a:defRPr>
            </a:pPr>
            <a:r>
              <a:rPr sz="1250" b="0">
                <a:solidFill>
                  <a:srgbClr val="5F5F5F"/>
                </a:solidFill>
                <a:latin typeface="Times New Roman"/>
              </a:rPr>
              <a:t>mBRSET gives about four images per patient. Theory says pooling them should raise AUC, and it reduces to a single measurable quantity, so the idea can be killed in an afternoon.</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43584"/>
            <a:ext cx="11064240" cy="512064"/>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What rho measures. Each patient has about four images. Rho asks whether those are four independent opinions, or one opinion repeated four times. It is the intraclass correlation (Shrout and Fleiss 1979 [12]).</a:t>
            </a:r>
          </a:p>
        </p:txBody>
      </p:sp>
      <p:sp>
        <p:nvSpPr>
          <p:cNvPr id="5" name="Rectangle 4"/>
          <p:cNvSpPr/>
          <p:nvPr/>
        </p:nvSpPr>
        <p:spPr>
          <a:xfrm>
            <a:off x="2468880" y="2194560"/>
            <a:ext cx="7223760" cy="237744"/>
          </a:xfrm>
          <a:prstGeom prst="rect">
            <a:avLst/>
          </a:prstGeom>
          <a:solidFill>
            <a:srgbClr val="E2E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1A1A1A"/>
                </a:solidFill>
                <a:latin typeface="Times New Roman"/>
              </a:defRPr>
            </a:pPr>
          </a:p>
        </p:txBody>
      </p:sp>
      <p:sp>
        <p:nvSpPr>
          <p:cNvPr id="6" name="Rectangle 5"/>
          <p:cNvSpPr/>
          <p:nvPr/>
        </p:nvSpPr>
        <p:spPr>
          <a:xfrm>
            <a:off x="5078303" y="2103120"/>
            <a:ext cx="25603" cy="42062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b="0">
                <a:solidFill>
                  <a:srgbClr val="FFFFFF"/>
                </a:solidFill>
                <a:latin typeface="Times New Roman"/>
              </a:defRPr>
            </a:pPr>
          </a:p>
        </p:txBody>
      </p:sp>
      <p:sp>
        <p:nvSpPr>
          <p:cNvPr id="7" name="TextBox 6"/>
          <p:cNvSpPr txBox="1"/>
          <p:nvPr/>
        </p:nvSpPr>
        <p:spPr>
          <a:xfrm>
            <a:off x="3399464" y="1810512"/>
            <a:ext cx="3383280" cy="310896"/>
          </a:xfrm>
          <a:prstGeom prst="rect">
            <a:avLst/>
          </a:prstGeom>
          <a:noFill/>
        </p:spPr>
        <p:txBody>
          <a:bodyPr wrap="square">
            <a:spAutoFit/>
          </a:bodyPr>
          <a:lstStyle/>
          <a:p>
            <a:pPr algn="ctr">
              <a:defRPr sz="1100" b="1">
                <a:solidFill>
                  <a:srgbClr val="1F4E79"/>
                </a:solidFill>
                <a:latin typeface="Times New Roman"/>
              </a:defRPr>
            </a:pPr>
            <a:r>
              <a:rPr sz="1100" b="1">
                <a:solidFill>
                  <a:srgbClr val="1F4E79"/>
                </a:solidFill>
                <a:latin typeface="Times New Roman"/>
              </a:rPr>
              <a:t>measured for diabetic retinopathy:  rho = 0.363</a:t>
            </a:r>
          </a:p>
        </p:txBody>
      </p:sp>
      <p:sp>
        <p:nvSpPr>
          <p:cNvPr id="8" name="TextBox 7"/>
          <p:cNvSpPr txBox="1"/>
          <p:nvPr/>
        </p:nvSpPr>
        <p:spPr>
          <a:xfrm>
            <a:off x="2176272" y="2167128"/>
            <a:ext cx="274320" cy="310896"/>
          </a:xfrm>
          <a:prstGeom prst="rect">
            <a:avLst/>
          </a:prstGeom>
          <a:noFill/>
        </p:spPr>
        <p:txBody>
          <a:bodyPr wrap="square">
            <a:spAutoFit/>
          </a:bodyPr>
          <a:lstStyle/>
          <a:p>
            <a:pPr algn="ctr">
              <a:defRPr sz="1050" b="1">
                <a:solidFill>
                  <a:srgbClr val="5F5F5F"/>
                </a:solidFill>
                <a:latin typeface="Times New Roman"/>
              </a:defRPr>
            </a:pPr>
            <a:r>
              <a:rPr sz="1050" b="1">
                <a:solidFill>
                  <a:srgbClr val="5F5F5F"/>
                </a:solidFill>
                <a:latin typeface="Times New Roman"/>
              </a:rPr>
              <a:t>0</a:t>
            </a:r>
          </a:p>
        </p:txBody>
      </p:sp>
      <p:sp>
        <p:nvSpPr>
          <p:cNvPr id="9" name="TextBox 8"/>
          <p:cNvSpPr txBox="1"/>
          <p:nvPr/>
        </p:nvSpPr>
        <p:spPr>
          <a:xfrm>
            <a:off x="9729216" y="2167128"/>
            <a:ext cx="274320" cy="310896"/>
          </a:xfrm>
          <a:prstGeom prst="rect">
            <a:avLst/>
          </a:prstGeom>
          <a:noFill/>
        </p:spPr>
        <p:txBody>
          <a:bodyPr wrap="square">
            <a:spAutoFit/>
          </a:bodyPr>
          <a:lstStyle/>
          <a:p>
            <a:pPr algn="ctr">
              <a:defRPr sz="1050" b="1">
                <a:solidFill>
                  <a:srgbClr val="5F5F5F"/>
                </a:solidFill>
                <a:latin typeface="Times New Roman"/>
              </a:defRPr>
            </a:pPr>
            <a:r>
              <a:rPr sz="1050" b="1">
                <a:solidFill>
                  <a:srgbClr val="5F5F5F"/>
                </a:solidFill>
                <a:latin typeface="Times New Roman"/>
              </a:rPr>
              <a:t>1</a:t>
            </a:r>
          </a:p>
        </p:txBody>
      </p:sp>
      <p:sp>
        <p:nvSpPr>
          <p:cNvPr id="10" name="TextBox 9"/>
          <p:cNvSpPr txBox="1"/>
          <p:nvPr/>
        </p:nvSpPr>
        <p:spPr>
          <a:xfrm>
            <a:off x="2468880" y="2487168"/>
            <a:ext cx="3383280" cy="438912"/>
          </a:xfrm>
          <a:prstGeom prst="rect">
            <a:avLst/>
          </a:prstGeom>
          <a:noFill/>
        </p:spPr>
        <p:txBody>
          <a:bodyPr wrap="square">
            <a:spAutoFit/>
          </a:bodyPr>
          <a:lstStyle/>
          <a:p>
            <a:pPr algn="l">
              <a:defRPr sz="1050" b="0">
                <a:solidFill>
                  <a:srgbClr val="1A1A1A"/>
                </a:solidFill>
                <a:latin typeface="Times New Roman"/>
              </a:defRPr>
            </a:pPr>
            <a:r>
              <a:rPr sz="1050" b="0">
                <a:solidFill>
                  <a:srgbClr val="1A1A1A"/>
                </a:solidFill>
                <a:latin typeface="Times New Roman"/>
              </a:rPr>
              <a:t>Images disagree freely. Pooling four</a:t>
            </a:r>
            <a:br/>
            <a:r>
              <a:rPr sz="1050" b="0">
                <a:solidFill>
                  <a:srgbClr val="1A1A1A"/>
                </a:solidFill>
                <a:latin typeface="Times New Roman"/>
              </a:rPr>
              <a:t>cuts noise like four separate readings.</a:t>
            </a:r>
          </a:p>
        </p:txBody>
      </p:sp>
      <p:sp>
        <p:nvSpPr>
          <p:cNvPr id="11" name="TextBox 10"/>
          <p:cNvSpPr txBox="1"/>
          <p:nvPr/>
        </p:nvSpPr>
        <p:spPr>
          <a:xfrm>
            <a:off x="6309360" y="2487168"/>
            <a:ext cx="3383280" cy="438912"/>
          </a:xfrm>
          <a:prstGeom prst="rect">
            <a:avLst/>
          </a:prstGeom>
          <a:noFill/>
        </p:spPr>
        <p:txBody>
          <a:bodyPr wrap="square">
            <a:spAutoFit/>
          </a:bodyPr>
          <a:lstStyle/>
          <a:p>
            <a:pPr algn="r">
              <a:defRPr sz="1050" b="0">
                <a:solidFill>
                  <a:srgbClr val="1A1A1A"/>
                </a:solidFill>
                <a:latin typeface="Times New Roman"/>
              </a:defRPr>
            </a:pPr>
            <a:r>
              <a:rPr sz="1050" b="0">
                <a:solidFill>
                  <a:srgbClr val="1A1A1A"/>
                </a:solidFill>
                <a:latin typeface="Times New Roman"/>
              </a:rPr>
              <a:t>Images all say the same thing.</a:t>
            </a:r>
            <a:br/>
            <a:r>
              <a:rPr sz="1050" b="0">
                <a:solidFill>
                  <a:srgbClr val="1A1A1A"/>
                </a:solidFill>
                <a:latin typeface="Times New Roman"/>
              </a:rPr>
              <a:t>Pooling four adds nothing.</a:t>
            </a:r>
          </a:p>
        </p:txBody>
      </p:sp>
      <p:sp>
        <p:nvSpPr>
          <p:cNvPr id="12" name="Rectangle 11"/>
          <p:cNvSpPr/>
          <p:nvPr/>
        </p:nvSpPr>
        <p:spPr>
          <a:xfrm>
            <a:off x="594360" y="3035808"/>
            <a:ext cx="4937760" cy="402336"/>
          </a:xfrm>
          <a:prstGeom prst="rect">
            <a:avLst/>
          </a:prstGeom>
          <a:solidFill>
            <a:srgbClr val="ECEFF4"/>
          </a:solidFill>
          <a:ln w="9525">
            <a:solidFill>
              <a:srgbClr val="B8C2C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1A1A1A"/>
                </a:solidFill>
                <a:latin typeface="Times New Roman"/>
              </a:defRPr>
            </a:pPr>
            <a:r>
              <a:rPr sz="1150" b="1">
                <a:solidFill>
                  <a:srgbClr val="1A1A1A"/>
                </a:solidFill>
                <a:latin typeface="Times New Roman"/>
              </a:rPr>
              <a:t>AUC after pooling K  =  Phi( z1 * sqrt( K / (1 + (K−1) rho) ) )</a:t>
            </a:r>
          </a:p>
        </p:txBody>
      </p:sp>
      <p:sp>
        <p:nvSpPr>
          <p:cNvPr id="13" name="TextBox 12"/>
          <p:cNvSpPr txBox="1"/>
          <p:nvPr/>
        </p:nvSpPr>
        <p:spPr>
          <a:xfrm>
            <a:off x="5760720" y="3054096"/>
            <a:ext cx="5897880" cy="402336"/>
          </a:xfrm>
          <a:prstGeom prst="rect">
            <a:avLst/>
          </a:prstGeom>
          <a:noFill/>
        </p:spPr>
        <p:txBody>
          <a:bodyPr wrap="square">
            <a:spAutoFit/>
          </a:bodyPr>
          <a:lstStyle/>
          <a:p>
            <a:pPr algn="l">
              <a:defRPr sz="1150" b="0">
                <a:solidFill>
                  <a:srgbClr val="1A1A1A"/>
                </a:solidFill>
                <a:latin typeface="Times New Roman"/>
              </a:defRPr>
            </a:pPr>
            <a:r>
              <a:rPr sz="1150" b="0">
                <a:solidFill>
                  <a:srgbClr val="1A1A1A"/>
                </a:solidFill>
                <a:latin typeface="Times New Roman"/>
              </a:rPr>
              <a:t>Rho is the only unknown. Measure it once on data already in hand and the achievable gain follows, with no training run.</a:t>
            </a:r>
          </a:p>
        </p:txBody>
      </p:sp>
      <p:graphicFrame>
        <p:nvGraphicFramePr>
          <p:cNvPr id="14" name="Table 13"/>
          <p:cNvGraphicFramePr>
            <a:graphicFrameLocks noGrp="1"/>
          </p:cNvGraphicFramePr>
          <p:nvPr/>
        </p:nvGraphicFramePr>
        <p:xfrm>
          <a:off x="594360" y="3566160"/>
          <a:ext cx="11064238" cy="1188720"/>
        </p:xfrm>
        <a:graphic>
          <a:graphicData uri="http://schemas.openxmlformats.org/drawingml/2006/table">
            <a:tbl>
              <a:tblPr firstRow="1" bandRow="1">
                <a:tableStyleId>{5C22544A-7EE6-4342-B048-85BDC9FD1C3A}</a:tableStyleId>
              </a:tblPr>
              <a:tblGrid>
                <a:gridCol w="3753938"/>
                <a:gridCol w="987878"/>
                <a:gridCol w="1975757"/>
                <a:gridCol w="1876969"/>
                <a:gridCol w="2469696"/>
              </a:tblGrid>
              <a:tr h="297180">
                <a:tc>
                  <a:txBody>
                    <a:bodyPr/>
                    <a:lstStyle/>
                    <a:p>
                      <a:pPr algn="l">
                        <a:defRPr sz="1100" b="1">
                          <a:solidFill>
                            <a:srgbClr val="FFFFFF"/>
                          </a:solidFill>
                          <a:latin typeface="Times New Roman"/>
                        </a:defRPr>
                      </a:pPr>
                      <a:r>
                        <a:rPr sz="1100" b="1">
                          <a:solidFill>
                            <a:srgbClr val="FFFFFF"/>
                          </a:solidFill>
                          <a:latin typeface="Times New Roman"/>
                        </a:rPr>
                        <a:t>What I pooled</a:t>
                      </a:r>
                    </a:p>
                  </a:txBody>
                  <a:tcPr marL="73152" marR="73152" marT="27432" marB="27432" anchor="ctr">
                    <a:solidFill>
                      <a:srgbClr val="1F4E79"/>
                    </a:solidFill>
                  </a:tcPr>
                </a:tc>
                <a:tc>
                  <a:txBody>
                    <a:bodyPr/>
                    <a:lstStyle/>
                    <a:p>
                      <a:pPr algn="ctr">
                        <a:defRPr sz="1100" b="1">
                          <a:solidFill>
                            <a:srgbClr val="FFFFFF"/>
                          </a:solidFill>
                          <a:latin typeface="Times New Roman"/>
                        </a:defRPr>
                      </a:pPr>
                      <a:r>
                        <a:rPr sz="1100" b="1">
                          <a:solidFill>
                            <a:srgbClr val="FFFFFF"/>
                          </a:solidFill>
                          <a:latin typeface="Times New Roman"/>
                        </a:rPr>
                        <a:t>rho</a:t>
                      </a:r>
                    </a:p>
                  </a:txBody>
                  <a:tcPr marL="73152" marR="73152" marT="27432" marB="27432" anchor="ctr">
                    <a:solidFill>
                      <a:srgbClr val="1F4E79"/>
                    </a:solidFill>
                  </a:tcPr>
                </a:tc>
                <a:tc>
                  <a:txBody>
                    <a:bodyPr/>
                    <a:lstStyle/>
                    <a:p>
                      <a:pPr algn="ctr">
                        <a:defRPr sz="1100" b="1">
                          <a:solidFill>
                            <a:srgbClr val="FFFFFF"/>
                          </a:solidFill>
                          <a:latin typeface="Times New Roman"/>
                        </a:defRPr>
                      </a:pPr>
                      <a:r>
                        <a:rPr sz="1100" b="1">
                          <a:solidFill>
                            <a:srgbClr val="FFFFFF"/>
                          </a:solidFill>
                          <a:latin typeface="Times New Roman"/>
                        </a:rPr>
                        <a:t>AUC predicted</a:t>
                      </a:r>
                    </a:p>
                  </a:txBody>
                  <a:tcPr marL="73152" marR="73152" marT="27432" marB="27432" anchor="ctr">
                    <a:solidFill>
                      <a:srgbClr val="1F4E79"/>
                    </a:solidFill>
                  </a:tcPr>
                </a:tc>
                <a:tc>
                  <a:txBody>
                    <a:bodyPr/>
                    <a:lstStyle/>
                    <a:p>
                      <a:pPr algn="ctr">
                        <a:defRPr sz="1100" b="1">
                          <a:solidFill>
                            <a:srgbClr val="FFFFFF"/>
                          </a:solidFill>
                          <a:latin typeface="Times New Roman"/>
                        </a:defRPr>
                      </a:pPr>
                      <a:r>
                        <a:rPr sz="1100" b="1">
                          <a:solidFill>
                            <a:srgbClr val="FFFFFF"/>
                          </a:solidFill>
                          <a:latin typeface="Times New Roman"/>
                        </a:rPr>
                        <a:t>AUC measured</a:t>
                      </a:r>
                    </a:p>
                  </a:txBody>
                  <a:tcPr marL="73152" marR="73152" marT="27432" marB="27432" anchor="ctr">
                    <a:solidFill>
                      <a:srgbClr val="1F4E79"/>
                    </a:solidFill>
                  </a:tcPr>
                </a:tc>
                <a:tc>
                  <a:txBody>
                    <a:bodyPr/>
                    <a:lstStyle/>
                    <a:p>
                      <a:pPr algn="ctr">
                        <a:defRPr sz="1100" b="1">
                          <a:solidFill>
                            <a:srgbClr val="FFFFFF"/>
                          </a:solidFill>
                          <a:latin typeface="Times New Roman"/>
                        </a:defRPr>
                      </a:pPr>
                      <a:r>
                        <a:rPr sz="1100" b="1">
                          <a:solidFill>
                            <a:srgbClr val="FFFFFF"/>
                          </a:solidFill>
                          <a:latin typeface="Times New Roman"/>
                        </a:rPr>
                        <a:t>Outcome</a:t>
                      </a:r>
                    </a:p>
                  </a:txBody>
                  <a:tcPr marL="73152" marR="73152" marT="27432" marB="27432" anchor="ctr">
                    <a:solidFill>
                      <a:srgbClr val="1F4E79"/>
                    </a:solidFill>
                  </a:tcPr>
                </a:tc>
              </a:tr>
              <a:tr h="297180">
                <a:tc>
                  <a:txBody>
                    <a:bodyPr/>
                    <a:lstStyle/>
                    <a:p>
                      <a:pPr algn="l">
                        <a:defRPr sz="1100" b="0">
                          <a:solidFill>
                            <a:srgbClr val="1A1A1A"/>
                          </a:solidFill>
                          <a:latin typeface="Times New Roman"/>
                        </a:defRPr>
                      </a:pPr>
                      <a:r>
                        <a:rPr sz="1100" b="0">
                          <a:solidFill>
                            <a:srgbClr val="1A1A1A"/>
                          </a:solidFill>
                          <a:latin typeface="Times New Roman"/>
                        </a:rPr>
                        <a:t>DR, four images per patient, mean</a:t>
                      </a:r>
                    </a:p>
                  </a:txBody>
                  <a:tcPr marL="73152" marR="73152" marT="27432" marB="27432" anchor="ctr">
                    <a:solidFill>
                      <a:srgbClr val="FFFFFF"/>
                    </a:solidFill>
                  </a:tcPr>
                </a:tc>
                <a:tc>
                  <a:txBody>
                    <a:bodyPr/>
                    <a:lstStyle/>
                    <a:p>
                      <a:pPr algn="ctr">
                        <a:defRPr sz="1100" b="0">
                          <a:solidFill>
                            <a:srgbClr val="1A1A1A"/>
                          </a:solidFill>
                          <a:latin typeface="Times New Roman"/>
                        </a:defRPr>
                      </a:pPr>
                      <a:r>
                        <a:rPr sz="1100" b="0">
                          <a:solidFill>
                            <a:srgbClr val="1A1A1A"/>
                          </a:solidFill>
                          <a:latin typeface="Times New Roman"/>
                        </a:rPr>
                        <a:t>0.363</a:t>
                      </a:r>
                    </a:p>
                  </a:txBody>
                  <a:tcPr marL="73152" marR="73152" marT="27432" marB="27432" anchor="ctr">
                    <a:solidFill>
                      <a:srgbClr val="FFFFFF"/>
                    </a:solidFill>
                  </a:tcPr>
                </a:tc>
                <a:tc>
                  <a:txBody>
                    <a:bodyPr/>
                    <a:lstStyle/>
                    <a:p>
                      <a:pPr algn="ctr">
                        <a:defRPr sz="1100" b="0">
                          <a:solidFill>
                            <a:srgbClr val="1A1A1A"/>
                          </a:solidFill>
                          <a:latin typeface="Times New Roman"/>
                        </a:defRPr>
                      </a:pPr>
                      <a:r>
                        <a:rPr sz="1100" b="0">
                          <a:solidFill>
                            <a:srgbClr val="1A1A1A"/>
                          </a:solidFill>
                          <a:latin typeface="Times New Roman"/>
                        </a:rPr>
                        <a:t>0.968</a:t>
                      </a:r>
                    </a:p>
                  </a:txBody>
                  <a:tcPr marL="73152" marR="73152" marT="27432" marB="27432" anchor="ctr">
                    <a:solidFill>
                      <a:srgbClr val="FFFFFF"/>
                    </a:solidFill>
                  </a:tcPr>
                </a:tc>
                <a:tc>
                  <a:txBody>
                    <a:bodyPr/>
                    <a:lstStyle/>
                    <a:p>
                      <a:pPr algn="ctr">
                        <a:defRPr sz="1100" b="0">
                          <a:solidFill>
                            <a:srgbClr val="1A1A1A"/>
                          </a:solidFill>
                          <a:latin typeface="Times New Roman"/>
                        </a:defRPr>
                      </a:pPr>
                      <a:r>
                        <a:rPr sz="1100" b="0">
                          <a:solidFill>
                            <a:srgbClr val="1A1A1A"/>
                          </a:solidFill>
                          <a:latin typeface="Times New Roman"/>
                        </a:rPr>
                        <a:t>0.844</a:t>
                      </a:r>
                    </a:p>
                  </a:txBody>
                  <a:tcPr marL="73152" marR="73152" marT="27432" marB="27432" anchor="ctr">
                    <a:solidFill>
                      <a:srgbClr val="FFFFFF"/>
                    </a:solidFill>
                  </a:tcPr>
                </a:tc>
                <a:tc>
                  <a:txBody>
                    <a:bodyPr/>
                    <a:lstStyle/>
                    <a:p>
                      <a:pPr algn="ctr">
                        <a:defRPr sz="1100" b="1">
                          <a:solidFill>
                            <a:srgbClr val="9B3525"/>
                          </a:solidFill>
                          <a:latin typeface="Times New Roman"/>
                        </a:defRPr>
                      </a:pPr>
                      <a:r>
                        <a:rPr sz="1100" b="1">
                          <a:solidFill>
                            <a:srgbClr val="9B3525"/>
                          </a:solidFill>
                          <a:latin typeface="Times New Roman"/>
                        </a:rPr>
                        <a:t>prediction failed</a:t>
                      </a:r>
                    </a:p>
                  </a:txBody>
                  <a:tcPr marL="73152" marR="73152" marT="27432" marB="27432" anchor="ctr">
                    <a:solidFill>
                      <a:srgbClr val="FFFFFF"/>
                    </a:solidFill>
                  </a:tcPr>
                </a:tc>
              </a:tr>
              <a:tr h="297180">
                <a:tc>
                  <a:txBody>
                    <a:bodyPr/>
                    <a:lstStyle/>
                    <a:p>
                      <a:pPr algn="l">
                        <a:defRPr sz="1100" b="0">
                          <a:solidFill>
                            <a:srgbClr val="1A1A1A"/>
                          </a:solidFill>
                          <a:latin typeface="Times New Roman"/>
                        </a:defRPr>
                      </a:pPr>
                      <a:r>
                        <a:rPr sz="1100" b="0">
                          <a:solidFill>
                            <a:srgbClr val="1A1A1A"/>
                          </a:solidFill>
                          <a:latin typeface="Times New Roman"/>
                        </a:rPr>
                        <a:t>DR, two images per eye, mean</a:t>
                      </a:r>
                    </a:p>
                  </a:txBody>
                  <a:tcPr marL="73152" marR="73152" marT="27432" marB="27432" anchor="ctr">
                    <a:solidFill>
                      <a:srgbClr val="F2F4F7"/>
                    </a:solidFill>
                  </a:tcPr>
                </a:tc>
                <a:tc>
                  <a:txBody>
                    <a:bodyPr/>
                    <a:lstStyle/>
                    <a:p>
                      <a:pPr algn="ctr">
                        <a:defRPr sz="1100" b="0">
                          <a:solidFill>
                            <a:srgbClr val="1A1A1A"/>
                          </a:solidFill>
                          <a:latin typeface="Times New Roman"/>
                        </a:defRPr>
                      </a:pPr>
                      <a:r>
                        <a:rPr sz="1100" b="0">
                          <a:solidFill>
                            <a:srgbClr val="1A1A1A"/>
                          </a:solidFill>
                          <a:latin typeface="Times New Roman"/>
                        </a:rPr>
                        <a:t>0.481</a:t>
                      </a:r>
                    </a:p>
                  </a:txBody>
                  <a:tcPr marL="73152" marR="73152" marT="27432" marB="27432" anchor="ctr">
                    <a:solidFill>
                      <a:srgbClr val="F2F4F7"/>
                    </a:solidFill>
                  </a:tcPr>
                </a:tc>
                <a:tc>
                  <a:txBody>
                    <a:bodyPr/>
                    <a:lstStyle/>
                    <a:p>
                      <a:pPr algn="ctr">
                        <a:defRPr sz="1100" b="0">
                          <a:solidFill>
                            <a:srgbClr val="1A1A1A"/>
                          </a:solidFill>
                          <a:latin typeface="Times New Roman"/>
                        </a:defRPr>
                      </a:pPr>
                      <a:r>
                        <a:rPr sz="1100" b="0">
                          <a:solidFill>
                            <a:srgbClr val="1A1A1A"/>
                          </a:solidFill>
                          <a:latin typeface="Times New Roman"/>
                        </a:rPr>
                        <a:t>0.940</a:t>
                      </a:r>
                    </a:p>
                  </a:txBody>
                  <a:tcPr marL="73152" marR="73152" marT="27432" marB="27432" anchor="ctr">
                    <a:solidFill>
                      <a:srgbClr val="F2F4F7"/>
                    </a:solidFill>
                  </a:tcPr>
                </a:tc>
                <a:tc>
                  <a:txBody>
                    <a:bodyPr/>
                    <a:lstStyle/>
                    <a:p>
                      <a:pPr algn="ctr">
                        <a:defRPr sz="1100" b="0">
                          <a:solidFill>
                            <a:srgbClr val="1A1A1A"/>
                          </a:solidFill>
                          <a:latin typeface="Times New Roman"/>
                        </a:defRPr>
                      </a:pPr>
                      <a:r>
                        <a:rPr sz="1100" b="0">
                          <a:solidFill>
                            <a:srgbClr val="1A1A1A"/>
                          </a:solidFill>
                          <a:latin typeface="Times New Roman"/>
                        </a:rPr>
                        <a:t>0.885</a:t>
                      </a:r>
                    </a:p>
                  </a:txBody>
                  <a:tcPr marL="73152" marR="73152" marT="27432" marB="27432" anchor="ctr">
                    <a:solidFill>
                      <a:srgbClr val="F2F4F7"/>
                    </a:solidFill>
                  </a:tcPr>
                </a:tc>
                <a:tc>
                  <a:txBody>
                    <a:bodyPr/>
                    <a:lstStyle/>
                    <a:p>
                      <a:pPr algn="ctr">
                        <a:defRPr sz="1100" b="1">
                          <a:solidFill>
                            <a:srgbClr val="9B3525"/>
                          </a:solidFill>
                          <a:latin typeface="Times New Roman"/>
                        </a:defRPr>
                      </a:pPr>
                      <a:r>
                        <a:rPr sz="1100" b="1">
                          <a:solidFill>
                            <a:srgbClr val="9B3525"/>
                          </a:solidFill>
                          <a:latin typeface="Times New Roman"/>
                        </a:rPr>
                        <a:t>prediction failed</a:t>
                      </a:r>
                    </a:p>
                  </a:txBody>
                  <a:tcPr marL="73152" marR="73152" marT="27432" marB="27432" anchor="ctr">
                    <a:solidFill>
                      <a:srgbClr val="F2F4F7"/>
                    </a:solidFill>
                  </a:tcPr>
                </a:tc>
              </a:tr>
              <a:tr h="297180">
                <a:tc>
                  <a:txBody>
                    <a:bodyPr/>
                    <a:lstStyle/>
                    <a:p>
                      <a:pPr algn="l">
                        <a:defRPr sz="1100" b="1">
                          <a:solidFill>
                            <a:srgbClr val="1A1A1A"/>
                          </a:solidFill>
                          <a:latin typeface="Times New Roman"/>
                        </a:defRPr>
                      </a:pPr>
                      <a:r>
                        <a:rPr sz="1100" b="1">
                          <a:solidFill>
                            <a:srgbClr val="1A1A1A"/>
                          </a:solidFill>
                          <a:latin typeface="Times New Roman"/>
                        </a:rPr>
                        <a:t>ME, four images per patient, max</a:t>
                      </a:r>
                    </a:p>
                  </a:txBody>
                  <a:tcPr marL="73152" marR="73152" marT="27432" marB="27432" anchor="ctr">
                    <a:solidFill>
                      <a:srgbClr val="DFEADF"/>
                    </a:solidFill>
                  </a:tcPr>
                </a:tc>
                <a:tc>
                  <a:txBody>
                    <a:bodyPr/>
                    <a:lstStyle/>
                    <a:p>
                      <a:pPr algn="ctr">
                        <a:defRPr sz="1100" b="1">
                          <a:solidFill>
                            <a:srgbClr val="1A1A1A"/>
                          </a:solidFill>
                          <a:latin typeface="Times New Roman"/>
                        </a:defRPr>
                      </a:pPr>
                      <a:r>
                        <a:rPr sz="1100" b="1">
                          <a:solidFill>
                            <a:srgbClr val="1A1A1A"/>
                          </a:solidFill>
                          <a:latin typeface="Times New Roman"/>
                        </a:rPr>
                        <a:t>0.309</a:t>
                      </a:r>
                    </a:p>
                  </a:txBody>
                  <a:tcPr marL="73152" marR="73152" marT="27432" marB="27432" anchor="ctr">
                    <a:solidFill>
                      <a:srgbClr val="DFEADF"/>
                    </a:solidFill>
                  </a:tcPr>
                </a:tc>
                <a:tc>
                  <a:txBody>
                    <a:bodyPr/>
                    <a:lstStyle/>
                    <a:p>
                      <a:pPr algn="ctr">
                        <a:defRPr sz="1100" b="1">
                          <a:solidFill>
                            <a:srgbClr val="1A1A1A"/>
                          </a:solidFill>
                          <a:latin typeface="Times New Roman"/>
                        </a:defRPr>
                      </a:pPr>
                      <a:r>
                        <a:rPr sz="1100" b="1">
                          <a:solidFill>
                            <a:srgbClr val="1A1A1A"/>
                          </a:solidFill>
                          <a:latin typeface="Times New Roman"/>
                        </a:rPr>
                        <a:t>not applicable</a:t>
                      </a:r>
                    </a:p>
                  </a:txBody>
                  <a:tcPr marL="73152" marR="73152" marT="27432" marB="27432" anchor="ctr">
                    <a:solidFill>
                      <a:srgbClr val="DFEADF"/>
                    </a:solidFill>
                  </a:tcPr>
                </a:tc>
                <a:tc>
                  <a:txBody>
                    <a:bodyPr/>
                    <a:lstStyle/>
                    <a:p>
                      <a:pPr algn="ctr">
                        <a:defRPr sz="1100" b="1">
                          <a:solidFill>
                            <a:srgbClr val="1A1A1A"/>
                          </a:solidFill>
                          <a:latin typeface="Times New Roman"/>
                        </a:defRPr>
                      </a:pPr>
                      <a:r>
                        <a:rPr sz="1100" b="1">
                          <a:solidFill>
                            <a:srgbClr val="1A1A1A"/>
                          </a:solidFill>
                          <a:latin typeface="Times New Roman"/>
                        </a:rPr>
                        <a:t>0.969</a:t>
                      </a:r>
                    </a:p>
                  </a:txBody>
                  <a:tcPr marL="73152" marR="73152" marT="27432" marB="27432" anchor="ctr">
                    <a:solidFill>
                      <a:srgbClr val="DFEADF"/>
                    </a:solidFill>
                  </a:tcPr>
                </a:tc>
                <a:tc>
                  <a:txBody>
                    <a:bodyPr/>
                    <a:lstStyle/>
                    <a:p>
                      <a:pPr algn="ctr">
                        <a:defRPr sz="1100" b="1">
                          <a:solidFill>
                            <a:srgbClr val="1E6B3C"/>
                          </a:solidFill>
                          <a:latin typeface="Times New Roman"/>
                        </a:defRPr>
                      </a:pPr>
                      <a:r>
                        <a:rPr sz="1100" b="1">
                          <a:solidFill>
                            <a:srgbClr val="1E6B3C"/>
                          </a:solidFill>
                          <a:latin typeface="Times New Roman"/>
                        </a:rPr>
                        <a:t>worked, plus 0.036 AUC</a:t>
                      </a:r>
                    </a:p>
                  </a:txBody>
                  <a:tcPr marL="73152" marR="73152" marT="27432" marB="27432" anchor="ctr">
                    <a:solidFill>
                      <a:srgbClr val="DFEADF"/>
                    </a:solidFill>
                  </a:tcPr>
                </a:tc>
              </a:tr>
            </a:tbl>
          </a:graphicData>
        </a:graphic>
      </p:graphicFrame>
      <p:sp>
        <p:nvSpPr>
          <p:cNvPr id="15" name="TextBox 14"/>
          <p:cNvSpPr txBox="1"/>
          <p:nvPr/>
        </p:nvSpPr>
        <p:spPr>
          <a:xfrm>
            <a:off x="594360" y="4791456"/>
            <a:ext cx="11064240" cy="310896"/>
          </a:xfrm>
          <a:prstGeom prst="rect">
            <a:avLst/>
          </a:prstGeom>
          <a:noFill/>
        </p:spPr>
        <p:txBody>
          <a:bodyPr wrap="square">
            <a:spAutoFit/>
          </a:bodyPr>
          <a:lstStyle/>
          <a:p>
            <a:pPr algn="l">
              <a:defRPr sz="1050" b="0">
                <a:solidFill>
                  <a:srgbClr val="5F5F5F"/>
                </a:solidFill>
                <a:latin typeface="Times New Roman"/>
              </a:defRPr>
            </a:pPr>
            <a:r>
              <a:rPr sz="1050" b="0">
                <a:solidFill>
                  <a:srgbClr val="5F5F5F"/>
                </a:solidFill>
                <a:latin typeface="Times New Roman"/>
              </a:rPr>
              <a:t>Image-level AUC before any pooling: DR 0.909, ME 0.933.  Pooling operators: Ilse et al., ICML 2018 [13].</a:t>
            </a:r>
          </a:p>
        </p:txBody>
      </p:sp>
      <p:sp>
        <p:nvSpPr>
          <p:cNvPr id="16" name="TextBox 15"/>
          <p:cNvSpPr txBox="1"/>
          <p:nvPr/>
        </p:nvSpPr>
        <p:spPr>
          <a:xfrm>
            <a:off x="594360" y="5120640"/>
            <a:ext cx="11064240" cy="987552"/>
          </a:xfrm>
          <a:prstGeom prst="rect">
            <a:avLst/>
          </a:prstGeom>
          <a:noFill/>
        </p:spPr>
        <p:txBody>
          <a:bodyPr wrap="square">
            <a:spAutoFit/>
          </a:bodyPr>
          <a:lstStyle/>
          <a:p>
            <a:pPr>
              <a:spcAft>
                <a:spcPts val="800"/>
              </a:spcAft>
              <a:defRPr sz="1150" b="0">
                <a:solidFill>
                  <a:srgbClr val="1A1A1A"/>
                </a:solidFill>
                <a:latin typeface="Times New Roman"/>
              </a:defRPr>
            </a:pPr>
            <a:r>
              <a:rPr sz="1150" b="0">
                <a:solidFill>
                  <a:srgbClr val="1A1A1A"/>
                </a:solidFill>
                <a:latin typeface="Times New Roman"/>
              </a:rPr>
              <a:t>Why it failed. Rho was measured correctly. The hidden assumption is what broke: the formula treats every image in a group as carrying the same finding. Of the 187 patients with both eyes imaged, 22 of them, 11.8 percent, have one eye affected and one clear. Averaging a diseased eye with a healthy one lands between the two, which is worse than either.</a:t>
            </a:r>
          </a:p>
          <a:p>
            <a:pPr>
              <a:spcAft>
                <a:spcPts val="800"/>
              </a:spcAft>
              <a:defRPr sz="1150" b="0">
                <a:solidFill>
                  <a:srgbClr val="1A1A1A"/>
                </a:solidFill>
                <a:latin typeface="Times New Roman"/>
              </a:defRPr>
            </a:pPr>
            <a:r>
              <a:rPr sz="1150" b="0">
                <a:solidFill>
                  <a:srgbClr val="1A1A1A"/>
                </a:solidFill>
                <a:latin typeface="Times New Roman"/>
              </a:rPr>
              <a:t>Macular edema is focal, so a maximum is the right operator rather than a mean. That works, lifting AUC from 0.933 to 0.969.</a:t>
            </a:r>
          </a:p>
        </p:txBody>
      </p:sp>
      <p:sp>
        <p:nvSpPr>
          <p:cNvPr id="17" name="TextBox 16"/>
          <p:cNvSpPr txBox="1"/>
          <p:nvPr/>
        </p:nvSpPr>
        <p:spPr>
          <a:xfrm>
            <a:off x="594360" y="6144768"/>
            <a:ext cx="11064240" cy="640080"/>
          </a:xfrm>
          <a:prstGeom prst="rect">
            <a:avLst/>
          </a:prstGeom>
          <a:noFill/>
        </p:spPr>
        <p:txBody>
          <a:bodyPr wrap="square">
            <a:spAutoFit/>
          </a:bodyPr>
          <a:lstStyle/>
          <a:p>
            <a:pPr>
              <a:defRPr sz="1350" b="1">
                <a:solidFill>
                  <a:srgbClr val="9B3525"/>
                </a:solidFill>
                <a:latin typeface="Times New Roman"/>
              </a:defRPr>
            </a:pPr>
            <a:r>
              <a:rPr sz="1350" b="1">
                <a:solidFill>
                  <a:srgbClr val="9B3525"/>
                </a:solidFill>
                <a:latin typeface="Times New Roman"/>
              </a:rPr>
              <a:t>Rho let me price the idea before building it. The prediction was wrong, and the reason is now understood.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Part 2: where the opening is, and what I propose</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98448"/>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The nearest existing work, and what each one leaves open</a:t>
            </a:r>
          </a:p>
        </p:txBody>
      </p:sp>
      <p:graphicFrame>
        <p:nvGraphicFramePr>
          <p:cNvPr id="5" name="Table 4"/>
          <p:cNvGraphicFramePr>
            <a:graphicFrameLocks noGrp="1"/>
          </p:cNvGraphicFramePr>
          <p:nvPr/>
        </p:nvGraphicFramePr>
        <p:xfrm>
          <a:off x="594360" y="1627632"/>
          <a:ext cx="11064240" cy="1280160"/>
        </p:xfrm>
        <a:graphic>
          <a:graphicData uri="http://schemas.openxmlformats.org/drawingml/2006/table">
            <a:tbl>
              <a:tblPr firstRow="1" bandRow="1">
                <a:tableStyleId>{5C22544A-7EE6-4342-B048-85BDC9FD1C3A}</a:tableStyleId>
              </a:tblPr>
              <a:tblGrid>
                <a:gridCol w="3566160"/>
                <a:gridCol w="3017520"/>
                <a:gridCol w="4480560"/>
              </a:tblGrid>
              <a:tr h="426720">
                <a:tc>
                  <a:txBody>
                    <a:bodyPr/>
                    <a:lstStyle/>
                    <a:p>
                      <a:pPr algn="l">
                        <a:defRPr sz="1050" b="1">
                          <a:solidFill>
                            <a:srgbClr val="FFFFFF"/>
                          </a:solidFill>
                          <a:latin typeface="Times New Roman"/>
                        </a:defRPr>
                      </a:pPr>
                      <a:r>
                        <a:rPr sz="1050" b="1">
                          <a:solidFill>
                            <a:srgbClr val="FFFFFF"/>
                          </a:solidFill>
                          <a:latin typeface="Times New Roman"/>
                        </a:rPr>
                        <a:t>Work</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What it does</a:t>
                      </a:r>
                    </a:p>
                  </a:txBody>
                  <a:tcPr marL="73152" marR="73152" marT="27432" marB="27432" anchor="ctr">
                    <a:solidFill>
                      <a:srgbClr val="1F4E79"/>
                    </a:solidFill>
                  </a:tcPr>
                </a:tc>
                <a:tc>
                  <a:txBody>
                    <a:bodyPr/>
                    <a:lstStyle/>
                    <a:p>
                      <a:pPr algn="ctr">
                        <a:defRPr sz="1050" b="1">
                          <a:solidFill>
                            <a:srgbClr val="FFFFFF"/>
                          </a:solidFill>
                          <a:latin typeface="Times New Roman"/>
                        </a:defRPr>
                      </a:pPr>
                      <a:r>
                        <a:rPr sz="1050" b="1">
                          <a:solidFill>
                            <a:srgbClr val="FFFFFF"/>
                          </a:solidFill>
                          <a:latin typeface="Times New Roman"/>
                        </a:rPr>
                        <a:t>What it leaves open</a:t>
                      </a:r>
                    </a:p>
                  </a:txBody>
                  <a:tcPr marL="73152" marR="73152" marT="27432" marB="27432" anchor="ctr">
                    <a:solidFill>
                      <a:srgbClr val="1F4E79"/>
                    </a:solidFill>
                  </a:tcPr>
                </a:tc>
              </a:tr>
              <a:tr h="426720">
                <a:tc>
                  <a:txBody>
                    <a:bodyPr/>
                    <a:lstStyle/>
                    <a:p>
                      <a:pPr algn="l">
                        <a:defRPr sz="1050" b="0">
                          <a:solidFill>
                            <a:srgbClr val="1A1A1A"/>
                          </a:solidFill>
                          <a:latin typeface="Times New Roman"/>
                        </a:defRPr>
                      </a:pPr>
                      <a:r>
                        <a:rPr sz="1050" b="0">
                          <a:solidFill>
                            <a:srgbClr val="1A1A1A"/>
                          </a:solidFill>
                          <a:latin typeface="Times New Roman"/>
                          <a:hlinkClick r:id="rId2"/>
                        </a:rPr>
                        <a:t>RetSyn, J. Biomedical Informatics 2025</a:t>
                      </a:r>
                    </a:p>
                    <a:p>
                      <a:pPr algn="l">
                        <a:defRPr sz="1050" b="0">
                          <a:solidFill>
                            <a:srgbClr val="1A1A1A"/>
                          </a:solidFill>
                          <a:latin typeface="Times New Roman"/>
                        </a:defRPr>
                      </a:pPr>
                      <a:r>
                        <a:rPr sz="1050" b="0">
                          <a:solidFill>
                            <a:srgbClr val="1A1A1A"/>
                          </a:solidFill>
                          <a:latin typeface="Times New Roman"/>
                          <a:hlinkClick r:id="rId2"/>
                        </a:rPr>
                        <a:t>(same senior author as both datasets)</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Synthetic data for tabletop to portable</a:t>
                      </a:r>
                    </a:p>
                  </a:txBody>
                  <a:tcPr marL="73152" marR="73152" marT="27432" marB="27432" anchor="ctr">
                    <a:solidFill>
                      <a:srgbClr val="FFFFFF"/>
                    </a:solidFill>
                  </a:tcPr>
                </a:tc>
                <a:tc>
                  <a:txBody>
                    <a:bodyPr/>
                    <a:lstStyle/>
                    <a:p>
                      <a:pPr algn="ctr">
                        <a:defRPr sz="1050" b="0">
                          <a:solidFill>
                            <a:srgbClr val="1A1A1A"/>
                          </a:solidFill>
                          <a:latin typeface="Times New Roman"/>
                        </a:defRPr>
                      </a:pPr>
                      <a:r>
                        <a:rPr sz="1050" b="0">
                          <a:solidFill>
                            <a:srgbClr val="1A1A1A"/>
                          </a:solidFill>
                          <a:latin typeface="Times New Roman"/>
                        </a:rPr>
                        <a:t>Does not diagnose what breaks. No macular edema.</a:t>
                      </a:r>
                    </a:p>
                    <a:p>
                      <a:pPr algn="ctr">
                        <a:defRPr sz="1050" b="0">
                          <a:solidFill>
                            <a:srgbClr val="1A1A1A"/>
                          </a:solidFill>
                          <a:latin typeface="Times New Roman"/>
                        </a:defRPr>
                      </a:pPr>
                      <a:r>
                        <a:rPr sz="1050" b="0">
                          <a:solidFill>
                            <a:srgbClr val="1A1A1A"/>
                          </a:solidFill>
                          <a:latin typeface="Times New Roman"/>
                        </a:rPr>
                        <a:t>No treatment of the decision cutoff</a:t>
                      </a:r>
                    </a:p>
                  </a:txBody>
                  <a:tcPr marL="73152" marR="73152" marT="27432" marB="27432" anchor="ctr">
                    <a:solidFill>
                      <a:srgbClr val="FFFFFF"/>
                    </a:solidFill>
                  </a:tcPr>
                </a:tc>
              </a:tr>
              <a:tr h="426720">
                <a:tc>
                  <a:txBody>
                    <a:bodyPr/>
                    <a:lstStyle/>
                    <a:p>
                      <a:pPr algn="l">
                        <a:defRPr sz="1050" b="0">
                          <a:solidFill>
                            <a:srgbClr val="1A1A1A"/>
                          </a:solidFill>
                          <a:latin typeface="Times New Roman"/>
                        </a:defRPr>
                      </a:pPr>
                      <a:r>
                        <a:rPr sz="1050" b="0">
                          <a:solidFill>
                            <a:srgbClr val="1A1A1A"/>
                          </a:solidFill>
                          <a:latin typeface="Times New Roman"/>
                        </a:rPr>
                        <a:t>IEEE ISBI 2026</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Reports that BRSET to mBRSET drops</a:t>
                      </a:r>
                    </a:p>
                  </a:txBody>
                  <a:tcPr marL="73152" marR="73152" marT="27432" marB="27432" anchor="ctr">
                    <a:solidFill>
                      <a:srgbClr val="F2F4F7"/>
                    </a:solidFill>
                  </a:tcPr>
                </a:tc>
                <a:tc>
                  <a:txBody>
                    <a:bodyPr/>
                    <a:lstStyle/>
                    <a:p>
                      <a:pPr algn="ctr">
                        <a:defRPr sz="1050" b="0">
                          <a:solidFill>
                            <a:srgbClr val="1A1A1A"/>
                          </a:solidFill>
                          <a:latin typeface="Times New Roman"/>
                        </a:defRPr>
                      </a:pPr>
                      <a:r>
                        <a:rPr sz="1050" b="0">
                          <a:solidFill>
                            <a:srgbClr val="1A1A1A"/>
                          </a:solidFill>
                          <a:latin typeface="Times New Roman"/>
                        </a:rPr>
                        <a:t>Descriptive only. Not what the drop is made of,</a:t>
                      </a:r>
                    </a:p>
                    <a:p>
                      <a:pPr algn="ctr">
                        <a:defRPr sz="1050" b="0">
                          <a:solidFill>
                            <a:srgbClr val="1A1A1A"/>
                          </a:solidFill>
                          <a:latin typeface="Times New Roman"/>
                        </a:defRPr>
                      </a:pPr>
                      <a:r>
                        <a:rPr sz="1050" b="0">
                          <a:solidFill>
                            <a:srgbClr val="1A1A1A"/>
                          </a:solidFill>
                          <a:latin typeface="Times New Roman"/>
                        </a:rPr>
                        <a:t>nor how to close it</a:t>
                      </a:r>
                    </a:p>
                  </a:txBody>
                  <a:tcPr marL="73152" marR="73152" marT="27432" marB="27432" anchor="ctr">
                    <a:solidFill>
                      <a:srgbClr val="F2F4F7"/>
                    </a:solidFill>
                  </a:tcPr>
                </a:tc>
              </a:tr>
            </a:tbl>
          </a:graphicData>
        </a:graphic>
      </p:graphicFrame>
      <p:sp>
        <p:nvSpPr>
          <p:cNvPr id="6" name="TextBox 5"/>
          <p:cNvSpPr txBox="1"/>
          <p:nvPr/>
        </p:nvSpPr>
        <p:spPr>
          <a:xfrm>
            <a:off x="594360" y="3127248"/>
            <a:ext cx="11064240" cy="310896"/>
          </a:xfrm>
          <a:prstGeom prst="rect">
            <a:avLst/>
          </a:prstGeom>
          <a:noFill/>
        </p:spPr>
        <p:txBody>
          <a:bodyPr wrap="square">
            <a:spAutoFit/>
          </a:bodyPr>
          <a:lstStyle/>
          <a:p>
            <a:pPr algn="l">
              <a:defRPr sz="1250" b="1">
                <a:solidFill>
                  <a:srgbClr val="1F4E79"/>
                </a:solidFill>
                <a:latin typeface="Times New Roman"/>
              </a:defRPr>
            </a:pPr>
            <a:r>
              <a:rPr sz="1250" b="1">
                <a:solidFill>
                  <a:srgbClr val="1F4E79"/>
                </a:solidFill>
                <a:latin typeface="Times New Roman"/>
              </a:rPr>
              <a:t>Three openings this review did not find addressed anywhere</a:t>
            </a:r>
          </a:p>
        </p:txBody>
      </p:sp>
      <p:sp>
        <p:nvSpPr>
          <p:cNvPr id="7" name="Rectangle 6"/>
          <p:cNvSpPr/>
          <p:nvPr/>
        </p:nvSpPr>
        <p:spPr>
          <a:xfrm>
            <a:off x="594360" y="3493008"/>
            <a:ext cx="365760"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FFFFFF"/>
                </a:solidFill>
                <a:latin typeface="Times New Roman"/>
              </a:defRPr>
            </a:pPr>
            <a:r>
              <a:rPr sz="1250" b="1">
                <a:solidFill>
                  <a:srgbClr val="FFFFFF"/>
                </a:solidFill>
                <a:latin typeface="Times New Roman"/>
              </a:rPr>
              <a:t>1</a:t>
            </a:r>
          </a:p>
        </p:txBody>
      </p:sp>
      <p:sp>
        <p:nvSpPr>
          <p:cNvPr id="8" name="TextBox 7"/>
          <p:cNvSpPr txBox="1"/>
          <p:nvPr/>
        </p:nvSpPr>
        <p:spPr>
          <a:xfrm>
            <a:off x="1097280" y="3456432"/>
            <a:ext cx="10515600" cy="676656"/>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Splitting a cross-device gap into prevalence, cutoff and ranking, and then proving the cutoff family is exhausted at 0.763, rather than trying methods one at a time.</a:t>
            </a:r>
          </a:p>
        </p:txBody>
      </p:sp>
      <p:sp>
        <p:nvSpPr>
          <p:cNvPr id="9" name="Rectangle 8"/>
          <p:cNvSpPr/>
          <p:nvPr/>
        </p:nvSpPr>
        <p:spPr>
          <a:xfrm>
            <a:off x="594360" y="4261104"/>
            <a:ext cx="365760"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FFFFFF"/>
                </a:solidFill>
                <a:latin typeface="Times New Roman"/>
              </a:defRPr>
            </a:pPr>
            <a:r>
              <a:rPr sz="1250" b="1">
                <a:solidFill>
                  <a:srgbClr val="FFFFFF"/>
                </a:solidFill>
                <a:latin typeface="Times New Roman"/>
              </a:rPr>
              <a:t>2</a:t>
            </a:r>
          </a:p>
        </p:txBody>
      </p:sp>
      <p:sp>
        <p:nvSpPr>
          <p:cNvPr id="10" name="TextBox 9"/>
          <p:cNvSpPr txBox="1"/>
          <p:nvPr/>
        </p:nvSpPr>
        <p:spPr>
          <a:xfrm>
            <a:off x="1097280" y="4224528"/>
            <a:ext cx="10515600" cy="676656"/>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Label-shift correction for multi-label sigmoid outputs. BBSE (ICML 2018) and MLLS (ICML 2020, NeurIPS 2020) are all single-label softmax. DR and macular edema co-occur, so correcting each label on its own is misspecified.</a:t>
            </a:r>
          </a:p>
        </p:txBody>
      </p:sp>
      <p:sp>
        <p:nvSpPr>
          <p:cNvPr id="11" name="Rectangle 10"/>
          <p:cNvSpPr/>
          <p:nvPr/>
        </p:nvSpPr>
        <p:spPr>
          <a:xfrm>
            <a:off x="594360" y="5029200"/>
            <a:ext cx="365760" cy="3657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FFFFFF"/>
                </a:solidFill>
                <a:latin typeface="Times New Roman"/>
              </a:defRPr>
            </a:pPr>
            <a:r>
              <a:rPr sz="1250" b="1">
                <a:solidFill>
                  <a:srgbClr val="FFFFFF"/>
                </a:solidFill>
                <a:latin typeface="Times New Roman"/>
              </a:rPr>
              <a:t>3</a:t>
            </a:r>
          </a:p>
        </p:txBody>
      </p:sp>
      <p:sp>
        <p:nvSpPr>
          <p:cNvPr id="12" name="TextBox 11"/>
          <p:cNvSpPr txBox="1"/>
          <p:nvPr/>
        </p:nvSpPr>
        <p:spPr>
          <a:xfrm>
            <a:off x="1097280" y="4992624"/>
            <a:ext cx="10515600" cy="676656"/>
          </a:xfrm>
          <a:prstGeom prst="rect">
            <a:avLst/>
          </a:prstGeom>
          <a:noFill/>
        </p:spPr>
        <p:txBody>
          <a:bodyPr wrap="square">
            <a:spAutoFit/>
          </a:bodyPr>
          <a:lstStyle/>
          <a:p>
            <a:pPr algn="l">
              <a:defRPr sz="1200" b="0">
                <a:solidFill>
                  <a:srgbClr val="1A1A1A"/>
                </a:solidFill>
                <a:latin typeface="Times New Roman"/>
              </a:defRPr>
            </a:pPr>
            <a:r>
              <a:rPr sz="1200" b="0">
                <a:solidFill>
                  <a:srgbClr val="1A1A1A"/>
                </a:solidFill>
                <a:latin typeface="Times New Roman"/>
              </a:rPr>
              <a:t>The regime where both published families break their own assumptions at once. One assumes prevalence is fixed, and here it moves from 6.6 to 23.3 percent. The other assumes the images look the same, and here AUC fell from 0.988 to 0.909.</a:t>
            </a:r>
          </a:p>
        </p:txBody>
      </p:sp>
      <p:sp>
        <p:nvSpPr>
          <p:cNvPr id="13" name="TextBox 12"/>
          <p:cNvSpPr txBox="1"/>
          <p:nvPr/>
        </p:nvSpPr>
        <p:spPr>
          <a:xfrm>
            <a:off x="594360" y="5897880"/>
            <a:ext cx="11064240" cy="640080"/>
          </a:xfrm>
          <a:prstGeom prst="rect">
            <a:avLst/>
          </a:prstGeom>
          <a:noFill/>
        </p:spPr>
        <p:txBody>
          <a:bodyPr wrap="square">
            <a:spAutoFit/>
          </a:bodyPr>
          <a:lstStyle/>
          <a:p>
            <a:pPr>
              <a:defRPr sz="1350" b="1">
                <a:solidFill>
                  <a:srgbClr val="1E6B3C"/>
                </a:solidFill>
                <a:latin typeface="Times New Roman"/>
              </a:defRPr>
            </a:pPr>
            <a:r>
              <a:rPr sz="1350" b="1">
                <a:solidFill>
                  <a:srgbClr val="1E6B3C"/>
                </a:solidFill>
                <a:latin typeface="Times New Roman"/>
              </a:rPr>
              <a:t>Proposed next step: fundus degradation augmentation, the one intervention with published evidence here, with the gap decomposition as the scientific contribution.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10896"/>
            <a:ext cx="11155680" cy="822960"/>
          </a:xfrm>
          <a:prstGeom prst="rect">
            <a:avLst/>
          </a:prstGeom>
          <a:noFill/>
        </p:spPr>
        <p:txBody>
          <a:bodyPr wrap="square">
            <a:spAutoFit/>
          </a:bodyPr>
          <a:lstStyle/>
          <a:p>
            <a:pPr>
              <a:defRPr sz="2600" b="1">
                <a:solidFill>
                  <a:srgbClr val="1F4E79"/>
                </a:solidFill>
                <a:latin typeface="Times New Roman"/>
              </a:defRPr>
            </a:pPr>
            <a:r>
              <a:rPr sz="2600" b="1">
                <a:solidFill>
                  <a:srgbClr val="1F4E79"/>
                </a:solidFill>
                <a:latin typeface="Times New Roman"/>
              </a:rPr>
              <a:t>References</a:t>
            </a:r>
          </a:p>
          <a:p>
            <a:pPr>
              <a:defRPr sz="1250" b="0">
                <a:solidFill>
                  <a:srgbClr val="5F5F5F"/>
                </a:solidFill>
                <a:latin typeface="Times New Roman"/>
              </a:defRPr>
            </a:pPr>
            <a:r>
              <a:rPr sz="1250" b="0">
                <a:solidFill>
                  <a:srgbClr val="5F5F5F"/>
                </a:solidFill>
                <a:latin typeface="Times New Roman"/>
              </a:rPr>
              <a:t>Peer-reviewed versions. Citation counts from Semantic Scholar, 7 August 2026. All entries are live links.</a:t>
            </a:r>
          </a:p>
        </p:txBody>
      </p:sp>
      <p:sp>
        <p:nvSpPr>
          <p:cNvPr id="3" name="Rectangle 2"/>
          <p:cNvSpPr/>
          <p:nvPr/>
        </p:nvSpPr>
        <p:spPr>
          <a:xfrm>
            <a:off x="566928" y="1152144"/>
            <a:ext cx="11064240" cy="16459"/>
          </a:xfrm>
          <a:prstGeom prst="rect">
            <a:avLst/>
          </a:prstGeom>
          <a:solidFill>
            <a:srgbClr val="B8C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371600"/>
            <a:ext cx="11064240" cy="5166360"/>
          </a:xfrm>
          <a:prstGeom prst="rect">
            <a:avLst/>
          </a:prstGeom>
          <a:noFill/>
        </p:spPr>
        <p:txBody>
          <a:bodyPr wrap="square">
            <a:spAutoFit/>
          </a:bodyPr>
          <a:lstStyle/>
          <a:p>
            <a:pPr>
              <a:spcAft>
                <a:spcPts val="200"/>
              </a:spcAft>
            </a:pPr>
            <a:r>
              <a:rPr sz="900">
                <a:solidFill>
                  <a:srgbClr val="1A1A1A"/>
                </a:solidFill>
                <a:latin typeface="Times New Roman"/>
              </a:rPr>
              <a:t>[1]  Tellez et al. Quantifying the effects of data augmentation and stain color normalization in convolutional neural networks for computational pathology. Medical Image Analysis 58:101544, 2019. 656 cites.  </a:t>
            </a:r>
            <a:r>
              <a:rPr sz="900">
                <a:latin typeface="Times New Roman"/>
                <a:hlinkClick r:id="rId2"/>
              </a:rPr>
              <a:t>https://doi.org/10.1016/j.media.2019.101544</a:t>
            </a:r>
          </a:p>
          <a:p>
            <a:pPr>
              <a:spcAft>
                <a:spcPts val="200"/>
              </a:spcAft>
            </a:pPr>
            <a:r>
              <a:rPr sz="900">
                <a:solidFill>
                  <a:srgbClr val="1A1A1A"/>
                </a:solidFill>
                <a:latin typeface="Times New Roman"/>
              </a:rPr>
              <a:t>[2]  Che, Cheng, Jin, Chen. Towards Generalizable Diabetic Retinopathy Grading in Unseen Domains. MICCAI 2023, 430-440. 46 cites.  </a:t>
            </a:r>
            <a:r>
              <a:rPr sz="900">
                <a:latin typeface="Times New Roman"/>
                <a:hlinkClick r:id="rId3"/>
              </a:rPr>
              <a:t>https://doi.org/10.1007/978-3-031-43904-9_42</a:t>
            </a:r>
          </a:p>
          <a:p>
            <a:pPr>
              <a:spcAft>
                <a:spcPts val="200"/>
              </a:spcAft>
            </a:pPr>
            <a:r>
              <a:rPr sz="900">
                <a:solidFill>
                  <a:srgbClr val="1A1A1A"/>
                </a:solidFill>
                <a:latin typeface="Times New Roman"/>
              </a:rPr>
              <a:t>[3]  Lin, Shi, Zhang, Shang, He, Ge. Camera Adaptation for Fundus-Image-Based CVD Risk Estimation. MICCAI 2022, 593-603. 5 cites.  </a:t>
            </a:r>
            <a:r>
              <a:rPr sz="900">
                <a:latin typeface="Times New Roman"/>
                <a:hlinkClick r:id="rId4"/>
              </a:rPr>
              <a:t>https://doi.org/10.1007/978-3-031-16434-7_57</a:t>
            </a:r>
          </a:p>
          <a:p>
            <a:pPr>
              <a:spcAft>
                <a:spcPts val="200"/>
              </a:spcAft>
            </a:pPr>
            <a:r>
              <a:rPr sz="900">
                <a:solidFill>
                  <a:srgbClr val="1A1A1A"/>
                </a:solidFill>
                <a:latin typeface="Times New Roman"/>
              </a:rPr>
              <a:t>[4]  Gulrajani, Lopez-Paz. In Search of Lost Domain Generalization. ICLR 2021. 1,504 cites.  </a:t>
            </a:r>
            <a:r>
              <a:rPr sz="900">
                <a:latin typeface="Times New Roman"/>
                <a:hlinkClick r:id="rId5"/>
              </a:rPr>
              <a:t>https://openreview.net/forum?id=lQdXeXDoWtI</a:t>
            </a:r>
          </a:p>
          <a:p>
            <a:pPr>
              <a:spcAft>
                <a:spcPts val="200"/>
              </a:spcAft>
            </a:pPr>
            <a:r>
              <a:rPr sz="900">
                <a:solidFill>
                  <a:srgbClr val="1A1A1A"/>
                </a:solidFill>
                <a:latin typeface="Times New Roman"/>
              </a:rPr>
              <a:t>[5]  Boudiaf, Mueller, Ben Ayed, Bertinetto. Parameter-free Online Test-time Adaptation. CVPR 2022, 8344-8353. 250 cites.  </a:t>
            </a:r>
            <a:r>
              <a:rPr sz="900">
                <a:latin typeface="Times New Roman"/>
                <a:hlinkClick r:id="rId6"/>
              </a:rPr>
              <a:t>https://doi.org/10.1109/CVPR52688.2022.00816</a:t>
            </a:r>
          </a:p>
          <a:p>
            <a:pPr>
              <a:spcAft>
                <a:spcPts val="200"/>
              </a:spcAft>
            </a:pPr>
            <a:r>
              <a:rPr sz="900">
                <a:solidFill>
                  <a:srgbClr val="1A1A1A"/>
                </a:solidFill>
                <a:latin typeface="Times New Roman"/>
              </a:rPr>
              <a:t>[6]  Roschewitz, Khara, Yearsley et al. Automatic correction of performance drift under acquisition shift in medical image classification. Nature Communications 14:6608, 2023. 42 cites.  </a:t>
            </a:r>
            <a:r>
              <a:rPr sz="900">
                <a:latin typeface="Times New Roman"/>
                <a:hlinkClick r:id="rId7"/>
              </a:rPr>
              <a:t>https://doi.org/10.1038/s41467-023-42396-y</a:t>
            </a:r>
          </a:p>
          <a:p>
            <a:pPr>
              <a:spcAft>
                <a:spcPts val="200"/>
              </a:spcAft>
            </a:pPr>
            <a:r>
              <a:rPr sz="900">
                <a:solidFill>
                  <a:srgbClr val="1A1A1A"/>
                </a:solidFill>
                <a:latin typeface="Times New Roman"/>
              </a:rPr>
              <a:t>[7]  Godau, Kalinowski, Christodoulou et al. Navigating prevalence shifts in image analysis algorithm deployment. Medical Image Analysis 102:103504, 2025.  </a:t>
            </a:r>
            <a:r>
              <a:rPr sz="900">
                <a:latin typeface="Times New Roman"/>
                <a:hlinkClick r:id="rId8"/>
              </a:rPr>
              <a:t>https://doi.org/10.1016/j.media.2025.103504</a:t>
            </a:r>
          </a:p>
          <a:p>
            <a:pPr>
              <a:spcAft>
                <a:spcPts val="200"/>
              </a:spcAft>
            </a:pPr>
            <a:r>
              <a:rPr sz="900">
                <a:solidFill>
                  <a:srgbClr val="1A1A1A"/>
                </a:solidFill>
                <a:latin typeface="Times New Roman"/>
              </a:rPr>
              <a:t>[8]  Lipton, Wang, Smola. Detecting and Correcting for Label Shift with Black Box Predictors. ICML 2018. 679 cites.  </a:t>
            </a:r>
            <a:r>
              <a:rPr sz="900">
                <a:latin typeface="Times New Roman"/>
                <a:hlinkClick r:id="rId9"/>
              </a:rPr>
              <a:t>https://proceedings.mlr.press/v80/lipton18a.html</a:t>
            </a:r>
          </a:p>
          <a:p>
            <a:pPr>
              <a:spcAft>
                <a:spcPts val="200"/>
              </a:spcAft>
            </a:pPr>
            <a:r>
              <a:rPr sz="900">
                <a:solidFill>
                  <a:srgbClr val="1A1A1A"/>
                </a:solidFill>
                <a:latin typeface="Times New Roman"/>
              </a:rPr>
              <a:t>[9]  Alexandari, Kundaje, Shrikumar. Maximum Likelihood with Bias-Corrected Calibration is Hard-To-Beat at Label Shift Adaptation. ICML 2020, 222-232.  </a:t>
            </a:r>
            <a:r>
              <a:rPr sz="900">
                <a:latin typeface="Times New Roman"/>
                <a:hlinkClick r:id="rId10"/>
              </a:rPr>
              <a:t>https://proceedings.mlr.press/v119/alexandari20a.html</a:t>
            </a:r>
          </a:p>
          <a:p>
            <a:pPr>
              <a:spcAft>
                <a:spcPts val="200"/>
              </a:spcAft>
            </a:pPr>
            <a:r>
              <a:rPr sz="900">
                <a:solidFill>
                  <a:srgbClr val="1A1A1A"/>
                </a:solidFill>
                <a:latin typeface="Times New Roman"/>
              </a:rPr>
              <a:t>[10]  Garg, Wu, Balakrishnan, Lipton. A Unified View of Label Shift Estimation. NeurIPS 2020. 179 cites.  </a:t>
            </a:r>
            <a:r>
              <a:rPr sz="900">
                <a:latin typeface="Times New Roman"/>
                <a:hlinkClick r:id="rId11"/>
              </a:rPr>
              <a:t>https://proceedings.neurips.cc/paper/2020/hash/219e052492f4008818b8adb6366c7ed6-Abstract.html</a:t>
            </a:r>
          </a:p>
          <a:p>
            <a:pPr>
              <a:spcAft>
                <a:spcPts val="200"/>
              </a:spcAft>
            </a:pPr>
            <a:r>
              <a:rPr sz="900">
                <a:solidFill>
                  <a:srgbClr val="1A1A1A"/>
                </a:solidFill>
                <a:latin typeface="Times New Roman"/>
              </a:rPr>
              <a:t>[11]  Fawcett. An introduction to ROC analysis. Pattern Recognition Letters 27(8):861-874, 2006. 21,726 cites.  </a:t>
            </a:r>
            <a:r>
              <a:rPr sz="900">
                <a:latin typeface="Times New Roman"/>
                <a:hlinkClick r:id="rId12"/>
              </a:rPr>
              <a:t>https://doi.org/10.1016/j.patrec.2005.10.010</a:t>
            </a:r>
          </a:p>
          <a:p>
            <a:pPr>
              <a:spcAft>
                <a:spcPts val="200"/>
              </a:spcAft>
            </a:pPr>
            <a:r>
              <a:rPr sz="900">
                <a:solidFill>
                  <a:srgbClr val="1A1A1A"/>
                </a:solidFill>
                <a:latin typeface="Times New Roman"/>
              </a:rPr>
              <a:t>[12]  Shrout, Fleiss. Intraclass correlations: uses in assessing rater reliability. Psychological Bulletin 86(2):420-428, 1979.  </a:t>
            </a:r>
            <a:r>
              <a:rPr sz="900">
                <a:latin typeface="Times New Roman"/>
                <a:hlinkClick r:id="rId13"/>
              </a:rPr>
              <a:t>https://doi.org/10.1037/0033-2909.86.2.420</a:t>
            </a:r>
          </a:p>
          <a:p>
            <a:pPr>
              <a:spcAft>
                <a:spcPts val="200"/>
              </a:spcAft>
            </a:pPr>
            <a:r>
              <a:rPr sz="900">
                <a:solidFill>
                  <a:srgbClr val="1A1A1A"/>
                </a:solidFill>
                <a:latin typeface="Times New Roman"/>
              </a:rPr>
              <a:t>[13]  Ilse, Tomczak, Welling. Attention-based Deep Multiple Instance Learning. ICML 2018. 2,691 cites.  </a:t>
            </a:r>
            <a:r>
              <a:rPr sz="900">
                <a:latin typeface="Times New Roman"/>
                <a:hlinkClick r:id="rId14"/>
              </a:rPr>
              <a:t>https://proceedings.mlr.press/v80/ilse18a.html</a:t>
            </a:r>
          </a:p>
          <a:p>
            <a:pPr>
              <a:spcAft>
                <a:spcPts val="200"/>
              </a:spcAft>
            </a:pPr>
            <a:r>
              <a:rPr sz="900">
                <a:solidFill>
                  <a:srgbClr val="1A1A1A"/>
                </a:solidFill>
                <a:latin typeface="Times New Roman"/>
              </a:rPr>
              <a:t>[14]  Shuai, Wu, Tang, Restrepo, Morley, Nakayama. Enhancing AI-based diabetic retinopathy screening in LMICs with synthetic data (RetSyn). Journal of Biomedical Informatics 172:104938, 2025.  </a:t>
            </a:r>
            <a:r>
              <a:rPr sz="900">
                <a:latin typeface="Times New Roman"/>
                <a:hlinkClick r:id="rId15"/>
              </a:rPr>
              <a:t>https://doi.org/10.1016/j.jbi.2025.104938</a:t>
            </a:r>
          </a:p>
          <a:p>
            <a:pPr>
              <a:spcAft>
                <a:spcPts val="200"/>
              </a:spcAft>
            </a:pPr>
            <a:r>
              <a:rPr sz="900">
                <a:solidFill>
                  <a:srgbClr val="1A1A1A"/>
                </a:solidFill>
                <a:latin typeface="Times New Roman"/>
              </a:rPr>
              <a:t>[15]  Nakayama, Restrepo et al. BRSET: A Brazilian Multilabel Ophthalmological Dataset. PLOS Digital Health 3(7):e0000454, 2024.  </a:t>
            </a:r>
            <a:r>
              <a:rPr sz="900">
                <a:latin typeface="Times New Roman"/>
                <a:hlinkClick r:id="rId16"/>
              </a:rPr>
              <a:t>https://doi.org/10.1371/journal.pdig.0000454</a:t>
            </a:r>
          </a:p>
          <a:p>
            <a:pPr>
              <a:spcAft>
                <a:spcPts val="200"/>
              </a:spcAft>
            </a:pPr>
            <a:r>
              <a:rPr sz="900">
                <a:solidFill>
                  <a:srgbClr val="1A1A1A"/>
                </a:solidFill>
                <a:latin typeface="Times New Roman"/>
              </a:rPr>
              <a:t>[16]  Wu, Restrepo, Nakayama et al. A portable retina fundus photos dataset for clinical, demographic, and diabetic retinopathy prediction (mBRSET). Scientific Data 12:340, 2025.  </a:t>
            </a:r>
            <a:r>
              <a:rPr sz="900">
                <a:latin typeface="Times New Roman"/>
                <a:hlinkClick r:id="rId17"/>
              </a:rPr>
              <a:t>https://doi.org/10.1038/s41597-025-04672-y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