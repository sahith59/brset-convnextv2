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Part 2 — BRSET → mBRSET</a:t>
            </a:r>
          </a:p>
          <a:p>
            <a:pPr>
              <a:defRPr sz="1300">
                <a:solidFill>
                  <a:srgbClr val="6B6B6B"/>
                </a:solidFill>
              </a:defRPr>
            </a:pPr>
            <a:r>
              <a:t>Literature review and proposed direction   |   Sahith Reddy Thummala   |   For: Dr. Dong Hye 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173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4E79"/>
                </a:solidFill>
              </a:defRPr>
            </a:pPr>
            <a:r>
              <a:t>How this review was done differently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965960"/>
            <a:ext cx="2377440" cy="77724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rPr sz="1300" b="1">
                <a:solidFill>
                  <a:srgbClr val="FFFFFF"/>
                </a:solidFill>
              </a:rPr>
              <a:t>Published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2020824"/>
            <a:ext cx="8503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</a:defRPr>
            </a:pPr>
            <a:r>
              <a:t>Peer-reviewed version cited, not the preprint.</a:t>
            </a:r>
            <a:br/>
            <a:r>
              <a:t>Preprint-only work labelled weak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898648"/>
            <a:ext cx="2377440" cy="77724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rPr sz="1300" b="1">
                <a:solidFill>
                  <a:srgbClr val="FFFFFF"/>
                </a:solidFill>
              </a:rPr>
              <a:t>Counted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80" y="2953512"/>
            <a:ext cx="8503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</a:defRPr>
            </a:pPr>
            <a:r>
              <a:t>Citation counts pulled by DOI from the</a:t>
            </a:r>
            <a:br/>
            <a:r>
              <a:t>Semantic Scholar API, not title matching.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3831335"/>
            <a:ext cx="2377440" cy="77724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rPr sz="1300" b="1">
                <a:solidFill>
                  <a:srgbClr val="FFFFFF"/>
                </a:solidFill>
              </a:rPr>
              <a:t>Read, not skimmed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3886199"/>
            <a:ext cx="8503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</a:defRPr>
            </a:pPr>
            <a:r>
              <a:t>PDFs obtained; results tables extracted</a:t>
            </a:r>
            <a:br/>
            <a:r>
              <a:t>from source, not from search summaries.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4764023"/>
            <a:ext cx="2377440" cy="77724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rPr sz="1300" b="1">
                <a:solidFill>
                  <a:srgbClr val="FFFFFF"/>
                </a:solidFill>
              </a:rPr>
              <a:t>Exhaustive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4818887"/>
            <a:ext cx="8503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</a:defRPr>
            </a:pPr>
            <a:r>
              <a:t>Full citation graph of both dataset papers</a:t>
            </a:r>
            <a:br/>
            <a:r>
              <a:t>enumerated, plus GitHub and preprint servers.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85216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B6B6B"/>
                </a:solidFill>
              </a:defRPr>
            </a:pPr>
            <a:r>
              <a:t>Three independent sub-reviews, cross-checked: device adaptation · prevalence shift · aggregation theory.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What the literature establishes</a:t>
            </a:r>
          </a:p>
          <a:p>
            <a:pPr>
              <a:defRPr sz="1300">
                <a:solidFill>
                  <a:srgbClr val="6B6B6B"/>
                </a:solidFill>
              </a:defRPr>
            </a:pPr>
            <a:r>
              <a:t>Venue and citation count for every claim.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46304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525"/>
                <a:gridCol w="5341357"/>
                <a:gridCol w="2289153"/>
                <a:gridCol w="2289153"/>
                <a:gridCol w="763051"/>
              </a:tblGrid>
              <a:tr h="47026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marL="64008" marR="64008" marT="22860" marB="2286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Finding</a:t>
                      </a:r>
                    </a:p>
                  </a:txBody>
                  <a:tcPr marL="64008" marR="64008" marT="22860" marB="2286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 marL="64008" marR="64008" marT="22860" marB="2286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Venue</a:t>
                      </a:r>
                    </a:p>
                  </a:txBody>
                  <a:tcPr marL="64008" marR="64008" marT="22860" marB="2286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Cites</a:t>
                      </a:r>
                    </a:p>
                  </a:txBody>
                  <a:tcPr marL="64008" marR="64008" marT="22860" marB="22860">
                    <a:solidFill>
                      <a:srgbClr val="1F4E7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✓</a:t>
                      </a:r>
                    </a:p>
                  </a:txBody>
                  <a:tcPr marL="64008" marR="64008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Appearance augmentation beats every adaptation method</a:t>
                      </a:r>
                    </a:p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tested for cross-scanner shift</a:t>
                      </a:r>
                    </a:p>
                  </a:txBody>
                  <a:tcPr marL="64008" marR="64008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Tellez et al.</a:t>
                      </a:r>
                    </a:p>
                  </a:txBody>
                  <a:tcPr marL="64008" marR="64008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Med. Image Anal. 2019</a:t>
                      </a:r>
                    </a:p>
                  </a:txBody>
                  <a:tcPr marL="64008" marR="64008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656</a:t>
                      </a:r>
                    </a:p>
                  </a:txBody>
                  <a:tcPr marL="64008" marR="64008" marT="22860" marB="2286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✓</a:t>
                      </a:r>
                    </a:p>
                  </a:txBody>
                  <a:tcPr marL="64008" marR="64008" marT="22860" marB="2286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Fundus DR across 6 datasets: AUC 75.9 → 82.6.</a:t>
                      </a:r>
                    </a:p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Augmentation alone contributes +3.4</a:t>
                      </a:r>
                    </a:p>
                  </a:txBody>
                  <a:tcPr marL="64008" marR="64008" marT="22860" marB="2286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Che et al. (GDRNet)</a:t>
                      </a:r>
                    </a:p>
                  </a:txBody>
                  <a:tcPr marL="64008" marR="64008" marT="22860" marB="2286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MICCAI 2023</a:t>
                      </a:r>
                    </a:p>
                  </a:txBody>
                  <a:tcPr marL="64008" marR="64008" marT="22860" marB="2286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46</a:t>
                      </a:r>
                    </a:p>
                  </a:txBody>
                  <a:tcPr marL="64008" marR="64008" marT="22860" marB="22860">
                    <a:solidFill>
                      <a:srgbClr val="F3F5F8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✗</a:t>
                      </a:r>
                    </a:p>
                  </a:txBody>
                  <a:tcPr marL="64008" marR="64008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DANN, MDD, CycleGAN all COLLAPSE on real</a:t>
                      </a:r>
                    </a:p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tabletop → portable fundus data</a:t>
                      </a:r>
                    </a:p>
                  </a:txBody>
                  <a:tcPr marL="64008" marR="64008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Lin et al.</a:t>
                      </a:r>
                    </a:p>
                  </a:txBody>
                  <a:tcPr marL="64008" marR="64008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MICCAI 2022</a:t>
                      </a:r>
                    </a:p>
                  </a:txBody>
                  <a:tcPr marL="64008" marR="64008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5</a:t>
                      </a:r>
                    </a:p>
                  </a:txBody>
                  <a:tcPr marL="64008" marR="64008" marT="22860" marB="2286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✗</a:t>
                      </a:r>
                    </a:p>
                  </a:txBody>
                  <a:tcPr marL="64008" marR="64008" marT="22860" marB="2286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No domain-generalization method reliably beats</a:t>
                      </a:r>
                    </a:p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plain training under fair evaluation</a:t>
                      </a:r>
                    </a:p>
                  </a:txBody>
                  <a:tcPr marL="64008" marR="64008" marT="22860" marB="2286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Gulrajani &amp; Lopez-Paz</a:t>
                      </a:r>
                    </a:p>
                  </a:txBody>
                  <a:tcPr marL="64008" marR="64008" marT="22860" marB="2286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ICLR 2021</a:t>
                      </a:r>
                    </a:p>
                  </a:txBody>
                  <a:tcPr marL="64008" marR="64008" marT="22860" marB="2286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1,504</a:t>
                      </a:r>
                    </a:p>
                  </a:txBody>
                  <a:tcPr marL="64008" marR="64008" marT="22860" marB="22860">
                    <a:solidFill>
                      <a:srgbClr val="F3F5F8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✗</a:t>
                      </a:r>
                    </a:p>
                  </a:txBody>
                  <a:tcPr marL="64008" marR="64008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Test-time adaptation loses up to 66 points under</a:t>
                      </a:r>
                    </a:p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prior shift — our exact regime</a:t>
                      </a:r>
                    </a:p>
                  </a:txBody>
                  <a:tcPr marL="64008" marR="64008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Boudiaf et al. (LAME)</a:t>
                      </a:r>
                    </a:p>
                  </a:txBody>
                  <a:tcPr marL="64008" marR="64008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CVPR 2022</a:t>
                      </a:r>
                    </a:p>
                  </a:txBody>
                  <a:tcPr marL="64008" marR="64008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250</a:t>
                      </a:r>
                    </a:p>
                  </a:txBody>
                  <a:tcPr marL="64008" marR="64008" marT="22860" marB="22860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~</a:t>
                      </a:r>
                    </a:p>
                  </a:txBody>
                  <a:tcPr marL="64008" marR="64008" marT="22860" marB="2286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Threshold can be fixed with no target labels, but the</a:t>
                      </a:r>
                    </a:p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method assumes prevalence is unchanged</a:t>
                      </a:r>
                    </a:p>
                  </a:txBody>
                  <a:tcPr marL="64008" marR="64008" marT="22860" marB="2286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Roschewitz et al.</a:t>
                      </a:r>
                    </a:p>
                  </a:txBody>
                  <a:tcPr marL="64008" marR="64008" marT="22860" marB="2286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Nature Comms 2023</a:t>
                      </a:r>
                    </a:p>
                  </a:txBody>
                  <a:tcPr marL="64008" marR="64008" marT="22860" marB="2286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42</a:t>
                      </a:r>
                    </a:p>
                  </a:txBody>
                  <a:tcPr marL="64008" marR="64008" marT="22860" marB="2286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4983480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7A3C"/>
                </a:solidFill>
              </a:defRPr>
            </a:pPr>
            <a:r>
              <a:t>✓  strongest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4983480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33A1A"/>
                </a:solidFill>
              </a:defRPr>
            </a:pPr>
            <a:r>
              <a:t>✗  published evidence of failure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4983480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8600"/>
                </a:solidFill>
              </a:defRPr>
            </a:pPr>
            <a:r>
              <a:t>~  works, but assumptions break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57784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F4E79"/>
                </a:solidFill>
              </a:defRPr>
            </a:pPr>
            <a:r>
              <a:t>Augmentation is the only intervention with peer-reviewed evidence of raising AUC under real fundus device shift.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What the gap is actually made of</a:t>
            </a:r>
          </a:p>
          <a:p>
            <a:pPr>
              <a:defRPr sz="1300">
                <a:solidFill>
                  <a:srgbClr val="6B6B6B"/>
                </a:solidFill>
              </a:defRPr>
            </a:pPr>
            <a:r>
              <a:t>Diabetic retinopathy, F1 on mBRSET. Every figure measured on our own data.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286000"/>
            <a:ext cx="3790603" cy="868680"/>
          </a:xfrm>
          <a:prstGeom prst="roundRect">
            <a:avLst/>
          </a:prstGeom>
          <a:solidFill>
            <a:srgbClr val="1E7A3C"/>
          </a:solidFill>
          <a:ln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+0.056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64408"/>
            <a:ext cx="379060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>
                <a:solidFill>
                  <a:srgbClr val="1A1A1A"/>
                </a:solidFill>
              </a:defRPr>
            </a:pPr>
            <a:r>
              <a:t>fixed by</a:t>
            </a:r>
            <a:br/>
            <a:r>
              <a:t>retuning the cutoff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13563" y="2286000"/>
            <a:ext cx="3249088" cy="868680"/>
          </a:xfrm>
          <a:prstGeom prst="roundRect">
            <a:avLst/>
          </a:prstGeom>
          <a:solidFill>
            <a:srgbClr val="C88600"/>
          </a:solidFill>
          <a:ln>
            <a:solidFill>
              <a:srgbClr val="C88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+0.048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13563" y="3264408"/>
            <a:ext cx="3249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>
                <a:solidFill>
                  <a:srgbClr val="1A1A1A"/>
                </a:solidFill>
              </a:defRPr>
            </a:pPr>
            <a:r>
              <a:t>still reachable</a:t>
            </a:r>
            <a:br/>
            <a:r>
              <a:t>by a better cutoff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2652" y="2286000"/>
            <a:ext cx="3384467" cy="868680"/>
          </a:xfrm>
          <a:prstGeom prst="roundRect">
            <a:avLst/>
          </a:prstGeom>
          <a:solidFill>
            <a:srgbClr val="B33A1A"/>
          </a:solidFill>
          <a:ln>
            <a:solidFill>
              <a:srgbClr val="B33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+0.050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2652" y="3264408"/>
            <a:ext cx="338446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>
                <a:solidFill>
                  <a:srgbClr val="1A1A1A"/>
                </a:solidFill>
              </a:defRPr>
            </a:pPr>
            <a:r>
              <a:t>needs better ranking</a:t>
            </a:r>
            <a:br/>
            <a:r>
              <a:t>(higher AUC)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" y="1627632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4E79"/>
                </a:solidFill>
              </a:defRPr>
            </a:pPr>
            <a:r>
              <a:t>0.661</a:t>
            </a:r>
            <a:br/>
            <a:r>
              <a:t>source cutoff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36323" y="1627632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4E79"/>
                </a:solidFill>
              </a:defRPr>
            </a:pPr>
            <a:r>
              <a:t>0.717</a:t>
            </a:r>
            <a:br/>
            <a:r>
              <a:t>where we 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5412" y="1627632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4E79"/>
                </a:solidFill>
              </a:defRPr>
            </a:pPr>
            <a:r>
              <a:t>0.765</a:t>
            </a:r>
            <a:br/>
            <a:r>
              <a:t>best any cutoff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69880" y="1627632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4E79"/>
                </a:solidFill>
              </a:defRPr>
            </a:pPr>
            <a:r>
              <a:t>0.815</a:t>
            </a:r>
            <a:br/>
            <a:r>
              <a:t>trained on mBRSET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1064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1A1A1A"/>
                </a:solidFill>
              </a:defRPr>
            </a:pPr>
            <a:r>
              <a:t>• Threshold retuning alone recovered a third of the loss — no retraining.</a:t>
            </a:r>
          </a:p>
          <a:p>
            <a:pPr>
              <a:spcAft>
                <a:spcPts val="900"/>
              </a:spcAft>
              <a:defRPr sz="1300">
                <a:solidFill>
                  <a:srgbClr val="1A1A1A"/>
                </a:solidFill>
              </a:defRPr>
            </a:pPr>
            <a:r>
              <a:t>• The 0.765 ceiling was measured by sweeping every attainable cutoff. Monotone post-processing cannot exceed it, by set inclusion — so calibration, temperature scaling and label-shift correction are provably ruled out from here.</a:t>
            </a:r>
          </a:p>
          <a:p>
            <a:pPr>
              <a:spcAft>
                <a:spcPts val="900"/>
              </a:spcAft>
              <a:defRPr sz="1300">
                <a:solidFill>
                  <a:srgbClr val="1A1A1A"/>
                </a:solidFill>
              </a:defRPr>
            </a:pPr>
            <a:r>
              <a:t>• The shift is not label shift: ROC is invariant to class distribution (Fawcett 2006, 21,726 cites), yet our AUC fell 0.988 → 0.909.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8978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F4E79"/>
                </a:solidFill>
              </a:defRPr>
            </a:pPr>
            <a:r>
              <a:t>Most cross-device papers report one number and blame the model. The split is computable.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We tested our own proposal before building it</a:t>
            </a:r>
          </a:p>
          <a:p>
            <a:pPr>
              <a:defRPr sz="1300">
                <a:solidFill>
                  <a:srgbClr val="6B6B6B"/>
                </a:solidFill>
              </a:defRPr>
            </a:pPr>
            <a:r>
              <a:t>Theory reduced multi-view aggregation to one measurable quantity, so it could be falsified in minutes.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4846320" cy="566928"/>
          </a:xfrm>
          <a:prstGeom prst="roundRect">
            <a:avLst/>
          </a:prstGeom>
          <a:solidFill>
            <a:srgbClr val="ECEFF4"/>
          </a:solidFill>
          <a:ln>
            <a:solidFill>
              <a:srgbClr val="ECEF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sz="1400" b="1">
                <a:solidFill>
                  <a:srgbClr val="1A1A1A"/>
                </a:solidFill>
              </a:rPr>
              <a:t>AUC_K  =  Φ( z₁ · √( K / (1 + (K−1)ρ) ) 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06440" y="1481328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</a:defRPr>
            </a:pPr>
            <a:r>
              <a:t>ρ = within-patient score correlation.</a:t>
            </a:r>
            <a:br/>
            <a:r>
              <a:t>Measured, not assumed: ρ = 0.363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B6B6B"/>
                </a:solidFill>
              </a:defRPr>
            </a:pPr>
            <a:r>
              <a:t>PREDICTED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33172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B6B6B"/>
                </a:solidFill>
              </a:defRPr>
            </a:pPr>
            <a:r>
              <a:t>MEASURED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34639"/>
            <a:ext cx="3108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1A1A1A"/>
                </a:solidFill>
              </a:defRPr>
            </a:pPr>
            <a:r>
              <a:t>Diabetic retinopathy</a:t>
            </a:r>
            <a:br/>
            <a:r>
              <a:t>4 images / patient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2788920"/>
            <a:ext cx="1371600" cy="548640"/>
          </a:xfrm>
          <a:prstGeom prst="roundRect">
            <a:avLst/>
          </a:prstGeom>
          <a:solidFill>
            <a:srgbClr val="D8DDE6"/>
          </a:solidFill>
          <a:ln>
            <a:solidFill>
              <a:srgbClr val="D8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sz="1400" b="1">
                <a:solidFill>
                  <a:srgbClr val="1A1A1A"/>
                </a:solidFill>
              </a:rPr>
              <a:t>0.968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349240" y="2962656"/>
            <a:ext cx="640080" cy="201168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2788920"/>
            <a:ext cx="1371600" cy="548640"/>
          </a:xfrm>
          <a:prstGeom prst="roundRect">
            <a:avLst/>
          </a:prstGeom>
          <a:solidFill>
            <a:srgbClr val="B33A1A"/>
          </a:solidFill>
          <a:ln>
            <a:solidFill>
              <a:srgbClr val="B33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0.842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834639"/>
            <a:ext cx="3840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33A1A"/>
                </a:solidFill>
              </a:defRPr>
            </a:pPr>
            <a:r>
              <a:t>prediction failed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47872"/>
            <a:ext cx="3108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1A1A1A"/>
                </a:solidFill>
              </a:defRPr>
            </a:pPr>
            <a:r>
              <a:t>Diabetic retinopathy</a:t>
            </a:r>
            <a:br/>
            <a:r>
              <a:t>2 images / eye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4760" y="3502152"/>
            <a:ext cx="1371600" cy="548640"/>
          </a:xfrm>
          <a:prstGeom prst="roundRect">
            <a:avLst/>
          </a:prstGeom>
          <a:solidFill>
            <a:srgbClr val="D8DDE6"/>
          </a:solidFill>
          <a:ln>
            <a:solidFill>
              <a:srgbClr val="D8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sz="1400" b="1">
                <a:solidFill>
                  <a:srgbClr val="1A1A1A"/>
                </a:solidFill>
              </a:rPr>
              <a:t>0.940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3675888"/>
            <a:ext cx="640080" cy="201168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3502152"/>
            <a:ext cx="1371600" cy="548640"/>
          </a:xfrm>
          <a:prstGeom prst="roundRect">
            <a:avLst/>
          </a:prstGeom>
          <a:solidFill>
            <a:srgbClr val="B33A1A"/>
          </a:solidFill>
          <a:ln>
            <a:solidFill>
              <a:srgbClr val="B33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0.883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547872"/>
            <a:ext cx="3840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33A1A"/>
                </a:solidFill>
              </a:defRPr>
            </a:pPr>
            <a:r>
              <a:t>prediction failed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261104"/>
            <a:ext cx="3108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1A1A1A"/>
                </a:solidFill>
              </a:defRPr>
            </a:pPr>
            <a:r>
              <a:t>Macular edema</a:t>
            </a:r>
            <a:br/>
            <a:r>
              <a:t>max over 4 images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4215384"/>
            <a:ext cx="1371600" cy="548640"/>
          </a:xfrm>
          <a:prstGeom prst="roundRect">
            <a:avLst/>
          </a:prstGeom>
          <a:solidFill>
            <a:srgbClr val="D8DDE6"/>
          </a:solidFill>
          <a:ln>
            <a:solidFill>
              <a:srgbClr val="D8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sz="1400" b="1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349240" y="4389120"/>
            <a:ext cx="640080" cy="201168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2200" y="4215384"/>
            <a:ext cx="1371600" cy="548640"/>
          </a:xfrm>
          <a:prstGeom prst="roundRect">
            <a:avLst/>
          </a:prstGeom>
          <a:solidFill>
            <a:srgbClr val="1E7A3C"/>
          </a:solidFill>
          <a:ln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0.969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261104"/>
            <a:ext cx="3840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7A3C"/>
                </a:solidFill>
              </a:defRPr>
            </a:pPr>
            <a:r>
              <a:t>worked — and theory says why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029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1A1A1A"/>
                </a:solidFill>
              </a:defRPr>
            </a:pPr>
            <a:r>
              <a:t>• Why: 14.5% of patients have one eye affected and one clear, so averaging pulls the diseased eye toward the healthy one. Mean-pooling is provably wrong for heterogeneous groups.</a:t>
            </a:r>
          </a:p>
          <a:p>
            <a:pPr>
              <a:spcAft>
                <a:spcPts val="900"/>
              </a:spcAft>
              <a:defRPr sz="1300">
                <a:solidFill>
                  <a:srgbClr val="1A1A1A"/>
                </a:solidFill>
              </a:defRPr>
            </a:pPr>
            <a:r>
              <a:t>• Macular edema is focal — it shows strongly in one image — so a maximum is the correct operator, and it delivers +0.036 AUC.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98932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B33A1A"/>
                </a:solidFill>
              </a:defRPr>
            </a:pPr>
            <a:r>
              <a:t>Reported, not buried. The prediction was wrong, the mechanism is understood, and it cost minutes.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Where the gap is, and what we propose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8016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4E79"/>
                </a:solidFill>
              </a:defRPr>
            </a:pPr>
            <a:r>
              <a:t>Nearest existing work — and what each leaves open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691640"/>
          <a:ext cx="11064237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39"/>
                <a:gridCol w="3291839"/>
                <a:gridCol w="4480559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Work</a:t>
                      </a:r>
                    </a:p>
                  </a:txBody>
                  <a:tcPr marL="64008" marR="64008" marT="22860" marB="2286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Does</a:t>
                      </a:r>
                    </a:p>
                  </a:txBody>
                  <a:tcPr marL="64008" marR="64008" marT="22860" marB="2286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Leaves open</a:t>
                      </a:r>
                    </a:p>
                  </a:txBody>
                  <a:tcPr marL="64008" marR="64008" marT="22860" marB="22860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RetSyn — J. Biomed. Inform. 2025</a:t>
                      </a:r>
                    </a:p>
                    <a:p>
                      <a:pPr algn="l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(same senior author as both datasets)</a:t>
                      </a:r>
                    </a:p>
                  </a:txBody>
                  <a:tcPr marL="64008" marR="64008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Synthetic data for tabletop → portable</a:t>
                      </a:r>
                    </a:p>
                  </a:txBody>
                  <a:tcPr marL="64008" marR="64008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Does not diagnose what breaks; no macular</a:t>
                      </a:r>
                    </a:p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edema; no decision-cutoff treatment</a:t>
                      </a:r>
                    </a:p>
                  </a:txBody>
                  <a:tcPr marL="64008" marR="64008" marT="22860" marB="2286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IEEE ISBI 2026</a:t>
                      </a:r>
                    </a:p>
                  </a:txBody>
                  <a:tcPr marL="64008" marR="64008" marT="22860" marB="2286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Reports the BRSET → mBRSET drop</a:t>
                      </a:r>
                    </a:p>
                  </a:txBody>
                  <a:tcPr marL="64008" marR="64008" marT="22860" marB="2286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Descriptive — not what the drop is made of,</a:t>
                      </a:r>
                    </a:p>
                    <a:p>
                      <a:pPr algn="ctr">
                        <a:defRPr sz="1100" b="0">
                          <a:solidFill>
                            <a:srgbClr val="1A1A1A"/>
                          </a:solidFill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</a:rPr>
                        <a:t>nor how to close it</a:t>
                      </a:r>
                    </a:p>
                  </a:txBody>
                  <a:tcPr marL="64008" marR="64008" marT="22860" marB="2286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29184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4E79"/>
                </a:solidFill>
              </a:defRPr>
            </a:pPr>
            <a:r>
              <a:t>Three openings the review did not find addressed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3703320"/>
            <a:ext cx="384048" cy="38404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3685032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1A1A1A"/>
                </a:solidFill>
              </a:defRPr>
            </a:pPr>
            <a:r>
              <a:t>Decomposing a cross-device gap into prevalence, calibration and ranking — and proving calibration is exhausted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325112"/>
            <a:ext cx="384048" cy="38404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43068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1A1A1A"/>
                </a:solidFill>
              </a:defRPr>
            </a:pPr>
            <a:r>
              <a:t>Label-shift correction for MULTI-LABEL sigmoid outputs. BBSE (ICML'18) and MLLS (ICML'20, NeurIPS'20) are all single-label. DR and ME co-occur, so per-label estimation is misspecified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4946903"/>
            <a:ext cx="384048" cy="38404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928616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1A1A1A"/>
                </a:solidFill>
              </a:defRPr>
            </a:pPr>
            <a:r>
              <a:t>The intersection where both published families break their own assumptions — one assumes prevalence is fixed (ours changes 6.6% → 23.3%), the other assumes p(x|y) is fixed (our AUC fell)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80644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7A3C"/>
                </a:solidFill>
              </a:defRPr>
            </a:pPr>
            <a:r>
              <a:t>Next step: fundus degradation augmentation — the only intervention with published evidence of raising AUC here — with the decomposition as the scientific 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References</a:t>
            </a:r>
          </a:p>
          <a:p>
            <a:pPr>
              <a:defRPr sz="1300">
                <a:solidFill>
                  <a:srgbClr val="6B6B6B"/>
                </a:solidFill>
              </a:defRPr>
            </a:pPr>
            <a:r>
              <a:t>Peer-reviewed versions. Counts: Semantic Scholar, 7 Aug 2026.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>
                <a:solidFill>
                  <a:srgbClr val="1A1A1A"/>
                </a:solidFill>
              </a:defRPr>
            </a:pPr>
            <a:r>
              <a:t>[1]  Tellez et al. Quantifying the effects of data augmentation and stain color normalization in CNNs for computational pathology. Medical Image Analysis 58:101544, 2019. 656 cites. doi.org/10.1016/j.media.2019.101544</a:t>
            </a:r>
          </a:p>
          <a:p>
            <a:pPr>
              <a:spcAft>
                <a:spcPts val="300"/>
              </a:spcAft>
              <a:defRPr sz="950">
                <a:solidFill>
                  <a:srgbClr val="1A1A1A"/>
                </a:solidFill>
              </a:defRPr>
            </a:pPr>
            <a:r>
              <a:t>[2]  Che, Cheng, Jin, Chen. Towards Generalizable Diabetic Retinopathy Grading in Unseen Domains. MICCAI 2023, 430–440. 46 cites. doi.org/10.1007/978-3-031-43904-9_42</a:t>
            </a:r>
          </a:p>
          <a:p>
            <a:pPr>
              <a:spcAft>
                <a:spcPts val="300"/>
              </a:spcAft>
              <a:defRPr sz="950">
                <a:solidFill>
                  <a:srgbClr val="1A1A1A"/>
                </a:solidFill>
              </a:defRPr>
            </a:pPr>
            <a:r>
              <a:t>[3]  Lin, Shi, Zhang, Shang, He, Ge. Camera Adaptation for Fundus-Image-Based CVD Risk Estimation. MICCAI 2022, 593–603. 5 cites. doi.org/10.1007/978-3-031-16434-7_57</a:t>
            </a:r>
          </a:p>
          <a:p>
            <a:pPr>
              <a:spcAft>
                <a:spcPts val="300"/>
              </a:spcAft>
              <a:defRPr sz="950">
                <a:solidFill>
                  <a:srgbClr val="1A1A1A"/>
                </a:solidFill>
              </a:defRPr>
            </a:pPr>
            <a:r>
              <a:t>[4]  Gulrajani, Lopez-Paz. In Search of Lost Domain Generalization. ICLR 2021. 1,504 cites. openreview.net/forum?id=lQdXeXDoWtI</a:t>
            </a:r>
          </a:p>
          <a:p>
            <a:pPr>
              <a:spcAft>
                <a:spcPts val="300"/>
              </a:spcAft>
              <a:defRPr sz="950">
                <a:solidFill>
                  <a:srgbClr val="1A1A1A"/>
                </a:solidFill>
              </a:defRPr>
            </a:pPr>
            <a:r>
              <a:t>[5]  Boudiaf, Mueller, Ben Ayed, Bertinetto. Parameter-free Online Test-time Adaptation. CVPR 2022, 8344–8353. 250 cites. doi.org/10.1109/CVPR52688.2022.00816</a:t>
            </a:r>
          </a:p>
          <a:p>
            <a:pPr>
              <a:spcAft>
                <a:spcPts val="300"/>
              </a:spcAft>
              <a:defRPr sz="950">
                <a:solidFill>
                  <a:srgbClr val="1A1A1A"/>
                </a:solidFill>
              </a:defRPr>
            </a:pPr>
            <a:r>
              <a:t>[6]  Roschewitz, Khara, Yearsley et al. Automatic correction of performance drift under acquisition shift in medical image classification. Nature Communications 14:6608, 2023. 42 cites. doi.org/10.1038/s41467-023-42396-y</a:t>
            </a:r>
          </a:p>
          <a:p>
            <a:pPr>
              <a:spcAft>
                <a:spcPts val="300"/>
              </a:spcAft>
              <a:defRPr sz="950">
                <a:solidFill>
                  <a:srgbClr val="1A1A1A"/>
                </a:solidFill>
              </a:defRPr>
            </a:pPr>
            <a:r>
              <a:t>[7]  Godau, Kalinowski, Christodoulou et al. Navigating prevalence shifts in image analysis algorithm deployment. Medical Image Analysis 102:103504, 2025 (MICCAI 2023). doi.org/10.1016/j.media.2025.103504</a:t>
            </a:r>
          </a:p>
          <a:p>
            <a:pPr>
              <a:spcAft>
                <a:spcPts val="300"/>
              </a:spcAft>
              <a:defRPr sz="950">
                <a:solidFill>
                  <a:srgbClr val="1A1A1A"/>
                </a:solidFill>
              </a:defRPr>
            </a:pPr>
            <a:r>
              <a:t>[8]  Lipton, Wang, Smola. Detecting and Correcting for Label Shift with Black Box Predictors. ICML 2018. 679 cites. proceedings.mlr.press/v80/lipton18a.html</a:t>
            </a:r>
          </a:p>
          <a:p>
            <a:pPr>
              <a:spcAft>
                <a:spcPts val="300"/>
              </a:spcAft>
              <a:defRPr sz="950">
                <a:solidFill>
                  <a:srgbClr val="1A1A1A"/>
                </a:solidFill>
              </a:defRPr>
            </a:pPr>
            <a:r>
              <a:t>[9]  Alexandari, Kundaje, Shrikumar. Maximum Likelihood with Bias-Corrected Calibration is Hard-To-Beat at Label Shift Adaptation. ICML 2020, 222–232. proceedings.mlr.press/v119/alexandari20a.html</a:t>
            </a:r>
          </a:p>
          <a:p>
            <a:pPr>
              <a:spcAft>
                <a:spcPts val="300"/>
              </a:spcAft>
              <a:defRPr sz="950">
                <a:solidFill>
                  <a:srgbClr val="1A1A1A"/>
                </a:solidFill>
              </a:defRPr>
            </a:pPr>
            <a:r>
              <a:t>[10]  Garg, Wu, Balakrishnan, Lipton. A Unified View of Label Shift Estimation. NeurIPS 2020. 179 cites.</a:t>
            </a:r>
          </a:p>
          <a:p>
            <a:pPr>
              <a:spcAft>
                <a:spcPts val="300"/>
              </a:spcAft>
              <a:defRPr sz="950">
                <a:solidFill>
                  <a:srgbClr val="1A1A1A"/>
                </a:solidFill>
              </a:defRPr>
            </a:pPr>
            <a:r>
              <a:t>[11]  Fawcett. An introduction to ROC analysis. Pattern Recognition Letters 27(8):861–874, 2006. 21,726 cites. doi.org/10.1016/j.patrec.2005.10.010</a:t>
            </a:r>
          </a:p>
          <a:p>
            <a:pPr>
              <a:spcAft>
                <a:spcPts val="300"/>
              </a:spcAft>
              <a:defRPr sz="950">
                <a:solidFill>
                  <a:srgbClr val="1A1A1A"/>
                </a:solidFill>
              </a:defRPr>
            </a:pPr>
            <a:r>
              <a:t>[12]  Wu, Jastrzębski, Park, Moy, Cho, Geras. Improving the Ability of DNNs to Use Information from Multiple Views in Breast Cancer Screening. MIDL 2020, PMLR 121:827–842.</a:t>
            </a:r>
          </a:p>
          <a:p>
            <a:pPr>
              <a:spcAft>
                <a:spcPts val="300"/>
              </a:spcAft>
              <a:defRPr sz="950">
                <a:solidFill>
                  <a:srgbClr val="1A1A1A"/>
                </a:solidFill>
              </a:defRPr>
            </a:pPr>
            <a:r>
              <a:t>[13]  Ilse, Tomczak, Welling. Attention-based Deep Multiple Instance Learning. ICML 2018. 2,691 cites.</a:t>
            </a:r>
          </a:p>
          <a:p>
            <a:pPr>
              <a:spcAft>
                <a:spcPts val="300"/>
              </a:spcAft>
              <a:defRPr sz="950">
                <a:solidFill>
                  <a:srgbClr val="1A1A1A"/>
                </a:solidFill>
              </a:defRPr>
            </a:pPr>
            <a:r>
              <a:t>[14]  Shuai, Wu, Tang, Restrepo, Morley, Nakayama. Enhancing AI-based diabetic retinopathy screening in LMICs with synthetic data. J. Biomedical Informatics 172:104938, 2025. doi.org/10.1016/j.jbi.2025.104938</a:t>
            </a:r>
          </a:p>
          <a:p>
            <a:pPr>
              <a:spcAft>
                <a:spcPts val="300"/>
              </a:spcAft>
              <a:defRPr sz="950">
                <a:solidFill>
                  <a:srgbClr val="1A1A1A"/>
                </a:solidFill>
              </a:defRPr>
            </a:pPr>
            <a:r>
              <a:t>[15]  Nakayama, Restrepo et al. BRSET. PLOS Digital Health 3(7):e0000454, 2024.  |  Wu, Restrepo, Nakayama et al. A portable retina fundus photos dataset (mBRSET). Scientific Data 12:340, 2025.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