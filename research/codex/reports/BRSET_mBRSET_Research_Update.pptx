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Times New Roman"/>
              </a:rPr>
              <a:t>BRSET to mBRSET Cross-Device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20574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1E1E1E"/>
                </a:solidFill>
                <a:latin typeface="Times New Roman"/>
              </a:rPr>
              <a:t>Evidence update: Step 4 seed-0 screen complete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65960" y="3063240"/>
            <a:ext cx="8229600" cy="9601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Natural joint training remains the strongest simple reference.
A novel method has not yet been established.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989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5A5A5A"/>
                </a:solidFill>
                <a:latin typeface="Times New Roman"/>
              </a:rPr>
              <a:t>15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Research question and evidence chain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Camera and population shift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Strong ordinary baselines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5508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Balance and exposure controls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81160" y="1965960"/>
            <a:ext cx="2377440" cy="105156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Preservation-constrained method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97180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89788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8823960" y="2267712"/>
            <a:ext cx="384048" cy="411480"/>
          </a:xfrm>
          <a:prstGeom prst="rightArrow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Completed evidence is separated from hypotheses and planned work.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Every proposed mechanism must beat the strongest fair baseline across seeds.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Validation guides design; the historically reused test split is not treated as untouched confirmation.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Fixed data and evaluation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41732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62656"/>
                <a:gridCol w="1316736"/>
                <a:gridCol w="1316736"/>
                <a:gridCol w="5376672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Images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Patients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BRSET train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11,372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5,966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Source fitting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train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3,402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899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Target fitting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validation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Checkpoint + thresholds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mBRSET test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732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193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Gated assessment; reused historically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77240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B0
mBRSET only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4160520"/>
            <a:ext cx="3246120" cy="11430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
BRSET + mBRSET jointly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83879" y="4160520"/>
            <a:ext cx="3246120" cy="11430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B2
BRSET then mBRSET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7150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5A5A5A"/>
                </a:solidFill>
                <a:latin typeface="Times New Roman"/>
              </a:rPr>
              <a:t>All arms: 5,775 updates, effective batch 64, same model/loss/augmentation/selection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0: fitted degradation matches selected appearance statistics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51560" y="1554480"/>
          <a:ext cx="10058399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8144"/>
                <a:gridCol w="2140085"/>
                <a:gridCol w="2140085"/>
                <a:gridCol w="214008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Preprocessing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Unchanged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Generic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Times New Roman"/>
                        </a:rPr>
                        <a:t>Fitted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Legacy 512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6.742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10.092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1.261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560 resize / 512 crop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8.474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12.011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E1E1E"/>
                          </a:solidFill>
                          <a:latin typeface="Times New Roman"/>
                        </a:rPr>
                        <a:t>4.294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03320"/>
            <a:ext cx="107899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Lower distance means closer agreement with five measured appearance statistics.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Frozen parameters improved the distance on patient-disjoint training-only images.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E1E1E"/>
                </a:solidFill>
                <a:latin typeface="Times New Roman"/>
              </a:rPr>
              <a:t>This does not establish lesion preservation, visual realism, or classifier benefit.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2: full-pool baseline results across three seeds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4980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A5A5A"/>
                </a:solidFill>
                <a:latin typeface="Times New Roman"/>
              </a:rPr>
              <a:t>Mean ± sample SD on the common 732-image mBRSET assessment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417320"/>
          <a:ext cx="11155675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9519"/>
                <a:gridCol w="2479039"/>
                <a:gridCol w="2479039"/>
                <a:gridCol w="2479039"/>
                <a:gridCol w="2479039"/>
              </a:tblGrid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0.8105 ± 0.0140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0.9395 ± 0.0052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0.8240 ± 0.0297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0.9835 ± 0.0130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0.8338 ± 0.0048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0.9467 ± 0.0020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0.8619 ± 0.0420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0.9945 ± 0.0005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9149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B2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0.8139 ± 0.0099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0.9416 ± 0.0031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0.8184 ± 0.0333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0.9882 ± 0.0014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772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DR: B1 − B0 = +0.0233
positive in 3/3 seeds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886200"/>
            <a:ext cx="5166360" cy="109728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ME: B1 − B0 = +0.0379
positive in 3/3 seeds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10652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9A6710"/>
                </a:solidFill>
                <a:latin typeface="Times New Roman"/>
              </a:rPr>
              <a:t>B1 is the Step-3 reference. This is an engineering result, not a novelty or clinical claim.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What Step 2 established—and what it did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5303520" cy="50292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Established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Nine full training runs completed.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Independent metric, cohort, hash and exposure checks passed.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Joint training is the strongest ordinary baseline.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03520" cy="50292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1E1E1E"/>
                </a:solidFill>
                <a:latin typeface="Times New Roman"/>
              </a:rPr>
              <a:t>Still unresolved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103120"/>
            <a:ext cx="4983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Why joint training helps.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Clinical significance and operating point.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Untouched external generalization.</a:t>
            </a:r>
          </a:p>
          <a:p>
            <a:pPr>
              <a:spcAft>
                <a:spcPts val="1200"/>
              </a:spcAft>
            </a:pPr>
            <a:r>
              <a:rPr sz="1700" b="0" i="0">
                <a:solidFill>
                  <a:srgbClr val="1E1E1E"/>
                </a:solidFill>
                <a:latin typeface="Times New Roman"/>
              </a:rPr>
              <a:t>A defensible novel mechanism.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3: isolate domain frequency and label composition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353312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1953"/>
                <a:gridCol w="1635672"/>
                <a:gridCol w="1177684"/>
                <a:gridCol w="1962806"/>
                <a:gridCol w="1635672"/>
                <a:gridCol w="1177684"/>
                <a:gridCol w="1962806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AUROC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 existing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0.9490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0.8636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+0.0147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C3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0.8507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+0.0018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0.9890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91440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DR F1
+0.0035 mean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3977639"/>
            <a:ext cx="3154680" cy="91440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C1−B1 ME F1
+0.0079 mean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3977639"/>
            <a:ext cx="3154680" cy="91440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B1 retained
Step 3 complete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0352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E1E1E"/>
                </a:solidFill>
                <a:latin typeface="Times New Roman"/>
              </a:rPr>
              <a:t>Step 3 complete; natural joint b1 retained for step 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Step 4: target-calibrated augmentation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34440"/>
          <a:ext cx="11384277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8166"/>
                <a:gridCol w="1581150"/>
                <a:gridCol w="1075182"/>
                <a:gridCol w="1644395"/>
                <a:gridCol w="1581150"/>
                <a:gridCol w="1075182"/>
                <a:gridCol w="1644395"/>
                <a:gridCol w="1454657"/>
              </a:tblGrid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Arm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DR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F1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Δ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ME AUC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Times New Roman"/>
                        </a:rPr>
                        <a:t>Gate</a:t>
                      </a:r>
                    </a:p>
                  </a:txBody>
                  <a:tcPr marL="54864" marR="54864" marT="27432" marB="27432" anchor="ctr">
                    <a:solidFill>
                      <a:srgbClr val="1F4E79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B1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0.9563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Ref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0.8772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+0.0069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0.9530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-0.0028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0.9558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A3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0.8765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+0.0062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0.9601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0.8485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-0.0004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0.9903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E1E1E"/>
                          </a:solidFill>
                          <a:latin typeface="Times New Roman"/>
                        </a:rPr>
                        <a:t>FAIL</a:t>
                      </a:r>
                    </a:p>
                  </a:txBody>
                  <a:tcPr marL="54864" marR="54864" marT="27432" marB="27432" anchor="ctr">
                    <a:solidFill>
                      <a:srgbClr val="EBF1F7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3794760"/>
            <a:ext cx="107899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Training-only audit: label standardization changed every appearance gap by &lt;0.05 target SD.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Held-out appearance distance: unchanged 6.066; full fit 0.902; no overlays 0.942.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All three DR F1 changes were positive but below +0.01; ME was flat or slightly lower.</a:t>
            </a:r>
          </a:p>
          <a:p>
            <a:pPr>
              <a:spcAft>
                <a:spcPts val="1200"/>
              </a:spcAft>
            </a:pPr>
            <a:r>
              <a:rPr sz="1400" b="0" i="0">
                <a:solidFill>
                  <a:srgbClr val="1E1E1E"/>
                </a:solidFill>
                <a:latin typeface="Times New Roman"/>
              </a:rPr>
              <a:t>No arm passed the frozen replication gate; no Step-4 test assessment was performed.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349240"/>
            <a:ext cx="9966960" cy="658368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 i="0">
                <a:solidFill>
                  <a:srgbClr val="1E1E1E"/>
                </a:solidFill>
                <a:latin typeface="Times New Roman"/>
              </a:rPr>
              <a:t>Conclusion: global appearance matching did not produce a large diagnostic gain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1F4E79"/>
                </a:solidFill>
                <a:latin typeface="Times New Roman"/>
              </a:rPr>
              <a:t>Dong requests and world-model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1124712"/>
            <a:ext cx="11064240" cy="182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1325880"/>
            <a:ext cx="3474720" cy="548640"/>
          </a:xfrm>
          <a:prstGeom prst="roundRect">
            <a:avLst/>
          </a:prstGeom>
          <a:solidFill>
            <a:srgbClr val="E2EFE5"/>
          </a:solidFill>
          <a:ln>
            <a:solidFill>
              <a:srgbClr val="246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Matched baseline protocol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DR/ME prevalence and sampling controls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Source-verified degradation examples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325880"/>
            <a:ext cx="3474720" cy="548640"/>
          </a:xfrm>
          <a:prstGeom prst="roundRect">
            <a:avLst/>
          </a:prstGeom>
          <a:solidFill>
            <a:srgbClr val="FAF1DE"/>
          </a:solidFill>
          <a:ln>
            <a:solidFill>
              <a:srgbClr val="9A67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A mechanism that beats B1 repeatedly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Diagnostic-preservation evidence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Fair latent-transition or routing study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47304" y="1325880"/>
            <a:ext cx="3474720" cy="548640"/>
          </a:xfrm>
          <a:prstGeom prst="roundRect">
            <a:avLst/>
          </a:prstGeom>
          <a:solidFill>
            <a:srgbClr val="EBF1F7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 i="0">
                <a:solidFill>
                  <a:srgbClr val="1E1E1E"/>
                </a:solidFill>
                <a:latin typeface="Times New Roman"/>
              </a:rPr>
              <a:t>World-model gate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744" y="2057400"/>
            <a:ext cx="32461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CheXWorld, CVPR 2025: closest conceptual match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GenDeg, CVPR 2025: separate diffusion option</a:t>
            </a:r>
          </a:p>
          <a:p>
            <a:pPr>
              <a:spcAft>
                <a:spcPts val="1200"/>
              </a:spcAft>
            </a:pPr>
            <a:r>
              <a:rPr sz="1600" b="0" i="0">
                <a:solidFill>
                  <a:srgbClr val="1E1E1E"/>
                </a:solidFill>
                <a:latin typeface="Times New Roman"/>
              </a:rPr>
              <a:t>Freeze a bounded content-aware test before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23560"/>
            <a:ext cx="10652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Times New Roman"/>
              </a:rPr>
              <a:t>Internal paper targets: complete draft 15 October • hard freeze 19 October • official deadline 26 October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