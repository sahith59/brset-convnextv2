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4E79"/>
                </a:solidFill>
                <a:latin typeface="Times New Roman"/>
              </a:rPr>
              <a:t>BRSET to mBRSET Cross-Device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574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E1E1E"/>
                </a:solidFill>
                <a:latin typeface="Times New Roman"/>
              </a:rPr>
              <a:t>Evidence update: Step 4 transform refit/preflight active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3063240"/>
            <a:ext cx="8229600" cy="960120"/>
          </a:xfrm>
          <a:prstGeom prst="roundRect">
            <a:avLst/>
          </a:prstGeom>
          <a:solidFill>
            <a:srgbClr val="E2EFE5"/>
          </a:solidFill>
          <a:ln>
            <a:solidFill>
              <a:srgbClr val="246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E1E1E"/>
                </a:solidFill>
                <a:latin typeface="Times New Roman"/>
              </a:rPr>
              <a:t>Natural joint training remains the strongest simple reference.
A novel method has not yet been established.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A5A"/>
                </a:solidFill>
                <a:latin typeface="Times New Roman"/>
              </a:rPr>
              <a:t>14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Research question and evidence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2377440" cy="105156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E1E1E"/>
                </a:solidFill>
                <a:latin typeface="Times New Roman"/>
              </a:rPr>
              <a:t>Camera and population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965960"/>
            <a:ext cx="2377440" cy="105156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E1E1E"/>
                </a:solidFill>
                <a:latin typeface="Times New Roman"/>
              </a:rPr>
              <a:t>Strong ordinary baselines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965960"/>
            <a:ext cx="2377440" cy="105156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E1E1E"/>
                </a:solidFill>
                <a:latin typeface="Times New Roman"/>
              </a:rPr>
              <a:t>Balance and exposure controls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965960"/>
            <a:ext cx="2377440" cy="105156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1E1E1E"/>
                </a:solidFill>
                <a:latin typeface="Times New Roman"/>
              </a:rPr>
              <a:t>Preservation-constrained method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267712"/>
            <a:ext cx="384048" cy="41148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897880" y="2267712"/>
            <a:ext cx="384048" cy="41148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823960" y="2267712"/>
            <a:ext cx="384048" cy="41148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Completed evidence is separated from hypotheses and planned work.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Every proposed mechanism must beat the strongest fair baseline across seeds.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Validation guides design; the historically reused test split is not treated as untouched confirmation.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Fixed data and evaluation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1316736"/>
                <a:gridCol w="1316736"/>
                <a:gridCol w="537667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Images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Patients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Use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BRSET train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11,372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5,966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Source fitting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mBRSET train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3,402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899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Target fitting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mBRSET validation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725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193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Checkpoint + thresholds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mBRSET test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732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193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Gated assessment; reused historically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4160520"/>
            <a:ext cx="3246120" cy="114300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1E1E"/>
                </a:solidFill>
                <a:latin typeface="Times New Roman"/>
              </a:rPr>
              <a:t>B0
mBRSET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160520"/>
            <a:ext cx="3246120" cy="1143000"/>
          </a:xfrm>
          <a:prstGeom prst="roundRect">
            <a:avLst/>
          </a:prstGeom>
          <a:solidFill>
            <a:srgbClr val="E2EFE5"/>
          </a:solidFill>
          <a:ln>
            <a:solidFill>
              <a:srgbClr val="246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1E1E"/>
                </a:solidFill>
                <a:latin typeface="Times New Roman"/>
              </a:rPr>
              <a:t>B1
BRSET + mBRSET jointly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4160520"/>
            <a:ext cx="3246120" cy="114300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1E1E"/>
                </a:solidFill>
                <a:latin typeface="Times New Roman"/>
              </a:rPr>
              <a:t>B2
BRSET then mBRSET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A5A5A"/>
                </a:solidFill>
                <a:latin typeface="Times New Roman"/>
              </a:rPr>
              <a:t>All arms: 5,775 updates, effective batch 64, same model/loss/augmentation/selection rule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Step 0: fitted degradation matches selected appearance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554480"/>
          <a:ext cx="1005839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144"/>
                <a:gridCol w="2140085"/>
                <a:gridCol w="2140085"/>
                <a:gridCol w="214008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Preprocessing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Unchanged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Generic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Fitted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Legacy 512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6.742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10.092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1.261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560 resize / 512 crop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8.474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12.011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E1E1E"/>
                          </a:solidFill>
                          <a:latin typeface="Times New Roman"/>
                        </a:rPr>
                        <a:t>4.294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0332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E1E1E"/>
                </a:solidFill>
                <a:latin typeface="Times New Roman"/>
              </a:rPr>
              <a:t>Lower distance means closer agreement with five measured appearance statistics.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E1E1E"/>
                </a:solidFill>
                <a:latin typeface="Times New Roman"/>
              </a:rPr>
              <a:t>Frozen parameters improved the distance on patient-disjoint training-only images.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E1E1E"/>
                </a:solidFill>
                <a:latin typeface="Times New Roman"/>
              </a:rPr>
              <a:t>This does not establish lesion preservation, visual realism, or classifier benefit.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Step 2: full-pool baseline results across three seeds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5A"/>
                </a:solidFill>
                <a:latin typeface="Times New Roman"/>
              </a:rPr>
              <a:t>Mean ± sample SD on the common 732-image mBRSET assessment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7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519"/>
                <a:gridCol w="2479039"/>
                <a:gridCol w="2479039"/>
                <a:gridCol w="2479039"/>
                <a:gridCol w="2479039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Arm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DR F1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DR AUROC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 F1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 AUROC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B0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0.8105 ± 0.0140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0.9395 ± 0.0052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0.8240 ± 0.0297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0.9835 ± 0.0130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B1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0.8338 ± 0.0048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0.9467 ± 0.0020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0.8619 ± 0.0420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0.9945 ± 0.0005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B2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0.8139 ± 0.0099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0.9416 ± 0.0031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0.8184 ± 0.0333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0.9882 ± 0.0014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3886200"/>
            <a:ext cx="5166360" cy="1097280"/>
          </a:xfrm>
          <a:prstGeom prst="roundRect">
            <a:avLst/>
          </a:prstGeom>
          <a:solidFill>
            <a:srgbClr val="E2EFE5"/>
          </a:solidFill>
          <a:ln>
            <a:solidFill>
              <a:srgbClr val="246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E1E1E"/>
                </a:solidFill>
                <a:latin typeface="Times New Roman"/>
              </a:rPr>
              <a:t>DR: B1 − B0 = +0.0233
positive in 3/3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886200"/>
            <a:ext cx="5166360" cy="1097280"/>
          </a:xfrm>
          <a:prstGeom prst="roundRect">
            <a:avLst/>
          </a:prstGeom>
          <a:solidFill>
            <a:srgbClr val="E2EFE5"/>
          </a:solidFill>
          <a:ln>
            <a:solidFill>
              <a:srgbClr val="246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E1E1E"/>
                </a:solidFill>
                <a:latin typeface="Times New Roman"/>
              </a:rPr>
              <a:t>ME: B1 − B0 = +0.0379
positive in 3/3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52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9A6710"/>
                </a:solidFill>
                <a:latin typeface="Times New Roman"/>
              </a:rPr>
              <a:t>B1 is the Step-3 reference. This is an engineering result, not a novelty or clinical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What Step 2 established—and what it did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502920"/>
          </a:xfrm>
          <a:prstGeom prst="roundRect">
            <a:avLst/>
          </a:prstGeom>
          <a:solidFill>
            <a:srgbClr val="E2EFE5"/>
          </a:solidFill>
          <a:ln>
            <a:solidFill>
              <a:srgbClr val="246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E1E1E"/>
                </a:solidFill>
                <a:latin typeface="Times New Roman"/>
              </a:rPr>
              <a:t>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983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Nine full training runs completed.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Independent metric, cohort, hash and exposure checks passed.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Joint training is the strongest ordinary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03520" cy="502920"/>
          </a:xfrm>
          <a:prstGeom prst="roundRect">
            <a:avLst/>
          </a:prstGeom>
          <a:solidFill>
            <a:srgbClr val="FAF1DE"/>
          </a:solidFill>
          <a:ln>
            <a:solidFill>
              <a:srgbClr val="9A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1E1E1E"/>
                </a:solidFill>
                <a:latin typeface="Times New Roman"/>
              </a:rPr>
              <a:t>Still unresolved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983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Why joint training helps.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Clinical significance and operating point.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Untouched external generalization.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E1E1E"/>
                </a:solidFill>
                <a:latin typeface="Times New Roman"/>
              </a:rPr>
              <a:t>A defensible novel mechanism.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Step 3: isolate domain frequency and label 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384277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953"/>
                <a:gridCol w="1635672"/>
                <a:gridCol w="1177684"/>
                <a:gridCol w="1962806"/>
                <a:gridCol w="1635672"/>
                <a:gridCol w="1177684"/>
                <a:gridCol w="1962806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Arm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DR F1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Δ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DR AUROC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 F1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Δ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 AUROC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B1 existing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0.8703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0.9563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0.8489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0.9904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C1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0.8768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+0.0065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0.9490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0.8636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+0.0147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0.9895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C2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0.8772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+0.0069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0.9551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0.8504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+0.0015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0.9914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C3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0.8739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+0.0036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0.9559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0.8507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+0.0018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1E1E"/>
                          </a:solidFill>
                          <a:latin typeface="Times New Roman"/>
                        </a:rPr>
                        <a:t>0.9890</a:t>
                      </a:r>
                    </a:p>
                  </a:txBody>
                  <a:tcPr marL="54864" marR="54864" marT="27432" marB="27432" anchor="ctr"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977639"/>
            <a:ext cx="3154680" cy="91440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1E1E"/>
                </a:solidFill>
                <a:latin typeface="Times New Roman"/>
              </a:rPr>
              <a:t>C1−B1 DR F1
+0.0035 mean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977639"/>
            <a:ext cx="3154680" cy="91440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1E1E"/>
                </a:solidFill>
                <a:latin typeface="Times New Roman"/>
              </a:rPr>
              <a:t>C1−B1 ME F1
+0.0079 mean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977639"/>
            <a:ext cx="3154680" cy="914400"/>
          </a:xfrm>
          <a:prstGeom prst="roundRect">
            <a:avLst/>
          </a:prstGeom>
          <a:solidFill>
            <a:srgbClr val="E2EFE5"/>
          </a:solidFill>
          <a:ln>
            <a:solidFill>
              <a:srgbClr val="246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1E1E"/>
                </a:solidFill>
                <a:latin typeface="Times New Roman"/>
              </a:rPr>
              <a:t>B1 retained
Step 3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1E1E"/>
                </a:solidFill>
                <a:latin typeface="Times New Roman"/>
              </a:rPr>
              <a:t>Step 3 complete; natural joint b1 retained for step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Decision gate for the paper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Reference fixed: natural joint B1 after Step-3 cross-seed validation controls.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Training-only audit: label standardization changed every appearance gap by &lt;0.05 target SD.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Held-out appearance distance: unchanged 6.066; full fit 0.902; no overlays 0.942.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Next: test an independent release-range FundusAug artifact component, full fitted degradation, and an overlay-free fitted control.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Require: consistent diagnostic gain, a closest-method comparison, an isolating ablation, and evidence that lesions are not damaged.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66360"/>
            <a:ext cx="9966960" cy="731520"/>
          </a:xfrm>
          <a:prstGeom prst="roundRect">
            <a:avLst/>
          </a:prstGeom>
          <a:solidFill>
            <a:srgbClr val="FAF1DE"/>
          </a:solidFill>
          <a:ln>
            <a:solidFill>
              <a:srgbClr val="9A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E1E1E"/>
                </a:solidFill>
                <a:latin typeface="Times New Roman"/>
              </a:rPr>
              <a:t>Current novelty status: candidate hypothesis, not demonstrated contribution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4E79"/>
                </a:solidFill>
                <a:latin typeface="Times New Roman"/>
              </a:rPr>
              <a:t>Dong requests and world-model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24712"/>
            <a:ext cx="11064240" cy="1828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74720" cy="548640"/>
          </a:xfrm>
          <a:prstGeom prst="roundRect">
            <a:avLst/>
          </a:prstGeom>
          <a:solidFill>
            <a:srgbClr val="E2EFE5"/>
          </a:solidFill>
          <a:ln>
            <a:solidFill>
              <a:srgbClr val="2469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E1E1E"/>
                </a:solidFill>
                <a:latin typeface="Times New Roman"/>
              </a:rPr>
              <a:t>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Matched baseline protocol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DR/ME prevalence and sampling controls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Source-verified degradation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25880"/>
            <a:ext cx="3474720" cy="548640"/>
          </a:xfrm>
          <a:prstGeom prst="roundRect">
            <a:avLst/>
          </a:prstGeom>
          <a:solidFill>
            <a:srgbClr val="FAF1DE"/>
          </a:solidFill>
          <a:ln>
            <a:solidFill>
              <a:srgbClr val="9A67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E1E1E"/>
                </a:solidFill>
                <a:latin typeface="Times New Roman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272" y="20574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Classifier benefit of fitted degradation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Diagnostic-preservation evidence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Fair longer-budget routing revisit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1325880"/>
            <a:ext cx="3474720" cy="548640"/>
          </a:xfrm>
          <a:prstGeom prst="roundRect">
            <a:avLst/>
          </a:prstGeom>
          <a:solidFill>
            <a:srgbClr val="EBF1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E1E1E"/>
                </a:solidFill>
                <a:latin typeface="Times New Roman"/>
              </a:rPr>
              <a:t>World-model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8744" y="205740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CheXWorld, CVPR 2025: closest conceptual match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GenDeg, CVPR 2025: separate diffusion option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E1E1E"/>
                </a:solidFill>
                <a:latin typeface="Times New Roman"/>
              </a:rPr>
              <a:t>Run only after Step 4 supports the premise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652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Times New Roman"/>
              </a:rPr>
              <a:t>Internal paper targets: complete draft 15 October • hard freeze 19 October • official deadline 26 October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