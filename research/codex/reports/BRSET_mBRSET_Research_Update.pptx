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1430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F4E79"/>
                </a:solidFill>
                <a:latin typeface="Times New Roman"/>
              </a:rPr>
              <a:t>BRSET to mBRSET Cross-Device Classification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0574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1E1E1E"/>
                </a:solidFill>
                <a:latin typeface="Times New Roman"/>
              </a:rPr>
              <a:t>Evidence update: Step 2 complete; Step 3 controls prepared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65960" y="3063240"/>
            <a:ext cx="8229600" cy="960120"/>
          </a:xfrm>
          <a:prstGeom prst="roundRect">
            <a:avLst/>
          </a:prstGeom>
          <a:solidFill>
            <a:srgbClr val="E2EFE5"/>
          </a:solidFill>
          <a:ln>
            <a:solidFill>
              <a:srgbClr val="246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1E1E1E"/>
                </a:solidFill>
                <a:latin typeface="Times New Roman"/>
              </a:rPr>
              <a:t>Joint training improves DR and ME F1 in all three seeds.
The mechanism and novelty are not yet established.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893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A5A5A"/>
                </a:solidFill>
                <a:latin typeface="Times New Roman"/>
              </a:rPr>
              <a:t>12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Research question and evidence chain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965960"/>
            <a:ext cx="2377440" cy="105156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E1E1E"/>
                </a:solidFill>
                <a:latin typeface="Times New Roman"/>
              </a:rPr>
              <a:t>Camera and population shift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965960"/>
            <a:ext cx="2377440" cy="105156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E1E1E"/>
                </a:solidFill>
                <a:latin typeface="Times New Roman"/>
              </a:rPr>
              <a:t>Strong ordinary baselines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55080" y="1965960"/>
            <a:ext cx="2377440" cy="105156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E1E1E"/>
                </a:solidFill>
                <a:latin typeface="Times New Roman"/>
              </a:rPr>
              <a:t>Balance and exposure controls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81160" y="1965960"/>
            <a:ext cx="2377440" cy="105156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E1E1E"/>
                </a:solidFill>
                <a:latin typeface="Times New Roman"/>
              </a:rPr>
              <a:t>Preservation-constrained method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971800" y="2267712"/>
            <a:ext cx="384048" cy="411480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5897880" y="2267712"/>
            <a:ext cx="384048" cy="411480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8823960" y="2267712"/>
            <a:ext cx="384048" cy="411480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703320"/>
            <a:ext cx="107899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Completed evidence is separated from hypotheses and planned work.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Every proposed mechanism must beat the strongest fair baseline across seeds.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Validation guides design; the historically reused test split is not treated as untouched confirmation.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Fixed data and evaluation boundary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417320"/>
          <a:ext cx="10972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62656"/>
                <a:gridCol w="1316736"/>
                <a:gridCol w="1316736"/>
                <a:gridCol w="537667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Role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Images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Patients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Use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BRSET train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11,372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5,966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Source fitting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mBRSET train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3,402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899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Target fitting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mBRSET validation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725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193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Checkpoint + thresholds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mBRSET test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732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193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Gated assessment; reused historically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77240" y="4160520"/>
            <a:ext cx="3246120" cy="114300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E1E1E"/>
                </a:solidFill>
                <a:latin typeface="Times New Roman"/>
              </a:rPr>
              <a:t>B0
mBRSET only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4160520"/>
            <a:ext cx="3246120" cy="1143000"/>
          </a:xfrm>
          <a:prstGeom prst="roundRect">
            <a:avLst/>
          </a:prstGeom>
          <a:solidFill>
            <a:srgbClr val="E2EFE5"/>
          </a:solidFill>
          <a:ln>
            <a:solidFill>
              <a:srgbClr val="246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E1E1E"/>
                </a:solidFill>
                <a:latin typeface="Times New Roman"/>
              </a:rPr>
              <a:t>B1
BRSET + mBRSET jointly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83879" y="4160520"/>
            <a:ext cx="3246120" cy="114300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E1E1E"/>
                </a:solidFill>
                <a:latin typeface="Times New Roman"/>
              </a:rPr>
              <a:t>B2
BRSET then mBRSET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7150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5A5A5A"/>
                </a:solidFill>
                <a:latin typeface="Times New Roman"/>
              </a:rPr>
              <a:t>All arms: 5,775 updates, effective batch 64, same model/loss/augmentation/selection rule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Step 0: fitted degradation matches selected appearance statistics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51560" y="1554480"/>
          <a:ext cx="10058399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8144"/>
                <a:gridCol w="2140085"/>
                <a:gridCol w="2140085"/>
                <a:gridCol w="214008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FFFFFF"/>
                          </a:solidFill>
                          <a:latin typeface="Times New Roman"/>
                        </a:rPr>
                        <a:t>Preprocessing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Times New Roman"/>
                        </a:rPr>
                        <a:t>Unchanged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Times New Roman"/>
                        </a:rPr>
                        <a:t>Generic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Times New Roman"/>
                        </a:rPr>
                        <a:t>Fitted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Legacy 512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6.742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10.092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1.261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560 resize / 512 crop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8.474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12.011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4.294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703320"/>
            <a:ext cx="107899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1E1E1E"/>
                </a:solidFill>
                <a:latin typeface="Times New Roman"/>
              </a:rPr>
              <a:t>Lower distance means closer agreement with five measured appearance statistics.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1E1E1E"/>
                </a:solidFill>
                <a:latin typeface="Times New Roman"/>
              </a:rPr>
              <a:t>Frozen parameters improved the distance on patient-disjoint training-only images.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1E1E1E"/>
                </a:solidFill>
                <a:latin typeface="Times New Roman"/>
              </a:rPr>
              <a:t>This does not establish lesion preservation, visual realism, or classifier benefit.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Step 2: full-pool baseline results across three seeds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A5A5A"/>
                </a:solidFill>
                <a:latin typeface="Times New Roman"/>
              </a:rPr>
              <a:t>Mean ± sample SD on the common 732-image mBRSET assessment split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1155675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9519"/>
                <a:gridCol w="2479039"/>
                <a:gridCol w="2479039"/>
                <a:gridCol w="2479039"/>
                <a:gridCol w="2479039"/>
              </a:tblGrid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Arm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DR F1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DR AUROC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ME F1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ME AUROC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B0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0.8105 ± 0.0140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0.9395 ± 0.0052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0.8240 ± 0.0297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0.9835 ± 0.0130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B1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0.8338 ± 0.0048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0.9467 ± 0.0020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0.8619 ± 0.0420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0.9945 ± 0.0005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B2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0.8139 ± 0.0099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0.9416 ± 0.0031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0.8184 ± 0.0333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0.9882 ± 0.0014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77240" y="3886200"/>
            <a:ext cx="5166360" cy="1097280"/>
          </a:xfrm>
          <a:prstGeom prst="roundRect">
            <a:avLst/>
          </a:prstGeom>
          <a:solidFill>
            <a:srgbClr val="E2EFE5"/>
          </a:solidFill>
          <a:ln>
            <a:solidFill>
              <a:srgbClr val="246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1E1E1E"/>
                </a:solidFill>
                <a:latin typeface="Times New Roman"/>
              </a:rPr>
              <a:t>DR: B1 − B0 = +0.0233
positive in 3/3 seeds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3886200"/>
            <a:ext cx="5166360" cy="1097280"/>
          </a:xfrm>
          <a:prstGeom prst="roundRect">
            <a:avLst/>
          </a:prstGeom>
          <a:solidFill>
            <a:srgbClr val="E2EFE5"/>
          </a:solidFill>
          <a:ln>
            <a:solidFill>
              <a:srgbClr val="246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1E1E1E"/>
                </a:solidFill>
                <a:latin typeface="Times New Roman"/>
              </a:rPr>
              <a:t>ME: B1 − B0 = +0.0379
positive in 3/3 seeds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440680"/>
            <a:ext cx="10652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9A6710"/>
                </a:solidFill>
                <a:latin typeface="Times New Roman"/>
              </a:rPr>
              <a:t>B1 is the Step-3 reference. This is an engineering result, not a novelty or clinical claim.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What Step 2 established—and what it did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5303520" cy="502920"/>
          </a:xfrm>
          <a:prstGeom prst="roundRect">
            <a:avLst/>
          </a:prstGeom>
          <a:solidFill>
            <a:srgbClr val="E2EFE5"/>
          </a:solidFill>
          <a:ln>
            <a:solidFill>
              <a:srgbClr val="246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1E1E1E"/>
                </a:solidFill>
                <a:latin typeface="Times New Roman"/>
              </a:rPr>
              <a:t>Established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4983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Nine full training runs completed.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Independent metric, cohort, hash and exposure checks passed.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Joint training is the strongest ordinary baseline.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417320"/>
            <a:ext cx="5303520" cy="502920"/>
          </a:xfrm>
          <a:prstGeom prst="roundRect">
            <a:avLst/>
          </a:prstGeom>
          <a:solidFill>
            <a:srgbClr val="FAF1DE"/>
          </a:solidFill>
          <a:ln>
            <a:solidFill>
              <a:srgbClr val="9A67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1E1E1E"/>
                </a:solidFill>
                <a:latin typeface="Times New Roman"/>
              </a:rPr>
              <a:t>Still unresolved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03120"/>
            <a:ext cx="4983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Why joint training helps.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Clinical significance and operating point.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Untouched external generalization.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A defensible novel mechanism.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Step 3: isolate domain frequency and label composition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51560" y="1417320"/>
          <a:ext cx="100584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474720"/>
                <a:gridCol w="3474720"/>
              </a:tblGrid>
              <a:tr h="685800">
                <a:tc>
                  <a:txBody>
                    <a:bodyPr/>
                    <a:lstStyle/>
                    <a:p>
                      <a:pPr algn="l"/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Times New Roman"/>
                        </a:rPr>
                        <a:t>Natural label mix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Times New Roman"/>
                        </a:rPr>
                        <a:t>Target-matched DR/ME mix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Natural domain ratio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B1 existing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C2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50% BRSET / 50% mBRSET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C1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C3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14400" y="3977639"/>
            <a:ext cx="3154680" cy="91440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E1E1E"/>
                </a:solidFill>
                <a:latin typeface="Times New Roman"/>
              </a:rPr>
              <a:t>Only the sampler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26280" y="3977639"/>
            <a:ext cx="3154680" cy="91440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E1E1E"/>
                </a:solidFill>
                <a:latin typeface="Times New Roman"/>
              </a:rPr>
              <a:t>Validation-only screening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3977639"/>
            <a:ext cx="3154680" cy="914400"/>
          </a:xfrm>
          <a:prstGeom prst="roundRect">
            <a:avLst/>
          </a:prstGeom>
          <a:solidFill>
            <a:srgbClr val="E2EFE5"/>
          </a:solidFill>
          <a:ln>
            <a:solidFill>
              <a:srgbClr val="246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E1E1E"/>
                </a:solidFill>
                <a:latin typeface="Times New Roman"/>
              </a:rPr>
              <a:t>Allocated preflight
PASSED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30352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E1E1E"/>
                </a:solidFill>
                <a:latin typeface="Times New Roman"/>
              </a:rPr>
              <a:t>Seed-0 controls submitted/running; no control result claimed yet.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Decision gate for the paper contribution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 b="0" i="0">
                <a:solidFill>
                  <a:srgbClr val="1E1E1E"/>
                </a:solidFill>
                <a:latin typeface="Times New Roman"/>
              </a:rPr>
              <a:t>First: select the simplest strong sampling baseline using cross-seed validation evidence.</a:t>
            </a:r>
          </a:p>
          <a:p>
            <a:pPr>
              <a:spcAft>
                <a:spcPts val="1200"/>
              </a:spcAft>
            </a:pPr>
            <a:r>
              <a:rPr sz="1900" b="0" i="0">
                <a:solidFill>
                  <a:srgbClr val="1E1E1E"/>
                </a:solidFill>
                <a:latin typeface="Times New Roman"/>
              </a:rPr>
              <a:t>Then: test ordinary augmentation, a faithful published component, and FIT-only fitted degradation.</a:t>
            </a:r>
          </a:p>
          <a:p>
            <a:pPr>
              <a:spcAft>
                <a:spcPts val="1200"/>
              </a:spcAft>
            </a:pPr>
            <a:r>
              <a:rPr sz="1900" b="0" i="0">
                <a:solidFill>
                  <a:srgbClr val="1E1E1E"/>
                </a:solidFill>
                <a:latin typeface="Times New Roman"/>
              </a:rPr>
              <a:t>Require: consistent diagnostic gain plus evidence that lesions are not damaged.</a:t>
            </a:r>
          </a:p>
          <a:p>
            <a:pPr>
              <a:spcAft>
                <a:spcPts val="1200"/>
              </a:spcAft>
            </a:pPr>
            <a:r>
              <a:rPr sz="1900" b="0" i="0">
                <a:solidFill>
                  <a:srgbClr val="1E1E1E"/>
                </a:solidFill>
                <a:latin typeface="Times New Roman"/>
              </a:rPr>
              <a:t>Claim novelty only after a closest-method comparison and an isolating ablation.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5166360"/>
            <a:ext cx="9966960" cy="731520"/>
          </a:xfrm>
          <a:prstGeom prst="roundRect">
            <a:avLst/>
          </a:prstGeom>
          <a:solidFill>
            <a:srgbClr val="FAF1DE"/>
          </a:solidFill>
          <a:ln>
            <a:solidFill>
              <a:srgbClr val="9A67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 i="0">
                <a:solidFill>
                  <a:srgbClr val="1E1E1E"/>
                </a:solidFill>
                <a:latin typeface="Times New Roman"/>
              </a:rPr>
              <a:t>Current novelty status: candidate hypothesis, not demonstrated contribution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